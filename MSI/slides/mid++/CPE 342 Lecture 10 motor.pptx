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71" r:id="rId2"/>
    <p:sldId id="455" r:id="rId3"/>
    <p:sldId id="754" r:id="rId4"/>
    <p:sldId id="755" r:id="rId5"/>
    <p:sldId id="756" r:id="rId6"/>
    <p:sldId id="750" r:id="rId7"/>
    <p:sldId id="751" r:id="rId8"/>
    <p:sldId id="752" r:id="rId9"/>
    <p:sldId id="753" r:id="rId10"/>
    <p:sldId id="7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208B1-7C0F-4323-B5A1-ED966378F1A8}" type="datetimeFigureOut">
              <a:rPr lang="en-US" smtClean="0"/>
              <a:t>7/5/2020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5BB01-C31C-499C-8B08-94F18E076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4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0DA072-B388-4DB3-8DD6-71C62DF7C707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9" name="Date Placeholder 1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4C29FC-EA70-4525-AFAB-0FEF2688008C}" type="datetime2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Sunday, July 5, 2020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4EE06-E6DC-42E5-8DC0-729E146A98DD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C8281-B950-41B6-8614-1858D4C134F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079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FBEB3-B3C3-43A2-A6C3-29DCBFFEAB43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7659D-25DE-4303-8EC9-DEE39B93694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226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19C95-189C-44E6-B5F3-CF6CCE8B4929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59FC8-D509-4934-8C4A-5412CD8D71F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379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1812B-2714-48FE-9657-8708966D54B1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3DDA8-1B87-423F-AA3B-C6155654888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852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32574-7E39-42C4-8F99-A6ED02598E20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BFE9D-AC3C-4D08-9815-05EFAB45E1A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73885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8D32E-FA31-4F80-ADA4-AF7CC7647FB2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C2509-EFA9-4DC4-A082-EB872053A98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4796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07C3-4C53-49FC-AB9E-0304C215432F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62406-E445-4AC8-8F16-C48AAA7F4B9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3730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00B84-6991-49A6-BF3A-0859464F9285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C5D72F-8089-4C3C-AAA9-6445CDEF923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767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94924-ADC8-44CF-84B6-ACEAE13D55B8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31A61-928C-4050-B98D-D628B89D75E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70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DCEBE-B9D6-48D9-A807-9F7FFDE3F296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D5F1C-6F76-4B68-B11F-2BD62576B61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952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B2C52-0D06-4C77-B8FC-0490ACBCFC74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7EC75-3132-4886-B059-FB8F3F4A7D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718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fld id="{4E158536-FF7A-486F-8116-8A55A05AADDD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E3185260-908C-490C-923E-52BE830C3B7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5747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38401" y="1524000"/>
            <a:ext cx="7623175" cy="2120900"/>
          </a:xfrm>
        </p:spPr>
        <p:txBody>
          <a:bodyPr/>
          <a:lstStyle/>
          <a:p>
            <a:pPr algn="ctr" eaLnBrk="1" hangingPunct="1"/>
            <a:br>
              <a:rPr lang="en-US" altLang="en-US" sz="3600" b="1" dirty="0">
                <a:solidFill>
                  <a:srgbClr val="060AAA"/>
                </a:solidFill>
              </a:rPr>
            </a:br>
            <a:r>
              <a:rPr lang="en-US" altLang="en-US" sz="3600" b="1" dirty="0">
                <a:solidFill>
                  <a:srgbClr val="060AAA"/>
                </a:solidFill>
              </a:rPr>
              <a:t>Microprocessor Systems and Interfacing</a:t>
            </a:r>
            <a:br>
              <a:rPr lang="en-US" altLang="en-US" sz="3600" b="1" dirty="0">
                <a:solidFill>
                  <a:srgbClr val="060AAA"/>
                </a:solidFill>
              </a:rPr>
            </a:br>
            <a:r>
              <a:rPr lang="en-US" altLang="en-US" sz="2800" b="1" dirty="0">
                <a:solidFill>
                  <a:srgbClr val="060AAA"/>
                </a:solidFill>
              </a:rPr>
              <a:t>CPE 342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951288"/>
            <a:ext cx="9144000" cy="198755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Lecture 2- Week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39C541-ED17-49D9-B157-F57A6101F339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PPI Applications</a:t>
            </a:r>
            <a:endParaRPr lang="fr-FR" altLang="en-US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268761"/>
            <a:ext cx="8229600" cy="431470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60AAA"/>
                </a:solidFill>
              </a:rPr>
              <a:t>Outline</a:t>
            </a:r>
            <a:endParaRPr lang="en-US" altLang="en-US" dirty="0"/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US" dirty="0"/>
              <a:t>Mode 0 Operation :Interfacing Stepper Motor</a:t>
            </a:r>
          </a:p>
          <a:p>
            <a:pPr marL="742950" lvl="1" indent="-285750" eaLnBrk="1" hangingPunct="1">
              <a:lnSpc>
                <a:spcPct val="90000"/>
              </a:lnSpc>
              <a:buNone/>
            </a:pPr>
            <a:r>
              <a:rPr lang="fr-FR" altLang="en-US" dirty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E5DBDE9-1F4E-4430-B5C9-42C3323F66F9}" type="datetime2">
              <a:rPr lang="en-US" altLang="en-US"/>
              <a:pPr>
                <a:defRPr/>
              </a:pPr>
              <a:t>Sunday, July 5, 2020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99555-D354-4712-827D-4EB00CB7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Stepper Motor Interface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FA45E-B16D-4B81-BC71-B88198681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55417-6907-4B95-986A-176589084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C0040E-F413-43CC-8CAB-BF961C786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209309" cy="4530725"/>
          </a:xfrm>
        </p:spPr>
        <p:txBody>
          <a:bodyPr/>
          <a:lstStyle/>
          <a:p>
            <a:r>
              <a:rPr lang="en-US" sz="2400" dirty="0"/>
              <a:t>Stepper motor is digital in nature</a:t>
            </a:r>
          </a:p>
          <a:p>
            <a:r>
              <a:rPr lang="en-US" sz="2400" dirty="0"/>
              <a:t>It rotates in a sequence of discrete steps controlled by sequentially energizing a set of coils (windings)</a:t>
            </a:r>
          </a:p>
          <a:p>
            <a:r>
              <a:rPr lang="en-US" sz="2400" dirty="0"/>
              <a:t>Step angles vary from 1</a:t>
            </a:r>
            <a:r>
              <a:rPr lang="en-US" sz="2400" baseline="30000" dirty="0"/>
              <a:t>o</a:t>
            </a:r>
            <a:r>
              <a:rPr lang="en-US" sz="2400" dirty="0"/>
              <a:t> to 15</a:t>
            </a:r>
            <a:r>
              <a:rPr lang="en-US" sz="2400" baseline="30000" dirty="0"/>
              <a:t>o </a:t>
            </a:r>
            <a:r>
              <a:rPr lang="en-US" sz="2400" dirty="0"/>
              <a:t>depending on precision required (and cost)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ROL= Motor rotates anticlockwise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ROR= Motor rotates clockwise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B3D45A-467D-4CB9-B348-B00D56B31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10" y="1417639"/>
            <a:ext cx="5763490" cy="4713287"/>
          </a:xfrm>
          <a:prstGeom prst="rect">
            <a:avLst/>
          </a:prstGeo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7C8F455-F871-4CAB-95E5-35623D19F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822553"/>
              </p:ext>
            </p:extLst>
          </p:nvPr>
        </p:nvGraphicFramePr>
        <p:xfrm>
          <a:off x="1311563" y="4886959"/>
          <a:ext cx="20135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382">
                  <a:extLst>
                    <a:ext uri="{9D8B030D-6E8A-4147-A177-3AD203B41FA5}">
                      <a16:colId xmlns:a16="http://schemas.microsoft.com/office/drawing/2014/main" val="1263363630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2217364430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3882112352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2372721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184793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75D0EF-0859-472B-A523-744875B29C78}"/>
              </a:ext>
            </a:extLst>
          </p:cNvPr>
          <p:cNvCxnSpPr/>
          <p:nvPr/>
        </p:nvCxnSpPr>
        <p:spPr bwMode="auto">
          <a:xfrm flipH="1">
            <a:off x="789709" y="5072379"/>
            <a:ext cx="521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90E05D-15B0-4110-82AB-C1F90DC71D2C}"/>
              </a:ext>
            </a:extLst>
          </p:cNvPr>
          <p:cNvCxnSpPr/>
          <p:nvPr/>
        </p:nvCxnSpPr>
        <p:spPr bwMode="auto">
          <a:xfrm>
            <a:off x="789709" y="5072379"/>
            <a:ext cx="0" cy="469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998B09F-C463-432D-BE82-9577E3F1B158}"/>
              </a:ext>
            </a:extLst>
          </p:cNvPr>
          <p:cNvCxnSpPr>
            <a:cxnSpLocks/>
          </p:cNvCxnSpPr>
          <p:nvPr/>
        </p:nvCxnSpPr>
        <p:spPr bwMode="auto">
          <a:xfrm>
            <a:off x="789709" y="5541818"/>
            <a:ext cx="29233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4CC70C-8C03-406E-96C0-346296396BE5}"/>
              </a:ext>
            </a:extLst>
          </p:cNvPr>
          <p:cNvCxnSpPr/>
          <p:nvPr/>
        </p:nvCxnSpPr>
        <p:spPr bwMode="auto">
          <a:xfrm flipV="1">
            <a:off x="3740727" y="5072379"/>
            <a:ext cx="0" cy="469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F11506-8E55-4780-B224-C82CE38C0D83}"/>
              </a:ext>
            </a:extLst>
          </p:cNvPr>
          <p:cNvCxnSpPr>
            <a:endCxn id="9" idx="3"/>
          </p:cNvCxnSpPr>
          <p:nvPr/>
        </p:nvCxnSpPr>
        <p:spPr bwMode="auto">
          <a:xfrm flipH="1">
            <a:off x="3325091" y="5072379"/>
            <a:ext cx="3879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743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AF135-09FA-47ED-BF51-7DECA092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C0137-9C55-48E8-B522-D371F54A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1E6F91-3AA1-4238-B7CE-E212AA06A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09" y="346365"/>
            <a:ext cx="8894618" cy="576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08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1153A-19B9-4CB5-88E7-110882399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8607C3-4C53-49FC-AB9E-0304C215432F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ED2179-AB43-4021-AE18-F901383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F62406-E445-4AC8-8F16-C48AAA7F4B9A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5671B-DC33-497B-A50A-E6C475589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77091"/>
            <a:ext cx="9310255" cy="584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33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Stepper Motor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980729"/>
            <a:ext cx="8229600" cy="4530725"/>
          </a:xfrm>
        </p:spPr>
        <p:txBody>
          <a:bodyPr/>
          <a:lstStyle/>
          <a:p>
            <a:r>
              <a:rPr lang="en-US" sz="2400" dirty="0"/>
              <a:t>Wave Drive.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6AFD3F-8CB9-44FE-9093-779E0AF1AE82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pic>
        <p:nvPicPr>
          <p:cNvPr id="11266" name="Picture 2" descr="Stepper Motor Wave Dri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008" y="1451377"/>
            <a:ext cx="9036496" cy="186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24929" y="3737709"/>
          <a:ext cx="8229602" cy="2194560"/>
        </p:xfrm>
        <a:graphic>
          <a:graphicData uri="http://schemas.openxmlformats.org/drawingml/2006/table">
            <a:tbl>
              <a:tblPr/>
              <a:tblGrid>
                <a:gridCol w="633806">
                  <a:extLst>
                    <a:ext uri="{9D8B030D-6E8A-4147-A177-3AD203B41FA5}">
                      <a16:colId xmlns:a16="http://schemas.microsoft.com/office/drawing/2014/main" val="1924551553"/>
                    </a:ext>
                  </a:extLst>
                </a:gridCol>
                <a:gridCol w="1898126">
                  <a:extLst>
                    <a:ext uri="{9D8B030D-6E8A-4147-A177-3AD203B41FA5}">
                      <a16:colId xmlns:a16="http://schemas.microsoft.com/office/drawing/2014/main" val="2675093383"/>
                    </a:ext>
                  </a:extLst>
                </a:gridCol>
                <a:gridCol w="1899772">
                  <a:extLst>
                    <a:ext uri="{9D8B030D-6E8A-4147-A177-3AD203B41FA5}">
                      <a16:colId xmlns:a16="http://schemas.microsoft.com/office/drawing/2014/main" val="3352396309"/>
                    </a:ext>
                  </a:extLst>
                </a:gridCol>
                <a:gridCol w="1898126">
                  <a:extLst>
                    <a:ext uri="{9D8B030D-6E8A-4147-A177-3AD203B41FA5}">
                      <a16:colId xmlns:a16="http://schemas.microsoft.com/office/drawing/2014/main" val="3909831329"/>
                    </a:ext>
                  </a:extLst>
                </a:gridCol>
                <a:gridCol w="1899772">
                  <a:extLst>
                    <a:ext uri="{9D8B030D-6E8A-4147-A177-3AD203B41FA5}">
                      <a16:colId xmlns:a16="http://schemas.microsoft.com/office/drawing/2014/main" val="392253808"/>
                    </a:ext>
                  </a:extLst>
                </a:gridCol>
              </a:tblGrid>
              <a:tr h="274320"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Signal sequence for Wave Drive Stepping Mode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9017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Step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07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7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Yellow lead</a:t>
                      </a:r>
                      <a:endParaRPr lang="en-US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(End point 1 of Phase1)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Blue lead</a:t>
                      </a:r>
                      <a:endParaRPr lang="en-US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(End point 2 of Phase1)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Red lead</a:t>
                      </a:r>
                      <a:endParaRPr lang="en-US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(End point 1 of Phase2)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White lead</a:t>
                      </a:r>
                      <a:endParaRPr lang="en-US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(End point 2 of Phase2)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069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69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083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6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07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6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9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6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806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69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2578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6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6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59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5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4065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65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81234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04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6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4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6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55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B05D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65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5D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6904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0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9043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6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05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 dirty="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304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5D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145924"/>
                  </a:ext>
                </a:extLst>
              </a:tr>
            </a:tbl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024931" y="3576446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02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Stepper Motor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980729"/>
            <a:ext cx="8229600" cy="4530725"/>
          </a:xfrm>
        </p:spPr>
        <p:txBody>
          <a:bodyPr/>
          <a:lstStyle/>
          <a:p>
            <a:r>
              <a:rPr lang="en-US" sz="2400" dirty="0"/>
              <a:t>Full Drive.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6AFD3F-8CB9-44FE-9093-779E0AF1AE82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024931" y="3576446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290" name="Picture 2" descr="Stepper Motor Full Dri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1367463"/>
            <a:ext cx="8928992" cy="1949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81201" y="3682985"/>
          <a:ext cx="8229601" cy="2194560"/>
        </p:xfrm>
        <a:graphic>
          <a:graphicData uri="http://schemas.openxmlformats.org/drawingml/2006/table">
            <a:tbl>
              <a:tblPr/>
              <a:tblGrid>
                <a:gridCol w="633679">
                  <a:extLst>
                    <a:ext uri="{9D8B030D-6E8A-4147-A177-3AD203B41FA5}">
                      <a16:colId xmlns:a16="http://schemas.microsoft.com/office/drawing/2014/main" val="49486887"/>
                    </a:ext>
                  </a:extLst>
                </a:gridCol>
                <a:gridCol w="1897746">
                  <a:extLst>
                    <a:ext uri="{9D8B030D-6E8A-4147-A177-3AD203B41FA5}">
                      <a16:colId xmlns:a16="http://schemas.microsoft.com/office/drawing/2014/main" val="2556865267"/>
                    </a:ext>
                  </a:extLst>
                </a:gridCol>
                <a:gridCol w="1899392">
                  <a:extLst>
                    <a:ext uri="{9D8B030D-6E8A-4147-A177-3AD203B41FA5}">
                      <a16:colId xmlns:a16="http://schemas.microsoft.com/office/drawing/2014/main" val="2270139606"/>
                    </a:ext>
                  </a:extLst>
                </a:gridCol>
                <a:gridCol w="1897746">
                  <a:extLst>
                    <a:ext uri="{9D8B030D-6E8A-4147-A177-3AD203B41FA5}">
                      <a16:colId xmlns:a16="http://schemas.microsoft.com/office/drawing/2014/main" val="1516775859"/>
                    </a:ext>
                  </a:extLst>
                </a:gridCol>
                <a:gridCol w="1901038">
                  <a:extLst>
                    <a:ext uri="{9D8B030D-6E8A-4147-A177-3AD203B41FA5}">
                      <a16:colId xmlns:a16="http://schemas.microsoft.com/office/drawing/2014/main" val="4167025580"/>
                    </a:ext>
                  </a:extLst>
                </a:gridCol>
              </a:tblGrid>
              <a:tr h="274320"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Signal sequence for Full Drive Stepping Mode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48375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Step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0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0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Yellow lead</a:t>
                      </a:r>
                      <a:endParaRPr lang="en-US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(End point 1 of Phase1)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Blue lead</a:t>
                      </a:r>
                      <a:endParaRPr lang="en-US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(End point 2 of Phase1)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1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Red lead</a:t>
                      </a:r>
                      <a:endParaRPr lang="en-US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(End point 1 of Phase2)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0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White lead</a:t>
                      </a:r>
                      <a:endParaRPr lang="en-US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(End point 2 of Phase2)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700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0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7355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FA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0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A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02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0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01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0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00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50F9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0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F9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9209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F2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FA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F2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00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0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00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1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01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2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9001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F9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01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1162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E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0F2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E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00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0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01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02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1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F0F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01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94955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0ED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0E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D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00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1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01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01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 dirty="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F0EC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C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485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24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Stepper Motor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980729"/>
            <a:ext cx="8229600" cy="4530725"/>
          </a:xfrm>
        </p:spPr>
        <p:txBody>
          <a:bodyPr/>
          <a:lstStyle/>
          <a:p>
            <a:r>
              <a:rPr lang="en-US" sz="2400" dirty="0"/>
              <a:t>Half Drive.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6AFD3F-8CB9-44FE-9093-779E0AF1AE82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024931" y="3576446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3314" name="Picture 2" descr="Stepper Motor Half Dri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937" y="1417638"/>
            <a:ext cx="9072803" cy="4459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101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Stepper Motor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980729"/>
            <a:ext cx="8229600" cy="4530725"/>
          </a:xfrm>
        </p:spPr>
        <p:txBody>
          <a:bodyPr/>
          <a:lstStyle/>
          <a:p>
            <a:r>
              <a:rPr lang="en-US" sz="2400" dirty="0"/>
              <a:t>Half Drive.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6AFD3F-8CB9-44FE-9093-779E0AF1AE82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024931" y="3576446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80118" y="1916832"/>
          <a:ext cx="8229601" cy="3291840"/>
        </p:xfrm>
        <a:graphic>
          <a:graphicData uri="http://schemas.openxmlformats.org/drawingml/2006/table">
            <a:tbl>
              <a:tblPr/>
              <a:tblGrid>
                <a:gridCol w="633679">
                  <a:extLst>
                    <a:ext uri="{9D8B030D-6E8A-4147-A177-3AD203B41FA5}">
                      <a16:colId xmlns:a16="http://schemas.microsoft.com/office/drawing/2014/main" val="682876876"/>
                    </a:ext>
                  </a:extLst>
                </a:gridCol>
                <a:gridCol w="1897746">
                  <a:extLst>
                    <a:ext uri="{9D8B030D-6E8A-4147-A177-3AD203B41FA5}">
                      <a16:colId xmlns:a16="http://schemas.microsoft.com/office/drawing/2014/main" val="2990543962"/>
                    </a:ext>
                  </a:extLst>
                </a:gridCol>
                <a:gridCol w="1899392">
                  <a:extLst>
                    <a:ext uri="{9D8B030D-6E8A-4147-A177-3AD203B41FA5}">
                      <a16:colId xmlns:a16="http://schemas.microsoft.com/office/drawing/2014/main" val="3563298309"/>
                    </a:ext>
                  </a:extLst>
                </a:gridCol>
                <a:gridCol w="1897746">
                  <a:extLst>
                    <a:ext uri="{9D8B030D-6E8A-4147-A177-3AD203B41FA5}">
                      <a16:colId xmlns:a16="http://schemas.microsoft.com/office/drawing/2014/main" val="1857422914"/>
                    </a:ext>
                  </a:extLst>
                </a:gridCol>
                <a:gridCol w="1901038">
                  <a:extLst>
                    <a:ext uri="{9D8B030D-6E8A-4147-A177-3AD203B41FA5}">
                      <a16:colId xmlns:a16="http://schemas.microsoft.com/office/drawing/2014/main" val="1870494629"/>
                    </a:ext>
                  </a:extLst>
                </a:gridCol>
              </a:tblGrid>
              <a:tr h="274320"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Signal sequence for Half Drive Stepping Mode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87485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Step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097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97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Yellow lead</a:t>
                      </a:r>
                      <a:endParaRPr lang="en-US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(End point 1 of Phase1)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C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Blue lead</a:t>
                      </a:r>
                      <a:endParaRPr lang="en-US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(End point 2 of Phase1)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E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Red lead</a:t>
                      </a:r>
                      <a:endParaRPr lang="en-US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(End point 1 of Phase2)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White lead</a:t>
                      </a:r>
                      <a:endParaRPr lang="en-US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(End point 2 of Phase2)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F0A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CC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A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2526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0A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97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0DC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D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0E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E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20A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A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A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89101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0A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0A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A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D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E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D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E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F09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A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2434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B0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0A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B0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E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F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D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D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E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20A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2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A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6184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0B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B0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0F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E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D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D5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0D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E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80B0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A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B0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4997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0B6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B8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6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0E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D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D5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0E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C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C0AD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B0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AD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77932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B0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0B6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B0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D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D5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0D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D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0DC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F0B3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AD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3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3419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0B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B0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D5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D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F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E9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E0DD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3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7111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0B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0B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0D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F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A0E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F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800" dirty="0"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C0E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07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00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7AC4C-9246-43C3-9B21-96BD6E724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A4A3D-0F1E-4522-BCCC-BC2BD128F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 the code to operate the stepper motor in half step mode.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52D12-D682-4A96-8273-A725FDB2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Sunday, July 5, 2020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B57E7-CA94-4D40-9A1E-10DD57BA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06051147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346</Words>
  <Application>Microsoft Office PowerPoint</Application>
  <PresentationFormat>Widescreen</PresentationFormat>
  <Paragraphs>158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Garamond</vt:lpstr>
      <vt:lpstr>Wingdings</vt:lpstr>
      <vt:lpstr>Edge</vt:lpstr>
      <vt:lpstr> Microprocessor Systems and Interfacing CPE 342</vt:lpstr>
      <vt:lpstr>PPI Applications</vt:lpstr>
      <vt:lpstr>Stepper Motor Interface</vt:lpstr>
      <vt:lpstr>PowerPoint Presentation</vt:lpstr>
      <vt:lpstr>PowerPoint Presentation</vt:lpstr>
      <vt:lpstr>Stepper Motor</vt:lpstr>
      <vt:lpstr>Stepper Motor</vt:lpstr>
      <vt:lpstr>Stepper Motor</vt:lpstr>
      <vt:lpstr>Stepper Motor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Microprocessor Systems and Interfacing CPE 342</dc:title>
  <dc:creator>Dr. Abbas Javed</dc:creator>
  <cp:lastModifiedBy>Dr. Abbas Javed</cp:lastModifiedBy>
  <cp:revision>32</cp:revision>
  <dcterms:created xsi:type="dcterms:W3CDTF">2020-06-28T09:03:31Z</dcterms:created>
  <dcterms:modified xsi:type="dcterms:W3CDTF">2020-07-05T10:27:26Z</dcterms:modified>
</cp:coreProperties>
</file>