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71" r:id="rId2"/>
    <p:sldId id="455" r:id="rId3"/>
    <p:sldId id="456" r:id="rId4"/>
    <p:sldId id="754" r:id="rId5"/>
    <p:sldId id="457" r:id="rId6"/>
    <p:sldId id="458" r:id="rId7"/>
    <p:sldId id="459" r:id="rId8"/>
    <p:sldId id="460" r:id="rId9"/>
    <p:sldId id="461" r:id="rId10"/>
    <p:sldId id="760" r:id="rId11"/>
    <p:sldId id="755" r:id="rId12"/>
    <p:sldId id="756" r:id="rId13"/>
    <p:sldId id="757" r:id="rId14"/>
    <p:sldId id="758" r:id="rId15"/>
    <p:sldId id="7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208B1-7C0F-4323-B5A1-ED966378F1A8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5BB01-C31C-499C-8B08-94F18E076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4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0DA072-B388-4DB3-8DD6-71C62DF7C707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9" name="Date Placeholder 1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4C29FC-EA70-4525-AFAB-0FEF2688008C}" type="datetime2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Thursday, October 16, 2025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4EE06-E6DC-42E5-8DC0-729E146A98DD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C8281-B950-41B6-8614-1858D4C134F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079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659D-25DE-4303-8EC9-DEE39B9369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26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19C95-189C-44E6-B5F3-CF6CCE8B4929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9FC8-D509-4934-8C4A-5412CD8D71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37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1812B-2714-48FE-9657-8708966D54B1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3DDA8-1B87-423F-AA3B-C6155654888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852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32574-7E39-42C4-8F99-A6ED02598E20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BFE9D-AC3C-4D08-9815-05EFAB45E1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388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8D32E-FA31-4F80-ADA4-AF7CC7647FB2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C2509-EFA9-4DC4-A082-EB872053A9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479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07C3-4C53-49FC-AB9E-0304C215432F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62406-E445-4AC8-8F16-C48AAA7F4B9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3730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00B84-6991-49A6-BF3A-0859464F9285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C5D72F-8089-4C3C-AAA9-6445CDEF92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767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94924-ADC8-44CF-84B6-ACEAE13D55B8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31A61-928C-4050-B98D-D628B89D75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0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DCEBE-B9D6-48D9-A807-9F7FFDE3F296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D5F1C-6F76-4B68-B11F-2BD62576B61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9523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B2C52-0D06-4C77-B8FC-0490ACBCFC74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EC75-3132-4886-B059-FB8F3F4A7D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718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fld id="{4E158536-FF7A-486F-8116-8A55A05AADDD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Copyright 2016, M. Hassan Aslam (CIIT)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E3185260-908C-490C-923E-52BE830C3B7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747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1" y="1524000"/>
            <a:ext cx="7623175" cy="2120900"/>
          </a:xfrm>
        </p:spPr>
        <p:txBody>
          <a:bodyPr/>
          <a:lstStyle/>
          <a:p>
            <a:pPr algn="ctr" eaLnBrk="1" hangingPunct="1"/>
            <a:br>
              <a:rPr lang="en-US" altLang="en-US" sz="3600" b="1" dirty="0">
                <a:solidFill>
                  <a:srgbClr val="060AAA"/>
                </a:solidFill>
              </a:rPr>
            </a:br>
            <a:r>
              <a:rPr lang="en-US" altLang="en-US" sz="3600" b="1" dirty="0">
                <a:solidFill>
                  <a:srgbClr val="060AAA"/>
                </a:solidFill>
              </a:rPr>
              <a:t>Microcontroller/Microprocessor Based Systems</a:t>
            </a:r>
            <a:endParaRPr lang="en-US" altLang="en-US" sz="2800" b="1" dirty="0">
              <a:solidFill>
                <a:srgbClr val="060AAA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951288"/>
            <a:ext cx="9144000" cy="1987550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8255 Programmable Peripheral Interface</a:t>
            </a:r>
            <a:endParaRPr lang="fr-FR" alt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60AAA"/>
                </a:solidFill>
              </a:rPr>
              <a:t>Outline</a:t>
            </a:r>
          </a:p>
          <a:p>
            <a:pPr marL="695325" lvl="2" indent="-342900">
              <a:lnSpc>
                <a:spcPct val="90000"/>
              </a:lnSpc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Pins </a:t>
            </a:r>
          </a:p>
          <a:p>
            <a:pPr marL="695325" lvl="2" indent="-342900">
              <a:lnSpc>
                <a:spcPct val="90000"/>
              </a:lnSpc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Modes</a:t>
            </a:r>
          </a:p>
          <a:p>
            <a:pPr marL="695325" lvl="2" indent="-342900">
              <a:lnSpc>
                <a:spcPct val="90000"/>
              </a:lnSpc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Interfacing with 8088/8086 CPU</a:t>
            </a:r>
            <a:endParaRPr lang="en-US" altLang="en-US" dirty="0"/>
          </a:p>
          <a:p>
            <a:pPr marL="742950" lvl="1" indent="-285750" eaLnBrk="1" hangingPunct="1">
              <a:lnSpc>
                <a:spcPct val="90000"/>
              </a:lnSpc>
              <a:buNone/>
            </a:pPr>
            <a:r>
              <a:rPr lang="fr-FR" altLang="en-US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7CA9EAF-760A-4F6B-B7B9-BDBEA538AEBE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F62406-E445-4AC8-8F16-C48AAA7F4B9A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1FF685-E7E6-4D00-83BA-DD414ECF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Intel 8255 Programmable Peripheral Interface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E7DF7E-F90C-433C-8D70-C26197814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53072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33339B"/>
                </a:solidFill>
                <a:latin typeface="ArialMT"/>
              </a:rPr>
              <a:t>PPI = Programmable Peripheral Interface</a:t>
            </a:r>
            <a:endParaRPr lang="en-US" dirty="0"/>
          </a:p>
          <a:p>
            <a:r>
              <a:rPr lang="en-US" dirty="0"/>
              <a:t>The 8255 allows the microprocessor to communicate with the outside world through three programmable 8-bit wide I/O ports</a:t>
            </a:r>
          </a:p>
          <a:p>
            <a:r>
              <a:rPr lang="en-US" dirty="0"/>
              <a:t>The PC uses a few 82C55 (in the chip set) to control the keyboard, speaker, and parallel port</a:t>
            </a:r>
          </a:p>
          <a:p>
            <a:r>
              <a:rPr lang="en-US" dirty="0"/>
              <a:t>The 8255 PPI is available in DIP or surface mount forms</a:t>
            </a:r>
          </a:p>
          <a:p>
            <a:r>
              <a:rPr lang="en-US" dirty="0"/>
              <a:t>Also implemented as functions within modern interface chip sets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9BAFD-B39F-4D46-8BB0-7B5B43E6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8607C3-4C53-49FC-AB9E-0304C215432F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A1C681-BE5C-40A7-9A5E-60090649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F62406-E445-4AC8-8F16-C48AAA7F4B9A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578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6600"/>
                </a:solidFill>
                <a:latin typeface="Cambria" panose="02040503050406030204" pitchFamily="18" charset="0"/>
              </a:rPr>
              <a:t>Important pins of PPI</a:t>
            </a:r>
            <a:endParaRPr lang="en-GB" sz="3600" b="1" dirty="0">
              <a:solidFill>
                <a:srgbClr val="006600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33600" y="1295401"/>
                <a:ext cx="8229600" cy="4525963"/>
              </a:xfrm>
            </p:spPr>
            <p:txBody>
              <a:bodyPr>
                <a:noAutofit/>
              </a:bodyPr>
              <a:lstStyle/>
              <a:p>
                <a:pPr marL="695325" lvl="2" indent="-34290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RD</m:t>
                        </m:r>
                      </m:e>
                    </m:acc>
                  </m:oMath>
                </a14:m>
                <a:endParaRPr lang="en-GB" sz="2800" dirty="0"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695325" lvl="2" indent="-34290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WR</m:t>
                        </m:r>
                      </m:e>
                    </m:acc>
                  </m:oMath>
                </a14:m>
                <a:endParaRPr lang="en-GB" sz="2800" dirty="0"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695325" lvl="2" indent="-342900"/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A1, A0</a:t>
                </a:r>
              </a:p>
              <a:p>
                <a:pPr marL="695325" lvl="2" indent="-342900"/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RESET</a:t>
                </a:r>
              </a:p>
              <a:p>
                <a:pPr marL="695325" lvl="2" indent="-342900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CS</m:t>
                        </m:r>
                      </m:e>
                    </m:acc>
                  </m:oMath>
                </a14:m>
                <a:endParaRPr lang="en-GB" sz="2800" dirty="0"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695325" lvl="2" indent="-342900"/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Data bus (D7…D0)</a:t>
                </a:r>
              </a:p>
              <a:p>
                <a:pPr marL="695325" lvl="2" indent="-342900"/>
                <a:r>
                  <a:rPr lang="en-US" sz="28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PortA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(PA7…PA0)</a:t>
                </a:r>
              </a:p>
              <a:p>
                <a:pPr marL="695325" lvl="2" indent="-342900"/>
                <a:r>
                  <a:rPr lang="en-US" sz="28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PortB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(PB7…PB0)</a:t>
                </a:r>
              </a:p>
              <a:p>
                <a:pPr marL="695325" lvl="2" indent="-342900"/>
                <a:r>
                  <a:rPr lang="en-US" sz="28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PortC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(PC7…PC0)</a:t>
                </a:r>
                <a:endParaRPr lang="en-GB" sz="2800" dirty="0"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3600" y="1295401"/>
                <a:ext cx="8229600" cy="4525963"/>
              </a:xfrm>
              <a:blipFill>
                <a:blip r:embed="rId4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9E02F8-8769-414C-A47D-21B920838AF4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5A116-2AC8-4BDF-826C-E09A2D0EC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973" y="835925"/>
            <a:ext cx="3440317" cy="518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6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D5AD-943F-4CBB-A12E-137827A8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47C1-E3E4-41ED-8815-82D9015F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7D163-F7F8-4B00-974D-7C26AE71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AE90E8B-E93A-4867-803A-555EB29BB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452" y="277814"/>
            <a:ext cx="10864948" cy="585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0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370C0-47CA-4839-8FD5-9537C9C7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7D0D6A-7E0C-465F-8C29-AF77A0AE6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755" y="277814"/>
            <a:ext cx="6862343" cy="58531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78657-D55C-45D2-B717-0D27E25D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32876-8009-4DEC-94D2-F507D970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4741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0A17-B5A9-431B-8669-D041ACF5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Ports Assignment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84C14-5C78-4C1A-9B2D-D7F5B676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BE347-AB77-415E-86F5-7A8A9FF1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6EDC5-E833-4D68-8DF4-A11A8727D9E8}"/>
              </a:ext>
            </a:extLst>
          </p:cNvPr>
          <p:cNvSpPr txBox="1"/>
          <p:nvPr/>
        </p:nvSpPr>
        <p:spPr>
          <a:xfrm>
            <a:off x="891262" y="4318041"/>
            <a:ext cx="4017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Writing into this register programs the various ports to operate in various modes and be used as either inputs or outputs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8BB72A-49C8-4C8B-9963-75CB7DD3E39D}"/>
              </a:ext>
            </a:extLst>
          </p:cNvPr>
          <p:cNvCxnSpPr/>
          <p:nvPr/>
        </p:nvCxnSpPr>
        <p:spPr bwMode="auto">
          <a:xfrm>
            <a:off x="5739063" y="5145905"/>
            <a:ext cx="914400" cy="914400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2EFB3D-9C05-479C-96BC-2ECEBA75597F}"/>
              </a:ext>
            </a:extLst>
          </p:cNvPr>
          <p:cNvCxnSpPr>
            <a:cxnSpLocks/>
          </p:cNvCxnSpPr>
          <p:nvPr/>
        </p:nvCxnSpPr>
        <p:spPr bwMode="auto">
          <a:xfrm>
            <a:off x="4730415" y="4851449"/>
            <a:ext cx="2873543" cy="590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E7C11F5-FD2B-4FA6-A018-97C08ABDE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1953" y="1861460"/>
            <a:ext cx="4444369" cy="39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4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80015-D18D-4852-B852-B631BA70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 of PPI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7D5FD-6F6D-4521-A429-44067D1A5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748211" cy="4530725"/>
          </a:xfrm>
        </p:spPr>
        <p:txBody>
          <a:bodyPr/>
          <a:lstStyle/>
          <a:p>
            <a:r>
              <a:rPr lang="en-US" sz="3200" dirty="0">
                <a:solidFill>
                  <a:srgbClr val="3333FF"/>
                </a:solidFill>
                <a:latin typeface="ArialMT"/>
              </a:rPr>
              <a:t>Group A </a:t>
            </a:r>
            <a:r>
              <a:rPr lang="en-US" sz="3200" dirty="0">
                <a:solidFill>
                  <a:srgbClr val="000000"/>
                </a:solidFill>
                <a:latin typeface="ArialMT"/>
              </a:rPr>
              <a:t>is Port A and upper ½ of Port C (PC7-PC4).</a:t>
            </a:r>
          </a:p>
          <a:p>
            <a:r>
              <a:rPr lang="en-US" sz="3200" dirty="0">
                <a:solidFill>
                  <a:srgbClr val="3333FF"/>
                </a:solidFill>
                <a:latin typeface="ArialMT"/>
              </a:rPr>
              <a:t>Group B </a:t>
            </a:r>
            <a:r>
              <a:rPr lang="en-US" sz="3200" dirty="0">
                <a:solidFill>
                  <a:srgbClr val="000000"/>
                </a:solidFill>
                <a:latin typeface="ArialMT"/>
              </a:rPr>
              <a:t>is Port B and lower ½ of Port C (PC3-PC0).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B1D65-F58F-4CA1-BF33-728E4D07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9FEFA-CF25-4054-A9E5-A1F4D953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2840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4ACD-BB8F-4000-8492-5902C6C6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-74277"/>
            <a:ext cx="10972800" cy="11398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6ED97F-0D4D-4B94-B347-4F5BB1328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896" y="252665"/>
            <a:ext cx="9565104" cy="58662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36D2-E520-4EF5-BC37-25B27570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C74C31-28F7-4DF5-8A61-F122F01E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8550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C9CE-AF5A-4F0B-BC69-713FC7E2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A9F1-95BE-485E-8BF3-3024DE22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800" dirty="0"/>
              <a:t>Lecture 3- Week 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7F87-F72F-4152-BB3A-5DE10111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A63ED-28B0-4C7E-A2C9-EF6ECADF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7390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96CB-1248-4ADF-99AC-1C3C8C06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PPI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846DF0-8180-4E0B-8896-E7D219BF0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7011" y="1417639"/>
            <a:ext cx="4871453" cy="442970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6F82B-9B29-4274-AB4D-76901777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F907E-4F6F-4BE2-9A94-C5632AED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13163-3934-4A26-800D-E66A29EDB5B5}"/>
              </a:ext>
            </a:extLst>
          </p:cNvPr>
          <p:cNvSpPr txBox="1"/>
          <p:nvPr/>
        </p:nvSpPr>
        <p:spPr>
          <a:xfrm>
            <a:off x="609600" y="1660358"/>
            <a:ext cx="4515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FF"/>
                </a:solidFill>
                <a:latin typeface="ArialMT"/>
              </a:rPr>
              <a:t>Using one internal register</a:t>
            </a:r>
          </a:p>
          <a:p>
            <a:r>
              <a:rPr lang="en-US" dirty="0">
                <a:solidFill>
                  <a:srgbClr val="3333FF"/>
                </a:solidFill>
                <a:latin typeface="ArialMT"/>
              </a:rPr>
              <a:t>• If bit 7 = 1 select format for Command Byte A</a:t>
            </a:r>
          </a:p>
          <a:p>
            <a:r>
              <a:rPr lang="en-US" dirty="0">
                <a:solidFill>
                  <a:srgbClr val="3333FF"/>
                </a:solidFill>
                <a:latin typeface="ArialMT"/>
              </a:rPr>
              <a:t>• If bit 7 = 0 select format for Command Byte B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AEEB17-B198-4C1B-A8F1-75AF3395C258}"/>
              </a:ext>
            </a:extLst>
          </p:cNvPr>
          <p:cNvSpPr/>
          <p:nvPr/>
        </p:nvSpPr>
        <p:spPr>
          <a:xfrm>
            <a:off x="609600" y="340019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CD3300"/>
                </a:solidFill>
                <a:latin typeface="ArialMT"/>
              </a:rPr>
              <a:t>Bit 7 = 1: Command Byte A:</a:t>
            </a:r>
          </a:p>
          <a:p>
            <a:r>
              <a:rPr lang="en-US" dirty="0">
                <a:solidFill>
                  <a:srgbClr val="CD3300"/>
                </a:solidFill>
                <a:latin typeface="ArialMT"/>
              </a:rPr>
              <a:t>• Programs Groups A and B (as defined</a:t>
            </a:r>
          </a:p>
          <a:p>
            <a:r>
              <a:rPr lang="en-US" dirty="0">
                <a:solidFill>
                  <a:srgbClr val="CD3300"/>
                </a:solidFill>
                <a:latin typeface="ArialMT"/>
              </a:rPr>
              <a:t>in terms of ports A, B, C - previous slide):</a:t>
            </a:r>
          </a:p>
          <a:p>
            <a:r>
              <a:rPr lang="en-US" dirty="0">
                <a:solidFill>
                  <a:srgbClr val="CD3300"/>
                </a:solidFill>
                <a:latin typeface="ArialMT"/>
              </a:rPr>
              <a:t>- as either inputs or outputs</a:t>
            </a:r>
          </a:p>
          <a:p>
            <a:r>
              <a:rPr lang="en-US" dirty="0">
                <a:solidFill>
                  <a:srgbClr val="CD3300"/>
                </a:solidFill>
                <a:latin typeface="ArialMT"/>
              </a:rPr>
              <a:t>- in either modes 0, 1, or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53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A27F-8ACB-430E-9DEB-6F471C17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PPI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2DB635-3C67-45EF-A034-83307851C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8415" y="1600201"/>
            <a:ext cx="4735922" cy="30680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5A3CD-CE1A-48F2-8078-96C542C4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311CA-BAE8-455B-94AC-D7B43346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B0A149-F0CF-4D79-9AEB-17FB562A8BC9}"/>
              </a:ext>
            </a:extLst>
          </p:cNvPr>
          <p:cNvSpPr/>
          <p:nvPr/>
        </p:nvSpPr>
        <p:spPr>
          <a:xfrm>
            <a:off x="609600" y="2907308"/>
            <a:ext cx="52738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00"/>
                </a:solidFill>
                <a:latin typeface="ArialMT"/>
              </a:rPr>
              <a:t>Bit 7 = 0: Command Byte B:</a:t>
            </a:r>
          </a:p>
          <a:p>
            <a:r>
              <a:rPr lang="en-US" dirty="0">
                <a:solidFill>
                  <a:srgbClr val="333300"/>
                </a:solidFill>
                <a:latin typeface="ArialMT"/>
              </a:rPr>
              <a:t>• Sets (to 1) or Clears (to 0) the specified one</a:t>
            </a:r>
          </a:p>
          <a:p>
            <a:r>
              <a:rPr lang="en-US" dirty="0">
                <a:solidFill>
                  <a:srgbClr val="333300"/>
                </a:solidFill>
                <a:latin typeface="ArialMT"/>
              </a:rPr>
              <a:t>of 8 bits of port C (in modes 1 and 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554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F4B4-FFDF-4D75-A952-009DA3FB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PPI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6E8DC-C4F2-4BC0-B051-3948311C4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rgbClr val="000000"/>
                </a:solidFill>
                <a:latin typeface="ArialMT"/>
              </a:rPr>
              <a:t>Mode 0 (for groups A &amp; B)- the most commonly used mode: </a:t>
            </a:r>
            <a:r>
              <a:rPr lang="en-US" sz="3200" dirty="0">
                <a:solidFill>
                  <a:srgbClr val="CD00CD"/>
                </a:solidFill>
                <a:latin typeface="ArialMT"/>
              </a:rPr>
              <a:t>All 12 bits </a:t>
            </a:r>
            <a:r>
              <a:rPr lang="en-US" sz="3200" dirty="0">
                <a:solidFill>
                  <a:srgbClr val="000000"/>
                </a:solidFill>
                <a:latin typeface="ArialMT"/>
              </a:rPr>
              <a:t>of the group are simple inputs or simple latched outputs</a:t>
            </a:r>
          </a:p>
          <a:p>
            <a:r>
              <a:rPr lang="en-US" sz="3200" dirty="0">
                <a:solidFill>
                  <a:srgbClr val="000000"/>
                </a:solidFill>
                <a:latin typeface="ArialMT"/>
              </a:rPr>
              <a:t>Mode 1 (for groups A &amp; B)- is used occasionally to provide </a:t>
            </a:r>
            <a:r>
              <a:rPr lang="en-US" sz="3200" dirty="0">
                <a:solidFill>
                  <a:srgbClr val="33339B"/>
                </a:solidFill>
                <a:latin typeface="ArialMT"/>
              </a:rPr>
              <a:t>handshaking </a:t>
            </a:r>
            <a:r>
              <a:rPr lang="en-US" sz="3200" dirty="0">
                <a:solidFill>
                  <a:srgbClr val="000000"/>
                </a:solidFill>
                <a:latin typeface="ArialMT"/>
              </a:rPr>
              <a:t>to an I/O device and operate asynchronously with the device. Most Port C bits are </a:t>
            </a:r>
            <a:r>
              <a:rPr lang="en-US" sz="3200" dirty="0">
                <a:solidFill>
                  <a:srgbClr val="CD3300"/>
                </a:solidFill>
                <a:latin typeface="ArialMT"/>
              </a:rPr>
              <a:t>dedicated </a:t>
            </a:r>
            <a:r>
              <a:rPr lang="en-US" sz="3200" dirty="0">
                <a:solidFill>
                  <a:srgbClr val="000000"/>
                </a:solidFill>
                <a:latin typeface="ArialMT"/>
              </a:rPr>
              <a:t>for handshake functions for the operation. A few are controlled separately using the Command byte B format for handshaking I/O.</a:t>
            </a:r>
          </a:p>
          <a:p>
            <a:r>
              <a:rPr lang="en-US" sz="3200" dirty="0">
                <a:solidFill>
                  <a:srgbClr val="000000"/>
                </a:solidFill>
                <a:latin typeface="ArialMT"/>
              </a:rPr>
              <a:t>Mode 2 (</a:t>
            </a:r>
            <a:r>
              <a:rPr lang="en-US" sz="3200" dirty="0">
                <a:solidFill>
                  <a:srgbClr val="3333FF"/>
                </a:solidFill>
                <a:latin typeface="ArialMT"/>
              </a:rPr>
              <a:t>for group A only- Group B not used</a:t>
            </a:r>
            <a:r>
              <a:rPr lang="en-US" sz="3200" dirty="0">
                <a:solidFill>
                  <a:srgbClr val="000000"/>
                </a:solidFill>
                <a:latin typeface="ArialMT"/>
              </a:rPr>
              <a:t>)- is a </a:t>
            </a:r>
            <a:r>
              <a:rPr lang="en-US" sz="3200" dirty="0">
                <a:solidFill>
                  <a:srgbClr val="FF0000"/>
                </a:solidFill>
                <a:latin typeface="ArialMT"/>
              </a:rPr>
              <a:t>bidirectional </a:t>
            </a:r>
            <a:r>
              <a:rPr lang="en-US" sz="3200" dirty="0">
                <a:solidFill>
                  <a:srgbClr val="000000"/>
                </a:solidFill>
                <a:latin typeface="ArialMT"/>
              </a:rPr>
              <a:t>mode for Port A only (Port B is not used). Port C provides handshaking signals.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5F311-558C-4D7C-86C4-9777BF61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D9C78-B59C-4E6F-9305-07BD4B91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6762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FFFA-8911-4EF9-B060-C8C22629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F5D745-9C98-498D-91B5-538F0B221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197" y="277814"/>
            <a:ext cx="8584441" cy="58531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A17C2-60A9-4A55-888D-A6B191EF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D8190-4C1A-41B9-90AE-DE935248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1103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AA54-5DAC-4617-B024-EA92657B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6CE0C2-96AA-4031-9594-1223F3FAC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9039" y="1641719"/>
            <a:ext cx="4722125" cy="44588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CB0D8-4D8B-4351-B9FD-0CA0F4C7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1FBEB3-B3C3-43A2-A6C3-29DCBFFEAB43}" type="datetime2">
              <a:rPr lang="en-US" altLang="en-US" smtClean="0"/>
              <a:t>Thursday, October 16, 2025</a:t>
            </a:fld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32F1A-5D1F-4C85-B674-32CBAAAC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7659D-25DE-4303-8EC9-DEE39B93694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C8A9F5-63D8-4C1A-A448-9B460BFC3EE1}"/>
              </a:ext>
            </a:extLst>
          </p:cNvPr>
          <p:cNvSpPr/>
          <p:nvPr/>
        </p:nvSpPr>
        <p:spPr>
          <a:xfrm>
            <a:off x="609600" y="1498629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MT"/>
              </a:rPr>
              <a:t>To program the command register of the 82C55 and select operation use command byte 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MT"/>
              </a:rPr>
              <a:t>For example, to program </a:t>
            </a:r>
            <a:r>
              <a:rPr lang="en-US" sz="2800" dirty="0">
                <a:solidFill>
                  <a:srgbClr val="3333FF"/>
                </a:solidFill>
                <a:latin typeface="ArialMT"/>
              </a:rPr>
              <a:t>all the ports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as </a:t>
            </a:r>
            <a:r>
              <a:rPr lang="en-US" sz="2800" dirty="0">
                <a:solidFill>
                  <a:srgbClr val="CD3300"/>
                </a:solidFill>
                <a:latin typeface="ArialMT"/>
              </a:rPr>
              <a:t>outputs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and in </a:t>
            </a:r>
            <a:r>
              <a:rPr lang="en-US" sz="2800" dirty="0">
                <a:solidFill>
                  <a:srgbClr val="33339B"/>
                </a:solidFill>
                <a:latin typeface="ArialMT"/>
              </a:rPr>
              <a:t>mode 0 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(the most common mode) use: MOV AL,</a:t>
            </a:r>
            <a:r>
              <a:rPr lang="en-US" sz="2800" dirty="0">
                <a:solidFill>
                  <a:srgbClr val="FF0000"/>
                </a:solidFill>
                <a:latin typeface="ArialMT"/>
              </a:rPr>
              <a:t>80</a:t>
            </a:r>
            <a:r>
              <a:rPr lang="en-US" sz="2800" dirty="0">
                <a:solidFill>
                  <a:srgbClr val="000000"/>
                </a:solidFill>
                <a:latin typeface="ArialMT"/>
              </a:rPr>
              <a:t>H</a:t>
            </a:r>
          </a:p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     MOV DX,COMMAND_PORT</a:t>
            </a:r>
          </a:p>
          <a:p>
            <a:r>
              <a:rPr lang="en-US" sz="2800" dirty="0">
                <a:solidFill>
                  <a:srgbClr val="000000"/>
                </a:solidFill>
                <a:latin typeface="ArialMT"/>
              </a:rPr>
              <a:t>     OUT DX,AL</a:t>
            </a:r>
          </a:p>
          <a:p>
            <a:endParaRPr lang="en-US" dirty="0">
              <a:solidFill>
                <a:srgbClr val="3333FF"/>
              </a:solidFill>
              <a:latin typeface="ArialMT"/>
            </a:endParaRPr>
          </a:p>
          <a:p>
            <a:r>
              <a:rPr lang="en-US" dirty="0">
                <a:solidFill>
                  <a:srgbClr val="3333FF"/>
                </a:solidFill>
                <a:latin typeface="ArialMT"/>
              </a:rPr>
              <a:t>= C6H in slide 9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6B14B5-B4C3-435D-B4F7-D13F3D0E6DE6}"/>
              </a:ext>
            </a:extLst>
          </p:cNvPr>
          <p:cNvCxnSpPr/>
          <p:nvPr/>
        </p:nvCxnSpPr>
        <p:spPr bwMode="auto">
          <a:xfrm flipV="1">
            <a:off x="2893325" y="2306471"/>
            <a:ext cx="3794078" cy="1856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CCC89D-1645-4893-870C-693B537C5F90}"/>
              </a:ext>
            </a:extLst>
          </p:cNvPr>
          <p:cNvCxnSpPr/>
          <p:nvPr/>
        </p:nvCxnSpPr>
        <p:spPr bwMode="auto">
          <a:xfrm flipV="1">
            <a:off x="2292824" y="4967785"/>
            <a:ext cx="996286" cy="6823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42248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514</Words>
  <Application>Microsoft Office PowerPoint</Application>
  <PresentationFormat>Widescreen</PresentationFormat>
  <Paragraphs>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ArialMT</vt:lpstr>
      <vt:lpstr>Calibri</vt:lpstr>
      <vt:lpstr>Cambria</vt:lpstr>
      <vt:lpstr>Cambria Math</vt:lpstr>
      <vt:lpstr>Garamond</vt:lpstr>
      <vt:lpstr>Wingdings</vt:lpstr>
      <vt:lpstr>Edge</vt:lpstr>
      <vt:lpstr> Microcontroller/Microprocessor Based Systems</vt:lpstr>
      <vt:lpstr>Intel 8255 Programmable Peripheral Interface</vt:lpstr>
      <vt:lpstr>Intel 8255 Programmable Peripheral Interface</vt:lpstr>
      <vt:lpstr>Important pins of PPI</vt:lpstr>
      <vt:lpstr>PowerPoint Presentation</vt:lpstr>
      <vt:lpstr>PowerPoint Presentation</vt:lpstr>
      <vt:lpstr>I/O Ports Assignment</vt:lpstr>
      <vt:lpstr>Groups of PPI Lines</vt:lpstr>
      <vt:lpstr>PowerPoint Presentation</vt:lpstr>
      <vt:lpstr>PowerPoint Presentation</vt:lpstr>
      <vt:lpstr>Programming PPI</vt:lpstr>
      <vt:lpstr>Programming PPI</vt:lpstr>
      <vt:lpstr>PPI Modes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Microprocessor Systems and Interfacing CPE 342</dc:title>
  <dc:creator>Dr. Abbas Javed</dc:creator>
  <cp:lastModifiedBy>Dr. Abbas Javed</cp:lastModifiedBy>
  <cp:revision>11</cp:revision>
  <dcterms:created xsi:type="dcterms:W3CDTF">2020-06-28T09:03:31Z</dcterms:created>
  <dcterms:modified xsi:type="dcterms:W3CDTF">2025-10-16T13:19:47Z</dcterms:modified>
</cp:coreProperties>
</file>