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71" r:id="rId2"/>
    <p:sldId id="455" r:id="rId3"/>
    <p:sldId id="460" r:id="rId4"/>
    <p:sldId id="449" r:id="rId5"/>
    <p:sldId id="456" r:id="rId6"/>
    <p:sldId id="457" r:id="rId7"/>
    <p:sldId id="458" r:id="rId8"/>
    <p:sldId id="462" r:id="rId9"/>
    <p:sldId id="463" r:id="rId10"/>
    <p:sldId id="464" r:id="rId11"/>
    <p:sldId id="465" r:id="rId12"/>
    <p:sldId id="4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8" d="100"/>
          <a:sy n="78" d="100"/>
        </p:scale>
        <p:origin x="-276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208B1-7C0F-4323-B5A1-ED966378F1A8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E5BB01-C31C-499C-8B08-94F18E076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24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0DA072-B388-4DB3-8DD6-71C62DF7C707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9" name="Date Placeholder 1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4C29FC-EA70-4525-AFAB-0FEF2688008C}" type="datetime2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Thursday, May 9, 2024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4EE06-E6DC-42E5-8DC0-729E146A98DD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C8281-B950-41B6-8614-1858D4C134F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6079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FBEB3-B3C3-43A2-A6C3-29DCBFFEAB43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7659D-25DE-4303-8EC9-DEE39B93694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4226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19C95-189C-44E6-B5F3-CF6CCE8B4929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659FC8-D509-4934-8C4A-5412CD8D71F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2379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11812B-2714-48FE-9657-8708966D54B1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3DDA8-1B87-423F-AA3B-C6155654888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5852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32574-7E39-42C4-8F99-A6ED02598E20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BFE9D-AC3C-4D08-9815-05EFAB45E1A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73885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8D32E-FA31-4F80-ADA4-AF7CC7647FB2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C2509-EFA9-4DC4-A082-EB872053A98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04796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607C3-4C53-49FC-AB9E-0304C215432F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62406-E445-4AC8-8F16-C48AAA7F4B9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37309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000B84-6991-49A6-BF3A-0859464F9285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C5D72F-8089-4C3C-AAA9-6445CDEF923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767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994924-ADC8-44CF-84B6-ACEAE13D55B8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031A61-928C-4050-B98D-D628B89D75E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270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DCEBE-B9D6-48D9-A807-9F7FFDE3F296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9D5F1C-6F76-4B68-B11F-2BD62576B61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9523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6B2C52-0D06-4C77-B8FC-0490ACBCFC74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7EC75-3132-4886-B059-FB8F3F4A7D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718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  <a:cs typeface="Arial" charset="0"/>
              </a:defRPr>
            </a:lvl1pPr>
          </a:lstStyle>
          <a:p>
            <a:pPr>
              <a:defRPr/>
            </a:pPr>
            <a:fld id="{4E158536-FF7A-486F-8116-8A55A05AADDD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  <a:cs typeface="Arial" charset="0"/>
              </a:defRPr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E3185260-908C-490C-923E-52BE830C3B7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5747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38401" y="1524000"/>
            <a:ext cx="7623175" cy="2120900"/>
          </a:xfrm>
        </p:spPr>
        <p:txBody>
          <a:bodyPr/>
          <a:lstStyle/>
          <a:p>
            <a:pPr algn="ctr" eaLnBrk="1" hangingPunct="1"/>
            <a:br>
              <a:rPr lang="en-US" altLang="en-US" sz="3600" b="1" dirty="0">
                <a:solidFill>
                  <a:srgbClr val="060AAA"/>
                </a:solidFill>
              </a:rPr>
            </a:br>
            <a:r>
              <a:rPr lang="en-US" altLang="en-US" sz="3600" b="1" dirty="0">
                <a:solidFill>
                  <a:srgbClr val="060AAA"/>
                </a:solidFill>
              </a:rPr>
              <a:t>Microprocessor Systems and Interfacing</a:t>
            </a:r>
            <a:br>
              <a:rPr lang="en-US" altLang="en-US" sz="3600" b="1" dirty="0">
                <a:solidFill>
                  <a:srgbClr val="060AAA"/>
                </a:solidFill>
              </a:rPr>
            </a:br>
            <a:r>
              <a:rPr lang="en-US" altLang="en-US" sz="2800" b="1" dirty="0">
                <a:solidFill>
                  <a:srgbClr val="060AAA"/>
                </a:solidFill>
              </a:rPr>
              <a:t>CPE 342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3951288"/>
            <a:ext cx="9144000" cy="198755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/>
                </a:solidFill>
              </a:rPr>
              <a:t>Lecture 1- Week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39C541-ED17-49D9-B157-F57A6101F339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PPI Applications</a:t>
            </a:r>
            <a:endParaRPr lang="fr-FR" altLang="en-US" dirty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268761"/>
            <a:ext cx="8229600" cy="431470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60AAA"/>
                </a:solidFill>
              </a:rPr>
              <a:t>Outline</a:t>
            </a:r>
            <a:endParaRPr lang="en-US" altLang="en-US" dirty="0"/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US" dirty="0"/>
              <a:t>Mode 0 Operation :LCD Interfacing with PPI</a:t>
            </a:r>
          </a:p>
          <a:p>
            <a:pPr marL="742950" lvl="1" indent="-285750" eaLnBrk="1" hangingPunct="1">
              <a:lnSpc>
                <a:spcPct val="90000"/>
              </a:lnSpc>
              <a:buNone/>
            </a:pPr>
            <a:r>
              <a:rPr lang="fr-FR" altLang="en-US" dirty="0"/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E5DBDE9-1F4E-4430-B5C9-42C3323F66F9}" type="datetime2">
              <a:rPr lang="en-US" altLang="en-US"/>
              <a:pPr>
                <a:defRPr/>
              </a:pPr>
              <a:t>Thursday, May 9, 2024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A7AAC0-8106-410F-86FD-13B50D6B0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6183" y="267988"/>
            <a:ext cx="8825344" cy="5862938"/>
          </a:xfr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EA761A-1334-469D-B206-FED174300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8607C3-4C53-49FC-AB9E-0304C215432F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DEA0DD-4013-478C-B5D1-62F035A37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F62406-E445-4AC8-8F16-C48AAA7F4B9A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6911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184DFC-C276-45E1-84CD-51839DC19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42" y="272312"/>
            <a:ext cx="8005854" cy="58652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3C88A-BCAF-4B9F-8BFE-D05B6EE9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3CB00C-F296-4214-99E7-4D2228DF8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1C2072-FAAF-4CC4-8B5E-8EAB28993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7162"/>
            <a:ext cx="7245927" cy="633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710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0BB25DC-A8A1-45A7-8CA8-D2A32889F5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18757"/>
            <a:ext cx="6470896" cy="635348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7701E-1410-402A-93A0-E8DA58C25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96A8E-CB02-475A-95DA-ACA1FE5E3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27B2C1F-E758-48BE-A2BF-A3B8738A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20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C5D92-8755-4CE0-95B1-202D8D278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04800"/>
            <a:ext cx="10972800" cy="628996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en-US" sz="3600" b="1" i="0" u="none" strike="noStrike" baseline="0" dirty="0">
                <a:latin typeface="Helvetica-Bold"/>
              </a:rPr>
              <a:t>EXAMPLE 11–12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PORTA_ADDRESS EQU 700H ;set port addresses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PORTB_ADDRESS EQU 701H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COMMAND_ADDRESS EQU 703H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;macro to send a command or data to the LCD display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;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SEND MACRO PORTA_DATA, PORTB_DATA, DELAY</a:t>
            </a:r>
          </a:p>
          <a:p>
            <a:pPr algn="l"/>
            <a:r>
              <a:rPr lang="it-IT" sz="4500" b="0" i="0" u="none" strike="noStrike" baseline="0" dirty="0">
                <a:latin typeface="Courier"/>
              </a:rPr>
              <a:t>MOV AL,PORTA_DATA ;PORTA_DATA to Port A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MOV DX,PORTA_ADDRESS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OUT DX,AL</a:t>
            </a:r>
          </a:p>
          <a:p>
            <a:pPr algn="l"/>
            <a:r>
              <a:rPr lang="it-IT" sz="4500" b="0" i="0" u="none" strike="noStrike" baseline="0" dirty="0">
                <a:latin typeface="Courier"/>
              </a:rPr>
              <a:t>MOV AL,PORTB_DATA ;PORTB_DATA to Port B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MOV DX,PORTB_ADDRESS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OUT DX,AL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OR AL,00000100B ;Set E bit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OUT DX,AL ;send to Port B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AND AL,11111011B ;Clear E bit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NOP ;a small delay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NOP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OUT DX,AL ;send to Port B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MOV BL,DELAY ;BL = delay count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CALL MS_DELAY ;</a:t>
            </a:r>
            <a:r>
              <a:rPr lang="en-US" sz="4500" b="0" i="0" u="none" strike="noStrike" baseline="0" dirty="0" err="1">
                <a:latin typeface="Courier"/>
              </a:rPr>
              <a:t>ms</a:t>
            </a:r>
            <a:r>
              <a:rPr lang="en-US" sz="4500" b="0" i="0" u="none" strike="noStrike" baseline="0" dirty="0">
                <a:latin typeface="Courier"/>
              </a:rPr>
              <a:t> Time Delay</a:t>
            </a:r>
          </a:p>
          <a:p>
            <a:pPr algn="l"/>
            <a:r>
              <a:rPr lang="en-US" sz="4500" b="0" i="0" u="none" strike="noStrike" baseline="0" dirty="0">
                <a:latin typeface="Courier"/>
              </a:rPr>
              <a:t>ENDM</a:t>
            </a:r>
            <a:endParaRPr lang="en-US" sz="45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7E721-28B5-4A04-8015-FBC4A7876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77408-C314-4875-A245-94F511DB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6108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2B785-E9E6-4D6B-9946-0D63F4234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0"/>
            <a:ext cx="10972800" cy="5973764"/>
          </a:xfrm>
        </p:spPr>
        <p:txBody>
          <a:bodyPr/>
          <a:lstStyle/>
          <a:p>
            <a:pPr marL="0" indent="0" algn="l">
              <a:buNone/>
            </a:pPr>
            <a:r>
              <a:rPr lang="en-US" sz="3200" b="0" i="0" u="none" strike="noStrike" baseline="0" dirty="0">
                <a:latin typeface="Courier"/>
              </a:rPr>
              <a:t>;Program to initialize the LCD display</a:t>
            </a:r>
          </a:p>
          <a:p>
            <a:pPr marL="0" indent="0" algn="l">
              <a:buNone/>
            </a:pPr>
            <a:r>
              <a:rPr lang="en-US" sz="2400" b="0" i="0" u="none" strike="noStrike" baseline="0" dirty="0">
                <a:latin typeface="Courier"/>
              </a:rPr>
              <a:t>START:</a:t>
            </a:r>
          </a:p>
          <a:p>
            <a:pPr marL="0" indent="0" algn="l">
              <a:buNone/>
            </a:pPr>
            <a:r>
              <a:rPr lang="en-US" sz="2000" b="0" i="0" u="none" strike="noStrike" baseline="0" dirty="0">
                <a:latin typeface="Courier"/>
              </a:rPr>
              <a:t>MOV AL,80H ;Program the 82C55</a:t>
            </a:r>
          </a:p>
          <a:p>
            <a:pPr marL="0" indent="0" algn="l">
              <a:buNone/>
            </a:pPr>
            <a:r>
              <a:rPr lang="en-US" sz="2000" b="0" i="0" u="none" strike="noStrike" baseline="0" dirty="0">
                <a:latin typeface="Courier"/>
              </a:rPr>
              <a:t>MOV DX,COMMAND_ADDRESS</a:t>
            </a:r>
          </a:p>
          <a:p>
            <a:pPr marL="0" indent="0" algn="l">
              <a:buNone/>
            </a:pPr>
            <a:r>
              <a:rPr lang="en-US" sz="2000" b="0" i="0" u="none" strike="noStrike" baseline="0" dirty="0">
                <a:latin typeface="Courier"/>
              </a:rPr>
              <a:t>OUT DX,AL</a:t>
            </a:r>
          </a:p>
          <a:p>
            <a:pPr marL="0" indent="0" algn="l">
              <a:buNone/>
            </a:pPr>
            <a:r>
              <a:rPr lang="en-US" sz="2000" b="0" i="0" u="none" strike="noStrike" baseline="0" dirty="0">
                <a:latin typeface="Courier"/>
              </a:rPr>
              <a:t>MOV AL,0</a:t>
            </a:r>
          </a:p>
          <a:p>
            <a:pPr marL="0" indent="0" algn="l">
              <a:buNone/>
            </a:pPr>
            <a:r>
              <a:rPr lang="en-US" sz="2000" b="0" i="0" u="none" strike="noStrike" baseline="0" dirty="0">
                <a:latin typeface="Courier"/>
              </a:rPr>
              <a:t>MOV DX,PORTB_ADDRESS ;Clear Port B</a:t>
            </a:r>
          </a:p>
          <a:p>
            <a:pPr marL="0" indent="0" algn="l">
              <a:buNone/>
            </a:pPr>
            <a:r>
              <a:rPr lang="da-DK" sz="2000" b="0" i="0" u="none" strike="noStrike" baseline="0" dirty="0">
                <a:latin typeface="Courier"/>
              </a:rPr>
              <a:t>SEND 30H, 2, 16 ;send 30H for 16 ms</a:t>
            </a:r>
          </a:p>
          <a:p>
            <a:pPr marL="0" indent="0" algn="l">
              <a:buNone/>
            </a:pPr>
            <a:r>
              <a:rPr lang="da-DK" sz="2000" b="0" i="0" u="none" strike="noStrike" baseline="0" dirty="0">
                <a:latin typeface="Courier"/>
              </a:rPr>
              <a:t>SEND 30H, 2, 5 ;send 30H for 5 ms</a:t>
            </a:r>
          </a:p>
          <a:p>
            <a:pPr marL="0" indent="0" algn="l">
              <a:buNone/>
            </a:pPr>
            <a:r>
              <a:rPr lang="da-DK" sz="2000" b="0" i="0" u="none" strike="noStrike" baseline="0" dirty="0">
                <a:latin typeface="Courier"/>
              </a:rPr>
              <a:t>SEND 30H, 2, 1 ;send 30H for 1 ms</a:t>
            </a:r>
          </a:p>
          <a:p>
            <a:pPr marL="0" indent="0" algn="l">
              <a:buNone/>
            </a:pPr>
            <a:r>
              <a:rPr lang="da-DK" sz="2000" b="0" i="0" u="none" strike="noStrike" baseline="0" dirty="0">
                <a:latin typeface="Courier"/>
              </a:rPr>
              <a:t>SEND 38H, 2, 1 ;send 38H for 1 ms</a:t>
            </a:r>
          </a:p>
          <a:p>
            <a:pPr marL="0" indent="0" algn="l">
              <a:buNone/>
            </a:pPr>
            <a:r>
              <a:rPr lang="da-DK" sz="2000" b="0" i="0" u="none" strike="noStrike" baseline="0" dirty="0">
                <a:latin typeface="Courier"/>
              </a:rPr>
              <a:t>SEND 8, 2, 1 ;send 8 for 1 ms</a:t>
            </a:r>
          </a:p>
          <a:p>
            <a:pPr marL="0" indent="0" algn="l">
              <a:buNone/>
            </a:pPr>
            <a:r>
              <a:rPr lang="da-DK" sz="2000" b="0" i="0" u="none" strike="noStrike" baseline="0" dirty="0">
                <a:latin typeface="Courier"/>
              </a:rPr>
              <a:t>SEND 1, 2, 2 ;send 1 for 2 ms</a:t>
            </a:r>
          </a:p>
          <a:p>
            <a:pPr marL="0" indent="0" algn="l">
              <a:buNone/>
            </a:pPr>
            <a:r>
              <a:rPr lang="en-US" sz="2000" b="0" i="0" u="none" strike="noStrike" baseline="0" dirty="0">
                <a:latin typeface="Courier"/>
              </a:rPr>
              <a:t>SEND 0CH, 2, 1 ;send 0CH for 1 </a:t>
            </a:r>
            <a:r>
              <a:rPr lang="en-US" sz="2000" b="0" i="0" u="none" strike="noStrike" baseline="0" dirty="0" err="1">
                <a:latin typeface="Courier"/>
              </a:rPr>
              <a:t>ms</a:t>
            </a:r>
            <a:endParaRPr lang="en-US" sz="2000" b="0" i="0" u="none" strike="noStrike" baseline="0" dirty="0">
              <a:latin typeface="Courier"/>
            </a:endParaRPr>
          </a:p>
          <a:p>
            <a:pPr marL="0" indent="0" algn="l">
              <a:buNone/>
            </a:pPr>
            <a:r>
              <a:rPr lang="da-DK" sz="2000" b="0" i="0" u="none" strike="noStrike" baseline="0" dirty="0">
                <a:latin typeface="Courier"/>
              </a:rPr>
              <a:t>SEND 6, 2, 1 ;send 6 for 1 ms</a:t>
            </a: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281D4-648C-45CF-BCBE-F5BA3AD2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EFFE2-2E4A-4DEA-B13D-3F1B7875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89082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3D7CC0D-F3D2-42C7-B660-C331E2035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091" y="157162"/>
            <a:ext cx="7735882" cy="635447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DA48F-2581-44C6-A200-49EB8EAB6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CAC3B-E59E-4F1D-A8C3-4986A8D14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49157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409E-CA6D-47DD-A271-9B650173A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6BAF37F-B09E-4A15-A567-27E6816F9A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849" y="277813"/>
            <a:ext cx="8285751" cy="594230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5183C-B152-4E27-A635-CF10F745C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95FF6-4543-4611-A9AC-E9B0BD534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766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63D5F-217A-4726-936F-9F283121D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D559C-0F40-4526-A266-93D4D41D0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09225D-B70E-40E2-9464-90B1B44231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37" y="277091"/>
            <a:ext cx="9728298" cy="447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819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9235-A100-41A6-9101-B907DDA4B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79BEBFE-34AE-4F20-B1B8-3AF625768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5459" y="277813"/>
            <a:ext cx="10245306" cy="548567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F8FAD-FC3A-4A20-AFB0-27BF1B6B3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May 9, 2024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EDCE12-B730-4E37-BB8D-716E430E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97959216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332</Words>
  <Application>Microsoft Office PowerPoint</Application>
  <PresentationFormat>Widescreen</PresentationFormat>
  <Paragraphs>65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</vt:lpstr>
      <vt:lpstr>Garamond</vt:lpstr>
      <vt:lpstr>Helvetica-Bold</vt:lpstr>
      <vt:lpstr>Wingdings</vt:lpstr>
      <vt:lpstr>Edge</vt:lpstr>
      <vt:lpstr> Microprocessor Systems and Interfacing CPE 342</vt:lpstr>
      <vt:lpstr>PPI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Microprocessor Systems and Interfacing CPE 342</dc:title>
  <dc:creator>Dr. Abbas Javed</dc:creator>
  <cp:lastModifiedBy>Dr. Abbas Javed</cp:lastModifiedBy>
  <cp:revision>47</cp:revision>
  <dcterms:created xsi:type="dcterms:W3CDTF">2020-06-28T09:03:31Z</dcterms:created>
  <dcterms:modified xsi:type="dcterms:W3CDTF">2024-05-09T06:51:51Z</dcterms:modified>
</cp:coreProperties>
</file>