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1" r:id="rId1"/>
  </p:sldMasterIdLst>
  <p:notesMasterIdLst>
    <p:notesMasterId r:id="rId20"/>
  </p:notesMasterIdLst>
  <p:handoutMasterIdLst>
    <p:handoutMasterId r:id="rId21"/>
  </p:handoutMasterIdLst>
  <p:sldIdLst>
    <p:sldId id="748" r:id="rId2"/>
    <p:sldId id="749" r:id="rId3"/>
    <p:sldId id="714" r:id="rId4"/>
    <p:sldId id="715" r:id="rId5"/>
    <p:sldId id="717" r:id="rId6"/>
    <p:sldId id="716" r:id="rId7"/>
    <p:sldId id="725" r:id="rId8"/>
    <p:sldId id="726" r:id="rId9"/>
    <p:sldId id="718" r:id="rId10"/>
    <p:sldId id="719" r:id="rId11"/>
    <p:sldId id="720" r:id="rId12"/>
    <p:sldId id="721" r:id="rId13"/>
    <p:sldId id="722" r:id="rId14"/>
    <p:sldId id="723" r:id="rId15"/>
    <p:sldId id="724" r:id="rId16"/>
    <p:sldId id="751" r:id="rId17"/>
    <p:sldId id="752" r:id="rId18"/>
    <p:sldId id="750" r:id="rId1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6B600"/>
    <a:srgbClr val="FFBF09"/>
    <a:srgbClr val="060AAA"/>
    <a:srgbClr val="00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3" autoAdjust="0"/>
    <p:restoredTop sz="88735" autoAdjust="0"/>
  </p:normalViewPr>
  <p:slideViewPr>
    <p:cSldViewPr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handoutMaster" Target="handoutMasters/handout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D024BC-6366-46C3-9E00-783997E2DBAA}" type="datetime2">
              <a:rPr lang="en-US" smtClean="0"/>
              <a:t>Friday, October 10,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0A3C3FA-0BD0-445C-B83D-499E08D07F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buClrTx/>
              <a:buSzTx/>
              <a:buFontTx/>
              <a:buNone/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buClrTx/>
              <a:buSzTx/>
              <a:buFontTx/>
              <a:buNone/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77E4B4F-AF69-4AE5-ABFE-29F65A762975}" type="datetime2">
              <a:rPr lang="en-US" smtClean="0"/>
              <a:t>Friday, October 10, 2025</a:t>
            </a:fld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59300"/>
            <a:ext cx="5851525" cy="432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spcBef>
                <a:spcPct val="0"/>
              </a:spcBef>
              <a:buClrTx/>
              <a:buSzTx/>
              <a:buFontTx/>
              <a:buNone/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fld id="{04F3B6C4-3406-47EA-8678-0F42AD433D5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0DA072-B388-4DB3-8DD6-71C62DF7C707}" type="slidenum">
              <a:rPr lang="en-US" altLang="en-US" sz="1300" smtClean="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Date Placeholder 1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6CEC66-4198-4FA8-B516-C8BA62F368B0}" type="datetime2">
              <a:rPr lang="en-US" altLang="en-US" sz="1300" smtClean="0"/>
              <a:t>Friday, October 10, 2025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1170C-796D-49A3-9C78-488330BC7EE2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C8281-B950-41B6-8614-1858D4C134F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2886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2F9E19-0CDE-405A-AD3A-7B99E433588C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7659D-25DE-4303-8EC9-DEE39B9369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06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333A9-89DB-4526-918F-80706A3B8252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59FC8-D509-4934-8C4A-5412CD8D71F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423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8CAD9-2C12-4F8F-8AAA-6AF0A9806904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3DDA8-1B87-423F-AA3B-C6155654888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373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38AE2-C243-4D37-8ED2-A5532BA85889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BFE9D-AC3C-4D08-9815-05EFAB45E1A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027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9E947-D35A-4888-A998-E380FFE97CA8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C2509-EFA9-4DC4-A082-EB872053A9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732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B69EC-AF2A-4450-9BCB-AECA7F95D3AD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62406-E445-4AC8-8F16-C48AAA7F4B9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7996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98C415-467A-4689-A8CC-034CB8D79747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5D72F-8089-4C3C-AAA9-6445CDEF923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500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892F7-70DE-4ACC-9FC0-5A8A326FC7C8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31A61-928C-4050-B98D-D628B89D75E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401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8BB06-BF2C-45C4-B1A1-61F41E6D6211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D5F1C-6F76-4B68-B11F-2BD62576B61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12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9077A8-3C61-40AF-840B-1D59629BD47C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EC75-3132-4886-B059-FB8F3F4A7D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184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fld id="{D727B88A-3DBF-49AD-A8C9-3DA1316EECBD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E3185260-908C-490C-923E-52BE830C3B7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hassanaslam@cuilahore.edu.pk" TargetMode="Externa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2120900"/>
          </a:xfrm>
        </p:spPr>
        <p:txBody>
          <a:bodyPr/>
          <a:lstStyle/>
          <a:p>
            <a:pPr algn="ctr" eaLnBrk="1" hangingPunct="1"/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3600" b="1" dirty="0">
                <a:solidFill>
                  <a:srgbClr val="060AAA"/>
                </a:solidFill>
              </a:rPr>
              <a:t>Microprocessor Systems and Interfacing</a:t>
            </a:r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3600" b="1" dirty="0">
                <a:solidFill>
                  <a:srgbClr val="060AAA"/>
                </a:solidFill>
              </a:rPr>
              <a:t> </a:t>
            </a:r>
            <a:r>
              <a:rPr lang="en-US" altLang="en-US" sz="2800" b="1" dirty="0">
                <a:solidFill>
                  <a:srgbClr val="060AAA"/>
                </a:solidFill>
              </a:rPr>
              <a:t>EEE 342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951288"/>
            <a:ext cx="9144000" cy="1987550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chemeClr val="accent2"/>
              </a:solidFill>
            </a:endParaRPr>
          </a:p>
          <a:p>
            <a:pPr algn="ctr" eaLnBrk="1" hangingPunct="1"/>
            <a:r>
              <a:rPr lang="en-US" altLang="en-US" dirty="0">
                <a:solidFill>
                  <a:schemeClr val="accent2"/>
                </a:solidFill>
              </a:rPr>
              <a:t>Nesruminallah</a:t>
            </a:r>
            <a:endParaRPr lang="en-US" altLang="en-US" dirty="0">
              <a:solidFill>
                <a:srgbClr val="060AAA"/>
              </a:solidFill>
            </a:endParaRPr>
          </a:p>
          <a:p>
            <a:pPr algn="ctr" eaLnBrk="1" hangingPunct="1"/>
            <a:r>
              <a:rPr lang="en-US" altLang="en-US" dirty="0">
                <a:hlinkClick r:id="rId3"/>
              </a:rPr>
              <a:t>nesruminallah@cuilahore.edu.pk</a:t>
            </a:r>
            <a:endParaRPr lang="en-US" altLang="en-US" dirty="0"/>
          </a:p>
          <a:p>
            <a:pPr algn="ctr" eaLnBrk="1" hangingPunct="1"/>
            <a:endParaRPr lang="en-US" altLang="en-US" sz="2400" dirty="0">
              <a:solidFill>
                <a:srgbClr val="060AAA"/>
              </a:solidFill>
            </a:endParaRPr>
          </a:p>
          <a:p>
            <a:pPr algn="ctr" eaLnBrk="1" hangingPunct="1"/>
            <a:r>
              <a:rPr lang="en-US" altLang="en-US" sz="2400" dirty="0">
                <a:solidFill>
                  <a:srgbClr val="060AAA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39C541-ED17-49D9-B157-F57A6101F339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Stack</a:t>
            </a:r>
            <a:endParaRPr lang="fr-FR" alt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564904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60AAA"/>
                </a:solidFill>
              </a:rPr>
              <a:t>Outline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 dirty="0"/>
              <a:t>Stack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 dirty="0"/>
              <a:t>Stack Programming in assembly language</a:t>
            </a:r>
          </a:p>
          <a:p>
            <a:pPr marL="742950" lvl="1" indent="-2857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en-US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DB8768-E90B-4041-9D90-992D58A11097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7CE92B-6678-46CA-BB30-B30C275FE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369387"/>
              </p:ext>
            </p:extLst>
          </p:nvPr>
        </p:nvGraphicFramePr>
        <p:xfrm>
          <a:off x="457200" y="1458103"/>
          <a:ext cx="8147248" cy="10347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0607">
                  <a:extLst>
                    <a:ext uri="{9D8B030D-6E8A-4147-A177-3AD203B41FA5}">
                      <a16:colId xmlns:a16="http://schemas.microsoft.com/office/drawing/2014/main" val="3364259370"/>
                    </a:ext>
                  </a:extLst>
                </a:gridCol>
                <a:gridCol w="1654172">
                  <a:extLst>
                    <a:ext uri="{9D8B030D-6E8A-4147-A177-3AD203B41FA5}">
                      <a16:colId xmlns:a16="http://schemas.microsoft.com/office/drawing/2014/main" val="245599355"/>
                    </a:ext>
                  </a:extLst>
                </a:gridCol>
                <a:gridCol w="5162469">
                  <a:extLst>
                    <a:ext uri="{9D8B030D-6E8A-4147-A177-3AD203B41FA5}">
                      <a16:colId xmlns:a16="http://schemas.microsoft.com/office/drawing/2014/main" val="341859462"/>
                    </a:ext>
                  </a:extLst>
                </a:gridCol>
              </a:tblGrid>
              <a:tr h="293561">
                <a:tc>
                  <a:txBody>
                    <a:bodyPr/>
                    <a:lstStyle/>
                    <a:p>
                      <a:pPr marL="1968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CLO</a:t>
                      </a:r>
                      <a:endParaRPr lang="en-PK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Bloom Taxonomy</a:t>
                      </a:r>
                      <a:endParaRPr lang="en-PK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Specific Outcome</a:t>
                      </a:r>
                      <a:endParaRPr lang="en-PK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872498785"/>
                  </a:ext>
                </a:extLst>
              </a:tr>
              <a:tr h="741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CLO1</a:t>
                      </a:r>
                      <a:endParaRPr lang="en-PK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C4</a:t>
                      </a:r>
                      <a:endParaRPr lang="en-PK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and construct the stack memory map using the knowledge of stack programming concepts</a:t>
                      </a:r>
                      <a:endParaRPr lang="en-PK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19143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Stack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19F7806-F55F-4CA9-AFC3-87DB1BC86195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4906962"/>
          </a:xfrm>
        </p:spPr>
        <p:txBody>
          <a:bodyPr/>
          <a:lstStyle/>
          <a:p>
            <a:r>
              <a:rPr lang="en-US" sz="2400" dirty="0"/>
              <a:t>Stack</a:t>
            </a:r>
          </a:p>
          <a:p>
            <a:pPr lvl="1" eaLnBrk="1" hangingPunct="1"/>
            <a:r>
              <a:rPr lang="en-US" altLang="en-US" sz="2400" dirty="0"/>
              <a:t>Access is allowed only at one point of the structure, normally termed the </a:t>
            </a:r>
            <a:r>
              <a:rPr lang="en-US" altLang="en-US" sz="2400" i="1" dirty="0"/>
              <a:t>top </a:t>
            </a:r>
            <a:r>
              <a:rPr lang="en-US" altLang="en-US" sz="2400" dirty="0"/>
              <a:t> of the stack</a:t>
            </a:r>
          </a:p>
          <a:p>
            <a:pPr lvl="1" eaLnBrk="1" hangingPunct="1"/>
            <a:r>
              <a:rPr lang="en-US" altLang="en-US" sz="2400" dirty="0"/>
              <a:t>access to the most recently added item only</a:t>
            </a:r>
          </a:p>
          <a:p>
            <a:pPr eaLnBrk="1" hangingPunct="1"/>
            <a:r>
              <a:rPr lang="en-US" altLang="en-US" sz="2400" dirty="0"/>
              <a:t>Operations are limited:</a:t>
            </a:r>
          </a:p>
          <a:p>
            <a:pPr lvl="1" eaLnBrk="1" hangingPunct="1"/>
            <a:r>
              <a:rPr lang="en-US" altLang="en-US" sz="2400" dirty="0"/>
              <a:t>push (add item to stack)</a:t>
            </a:r>
          </a:p>
          <a:p>
            <a:pPr lvl="1" eaLnBrk="1" hangingPunct="1"/>
            <a:r>
              <a:rPr lang="en-US" altLang="en-US" sz="2400" dirty="0"/>
              <a:t>pop (remove top item from stack)</a:t>
            </a:r>
          </a:p>
          <a:p>
            <a:pPr eaLnBrk="1" hangingPunct="1"/>
            <a:r>
              <a:rPr lang="en-US" altLang="en-US" sz="2400" dirty="0"/>
              <a:t>Described as a "Last In First Out" </a:t>
            </a:r>
            <a:br>
              <a:rPr lang="en-US" altLang="en-US" sz="2400" dirty="0"/>
            </a:br>
            <a:r>
              <a:rPr lang="en-US" altLang="en-US" sz="2400" dirty="0"/>
              <a:t>(LIFO) data structure</a:t>
            </a:r>
          </a:p>
          <a:p>
            <a:pPr lvl="1" eaLnBrk="1" hangingPunct="1"/>
            <a:endParaRPr lang="en-US" altLang="en-US" sz="24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318" y="2717342"/>
            <a:ext cx="2443810" cy="3170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582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Stack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BED630A-58E9-4E62-91FF-7869867BEBD4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pic>
        <p:nvPicPr>
          <p:cNvPr id="2050" name="Picture 2" descr="A LIFO Stack                Push            PopStack Pointer           Top                       Bottom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0" t="15058" r="28211" b="14067"/>
          <a:stretch/>
        </p:blipFill>
        <p:spPr bwMode="auto">
          <a:xfrm>
            <a:off x="1380220" y="847319"/>
            <a:ext cx="6840760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58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Stack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5308EFE-5487-41A4-9026-8DDBB7B8E554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pic>
        <p:nvPicPr>
          <p:cNvPr id="4098" name="Picture 2" descr="Image result for stack 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48" y="1628800"/>
            <a:ext cx="7681904" cy="367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940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Stack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BA567F-3699-4885-A091-9B877FF68036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pic>
        <p:nvPicPr>
          <p:cNvPr id="1026" name="Picture 2" descr="https://upload.wikimedia.org/wikipedia/commons/thumb/b/b4/Lifo_stack.png/350px-Lifo_sta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6806014" cy="476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767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CPU’s stack grows downward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429000" y="1461864"/>
            <a:ext cx="2209800" cy="434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064861" y="1044134"/>
            <a:ext cx="93807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Stack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3505200" y="2223864"/>
            <a:ext cx="2057400" cy="1143000"/>
          </a:xfrm>
          <a:prstGeom prst="rect">
            <a:avLst/>
          </a:prstGeom>
          <a:solidFill>
            <a:srgbClr val="FEA0F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stack</a:t>
            </a:r>
          </a:p>
          <a:p>
            <a:pPr algn="ctr"/>
            <a:r>
              <a:rPr lang="en-US" altLang="en-US" b="1"/>
              <a:t>contents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3810000" y="329066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4114800" y="329066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4419600" y="329066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4724400" y="329066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>
            <a:off x="5029200" y="329066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>
            <a:off x="5334000" y="329066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5715000" y="3366864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5720409" y="2992849"/>
            <a:ext cx="1377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 dirty="0"/>
              <a:t>top-of-stack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2615957" y="5374377"/>
            <a:ext cx="81304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0000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2470228" y="1458551"/>
            <a:ext cx="8771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FFFF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FB4FC-63DD-4885-A720-8F96F4BC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6675E1-153F-4524-B9D4-B55CB1CFDFD1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3515EE-8AB0-4033-95E7-714040F6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4C2509-EFA9-4DC4-A082-EB872053A981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8292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10-</a:t>
            </a:r>
            <a:fld id="{9F2628F9-6FA6-4C32-9103-BD109905B0C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Software Implementation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1031875"/>
            <a:ext cx="8229600" cy="4530725"/>
          </a:xfrm>
        </p:spPr>
        <p:txBody>
          <a:bodyPr/>
          <a:lstStyle/>
          <a:p>
            <a:r>
              <a:rPr lang="en-US" altLang="en-US" dirty="0"/>
              <a:t>Data items don't move in memory, </a:t>
            </a:r>
            <a:br>
              <a:rPr lang="en-US" altLang="en-US" dirty="0"/>
            </a:br>
            <a:r>
              <a:rPr lang="en-US" altLang="en-US" dirty="0"/>
              <a:t>just our idea about there the TOP of the stack is.</a:t>
            </a:r>
          </a:p>
        </p:txBody>
      </p:sp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574675" y="2667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589" name="Rectangle 5"/>
          <p:cNvSpPr>
            <a:spLocks noChangeArrowheads="1"/>
          </p:cNvSpPr>
          <p:nvPr/>
        </p:nvSpPr>
        <p:spPr bwMode="auto">
          <a:xfrm>
            <a:off x="574675" y="3048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590" name="Rectangle 6"/>
          <p:cNvSpPr>
            <a:spLocks noChangeArrowheads="1"/>
          </p:cNvSpPr>
          <p:nvPr/>
        </p:nvSpPr>
        <p:spPr bwMode="auto">
          <a:xfrm>
            <a:off x="574675" y="3429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591" name="Rectangle 7"/>
          <p:cNvSpPr>
            <a:spLocks noChangeArrowheads="1"/>
          </p:cNvSpPr>
          <p:nvPr/>
        </p:nvSpPr>
        <p:spPr bwMode="auto">
          <a:xfrm>
            <a:off x="574675" y="3810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592" name="Rectangle 8"/>
          <p:cNvSpPr>
            <a:spLocks noChangeArrowheads="1"/>
          </p:cNvSpPr>
          <p:nvPr/>
        </p:nvSpPr>
        <p:spPr bwMode="auto">
          <a:xfrm>
            <a:off x="574675" y="4191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595" name="Text Box 11"/>
          <p:cNvSpPr txBox="1">
            <a:spLocks noChangeArrowheads="1"/>
          </p:cNvSpPr>
          <p:nvPr/>
        </p:nvSpPr>
        <p:spPr bwMode="auto">
          <a:xfrm>
            <a:off x="1978025" y="4205288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/>
              <a:t>TOP</a:t>
            </a:r>
            <a:endParaRPr lang="en-US" altLang="en-US"/>
          </a:p>
        </p:txBody>
      </p:sp>
      <p:sp>
        <p:nvSpPr>
          <p:cNvPr id="195596" name="Line 12"/>
          <p:cNvSpPr>
            <a:spLocks noChangeShapeType="1"/>
          </p:cNvSpPr>
          <p:nvPr/>
        </p:nvSpPr>
        <p:spPr bwMode="auto">
          <a:xfrm flipH="1">
            <a:off x="1793875" y="439578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597" name="Rectangle 13"/>
          <p:cNvSpPr>
            <a:spLocks noChangeArrowheads="1"/>
          </p:cNvSpPr>
          <p:nvPr/>
        </p:nvSpPr>
        <p:spPr bwMode="auto">
          <a:xfrm>
            <a:off x="2743200" y="2667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598" name="Rectangle 14"/>
          <p:cNvSpPr>
            <a:spLocks noChangeArrowheads="1"/>
          </p:cNvSpPr>
          <p:nvPr/>
        </p:nvSpPr>
        <p:spPr bwMode="auto">
          <a:xfrm>
            <a:off x="2743200" y="3048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599" name="Rectangle 15"/>
          <p:cNvSpPr>
            <a:spLocks noChangeArrowheads="1"/>
          </p:cNvSpPr>
          <p:nvPr/>
        </p:nvSpPr>
        <p:spPr bwMode="auto">
          <a:xfrm>
            <a:off x="2743200" y="3429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600" name="Rectangle 16"/>
          <p:cNvSpPr>
            <a:spLocks noChangeArrowheads="1"/>
          </p:cNvSpPr>
          <p:nvPr/>
        </p:nvSpPr>
        <p:spPr bwMode="auto">
          <a:xfrm>
            <a:off x="2743200" y="3810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#18</a:t>
            </a:r>
          </a:p>
        </p:txBody>
      </p:sp>
      <p:sp>
        <p:nvSpPr>
          <p:cNvPr id="195601" name="Rectangle 17"/>
          <p:cNvSpPr>
            <a:spLocks noChangeArrowheads="1"/>
          </p:cNvSpPr>
          <p:nvPr/>
        </p:nvSpPr>
        <p:spPr bwMode="auto">
          <a:xfrm>
            <a:off x="2743200" y="4191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604" name="Text Box 20"/>
          <p:cNvSpPr txBox="1">
            <a:spLocks noChangeArrowheads="1"/>
          </p:cNvSpPr>
          <p:nvPr/>
        </p:nvSpPr>
        <p:spPr bwMode="auto">
          <a:xfrm>
            <a:off x="4146550" y="3824288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/>
              <a:t>TOP</a:t>
            </a:r>
            <a:endParaRPr lang="en-US" altLang="en-US"/>
          </a:p>
        </p:txBody>
      </p:sp>
      <p:sp>
        <p:nvSpPr>
          <p:cNvPr id="195605" name="Line 21"/>
          <p:cNvSpPr>
            <a:spLocks noChangeShapeType="1"/>
          </p:cNvSpPr>
          <p:nvPr/>
        </p:nvSpPr>
        <p:spPr bwMode="auto">
          <a:xfrm flipH="1">
            <a:off x="3962400" y="401478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606" name="Rectangle 22"/>
          <p:cNvSpPr>
            <a:spLocks noChangeArrowheads="1"/>
          </p:cNvSpPr>
          <p:nvPr/>
        </p:nvSpPr>
        <p:spPr bwMode="auto">
          <a:xfrm>
            <a:off x="4911725" y="2667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#12</a:t>
            </a:r>
          </a:p>
        </p:txBody>
      </p:sp>
      <p:sp>
        <p:nvSpPr>
          <p:cNvPr id="195607" name="Rectangle 23"/>
          <p:cNvSpPr>
            <a:spLocks noChangeArrowheads="1"/>
          </p:cNvSpPr>
          <p:nvPr/>
        </p:nvSpPr>
        <p:spPr bwMode="auto">
          <a:xfrm>
            <a:off x="4911725" y="3048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#5</a:t>
            </a:r>
          </a:p>
        </p:txBody>
      </p:sp>
      <p:sp>
        <p:nvSpPr>
          <p:cNvPr id="195608" name="Rectangle 24"/>
          <p:cNvSpPr>
            <a:spLocks noChangeArrowheads="1"/>
          </p:cNvSpPr>
          <p:nvPr/>
        </p:nvSpPr>
        <p:spPr bwMode="auto">
          <a:xfrm>
            <a:off x="4911725" y="3429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#31</a:t>
            </a:r>
          </a:p>
        </p:txBody>
      </p:sp>
      <p:sp>
        <p:nvSpPr>
          <p:cNvPr id="195609" name="Rectangle 25"/>
          <p:cNvSpPr>
            <a:spLocks noChangeArrowheads="1"/>
          </p:cNvSpPr>
          <p:nvPr/>
        </p:nvSpPr>
        <p:spPr bwMode="auto">
          <a:xfrm>
            <a:off x="4911725" y="3810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#18</a:t>
            </a:r>
          </a:p>
        </p:txBody>
      </p:sp>
      <p:sp>
        <p:nvSpPr>
          <p:cNvPr id="195610" name="Rectangle 26"/>
          <p:cNvSpPr>
            <a:spLocks noChangeArrowheads="1"/>
          </p:cNvSpPr>
          <p:nvPr/>
        </p:nvSpPr>
        <p:spPr bwMode="auto">
          <a:xfrm>
            <a:off x="4911725" y="4191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613" name="Text Box 29"/>
          <p:cNvSpPr txBox="1">
            <a:spLocks noChangeArrowheads="1"/>
          </p:cNvSpPr>
          <p:nvPr/>
        </p:nvSpPr>
        <p:spPr bwMode="auto">
          <a:xfrm>
            <a:off x="6315075" y="2667000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/>
              <a:t>TOP</a:t>
            </a:r>
            <a:endParaRPr lang="en-US" altLang="en-US"/>
          </a:p>
        </p:txBody>
      </p:sp>
      <p:sp>
        <p:nvSpPr>
          <p:cNvPr id="195614" name="Line 30"/>
          <p:cNvSpPr>
            <a:spLocks noChangeShapeType="1"/>
          </p:cNvSpPr>
          <p:nvPr/>
        </p:nvSpPr>
        <p:spPr bwMode="auto">
          <a:xfrm flipH="1">
            <a:off x="6130925" y="28575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615" name="Rectangle 31"/>
          <p:cNvSpPr>
            <a:spLocks noChangeArrowheads="1"/>
          </p:cNvSpPr>
          <p:nvPr/>
        </p:nvSpPr>
        <p:spPr bwMode="auto">
          <a:xfrm>
            <a:off x="7080250" y="2667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#12</a:t>
            </a:r>
          </a:p>
        </p:txBody>
      </p:sp>
      <p:sp>
        <p:nvSpPr>
          <p:cNvPr id="195616" name="Rectangle 32"/>
          <p:cNvSpPr>
            <a:spLocks noChangeArrowheads="1"/>
          </p:cNvSpPr>
          <p:nvPr/>
        </p:nvSpPr>
        <p:spPr bwMode="auto">
          <a:xfrm>
            <a:off x="7080250" y="3048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#5</a:t>
            </a:r>
          </a:p>
        </p:txBody>
      </p:sp>
      <p:sp>
        <p:nvSpPr>
          <p:cNvPr id="195617" name="Rectangle 33"/>
          <p:cNvSpPr>
            <a:spLocks noChangeArrowheads="1"/>
          </p:cNvSpPr>
          <p:nvPr/>
        </p:nvSpPr>
        <p:spPr bwMode="auto">
          <a:xfrm>
            <a:off x="7080250" y="3429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#31</a:t>
            </a:r>
          </a:p>
        </p:txBody>
      </p:sp>
      <p:sp>
        <p:nvSpPr>
          <p:cNvPr id="195618" name="Rectangle 34"/>
          <p:cNvSpPr>
            <a:spLocks noChangeArrowheads="1"/>
          </p:cNvSpPr>
          <p:nvPr/>
        </p:nvSpPr>
        <p:spPr bwMode="auto">
          <a:xfrm>
            <a:off x="7080250" y="3810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#18</a:t>
            </a:r>
          </a:p>
        </p:txBody>
      </p:sp>
      <p:sp>
        <p:nvSpPr>
          <p:cNvPr id="195619" name="Rectangle 35"/>
          <p:cNvSpPr>
            <a:spLocks noChangeArrowheads="1"/>
          </p:cNvSpPr>
          <p:nvPr/>
        </p:nvSpPr>
        <p:spPr bwMode="auto">
          <a:xfrm>
            <a:off x="7080250" y="41910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/ / / / / /</a:t>
            </a:r>
          </a:p>
        </p:txBody>
      </p:sp>
      <p:sp>
        <p:nvSpPr>
          <p:cNvPr id="195622" name="Text Box 38"/>
          <p:cNvSpPr txBox="1">
            <a:spLocks noChangeArrowheads="1"/>
          </p:cNvSpPr>
          <p:nvPr/>
        </p:nvSpPr>
        <p:spPr bwMode="auto">
          <a:xfrm>
            <a:off x="8483600" y="3429000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 b="1"/>
              <a:t>TOP</a:t>
            </a:r>
            <a:endParaRPr lang="en-US" altLang="en-US"/>
          </a:p>
        </p:txBody>
      </p:sp>
      <p:sp>
        <p:nvSpPr>
          <p:cNvPr id="195623" name="Line 39"/>
          <p:cNvSpPr>
            <a:spLocks noChangeShapeType="1"/>
          </p:cNvSpPr>
          <p:nvPr/>
        </p:nvSpPr>
        <p:spPr bwMode="auto">
          <a:xfrm flipH="1">
            <a:off x="8299450" y="36195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624" name="Text Box 40"/>
          <p:cNvSpPr txBox="1">
            <a:spLocks noChangeArrowheads="1"/>
          </p:cNvSpPr>
          <p:nvPr/>
        </p:nvSpPr>
        <p:spPr bwMode="auto">
          <a:xfrm>
            <a:off x="381000" y="5165725"/>
            <a:ext cx="1439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CE0000"/>
                </a:solidFill>
              </a:rPr>
              <a:t>Initial State</a:t>
            </a:r>
            <a:endParaRPr lang="en-US" altLang="en-US"/>
          </a:p>
        </p:txBody>
      </p:sp>
      <p:sp>
        <p:nvSpPr>
          <p:cNvPr id="195625" name="Text Box 41"/>
          <p:cNvSpPr txBox="1">
            <a:spLocks noChangeArrowheads="1"/>
          </p:cNvSpPr>
          <p:nvPr/>
        </p:nvSpPr>
        <p:spPr bwMode="auto">
          <a:xfrm>
            <a:off x="2649538" y="5165725"/>
            <a:ext cx="13128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CE0000"/>
                </a:solidFill>
              </a:rPr>
              <a:t>After</a:t>
            </a:r>
          </a:p>
          <a:p>
            <a:pPr algn="ctr"/>
            <a:r>
              <a:rPr lang="en-US" altLang="en-US">
                <a:solidFill>
                  <a:srgbClr val="CE0000"/>
                </a:solidFill>
              </a:rPr>
              <a:t>One Push</a:t>
            </a:r>
            <a:endParaRPr lang="en-US" altLang="en-US"/>
          </a:p>
        </p:txBody>
      </p:sp>
      <p:sp>
        <p:nvSpPr>
          <p:cNvPr id="195626" name="Text Box 42"/>
          <p:cNvSpPr txBox="1">
            <a:spLocks noChangeArrowheads="1"/>
          </p:cNvSpPr>
          <p:nvPr/>
        </p:nvSpPr>
        <p:spPr bwMode="auto">
          <a:xfrm>
            <a:off x="4683125" y="5165725"/>
            <a:ext cx="1679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CE0000"/>
                </a:solidFill>
              </a:rPr>
              <a:t>After Three </a:t>
            </a:r>
          </a:p>
          <a:p>
            <a:pPr algn="ctr"/>
            <a:r>
              <a:rPr lang="en-US" altLang="en-US">
                <a:solidFill>
                  <a:srgbClr val="CE0000"/>
                </a:solidFill>
              </a:rPr>
              <a:t>More Pushes</a:t>
            </a:r>
            <a:endParaRPr lang="en-US" altLang="en-US"/>
          </a:p>
        </p:txBody>
      </p:sp>
      <p:sp>
        <p:nvSpPr>
          <p:cNvPr id="195627" name="Text Box 43"/>
          <p:cNvSpPr txBox="1">
            <a:spLocks noChangeArrowheads="1"/>
          </p:cNvSpPr>
          <p:nvPr/>
        </p:nvSpPr>
        <p:spPr bwMode="auto">
          <a:xfrm>
            <a:off x="7070725" y="5165725"/>
            <a:ext cx="13144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CE0000"/>
                </a:solidFill>
              </a:rPr>
              <a:t>After</a:t>
            </a:r>
          </a:p>
          <a:p>
            <a:pPr algn="ctr"/>
            <a:r>
              <a:rPr lang="en-US" altLang="en-US">
                <a:solidFill>
                  <a:srgbClr val="CE0000"/>
                </a:solidFill>
              </a:rPr>
              <a:t>Two Pops</a:t>
            </a:r>
            <a:endParaRPr lang="en-US" altLang="en-US"/>
          </a:p>
        </p:txBody>
      </p:sp>
      <p:sp>
        <p:nvSpPr>
          <p:cNvPr id="195628" name="Rectangle 44"/>
          <p:cNvSpPr>
            <a:spLocks noChangeArrowheads="1"/>
          </p:cNvSpPr>
          <p:nvPr/>
        </p:nvSpPr>
        <p:spPr bwMode="auto">
          <a:xfrm>
            <a:off x="571500" y="47244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x4000</a:t>
            </a:r>
          </a:p>
        </p:txBody>
      </p:sp>
      <p:sp>
        <p:nvSpPr>
          <p:cNvPr id="195629" name="Rectangle 45"/>
          <p:cNvSpPr>
            <a:spLocks noChangeArrowheads="1"/>
          </p:cNvSpPr>
          <p:nvPr/>
        </p:nvSpPr>
        <p:spPr bwMode="auto">
          <a:xfrm>
            <a:off x="2743200" y="47244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x3FFF</a:t>
            </a:r>
          </a:p>
        </p:txBody>
      </p:sp>
      <p:sp>
        <p:nvSpPr>
          <p:cNvPr id="195630" name="Rectangle 46"/>
          <p:cNvSpPr>
            <a:spLocks noChangeArrowheads="1"/>
          </p:cNvSpPr>
          <p:nvPr/>
        </p:nvSpPr>
        <p:spPr bwMode="auto">
          <a:xfrm>
            <a:off x="4914900" y="47244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x3FFC</a:t>
            </a:r>
          </a:p>
        </p:txBody>
      </p:sp>
      <p:sp>
        <p:nvSpPr>
          <p:cNvPr id="195631" name="Rectangle 47"/>
          <p:cNvSpPr>
            <a:spLocks noChangeArrowheads="1"/>
          </p:cNvSpPr>
          <p:nvPr/>
        </p:nvSpPr>
        <p:spPr bwMode="auto">
          <a:xfrm>
            <a:off x="7086600" y="4724400"/>
            <a:ext cx="1143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x3FFE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955B95-A726-49E8-8D99-6A7B5C34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3BB01B-12E6-4D3A-B5A6-732B01F8F77C}" type="datetime2">
              <a:rPr lang="en-US" altLang="en-US" smtClean="0"/>
              <a:t>Friday, October 10, 2025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714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Stack Pointer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CFA0385-E251-4A0D-A2E6-7A855F5F791B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4906962"/>
          </a:xfrm>
        </p:spPr>
        <p:txBody>
          <a:bodyPr/>
          <a:lstStyle/>
          <a:p>
            <a:r>
              <a:rPr lang="en-US" sz="2400" dirty="0"/>
              <a:t>It is a 16-bit register, contains the address of the data item currently on top of the stack.</a:t>
            </a:r>
          </a:p>
          <a:p>
            <a:endParaRPr lang="en-US" sz="2400" dirty="0"/>
          </a:p>
          <a:p>
            <a:r>
              <a:rPr lang="en-US" sz="2400" dirty="0"/>
              <a:t>Stack operation includes pushing (providing) data on to the stack and popping (taking)data from the stack. </a:t>
            </a:r>
          </a:p>
          <a:p>
            <a:endParaRPr lang="en-US" sz="2400" dirty="0"/>
          </a:p>
          <a:p>
            <a:r>
              <a:rPr lang="en-US" sz="2400" b="1" dirty="0"/>
              <a:t>Pushing</a:t>
            </a:r>
            <a:r>
              <a:rPr lang="en-US" sz="2400" dirty="0"/>
              <a:t> operation decrements stack pointer and </a:t>
            </a:r>
            <a:r>
              <a:rPr lang="en-US" sz="2400" b="1" dirty="0"/>
              <a:t>Popping</a:t>
            </a:r>
            <a:r>
              <a:rPr lang="en-US" sz="2400" dirty="0"/>
              <a:t> operation increments stack pointer. </a:t>
            </a:r>
            <a:r>
              <a:rPr lang="en-US" sz="2400" dirty="0" err="1"/>
              <a:t>i.e</a:t>
            </a:r>
            <a:r>
              <a:rPr lang="en-US" sz="2400" dirty="0"/>
              <a:t> there is a last in first out </a:t>
            </a:r>
            <a:r>
              <a:rPr lang="en-US" sz="2400" b="1" dirty="0"/>
              <a:t>(LIFO)</a:t>
            </a:r>
            <a:r>
              <a:rPr lang="en-US" sz="2400" dirty="0"/>
              <a:t> operation.</a:t>
            </a:r>
          </a:p>
          <a:p>
            <a:pPr marL="344487" lvl="1" indent="0" eaLnBrk="1" hangingPunct="1">
              <a:buNone/>
            </a:pPr>
            <a:endParaRPr lang="en-US" altLang="en-US" sz="24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2093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Push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F60F70E-7892-4E1A-8AE0-DE64CDD4DE99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4906962"/>
          </a:xfrm>
        </p:spPr>
        <p:txBody>
          <a:bodyPr/>
          <a:lstStyle/>
          <a:p>
            <a:r>
              <a:rPr lang="en-US" sz="2400" dirty="0"/>
              <a:t>Source can be register, segment register or memory.</a:t>
            </a:r>
          </a:p>
          <a:p>
            <a:r>
              <a:rPr lang="en-US" sz="2400" dirty="0"/>
              <a:t>This instruction pushes the contents of specified source on to the stack.</a:t>
            </a:r>
          </a:p>
          <a:p>
            <a:r>
              <a:rPr lang="en-US" sz="2400" dirty="0"/>
              <a:t>In this stack pointer is decremented by 2.</a:t>
            </a:r>
          </a:p>
          <a:p>
            <a:r>
              <a:rPr lang="en-US" sz="2400" dirty="0"/>
              <a:t>The higher byte data is pushed first (SP-1).</a:t>
            </a:r>
          </a:p>
          <a:p>
            <a:r>
              <a:rPr lang="en-US" sz="2400" dirty="0"/>
              <a:t>Then lower byte data is pushed (SP-2).</a:t>
            </a:r>
          </a:p>
          <a:p>
            <a:pPr lvl="1"/>
            <a:r>
              <a:rPr lang="en-US" sz="2000" dirty="0"/>
              <a:t>E.g.:</a:t>
            </a:r>
          </a:p>
          <a:p>
            <a:pPr lvl="1"/>
            <a:r>
              <a:rPr lang="en-US" sz="2000" dirty="0"/>
              <a:t>(1). PUSH AX;</a:t>
            </a:r>
          </a:p>
          <a:p>
            <a:pPr lvl="1"/>
            <a:r>
              <a:rPr lang="en-US" sz="2000" dirty="0"/>
              <a:t>(2). PUSH DS;</a:t>
            </a:r>
          </a:p>
          <a:p>
            <a:pPr lvl="1"/>
            <a:r>
              <a:rPr lang="en-US" sz="2000" dirty="0"/>
              <a:t>(3). PUSH [5000H];</a:t>
            </a:r>
            <a:endParaRPr lang="en-US" altLang="en-US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9099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Push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A401FF0-6972-4409-AA91-E0E172728895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508915"/>
              </p:ext>
            </p:extLst>
          </p:nvPr>
        </p:nvGraphicFramePr>
        <p:xfrm>
          <a:off x="3276600" y="268897"/>
          <a:ext cx="4876800" cy="18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INITIAL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POSITION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050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16398"/>
              </p:ext>
            </p:extLst>
          </p:nvPr>
        </p:nvGraphicFramePr>
        <p:xfrm>
          <a:off x="3276600" y="2155072"/>
          <a:ext cx="4876800" cy="211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DECREMENTS SP &amp; STORES HIGHER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549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HIGHER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85695"/>
              </p:ext>
            </p:extLst>
          </p:nvPr>
        </p:nvGraphicFramePr>
        <p:xfrm>
          <a:off x="3276600" y="4384636"/>
          <a:ext cx="4876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44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DECREMENTS SP &amp; STORES LOWER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LOWER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812525"/>
                  </a:ext>
                </a:extLst>
              </a:tr>
              <a:tr h="338593">
                <a:tc>
                  <a:txBody>
                    <a:bodyPr/>
                    <a:lstStyle/>
                    <a:p>
                      <a:r>
                        <a:rPr lang="en-US" b="1" dirty="0"/>
                        <a:t>HIGHER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593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154758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(1) STACK POINTER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96" y="3276640"/>
            <a:ext cx="163846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(2) STACK </a:t>
            </a:r>
          </a:p>
          <a:p>
            <a:r>
              <a:rPr lang="en-US" b="1" dirty="0"/>
              <a:t>POINTER</a:t>
            </a:r>
          </a:p>
          <a:p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4824184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(3) STACK POINTER</a:t>
            </a:r>
          </a:p>
          <a:p>
            <a:endParaRPr lang="en-US" b="1" dirty="0"/>
          </a:p>
        </p:txBody>
      </p:sp>
      <p:sp>
        <p:nvSpPr>
          <p:cNvPr id="13" name="Right Arrow 12"/>
          <p:cNvSpPr/>
          <p:nvPr/>
        </p:nvSpPr>
        <p:spPr>
          <a:xfrm>
            <a:off x="2174745" y="168988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74745" y="350374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2180245" y="53176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0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9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Push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EC002F8-5125-4ACB-ABB9-137FB22CB649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2057400" y="1447800"/>
          <a:ext cx="2667000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5524708"/>
              </p:ext>
            </p:extLst>
          </p:nvPr>
        </p:nvGraphicFramePr>
        <p:xfrm>
          <a:off x="2057400" y="4281264"/>
          <a:ext cx="2667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0" y="990599"/>
          <a:ext cx="838200" cy="182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09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9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904473"/>
              </p:ext>
            </p:extLst>
          </p:nvPr>
        </p:nvGraphicFramePr>
        <p:xfrm>
          <a:off x="7848600" y="3896073"/>
          <a:ext cx="838200" cy="1981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434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42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4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057400" y="914400"/>
          <a:ext cx="2667000" cy="5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SP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          2002H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030497"/>
              </p:ext>
            </p:extLst>
          </p:nvPr>
        </p:nvGraphicFramePr>
        <p:xfrm>
          <a:off x="2057400" y="3900264"/>
          <a:ext cx="2667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           2000H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05100" y="442575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BEFORE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5904" y="3336370"/>
            <a:ext cx="3680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AFTER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0668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2000H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8806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2001H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37386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2002H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0" y="397227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2000H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458187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2001H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0" y="534387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2002H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615387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PUSH CX</a:t>
            </a:r>
          </a:p>
        </p:txBody>
      </p:sp>
    </p:spTree>
    <p:extLst>
      <p:ext uri="{BB962C8B-B14F-4D97-AF65-F5344CB8AC3E}">
        <p14:creationId xmlns:p14="http://schemas.microsoft.com/office/powerpoint/2010/main" val="294565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Pop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58B8082-F503-46A6-9911-F78E1715DC25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4906962"/>
          </a:xfrm>
        </p:spPr>
        <p:txBody>
          <a:bodyPr/>
          <a:lstStyle/>
          <a:p>
            <a:r>
              <a:rPr lang="en-US" sz="2400" dirty="0"/>
              <a:t>Destination can be register, segment register or memory.</a:t>
            </a:r>
          </a:p>
          <a:p>
            <a:r>
              <a:rPr lang="en-US" sz="2400" dirty="0"/>
              <a:t>This instruction pops (takes) the contents of specified destination.</a:t>
            </a:r>
          </a:p>
          <a:p>
            <a:r>
              <a:rPr lang="en-US" sz="2400" dirty="0"/>
              <a:t>In this stack pointer is incremented by 2.</a:t>
            </a:r>
          </a:p>
          <a:p>
            <a:r>
              <a:rPr lang="en-US" sz="2400" dirty="0"/>
              <a:t>The lower byte data is popped first (SP+1).</a:t>
            </a:r>
          </a:p>
          <a:p>
            <a:r>
              <a:rPr lang="en-US" sz="2400" dirty="0"/>
              <a:t>Then higher byte data is popped (SP+2).</a:t>
            </a:r>
          </a:p>
          <a:p>
            <a:pPr lvl="1"/>
            <a:r>
              <a:rPr lang="en-US" sz="2000" dirty="0"/>
              <a:t>E.g.</a:t>
            </a:r>
          </a:p>
          <a:p>
            <a:pPr lvl="1"/>
            <a:r>
              <a:rPr lang="en-US" sz="2000" dirty="0"/>
              <a:t>(1). POP AX;</a:t>
            </a:r>
          </a:p>
          <a:p>
            <a:pPr lvl="1"/>
            <a:r>
              <a:rPr lang="en-US" sz="2000" dirty="0"/>
              <a:t>(2). POP DS;</a:t>
            </a:r>
          </a:p>
          <a:p>
            <a:pPr lvl="1"/>
            <a:r>
              <a:rPr lang="en-US" sz="2000" dirty="0"/>
              <a:t>(3). POP [5000H];</a:t>
            </a:r>
            <a:endParaRPr lang="en-US" sz="16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1070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Pop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971DA1E-8CE3-4620-BD57-2CE995FB840B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625568"/>
              </p:ext>
            </p:extLst>
          </p:nvPr>
        </p:nvGraphicFramePr>
        <p:xfrm>
          <a:off x="3287216" y="404664"/>
          <a:ext cx="48768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INITIAL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POSITION AND READS LOWER BYTE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LOWER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baseline="0" dirty="0"/>
                        <a:t>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HIGHER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243043"/>
              </p:ext>
            </p:extLst>
          </p:nvPr>
        </p:nvGraphicFramePr>
        <p:xfrm>
          <a:off x="3363416" y="2453680"/>
          <a:ext cx="4876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INCREMENTS SP &amp; READS HIGHER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LOWER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HIGHER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492632"/>
              </p:ext>
            </p:extLst>
          </p:nvPr>
        </p:nvGraphicFramePr>
        <p:xfrm>
          <a:off x="3439616" y="4358680"/>
          <a:ext cx="48768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INCREMENTS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SP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LOWER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HIGHER 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39216" y="929680"/>
            <a:ext cx="236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(1) STACK</a:t>
            </a:r>
          </a:p>
          <a:p>
            <a:r>
              <a:rPr lang="en-US" b="1" dirty="0"/>
              <a:t>     POINTER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16" y="3215680"/>
            <a:ext cx="163846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(2) STACK </a:t>
            </a:r>
          </a:p>
          <a:p>
            <a:r>
              <a:rPr lang="en-US" b="1" dirty="0"/>
              <a:t>POINTER</a:t>
            </a:r>
          </a:p>
          <a:p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83568" y="5492381"/>
            <a:ext cx="2054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(3) STACK POINTER</a:t>
            </a:r>
          </a:p>
          <a:p>
            <a:endParaRPr lang="en-US" b="1" dirty="0"/>
          </a:p>
        </p:txBody>
      </p:sp>
      <p:sp>
        <p:nvSpPr>
          <p:cNvPr id="13" name="Right Arrow 12"/>
          <p:cNvSpPr/>
          <p:nvPr/>
        </p:nvSpPr>
        <p:spPr>
          <a:xfrm>
            <a:off x="2250382" y="10246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>
            <a:off x="2350368" y="318147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2461208" y="573157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9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0.24653 -4.44444E-6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9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en-US" dirty="0"/>
              <a:t>Pop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958C9-0A50-4D64-8BBA-A3F677287FBB}" type="slidenum">
              <a:rPr lang="en-US" altLang="en-US" sz="1200" smtClean="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8F22308-81AC-425B-8355-9EA86490EE4C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471853"/>
              </p:ext>
            </p:extLst>
          </p:nvPr>
        </p:nvGraphicFramePr>
        <p:xfrm>
          <a:off x="743744" y="2204864"/>
          <a:ext cx="2514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6044352"/>
              </p:ext>
            </p:extLst>
          </p:nvPr>
        </p:nvGraphicFramePr>
        <p:xfrm>
          <a:off x="667544" y="5264512"/>
          <a:ext cx="2590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83936"/>
              </p:ext>
            </p:extLst>
          </p:nvPr>
        </p:nvGraphicFramePr>
        <p:xfrm>
          <a:off x="743744" y="1620024"/>
          <a:ext cx="25146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2000H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962426"/>
              </p:ext>
            </p:extLst>
          </p:nvPr>
        </p:nvGraphicFramePr>
        <p:xfrm>
          <a:off x="667544" y="4797152"/>
          <a:ext cx="2590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2002H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396593"/>
              </p:ext>
            </p:extLst>
          </p:nvPr>
        </p:nvGraphicFramePr>
        <p:xfrm>
          <a:off x="6534944" y="1412776"/>
          <a:ext cx="990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778734"/>
              </p:ext>
            </p:extLst>
          </p:nvPr>
        </p:nvGraphicFramePr>
        <p:xfrm>
          <a:off x="6677744" y="4577680"/>
          <a:ext cx="990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286000" y="781824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BEFORE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3715673"/>
            <a:ext cx="464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AFTER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0978" y="2766733"/>
            <a:ext cx="2839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POP BX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44" y="1488976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2000H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44" y="2022376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2001H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44" y="2491244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2002H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9544" y="4653880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2000H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9544" y="5015770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2001H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9544" y="5472970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2002H</a:t>
            </a:r>
          </a:p>
        </p:txBody>
      </p:sp>
    </p:spTree>
    <p:extLst>
      <p:ext uri="{BB962C8B-B14F-4D97-AF65-F5344CB8AC3E}">
        <p14:creationId xmlns:p14="http://schemas.microsoft.com/office/powerpoint/2010/main" val="81961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8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8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58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3B23-92D5-890B-1705-C556AA721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PUSH Example</a:t>
            </a:r>
            <a:endParaRPr lang="en-PK" dirty="0"/>
          </a:p>
        </p:txBody>
      </p:sp>
      <p:pic>
        <p:nvPicPr>
          <p:cNvPr id="7" name="Content Placeholder 6" descr="A diagram of a number of steps&#10;&#10;Description automatically generated with medium confidence">
            <a:extLst>
              <a:ext uri="{FF2B5EF4-FFF2-40B4-BE49-F238E27FC236}">
                <a16:creationId xmlns:a16="http://schemas.microsoft.com/office/drawing/2014/main" id="{8F3C196E-4BF3-FC10-A1B8-49609D61B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18449"/>
            <a:ext cx="8229600" cy="4094226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426D8-93FA-1AE1-9D20-A419ED6E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862F9E19-0CDE-405A-AD3A-7B99E433588C}" type="datetime2">
              <a:rPr lang="en-US" altLang="en-US" smtClean="0"/>
              <a:pPr>
                <a:spcAft>
                  <a:spcPts val="600"/>
                </a:spcAft>
                <a:defRPr/>
              </a:pPr>
              <a:t>Friday, October 10, 2025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238A7-702A-C9FC-11FF-E256DD44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CD57659D-25DE-4303-8EC9-DEE39B936948}" type="slidenum">
              <a:rPr lang="en-US" altLang="en-US" smtClean="0"/>
              <a:pPr>
                <a:spcAft>
                  <a:spcPts val="600"/>
                </a:spcAft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909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1A91-6116-63CE-AF38-FADA8D36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POP Example</a:t>
            </a:r>
            <a:endParaRPr lang="en-PK" dirty="0"/>
          </a:p>
        </p:txBody>
      </p:sp>
      <p:pic>
        <p:nvPicPr>
          <p:cNvPr id="7" name="Content Placeholder 6" descr="A diagram of a ladder&#10;&#10;Description automatically generated">
            <a:extLst>
              <a:ext uri="{FF2B5EF4-FFF2-40B4-BE49-F238E27FC236}">
                <a16:creationId xmlns:a16="http://schemas.microsoft.com/office/drawing/2014/main" id="{AEAA6788-7D11-DDCD-A0C8-00829445C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36154"/>
            <a:ext cx="8229600" cy="4258817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F9A30-AE45-AE76-C2C3-C71FACB11B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862F9E19-0CDE-405A-AD3A-7B99E433588C}" type="datetime2">
              <a:rPr lang="en-US" altLang="en-US" smtClean="0"/>
              <a:pPr>
                <a:spcAft>
                  <a:spcPts val="600"/>
                </a:spcAft>
                <a:defRPr/>
              </a:pPr>
              <a:t>Friday, October 10, 2025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A881C-8B1F-0C8B-0978-F64228E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CD57659D-25DE-4303-8EC9-DEE39B936948}" type="slidenum">
              <a:rPr lang="en-US" altLang="en-US" smtClean="0"/>
              <a:pPr>
                <a:spcAft>
                  <a:spcPts val="600"/>
                </a:spcAft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1862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D39B-EEE2-4235-B4A6-91A88336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F15CA-8CA4-4296-9522-2F3D99C3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682752" cy="4530725"/>
          </a:xfrm>
        </p:spPr>
        <p:txBody>
          <a:bodyPr/>
          <a:lstStyle/>
          <a:p>
            <a:r>
              <a:rPr lang="en-US" dirty="0"/>
              <a:t>MOV DX, 0FFFEH</a:t>
            </a:r>
          </a:p>
          <a:p>
            <a:r>
              <a:rPr lang="en-US" dirty="0"/>
              <a:t>MOV SP,DX</a:t>
            </a:r>
          </a:p>
          <a:p>
            <a:r>
              <a:rPr lang="en-US" dirty="0"/>
              <a:t>MOV DX,0A000H</a:t>
            </a:r>
          </a:p>
          <a:p>
            <a:r>
              <a:rPr lang="en-US" dirty="0"/>
              <a:t>MOV SS,DX</a:t>
            </a:r>
          </a:p>
          <a:p>
            <a:r>
              <a:rPr lang="en-US" dirty="0"/>
              <a:t>MOV AX,0ACADH</a:t>
            </a:r>
          </a:p>
          <a:p>
            <a:r>
              <a:rPr lang="en-US" dirty="0"/>
              <a:t>MOV BX,1000H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EFB47-8804-4D56-A3AB-92A8D419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2F9E19-0CDE-405A-AD3A-7B99E433588C}" type="datetime2">
              <a:rPr lang="en-US" altLang="en-US" smtClean="0"/>
              <a:t>Friday, October 10,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DB6A4-7176-4D96-97C3-CE6EDDBC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A9CC13-F9FF-4DAB-9EAE-73C1DB30473A}"/>
              </a:ext>
            </a:extLst>
          </p:cNvPr>
          <p:cNvSpPr txBox="1">
            <a:spLocks/>
          </p:cNvSpPr>
          <p:nvPr/>
        </p:nvSpPr>
        <p:spPr bwMode="auto">
          <a:xfrm>
            <a:off x="5004050" y="1565275"/>
            <a:ext cx="3682752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PUSH AX</a:t>
            </a:r>
          </a:p>
          <a:p>
            <a:r>
              <a:rPr lang="en-US" kern="0" dirty="0"/>
              <a:t>PUSH BX</a:t>
            </a:r>
          </a:p>
          <a:p>
            <a:r>
              <a:rPr lang="en-US" kern="0" dirty="0"/>
              <a:t>ADD AX,BX</a:t>
            </a:r>
          </a:p>
          <a:p>
            <a:r>
              <a:rPr lang="en-US" kern="0" dirty="0"/>
              <a:t>PUSH AX</a:t>
            </a:r>
          </a:p>
          <a:p>
            <a:r>
              <a:rPr lang="en-US" kern="0" dirty="0"/>
              <a:t>POP CX</a:t>
            </a:r>
          </a:p>
          <a:p>
            <a:r>
              <a:rPr lang="en-US" kern="0" dirty="0"/>
              <a:t>POP DX</a:t>
            </a:r>
          </a:p>
          <a:p>
            <a:r>
              <a:rPr lang="en-US" kern="0" dirty="0"/>
              <a:t>HLT</a:t>
            </a:r>
            <a:endParaRPr lang="en-PK" kern="0" dirty="0"/>
          </a:p>
        </p:txBody>
      </p:sp>
    </p:spTree>
    <p:extLst>
      <p:ext uri="{BB962C8B-B14F-4D97-AF65-F5344CB8AC3E}">
        <p14:creationId xmlns:p14="http://schemas.microsoft.com/office/powerpoint/2010/main" val="74258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29159</TotalTime>
  <Words>703</Words>
  <Application>Microsoft Office PowerPoint</Application>
  <PresentationFormat>On-screen Show (4:3)</PresentationFormat>
  <Paragraphs>238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Edge</vt:lpstr>
      <vt:lpstr> Microprocessor Systems and Interfacing  EEE 342</vt:lpstr>
      <vt:lpstr>Stack</vt:lpstr>
      <vt:lpstr>Stack</vt:lpstr>
      <vt:lpstr>Stack</vt:lpstr>
      <vt:lpstr>Stack</vt:lpstr>
      <vt:lpstr>Stack</vt:lpstr>
      <vt:lpstr>CPU’s stack grows downward</vt:lpstr>
      <vt:lpstr>A Software Implementation</vt:lpstr>
      <vt:lpstr>Stack Pointer</vt:lpstr>
      <vt:lpstr>Push</vt:lpstr>
      <vt:lpstr>Push</vt:lpstr>
      <vt:lpstr>Push</vt:lpstr>
      <vt:lpstr>Pop</vt:lpstr>
      <vt:lpstr>Pop</vt:lpstr>
      <vt:lpstr>Pop</vt:lpstr>
      <vt:lpstr>PUSH Example</vt:lpstr>
      <vt:lpstr>POP Example</vt:lpstr>
      <vt:lpstr>Stack Example</vt:lpstr>
    </vt:vector>
  </TitlesOfParts>
  <Company>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Measurement-based Deployment Proposal for IP Anycast</dc:title>
  <dc:creator>M. Hassan Aslam</dc:creator>
  <cp:lastModifiedBy>ALISHA BUTT</cp:lastModifiedBy>
  <cp:revision>1800</cp:revision>
  <cp:lastPrinted>2016-02-03T03:45:30Z</cp:lastPrinted>
  <dcterms:created xsi:type="dcterms:W3CDTF">2007-02-17T16:35:06Z</dcterms:created>
  <dcterms:modified xsi:type="dcterms:W3CDTF">2025-10-10T07:46:40Z</dcterms:modified>
</cp:coreProperties>
</file>