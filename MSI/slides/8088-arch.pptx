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45"/>
  </p:notesMasterIdLst>
  <p:handoutMasterIdLst>
    <p:handoutMasterId r:id="rId46"/>
  </p:handoutMasterIdLst>
  <p:sldIdLst>
    <p:sldId id="371" r:id="rId2"/>
    <p:sldId id="455" r:id="rId3"/>
    <p:sldId id="558" r:id="rId4"/>
    <p:sldId id="694" r:id="rId5"/>
    <p:sldId id="695" r:id="rId6"/>
    <p:sldId id="578" r:id="rId7"/>
    <p:sldId id="697" r:id="rId8"/>
    <p:sldId id="698" r:id="rId9"/>
    <p:sldId id="699" r:id="rId10"/>
    <p:sldId id="700" r:id="rId11"/>
    <p:sldId id="725" r:id="rId12"/>
    <p:sldId id="726" r:id="rId13"/>
    <p:sldId id="727" r:id="rId14"/>
    <p:sldId id="728" r:id="rId15"/>
    <p:sldId id="730" r:id="rId16"/>
    <p:sldId id="731" r:id="rId17"/>
    <p:sldId id="732" r:id="rId18"/>
    <p:sldId id="733" r:id="rId19"/>
    <p:sldId id="734" r:id="rId20"/>
    <p:sldId id="735" r:id="rId21"/>
    <p:sldId id="701" r:id="rId22"/>
    <p:sldId id="702" r:id="rId23"/>
    <p:sldId id="703" r:id="rId24"/>
    <p:sldId id="704" r:id="rId25"/>
    <p:sldId id="705" r:id="rId26"/>
    <p:sldId id="706" r:id="rId27"/>
    <p:sldId id="707" r:id="rId28"/>
    <p:sldId id="708" r:id="rId29"/>
    <p:sldId id="709" r:id="rId30"/>
    <p:sldId id="710" r:id="rId31"/>
    <p:sldId id="717" r:id="rId32"/>
    <p:sldId id="711" r:id="rId33"/>
    <p:sldId id="712" r:id="rId34"/>
    <p:sldId id="713" r:id="rId35"/>
    <p:sldId id="714" r:id="rId36"/>
    <p:sldId id="716" r:id="rId37"/>
    <p:sldId id="723" r:id="rId38"/>
    <p:sldId id="724" r:id="rId39"/>
    <p:sldId id="722" r:id="rId40"/>
    <p:sldId id="718" r:id="rId41"/>
    <p:sldId id="719" r:id="rId42"/>
    <p:sldId id="720" r:id="rId43"/>
    <p:sldId id="721" r:id="rId44"/>
  </p:sldIdLst>
  <p:sldSz cx="9144000" cy="6858000" type="screen4x3"/>
  <p:notesSz cx="7315200" cy="9601200"/>
  <p:defaultTextStyle>
    <a:defPPr>
      <a:defRPr lang="en-US"/>
    </a:defPPr>
    <a:lvl1pPr algn="l" rtl="0" eaLnBrk="0" fontAlgn="base" hangingPunct="0">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6B600"/>
    <a:srgbClr val="FFBF09"/>
    <a:srgbClr val="060AAA"/>
    <a:srgbClr val="00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43" autoAdjust="0"/>
    <p:restoredTop sz="88735" autoAdjust="0"/>
  </p:normalViewPr>
  <p:slideViewPr>
    <p:cSldViewPr>
      <p:cViewPr varScale="1">
        <p:scale>
          <a:sx n="69" d="100"/>
          <a:sy n="69" d="100"/>
        </p:scale>
        <p:origin x="141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presProps" Target="presProps.xml" /><Relationship Id="rId50"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handoutMaster" Target="handoutMasters/handout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viewProps" Target="viewProps.xml" /><Relationship Id="rId8" Type="http://schemas.openxmlformats.org/officeDocument/2006/relationships/slide" Target="slides/slide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pPr>
              <a:defRPr/>
            </a:pPr>
            <a:fld id="{32D830CA-4D36-4C4D-8A30-C7062D7B6600}" type="datetime2">
              <a:rPr lang="en-US"/>
              <a:pPr>
                <a:defRPr/>
              </a:pPr>
              <a:t>Saturday, October 11, 2025</a:t>
            </a:fld>
            <a:endParaRPr lang="en-US" dirty="0"/>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pPr>
              <a:defRPr/>
            </a:pPr>
            <a:fld id="{80A3C3FA-0BD0-445C-B83D-499E08D07FEE}"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eaLnBrk="1" hangingPunct="1">
              <a:spcBef>
                <a:spcPct val="0"/>
              </a:spcBef>
              <a:buClrTx/>
              <a:buSzTx/>
              <a:buFontTx/>
              <a:buNone/>
              <a:defRPr sz="1300">
                <a:latin typeface="Arial" charset="0"/>
                <a:cs typeface="Arial" charset="0"/>
              </a:defRPr>
            </a:lvl1pPr>
          </a:lstStyle>
          <a:p>
            <a:pPr>
              <a:defRPr/>
            </a:pPr>
            <a:endParaRPr lang="en-US"/>
          </a:p>
        </p:txBody>
      </p:sp>
      <p:sp>
        <p:nvSpPr>
          <p:cNvPr id="9219" name="Rectangle 3"/>
          <p:cNvSpPr>
            <a:spLocks noGrp="1" noChangeArrowheads="1"/>
          </p:cNvSpPr>
          <p:nvPr>
            <p:ph type="dt" idx="1"/>
          </p:nvPr>
        </p:nvSpPr>
        <p:spPr bwMode="auto">
          <a:xfrm>
            <a:off x="4143375"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eaLnBrk="1" hangingPunct="1">
              <a:spcBef>
                <a:spcPct val="0"/>
              </a:spcBef>
              <a:buClrTx/>
              <a:buSzTx/>
              <a:buFontTx/>
              <a:buNone/>
              <a:defRPr sz="1300">
                <a:latin typeface="Arial" charset="0"/>
                <a:cs typeface="Arial" charset="0"/>
              </a:defRPr>
            </a:lvl1pPr>
          </a:lstStyle>
          <a:p>
            <a:pPr>
              <a:defRPr/>
            </a:pPr>
            <a:fld id="{DD5BF235-ABD2-4162-9B4F-5CAD8B50CA95}" type="datetime2">
              <a:rPr lang="en-US"/>
              <a:pPr>
                <a:defRPr/>
              </a:pPr>
              <a:t>Saturday, October 11, 2025</a:t>
            </a:fld>
            <a:endParaRPr lang="en-US" dirty="0"/>
          </a:p>
        </p:txBody>
      </p:sp>
      <p:sp>
        <p:nvSpPr>
          <p:cNvPr id="3076" name="Rectangle 4"/>
          <p:cNvSpPr>
            <a:spLocks noGrp="1" noRot="1" noChangeAspect="1" noChangeArrowheads="1" noTextEdit="1"/>
          </p:cNvSpPr>
          <p:nvPr>
            <p:ph type="sldImg" idx="2"/>
          </p:nvPr>
        </p:nvSpPr>
        <p:spPr bwMode="auto">
          <a:xfrm>
            <a:off x="1258888" y="720725"/>
            <a:ext cx="47974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731838" y="4559300"/>
            <a:ext cx="5851525" cy="4321175"/>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eaLnBrk="1" hangingPunct="1">
              <a:spcBef>
                <a:spcPct val="0"/>
              </a:spcBef>
              <a:buClrTx/>
              <a:buSzTx/>
              <a:buFontTx/>
              <a:buNone/>
              <a:defRPr sz="1300">
                <a:latin typeface="Arial" charset="0"/>
                <a:cs typeface="Arial" charset="0"/>
              </a:defRPr>
            </a:lvl1pPr>
          </a:lstStyle>
          <a:p>
            <a:pPr>
              <a:defRPr/>
            </a:pPr>
            <a:endParaRPr lang="en-US"/>
          </a:p>
        </p:txBody>
      </p:sp>
      <p:sp>
        <p:nvSpPr>
          <p:cNvPr id="9223" name="Rectangle 7"/>
          <p:cNvSpPr>
            <a:spLocks noGrp="1" noChangeArrowheads="1"/>
          </p:cNvSpPr>
          <p:nvPr>
            <p:ph type="sldNum" sz="quarter" idx="5"/>
          </p:nvPr>
        </p:nvSpPr>
        <p:spPr bwMode="auto">
          <a:xfrm>
            <a:off x="4143375"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eaLnBrk="1" hangingPunct="1">
              <a:spcBef>
                <a:spcPct val="0"/>
              </a:spcBef>
              <a:buClrTx/>
              <a:buSzTx/>
              <a:buFontTx/>
              <a:buNone/>
              <a:defRPr sz="1300"/>
            </a:lvl1pPr>
          </a:lstStyle>
          <a:p>
            <a:pPr>
              <a:defRPr/>
            </a:pPr>
            <a:fld id="{04F3B6C4-3406-47EA-8678-0F42AD433D5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0DA072-B388-4DB3-8DD6-71C62DF7C707}" type="slidenum">
              <a:rPr lang="en-US" altLang="en-US" sz="1300" smtClean="0"/>
              <a:pPr>
                <a:spcBef>
                  <a:spcPct val="0"/>
                </a:spcBef>
              </a:pPr>
              <a:t>1</a:t>
            </a:fld>
            <a:endParaRPr lang="en-US" altLang="en-US" sz="130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a:latin typeface="Arial" panose="020B0604020202020204" pitchFamily="34" charset="0"/>
              <a:cs typeface="Arial" panose="020B0604020202020204" pitchFamily="34" charset="0"/>
            </a:endParaRPr>
          </a:p>
        </p:txBody>
      </p:sp>
      <p:sp>
        <p:nvSpPr>
          <p:cNvPr id="6149" name="Date Placeholder 1"/>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200">
                <a:solidFill>
                  <a:schemeClr val="tx1"/>
                </a:solidFill>
                <a:latin typeface="Arial" panose="020B0604020202020204" pitchFamily="34" charset="0"/>
                <a:cs typeface="Arial" panose="020B0604020202020204" pitchFamily="34" charset="0"/>
              </a:defRPr>
            </a:lvl1pPr>
            <a:lvl2pPr marL="742950" indent="-285750" defTabSz="990600">
              <a:defRPr sz="2200">
                <a:solidFill>
                  <a:schemeClr val="tx1"/>
                </a:solidFill>
                <a:latin typeface="Arial" panose="020B0604020202020204" pitchFamily="34" charset="0"/>
                <a:cs typeface="Arial" panose="020B0604020202020204" pitchFamily="34" charset="0"/>
              </a:defRPr>
            </a:lvl2pPr>
            <a:lvl3pPr marL="1143000" indent="-228600" defTabSz="990600">
              <a:defRPr sz="2200">
                <a:solidFill>
                  <a:schemeClr val="tx1"/>
                </a:solidFill>
                <a:latin typeface="Arial" panose="020B0604020202020204" pitchFamily="34" charset="0"/>
                <a:cs typeface="Arial" panose="020B0604020202020204" pitchFamily="34" charset="0"/>
              </a:defRPr>
            </a:lvl3pPr>
            <a:lvl4pPr marL="1600200" indent="-228600" defTabSz="990600">
              <a:defRPr sz="2200">
                <a:solidFill>
                  <a:schemeClr val="tx1"/>
                </a:solidFill>
                <a:latin typeface="Arial" panose="020B0604020202020204" pitchFamily="34" charset="0"/>
                <a:cs typeface="Arial" panose="020B0604020202020204" pitchFamily="34" charset="0"/>
              </a:defRPr>
            </a:lvl4pPr>
            <a:lvl5pPr marL="2057400" indent="-228600" defTabSz="990600">
              <a:defRPr sz="2200">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9pPr>
          </a:lstStyle>
          <a:p>
            <a:fld id="{E0DE06BF-D367-4803-A097-D4F25971B6D0}" type="datetime2">
              <a:rPr lang="en-US" altLang="en-US" sz="1300" smtClean="0"/>
              <a:pPr/>
              <a:t>Saturday, October 11, 2025</a:t>
            </a:fld>
            <a:endParaRPr lang="en-US" altLang="en-US"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11</a:t>
            </a:fld>
            <a:endParaRPr lang="en-US" dirty="0"/>
          </a:p>
        </p:txBody>
      </p:sp>
    </p:spTree>
    <p:extLst>
      <p:ext uri="{BB962C8B-B14F-4D97-AF65-F5344CB8AC3E}">
        <p14:creationId xmlns:p14="http://schemas.microsoft.com/office/powerpoint/2010/main" val="1533328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12</a:t>
            </a:fld>
            <a:endParaRPr lang="en-US" dirty="0"/>
          </a:p>
        </p:txBody>
      </p:sp>
    </p:spTree>
    <p:extLst>
      <p:ext uri="{BB962C8B-B14F-4D97-AF65-F5344CB8AC3E}">
        <p14:creationId xmlns:p14="http://schemas.microsoft.com/office/powerpoint/2010/main" val="1965490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13</a:t>
            </a:fld>
            <a:endParaRPr lang="en-US" dirty="0"/>
          </a:p>
        </p:txBody>
      </p:sp>
    </p:spTree>
    <p:extLst>
      <p:ext uri="{BB962C8B-B14F-4D97-AF65-F5344CB8AC3E}">
        <p14:creationId xmlns:p14="http://schemas.microsoft.com/office/powerpoint/2010/main" val="3238039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14</a:t>
            </a:fld>
            <a:endParaRPr lang="en-US" dirty="0"/>
          </a:p>
        </p:txBody>
      </p:sp>
    </p:spTree>
    <p:extLst>
      <p:ext uri="{BB962C8B-B14F-4D97-AF65-F5344CB8AC3E}">
        <p14:creationId xmlns:p14="http://schemas.microsoft.com/office/powerpoint/2010/main" val="80099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15</a:t>
            </a:fld>
            <a:endParaRPr lang="en-US" dirty="0"/>
          </a:p>
        </p:txBody>
      </p:sp>
    </p:spTree>
    <p:extLst>
      <p:ext uri="{BB962C8B-B14F-4D97-AF65-F5344CB8AC3E}">
        <p14:creationId xmlns:p14="http://schemas.microsoft.com/office/powerpoint/2010/main" val="293360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16</a:t>
            </a:fld>
            <a:endParaRPr lang="en-US" dirty="0"/>
          </a:p>
        </p:txBody>
      </p:sp>
    </p:spTree>
    <p:extLst>
      <p:ext uri="{BB962C8B-B14F-4D97-AF65-F5344CB8AC3E}">
        <p14:creationId xmlns:p14="http://schemas.microsoft.com/office/powerpoint/2010/main" val="1605894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17</a:t>
            </a:fld>
            <a:endParaRPr lang="en-US" dirty="0"/>
          </a:p>
        </p:txBody>
      </p:sp>
    </p:spTree>
    <p:extLst>
      <p:ext uri="{BB962C8B-B14F-4D97-AF65-F5344CB8AC3E}">
        <p14:creationId xmlns:p14="http://schemas.microsoft.com/office/powerpoint/2010/main" val="366920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18</a:t>
            </a:fld>
            <a:endParaRPr lang="en-US" dirty="0"/>
          </a:p>
        </p:txBody>
      </p:sp>
    </p:spTree>
    <p:extLst>
      <p:ext uri="{BB962C8B-B14F-4D97-AF65-F5344CB8AC3E}">
        <p14:creationId xmlns:p14="http://schemas.microsoft.com/office/powerpoint/2010/main" val="1049869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19</a:t>
            </a:fld>
            <a:endParaRPr lang="en-US" dirty="0"/>
          </a:p>
        </p:txBody>
      </p:sp>
    </p:spTree>
    <p:extLst>
      <p:ext uri="{BB962C8B-B14F-4D97-AF65-F5344CB8AC3E}">
        <p14:creationId xmlns:p14="http://schemas.microsoft.com/office/powerpoint/2010/main" val="177026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20</a:t>
            </a:fld>
            <a:endParaRPr lang="en-US" dirty="0"/>
          </a:p>
        </p:txBody>
      </p:sp>
    </p:spTree>
    <p:extLst>
      <p:ext uri="{BB962C8B-B14F-4D97-AF65-F5344CB8AC3E}">
        <p14:creationId xmlns:p14="http://schemas.microsoft.com/office/powerpoint/2010/main" val="370858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210" name="Rectangle 2"/>
          <p:cNvSpPr>
            <a:spLocks noGrp="1" noChangeArrowheads="1"/>
          </p:cNvSpPr>
          <p:nvPr>
            <p:ph type="ctrTitle"/>
          </p:nvPr>
        </p:nvSpPr>
        <p:spPr>
          <a:xfrm>
            <a:off x="914400" y="1524000"/>
            <a:ext cx="7623175" cy="1752600"/>
          </a:xfrm>
        </p:spPr>
        <p:txBody>
          <a:bodyPr/>
          <a:lstStyle>
            <a:lvl1pPr>
              <a:defRPr sz="5000"/>
            </a:lvl1pPr>
          </a:lstStyle>
          <a:p>
            <a:pPr lvl="0"/>
            <a:r>
              <a:rPr lang="en-US" altLang="en-US" noProof="0"/>
              <a:t>Click to edit Master title style</a:t>
            </a:r>
          </a:p>
        </p:txBody>
      </p:sp>
      <p:sp>
        <p:nvSpPr>
          <p:cNvPr id="22221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fld id="{61644B45-5739-4140-9A90-E84D5BDBC562}" type="datetime2">
              <a:rPr lang="en-US" altLang="en-US"/>
              <a:pPr>
                <a:defRPr/>
              </a:pPr>
              <a:t>Saturday, October 11, 2025</a:t>
            </a:fld>
            <a:endParaRPr lang="en-US" altLang="en-US" dirty="0"/>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en-US"/>
              <a:t>Copyright 2016, M. Hassan Aslam (CIIT)</a:t>
            </a:r>
          </a:p>
        </p:txBody>
      </p:sp>
      <p:sp>
        <p:nvSpPr>
          <p:cNvPr id="8" name="Rectangle 6"/>
          <p:cNvSpPr>
            <a:spLocks noGrp="1" noChangeArrowheads="1"/>
          </p:cNvSpPr>
          <p:nvPr>
            <p:ph type="sldNum" sz="quarter" idx="12"/>
          </p:nvPr>
        </p:nvSpPr>
        <p:spPr/>
        <p:txBody>
          <a:bodyPr/>
          <a:lstStyle>
            <a:lvl1pPr>
              <a:defRPr/>
            </a:lvl1pPr>
          </a:lstStyle>
          <a:p>
            <a:pPr>
              <a:defRPr/>
            </a:pPr>
            <a:fld id="{E5AC8281-B950-41B6-8614-1858D4C134F8}" type="slidenum">
              <a:rPr lang="en-US" altLang="en-US"/>
              <a:pPr>
                <a:defRPr/>
              </a:pPr>
              <a:t>‹#›</a:t>
            </a:fld>
            <a:endParaRPr lang="en-US" altLang="en-US" dirty="0"/>
          </a:p>
        </p:txBody>
      </p:sp>
    </p:spTree>
    <p:extLst>
      <p:ext uri="{BB962C8B-B14F-4D97-AF65-F5344CB8AC3E}">
        <p14:creationId xmlns:p14="http://schemas.microsoft.com/office/powerpoint/2010/main" val="392886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9DC5FAF1-7272-4529-AF8A-B62F910E3C90}" type="datetime2">
              <a:rPr lang="en-US" altLang="en-US"/>
              <a:pPr>
                <a:defRPr/>
              </a:pPr>
              <a:t>Saturday, October 11, 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6" name="Rectangle 6"/>
          <p:cNvSpPr>
            <a:spLocks noGrp="1" noChangeArrowheads="1"/>
          </p:cNvSpPr>
          <p:nvPr>
            <p:ph type="sldNum" sz="quarter" idx="12"/>
          </p:nvPr>
        </p:nvSpPr>
        <p:spPr>
          <a:ln/>
        </p:spPr>
        <p:txBody>
          <a:bodyPr/>
          <a:lstStyle>
            <a:lvl1pPr>
              <a:defRPr/>
            </a:lvl1pPr>
          </a:lstStyle>
          <a:p>
            <a:pPr>
              <a:defRPr/>
            </a:pPr>
            <a:fld id="{CD57659D-25DE-4303-8EC9-DEE39B936948}" type="slidenum">
              <a:rPr lang="en-US" altLang="en-US"/>
              <a:pPr>
                <a:defRPr/>
              </a:pPr>
              <a:t>‹#›</a:t>
            </a:fld>
            <a:endParaRPr lang="en-US" altLang="en-US" dirty="0"/>
          </a:p>
        </p:txBody>
      </p:sp>
    </p:spTree>
    <p:extLst>
      <p:ext uri="{BB962C8B-B14F-4D97-AF65-F5344CB8AC3E}">
        <p14:creationId xmlns:p14="http://schemas.microsoft.com/office/powerpoint/2010/main" val="293060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FFFDD4F7-9542-46A1-80B0-C52C39953619}" type="datetime2">
              <a:rPr lang="en-US" altLang="en-US"/>
              <a:pPr>
                <a:defRPr/>
              </a:pPr>
              <a:t>Saturday, October 11, 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6" name="Rectangle 6"/>
          <p:cNvSpPr>
            <a:spLocks noGrp="1" noChangeArrowheads="1"/>
          </p:cNvSpPr>
          <p:nvPr>
            <p:ph type="sldNum" sz="quarter" idx="12"/>
          </p:nvPr>
        </p:nvSpPr>
        <p:spPr>
          <a:ln/>
        </p:spPr>
        <p:txBody>
          <a:bodyPr/>
          <a:lstStyle>
            <a:lvl1pPr>
              <a:defRPr/>
            </a:lvl1pPr>
          </a:lstStyle>
          <a:p>
            <a:pPr>
              <a:defRPr/>
            </a:pPr>
            <a:fld id="{64659FC8-D509-4934-8C4A-5412CD8D71F0}" type="slidenum">
              <a:rPr lang="en-US" altLang="en-US"/>
              <a:pPr>
                <a:defRPr/>
              </a:pPr>
              <a:t>‹#›</a:t>
            </a:fld>
            <a:endParaRPr lang="en-US" altLang="en-US" dirty="0"/>
          </a:p>
        </p:txBody>
      </p:sp>
    </p:spTree>
    <p:extLst>
      <p:ext uri="{BB962C8B-B14F-4D97-AF65-F5344CB8AC3E}">
        <p14:creationId xmlns:p14="http://schemas.microsoft.com/office/powerpoint/2010/main" val="3164239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A82EDD9B-6A81-406E-93A4-491F22024699}" type="datetime2">
              <a:rPr lang="en-US" altLang="en-US"/>
              <a:pPr>
                <a:defRPr/>
              </a:pPr>
              <a:t>Saturday, October 11, 2025</a:t>
            </a:fld>
            <a:endParaRPr lang="en-US" alt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7" name="Rectangle 6"/>
          <p:cNvSpPr>
            <a:spLocks noGrp="1" noChangeArrowheads="1"/>
          </p:cNvSpPr>
          <p:nvPr>
            <p:ph type="sldNum" sz="quarter" idx="12"/>
          </p:nvPr>
        </p:nvSpPr>
        <p:spPr>
          <a:ln/>
        </p:spPr>
        <p:txBody>
          <a:bodyPr/>
          <a:lstStyle>
            <a:lvl1pPr>
              <a:defRPr/>
            </a:lvl1pPr>
          </a:lstStyle>
          <a:p>
            <a:pPr>
              <a:defRPr/>
            </a:pPr>
            <a:fld id="{FC73DDA8-1B87-423F-AA3B-C6155654888F}" type="slidenum">
              <a:rPr lang="en-US" altLang="en-US"/>
              <a:pPr>
                <a:defRPr/>
              </a:pPr>
              <a:t>‹#›</a:t>
            </a:fld>
            <a:endParaRPr lang="en-US" altLang="en-US" dirty="0"/>
          </a:p>
        </p:txBody>
      </p:sp>
    </p:spTree>
    <p:extLst>
      <p:ext uri="{BB962C8B-B14F-4D97-AF65-F5344CB8AC3E}">
        <p14:creationId xmlns:p14="http://schemas.microsoft.com/office/powerpoint/2010/main" val="3663736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EC5F1AFD-3468-4FB3-AFBB-9012552A757E}" type="datetime2">
              <a:rPr lang="en-US" altLang="en-US"/>
              <a:pPr>
                <a:defRPr/>
              </a:pPr>
              <a:t>Saturday, October 11, 2025</a:t>
            </a:fld>
            <a:endParaRPr lang="en-US" altLang="en-US" dirty="0"/>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9" name="Rectangle 6"/>
          <p:cNvSpPr>
            <a:spLocks noGrp="1" noChangeArrowheads="1"/>
          </p:cNvSpPr>
          <p:nvPr>
            <p:ph type="sldNum" sz="quarter" idx="12"/>
          </p:nvPr>
        </p:nvSpPr>
        <p:spPr>
          <a:ln/>
        </p:spPr>
        <p:txBody>
          <a:bodyPr/>
          <a:lstStyle>
            <a:lvl1pPr>
              <a:defRPr/>
            </a:lvl1pPr>
          </a:lstStyle>
          <a:p>
            <a:pPr>
              <a:defRPr/>
            </a:pPr>
            <a:fld id="{E90BFE9D-AC3C-4D08-9815-05EFAB45E1A3}" type="slidenum">
              <a:rPr lang="en-US" altLang="en-US"/>
              <a:pPr>
                <a:defRPr/>
              </a:pPr>
              <a:t>‹#›</a:t>
            </a:fld>
            <a:endParaRPr lang="en-US" altLang="en-US" dirty="0"/>
          </a:p>
        </p:txBody>
      </p:sp>
    </p:spTree>
    <p:extLst>
      <p:ext uri="{BB962C8B-B14F-4D97-AF65-F5344CB8AC3E}">
        <p14:creationId xmlns:p14="http://schemas.microsoft.com/office/powerpoint/2010/main" val="3050275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4F978703-F858-4AAC-93DC-6AE8C0EE7D49}" type="datetime2">
              <a:rPr lang="en-US" altLang="en-US"/>
              <a:pPr>
                <a:defRPr/>
              </a:pPr>
              <a:t>Saturday, October 11, 2025</a:t>
            </a:fld>
            <a:endParaRPr lang="en-US" altLang="en-US" dirty="0"/>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5" name="Rectangle 6"/>
          <p:cNvSpPr>
            <a:spLocks noGrp="1" noChangeArrowheads="1"/>
          </p:cNvSpPr>
          <p:nvPr>
            <p:ph type="sldNum" sz="quarter" idx="12"/>
          </p:nvPr>
        </p:nvSpPr>
        <p:spPr>
          <a:ln/>
        </p:spPr>
        <p:txBody>
          <a:bodyPr/>
          <a:lstStyle>
            <a:lvl1pPr>
              <a:defRPr/>
            </a:lvl1pPr>
          </a:lstStyle>
          <a:p>
            <a:pPr>
              <a:defRPr/>
            </a:pPr>
            <a:fld id="{3C4C2509-EFA9-4DC4-A082-EB872053A981}" type="slidenum">
              <a:rPr lang="en-US" altLang="en-US"/>
              <a:pPr>
                <a:defRPr/>
              </a:pPr>
              <a:t>‹#›</a:t>
            </a:fld>
            <a:endParaRPr lang="en-US" altLang="en-US" dirty="0"/>
          </a:p>
        </p:txBody>
      </p:sp>
    </p:spTree>
    <p:extLst>
      <p:ext uri="{BB962C8B-B14F-4D97-AF65-F5344CB8AC3E}">
        <p14:creationId xmlns:p14="http://schemas.microsoft.com/office/powerpoint/2010/main" val="897320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AAC9AB0F-7BCA-4A8A-8130-93AE62A28A34}" type="datetime2">
              <a:rPr lang="en-US" altLang="en-US"/>
              <a:pPr>
                <a:defRPr/>
              </a:pPr>
              <a:t>Saturday, October 11, 2025</a:t>
            </a:fld>
            <a:endParaRPr lang="en-US" altLang="en-US" dirty="0"/>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4" name="Rectangle 6"/>
          <p:cNvSpPr>
            <a:spLocks noGrp="1" noChangeArrowheads="1"/>
          </p:cNvSpPr>
          <p:nvPr>
            <p:ph type="sldNum" sz="quarter" idx="12"/>
          </p:nvPr>
        </p:nvSpPr>
        <p:spPr>
          <a:ln/>
        </p:spPr>
        <p:txBody>
          <a:bodyPr/>
          <a:lstStyle>
            <a:lvl1pPr>
              <a:defRPr/>
            </a:lvl1pPr>
          </a:lstStyle>
          <a:p>
            <a:pPr>
              <a:defRPr/>
            </a:pPr>
            <a:fld id="{1AF62406-E445-4AC8-8F16-C48AAA7F4B9A}" type="slidenum">
              <a:rPr lang="en-US" altLang="en-US"/>
              <a:pPr>
                <a:defRPr/>
              </a:pPr>
              <a:t>‹#›</a:t>
            </a:fld>
            <a:endParaRPr lang="en-US" altLang="en-US" dirty="0"/>
          </a:p>
        </p:txBody>
      </p:sp>
    </p:spTree>
    <p:extLst>
      <p:ext uri="{BB962C8B-B14F-4D97-AF65-F5344CB8AC3E}">
        <p14:creationId xmlns:p14="http://schemas.microsoft.com/office/powerpoint/2010/main" val="2979960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8F5B493-E4F5-4BF5-A192-E48D99A4FE7E}" type="datetime2">
              <a:rPr lang="en-US" altLang="en-US"/>
              <a:pPr>
                <a:defRPr/>
              </a:pPr>
              <a:t>Saturday, October 11, 2025</a:t>
            </a:fld>
            <a:endParaRPr lang="en-US" alt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7" name="Rectangle 6"/>
          <p:cNvSpPr>
            <a:spLocks noGrp="1" noChangeArrowheads="1"/>
          </p:cNvSpPr>
          <p:nvPr>
            <p:ph type="sldNum" sz="quarter" idx="12"/>
          </p:nvPr>
        </p:nvSpPr>
        <p:spPr>
          <a:ln/>
        </p:spPr>
        <p:txBody>
          <a:bodyPr/>
          <a:lstStyle>
            <a:lvl1pPr>
              <a:defRPr/>
            </a:lvl1pPr>
          </a:lstStyle>
          <a:p>
            <a:pPr>
              <a:defRPr/>
            </a:pPr>
            <a:fld id="{05C5D72F-8089-4C3C-AAA9-6445CDEF923A}" type="slidenum">
              <a:rPr lang="en-US" altLang="en-US"/>
              <a:pPr>
                <a:defRPr/>
              </a:pPr>
              <a:t>‹#›</a:t>
            </a:fld>
            <a:endParaRPr lang="en-US" altLang="en-US" dirty="0"/>
          </a:p>
        </p:txBody>
      </p:sp>
    </p:spTree>
    <p:extLst>
      <p:ext uri="{BB962C8B-B14F-4D97-AF65-F5344CB8AC3E}">
        <p14:creationId xmlns:p14="http://schemas.microsoft.com/office/powerpoint/2010/main" val="1875005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DCF2EB2B-31A4-4B10-890F-8B015C2A6535}" type="datetime2">
              <a:rPr lang="en-US" altLang="en-US"/>
              <a:pPr>
                <a:defRPr/>
              </a:pPr>
              <a:t>Saturday, October 11, 2025</a:t>
            </a:fld>
            <a:endParaRPr lang="en-US" alt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7" name="Rectangle 6"/>
          <p:cNvSpPr>
            <a:spLocks noGrp="1" noChangeArrowheads="1"/>
          </p:cNvSpPr>
          <p:nvPr>
            <p:ph type="sldNum" sz="quarter" idx="12"/>
          </p:nvPr>
        </p:nvSpPr>
        <p:spPr>
          <a:ln/>
        </p:spPr>
        <p:txBody>
          <a:bodyPr/>
          <a:lstStyle>
            <a:lvl1pPr>
              <a:defRPr/>
            </a:lvl1pPr>
          </a:lstStyle>
          <a:p>
            <a:pPr>
              <a:defRPr/>
            </a:pPr>
            <a:fld id="{F3031A61-928C-4050-B98D-D628B89D75EE}" type="slidenum">
              <a:rPr lang="en-US" altLang="en-US"/>
              <a:pPr>
                <a:defRPr/>
              </a:pPr>
              <a:t>‹#›</a:t>
            </a:fld>
            <a:endParaRPr lang="en-US" altLang="en-US" dirty="0"/>
          </a:p>
        </p:txBody>
      </p:sp>
    </p:spTree>
    <p:extLst>
      <p:ext uri="{BB962C8B-B14F-4D97-AF65-F5344CB8AC3E}">
        <p14:creationId xmlns:p14="http://schemas.microsoft.com/office/powerpoint/2010/main" val="3104014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9F88901F-0CA9-44AE-848A-8535FC441988}" type="datetime2">
              <a:rPr lang="en-US" altLang="en-US"/>
              <a:pPr>
                <a:defRPr/>
              </a:pPr>
              <a:t>Saturday, October 11, 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6" name="Rectangle 6"/>
          <p:cNvSpPr>
            <a:spLocks noGrp="1" noChangeArrowheads="1"/>
          </p:cNvSpPr>
          <p:nvPr>
            <p:ph type="sldNum" sz="quarter" idx="12"/>
          </p:nvPr>
        </p:nvSpPr>
        <p:spPr>
          <a:ln/>
        </p:spPr>
        <p:txBody>
          <a:bodyPr/>
          <a:lstStyle>
            <a:lvl1pPr>
              <a:defRPr/>
            </a:lvl1pPr>
          </a:lstStyle>
          <a:p>
            <a:pPr>
              <a:defRPr/>
            </a:pPr>
            <a:fld id="{079D5F1C-6F76-4B68-B11F-2BD62576B618}" type="slidenum">
              <a:rPr lang="en-US" altLang="en-US"/>
              <a:pPr>
                <a:defRPr/>
              </a:pPr>
              <a:t>‹#›</a:t>
            </a:fld>
            <a:endParaRPr lang="en-US" altLang="en-US" dirty="0"/>
          </a:p>
        </p:txBody>
      </p:sp>
    </p:spTree>
    <p:extLst>
      <p:ext uri="{BB962C8B-B14F-4D97-AF65-F5344CB8AC3E}">
        <p14:creationId xmlns:p14="http://schemas.microsoft.com/office/powerpoint/2010/main" val="3486129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4E2DBE-4AEC-4724-BE5A-8F0647CE315E}" type="datetime2">
              <a:rPr lang="en-US" altLang="en-US"/>
              <a:pPr>
                <a:defRPr/>
              </a:pPr>
              <a:t>Saturday, October 11, 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Copyright 2016, M. Hassan Aslam (CIIT)</a:t>
            </a:r>
          </a:p>
        </p:txBody>
      </p:sp>
      <p:sp>
        <p:nvSpPr>
          <p:cNvPr id="6" name="Rectangle 6"/>
          <p:cNvSpPr>
            <a:spLocks noGrp="1" noChangeArrowheads="1"/>
          </p:cNvSpPr>
          <p:nvPr>
            <p:ph type="sldNum" sz="quarter" idx="12"/>
          </p:nvPr>
        </p:nvSpPr>
        <p:spPr>
          <a:ln/>
        </p:spPr>
        <p:txBody>
          <a:bodyPr/>
          <a:lstStyle>
            <a:lvl1pPr>
              <a:defRPr/>
            </a:lvl1pPr>
          </a:lstStyle>
          <a:p>
            <a:pPr>
              <a:defRPr/>
            </a:pPr>
            <a:fld id="{74E7EC75-3132-4886-B059-FB8F3F4A7D90}" type="slidenum">
              <a:rPr lang="en-US" altLang="en-US"/>
              <a:pPr>
                <a:defRPr/>
              </a:pPr>
              <a:t>‹#›</a:t>
            </a:fld>
            <a:endParaRPr lang="en-US" altLang="en-US" dirty="0"/>
          </a:p>
        </p:txBody>
      </p:sp>
    </p:spTree>
    <p:extLst>
      <p:ext uri="{BB962C8B-B14F-4D97-AF65-F5344CB8AC3E}">
        <p14:creationId xmlns:p14="http://schemas.microsoft.com/office/powerpoint/2010/main" val="308184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1188" name="Rectangle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a:latin typeface="+mj-lt"/>
                <a:cs typeface="Arial" charset="0"/>
              </a:defRPr>
            </a:lvl1pPr>
          </a:lstStyle>
          <a:p>
            <a:pPr>
              <a:defRPr/>
            </a:pPr>
            <a:fld id="{789883EB-1E6F-4F69-94EA-F4BDBBFFCDAE}" type="datetime2">
              <a:rPr lang="en-US" altLang="en-US"/>
              <a:pPr>
                <a:defRPr/>
              </a:pPr>
              <a:t>Saturday, October 11, 2025</a:t>
            </a:fld>
            <a:endParaRPr lang="en-US" altLang="en-US" dirty="0"/>
          </a:p>
        </p:txBody>
      </p:sp>
      <p:sp>
        <p:nvSpPr>
          <p:cNvPr id="22118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200">
                <a:latin typeface="+mj-lt"/>
                <a:cs typeface="Arial" charset="0"/>
              </a:defRPr>
            </a:lvl1pPr>
          </a:lstStyle>
          <a:p>
            <a:pPr>
              <a:defRPr/>
            </a:pPr>
            <a:r>
              <a:rPr lang="en-US" altLang="en-US"/>
              <a:t>Copyright 2016, M. Hassan Aslam (CIIT)</a:t>
            </a:r>
          </a:p>
        </p:txBody>
      </p:sp>
      <p:sp>
        <p:nvSpPr>
          <p:cNvPr id="221190" name="Rectangle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a:latin typeface="Garamond" panose="02020404030301010803" pitchFamily="18" charset="0"/>
              </a:defRPr>
            </a:lvl1pPr>
          </a:lstStyle>
          <a:p>
            <a:pPr>
              <a:defRPr/>
            </a:pPr>
            <a:fld id="{E3185260-908C-490C-923E-52BE830C3B77}" type="slidenum">
              <a:rPr lang="en-US" altLang="en-US"/>
              <a:pPr>
                <a:defRPr/>
              </a:pPr>
              <a:t>‹#›</a:t>
            </a:fld>
            <a:endParaRPr lang="en-US" altLang="en-US" dirty="0"/>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956"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Lst>
  <p:hf hdr="0" ftr="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1.gif"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3.xml" /><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4.xml" /><Relationship Id="rId1" Type="http://schemas.openxmlformats.org/officeDocument/2006/relationships/slideLayout" Target="../slideLayouts/slideLayout6.xml" /><Relationship Id="rId4" Type="http://schemas.openxmlformats.org/officeDocument/2006/relationships/image" Target="../media/image4.png" /></Relationships>
</file>

<file path=ppt/slides/_rels/slide1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xml" /><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6.xml" /><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8" Type="http://schemas.openxmlformats.org/officeDocument/2006/relationships/image" Target="../media/image9.png" /><Relationship Id="rId3" Type="http://schemas.openxmlformats.org/officeDocument/2006/relationships/image" Target="../media/image3.png" /><Relationship Id="rId7" Type="http://schemas.openxmlformats.org/officeDocument/2006/relationships/image" Target="../media/image8.png" /><Relationship Id="rId2" Type="http://schemas.openxmlformats.org/officeDocument/2006/relationships/notesSlide" Target="../notesSlides/notesSlide7.xml" /><Relationship Id="rId1" Type="http://schemas.openxmlformats.org/officeDocument/2006/relationships/slideLayout" Target="../slideLayouts/slideLayout6.xml" /><Relationship Id="rId6" Type="http://schemas.openxmlformats.org/officeDocument/2006/relationships/image" Target="../media/image7.png" /><Relationship Id="rId5" Type="http://schemas.openxmlformats.org/officeDocument/2006/relationships/image" Target="../media/image6.png" /><Relationship Id="rId4" Type="http://schemas.openxmlformats.org/officeDocument/2006/relationships/image" Target="../media/image5.png" /><Relationship Id="rId9" Type="http://schemas.openxmlformats.org/officeDocument/2006/relationships/image" Target="../media/image10.png" /></Relationships>
</file>

<file path=ppt/slides/_rels/slide1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8.xml" /><Relationship Id="rId1" Type="http://schemas.openxmlformats.org/officeDocument/2006/relationships/slideLayout" Target="../slideLayouts/slideLayout6.xml" /><Relationship Id="rId4" Type="http://schemas.openxmlformats.org/officeDocument/2006/relationships/image" Target="../media/image5.png" /></Relationships>
</file>

<file path=ppt/slides/_rels/slide18.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9.xml" /><Relationship Id="rId1" Type="http://schemas.openxmlformats.org/officeDocument/2006/relationships/slideLayout" Target="../slideLayouts/slideLayout6.xml" /><Relationship Id="rId6" Type="http://schemas.openxmlformats.org/officeDocument/2006/relationships/image" Target="../media/image14.tiff" /><Relationship Id="rId5" Type="http://schemas.openxmlformats.org/officeDocument/2006/relationships/image" Target="../media/image13.png" /><Relationship Id="rId4" Type="http://schemas.openxmlformats.org/officeDocument/2006/relationships/image" Target="../media/image12.png" /></Relationships>
</file>

<file path=ppt/slides/_rels/slide19.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0.xml" /><Relationship Id="rId1" Type="http://schemas.openxmlformats.org/officeDocument/2006/relationships/slideLayout" Target="../slideLayouts/slideLayout6.xml" /><Relationship Id="rId6" Type="http://schemas.openxmlformats.org/officeDocument/2006/relationships/image" Target="../media/image15.tiff" /><Relationship Id="rId5" Type="http://schemas.openxmlformats.org/officeDocument/2006/relationships/image" Target="../media/image13.png" /><Relationship Id="rId4" Type="http://schemas.openxmlformats.org/officeDocument/2006/relationships/image" Target="../media/image15.png" /></Relationships>
</file>

<file path=ppt/slides/_rels/slide20.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1.xml" /><Relationship Id="rId1" Type="http://schemas.openxmlformats.org/officeDocument/2006/relationships/slideLayout" Target="../slideLayouts/slideLayout6.xml" /><Relationship Id="rId6" Type="http://schemas.openxmlformats.org/officeDocument/2006/relationships/image" Target="../media/image18.png" /><Relationship Id="rId5" Type="http://schemas.openxmlformats.org/officeDocument/2006/relationships/image" Target="../media/image13.png" /><Relationship Id="rId4" Type="http://schemas.openxmlformats.org/officeDocument/2006/relationships/image" Target="../media/image17.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6.emf"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17.emf"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22.emf"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23.emf"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14400" y="1524000"/>
            <a:ext cx="7623175" cy="2120900"/>
          </a:xfrm>
        </p:spPr>
        <p:txBody>
          <a:bodyPr/>
          <a:lstStyle/>
          <a:p>
            <a:pPr algn="ctr" eaLnBrk="1" hangingPunct="1"/>
            <a:br>
              <a:rPr lang="en-US" altLang="en-US" sz="3600" b="1" dirty="0">
                <a:solidFill>
                  <a:srgbClr val="060AAA"/>
                </a:solidFill>
              </a:rPr>
            </a:br>
            <a:r>
              <a:rPr lang="en-US" altLang="en-US" sz="3600" b="1" dirty="0">
                <a:solidFill>
                  <a:srgbClr val="060AAA"/>
                </a:solidFill>
              </a:rPr>
              <a:t>Microprocessor Systems and Interfacing</a:t>
            </a:r>
            <a:br>
              <a:rPr lang="en-US" altLang="en-US" sz="3600" b="1" dirty="0">
                <a:solidFill>
                  <a:srgbClr val="060AAA"/>
                </a:solidFill>
              </a:rPr>
            </a:br>
            <a:r>
              <a:rPr lang="en-US" altLang="en-US" sz="3600" b="1" dirty="0">
                <a:solidFill>
                  <a:srgbClr val="060AAA"/>
                </a:solidFill>
              </a:rPr>
              <a:t> </a:t>
            </a:r>
            <a:r>
              <a:rPr lang="en-US" altLang="en-US" sz="2800" b="1" dirty="0">
                <a:solidFill>
                  <a:srgbClr val="060AAA"/>
                </a:solidFill>
              </a:rPr>
              <a:t>EEE 342</a:t>
            </a:r>
          </a:p>
        </p:txBody>
      </p:sp>
      <p:sp>
        <p:nvSpPr>
          <p:cNvPr id="5123" name="Rectangle 3"/>
          <p:cNvSpPr>
            <a:spLocks noGrp="1" noChangeArrowheads="1"/>
          </p:cNvSpPr>
          <p:nvPr>
            <p:ph type="subTitle" idx="1"/>
          </p:nvPr>
        </p:nvSpPr>
        <p:spPr>
          <a:xfrm>
            <a:off x="0" y="3951288"/>
            <a:ext cx="9144000" cy="1987550"/>
          </a:xfrm>
        </p:spPr>
        <p:txBody>
          <a:bodyPr/>
          <a:lstStyle/>
          <a:p>
            <a:pPr eaLnBrk="1" hangingPunct="1"/>
            <a:endParaRPr lang="en-US" altLang="en-US" dirty="0">
              <a:solidFill>
                <a:schemeClr val="accent2"/>
              </a:solidFill>
            </a:endParaRPr>
          </a:p>
          <a:p>
            <a:pPr algn="ctr" eaLnBrk="1" hangingPunct="1"/>
            <a:r>
              <a:rPr lang="en-US" altLang="en-US" dirty="0">
                <a:solidFill>
                  <a:schemeClr val="accent2"/>
                </a:solidFill>
              </a:rPr>
              <a:t>Nesruminallah</a:t>
            </a:r>
            <a:endParaRPr lang="en-US" altLang="en-US" dirty="0">
              <a:solidFill>
                <a:srgbClr val="060AAA"/>
              </a:solidFill>
            </a:endParaRPr>
          </a:p>
          <a:p>
            <a:pPr algn="ctr" eaLnBrk="1" hangingPunct="1"/>
            <a:r>
              <a:rPr lang="en-US" altLang="en-US" dirty="0"/>
              <a:t>nesruminallah@cuilahore.edu.pk</a:t>
            </a:r>
          </a:p>
          <a:p>
            <a:pPr algn="ctr" eaLnBrk="1" hangingPunct="1"/>
            <a:endParaRPr lang="en-US" altLang="en-US" sz="2400" dirty="0">
              <a:solidFill>
                <a:srgbClr val="060AAA"/>
              </a:solidFill>
            </a:endParaRPr>
          </a:p>
          <a:p>
            <a:pPr algn="ctr" eaLnBrk="1" hangingPunct="1"/>
            <a:r>
              <a:rPr lang="en-US" altLang="en-US" sz="2400" dirty="0">
                <a:solidFill>
                  <a:srgbClr val="060AAA"/>
                </a:solidFill>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339C541-ED17-49D9-B157-F57A6101F339}" type="slidenum">
              <a:rPr lang="en-US" altLang="en-US" sz="1200" smtClean="0">
                <a:latin typeface="Garamond" panose="02020404030301010803" pitchFamily="18" charset="0"/>
              </a:rPr>
              <a:pPr>
                <a:spcBef>
                  <a:spcPct val="0"/>
                </a:spcBef>
                <a:buClrTx/>
                <a:buSzTx/>
                <a:buFontTx/>
                <a:buNone/>
              </a:pPr>
              <a:t>2</a:t>
            </a:fld>
            <a:endParaRPr lang="en-US" altLang="en-US" sz="1200">
              <a:latin typeface="Garamond" panose="02020404030301010803" pitchFamily="18" charset="0"/>
            </a:endParaRPr>
          </a:p>
        </p:txBody>
      </p:sp>
      <p:sp>
        <p:nvSpPr>
          <p:cNvPr id="7171" name="Rectangle 2"/>
          <p:cNvSpPr>
            <a:spLocks noGrp="1" noChangeArrowheads="1"/>
          </p:cNvSpPr>
          <p:nvPr>
            <p:ph type="title" idx="4294967295"/>
          </p:nvPr>
        </p:nvSpPr>
        <p:spPr/>
        <p:txBody>
          <a:bodyPr/>
          <a:lstStyle/>
          <a:p>
            <a:pPr eaLnBrk="1" hangingPunct="1"/>
            <a:r>
              <a:rPr lang="en-US" altLang="en-US" dirty="0"/>
              <a:t>Microprocessor 8088</a:t>
            </a:r>
            <a:endParaRPr lang="fr-FR" altLang="en-US" dirty="0"/>
          </a:p>
        </p:txBody>
      </p:sp>
      <p:sp>
        <p:nvSpPr>
          <p:cNvPr id="12292" name="Rectangle 3"/>
          <p:cNvSpPr>
            <a:spLocks noGrp="1" noChangeArrowheads="1"/>
          </p:cNvSpPr>
          <p:nvPr>
            <p:ph type="body" idx="4294967295"/>
          </p:nvPr>
        </p:nvSpPr>
        <p:spPr>
          <a:xfrm>
            <a:off x="457200" y="2564904"/>
            <a:ext cx="8229600" cy="4530725"/>
          </a:xfrm>
        </p:spPr>
        <p:txBody>
          <a:bodyPr/>
          <a:lstStyle/>
          <a:p>
            <a:pPr eaLnBrk="1" hangingPunct="1">
              <a:lnSpc>
                <a:spcPct val="90000"/>
              </a:lnSpc>
            </a:pPr>
            <a:endParaRPr lang="en-US" altLang="en-US" sz="2000" dirty="0"/>
          </a:p>
          <a:p>
            <a:pPr eaLnBrk="1" hangingPunct="1">
              <a:lnSpc>
                <a:spcPct val="90000"/>
              </a:lnSpc>
            </a:pPr>
            <a:r>
              <a:rPr lang="en-US" altLang="en-US" dirty="0">
                <a:solidFill>
                  <a:srgbClr val="060AAA"/>
                </a:solidFill>
              </a:rPr>
              <a:t>Outline</a:t>
            </a:r>
          </a:p>
          <a:p>
            <a:pPr marL="742950" lvl="1" indent="-285750" eaLnBrk="1" hangingPunct="1">
              <a:lnSpc>
                <a:spcPct val="90000"/>
              </a:lnSpc>
            </a:pPr>
            <a:r>
              <a:rPr lang="en-US" altLang="en-US" dirty="0"/>
              <a:t>Architecture of 8088</a:t>
            </a:r>
          </a:p>
          <a:p>
            <a:pPr marL="742950" lvl="1" indent="-285750" eaLnBrk="1" hangingPunct="1">
              <a:lnSpc>
                <a:spcPct val="90000"/>
              </a:lnSpc>
            </a:pPr>
            <a:r>
              <a:rPr lang="en-US" altLang="en-US" dirty="0"/>
              <a:t>Pin layout of 8088</a:t>
            </a:r>
          </a:p>
          <a:p>
            <a:pPr marL="742950" lvl="1" indent="-285750" eaLnBrk="1" hangingPunct="1">
              <a:lnSpc>
                <a:spcPct val="90000"/>
              </a:lnSpc>
            </a:pPr>
            <a:r>
              <a:rPr lang="en-US" altLang="en-US" dirty="0"/>
              <a:t>Pin Explanation of 8088</a:t>
            </a:r>
          </a:p>
          <a:p>
            <a:pPr marL="742950" lvl="1" indent="-285750" eaLnBrk="1" hangingPunct="1">
              <a:lnSpc>
                <a:spcPct val="90000"/>
              </a:lnSpc>
            </a:pPr>
            <a:r>
              <a:rPr lang="en-US" altLang="en-US" dirty="0"/>
              <a:t>Type of Memories</a:t>
            </a:r>
          </a:p>
          <a:p>
            <a:pPr marL="742950" lvl="1" indent="-285750" eaLnBrk="1" hangingPunct="1">
              <a:lnSpc>
                <a:spcPct val="90000"/>
              </a:lnSpc>
            </a:pPr>
            <a:r>
              <a:rPr lang="en-US" altLang="en-US" dirty="0"/>
              <a:t>Pin Configuration of Memory Chip</a:t>
            </a:r>
          </a:p>
          <a:p>
            <a:pPr marL="742950" lvl="1" indent="-285750" eaLnBrk="1" hangingPunct="1">
              <a:lnSpc>
                <a:spcPct val="90000"/>
              </a:lnSpc>
            </a:pPr>
            <a:r>
              <a:rPr lang="en-US" altLang="en-US" dirty="0"/>
              <a:t>Interfacing with 8088</a:t>
            </a:r>
          </a:p>
          <a:p>
            <a:pPr marL="742950" lvl="1" indent="-285750" eaLnBrk="1" hangingPunct="1">
              <a:lnSpc>
                <a:spcPct val="90000"/>
              </a:lnSpc>
            </a:pPr>
            <a:endParaRPr lang="en-US" altLang="en-US" dirty="0"/>
          </a:p>
          <a:p>
            <a:pPr marL="742950" lvl="1" indent="-285750" eaLnBrk="1" hangingPunct="1">
              <a:lnSpc>
                <a:spcPct val="90000"/>
              </a:lnSpc>
              <a:buFont typeface="Wingdings" panose="05000000000000000000" pitchFamily="2" charset="2"/>
              <a:buNone/>
            </a:pPr>
            <a:r>
              <a:rPr lang="fr-FR" altLang="en-US" dirty="0"/>
              <a:t> </a:t>
            </a:r>
          </a:p>
        </p:txBody>
      </p:sp>
      <p:sp>
        <p:nvSpPr>
          <p:cNvPr id="2" name="Date Placeholder 1"/>
          <p:cNvSpPr>
            <a:spLocks noGrp="1"/>
          </p:cNvSpPr>
          <p:nvPr>
            <p:ph type="dt" sz="quarter" idx="10"/>
          </p:nvPr>
        </p:nvSpPr>
        <p:spPr/>
        <p:txBody>
          <a:bodyPr/>
          <a:lstStyle/>
          <a:p>
            <a:pPr>
              <a:defRPr/>
            </a:pPr>
            <a:fld id="{1E5DBDE9-1F4E-4430-B5C9-42C3323F66F9}" type="datetime2">
              <a:rPr lang="en-US" altLang="en-US"/>
              <a:pPr>
                <a:defRPr/>
              </a:pPr>
              <a:t>Saturday, October 11, 2025</a:t>
            </a:fld>
            <a:endParaRPr lang="en-US" altLang="en-US" dirty="0"/>
          </a:p>
        </p:txBody>
      </p:sp>
      <p:graphicFrame>
        <p:nvGraphicFramePr>
          <p:cNvPr id="3" name="Table 2">
            <a:extLst>
              <a:ext uri="{FF2B5EF4-FFF2-40B4-BE49-F238E27FC236}">
                <a16:creationId xmlns:a16="http://schemas.microsoft.com/office/drawing/2014/main" id="{8F7CE92B-6678-46CA-BB30-B30C275FE205}"/>
              </a:ext>
            </a:extLst>
          </p:cNvPr>
          <p:cNvGraphicFramePr>
            <a:graphicFrameLocks noGrp="1"/>
          </p:cNvGraphicFramePr>
          <p:nvPr>
            <p:extLst>
              <p:ext uri="{D42A27DB-BD31-4B8C-83A1-F6EECF244321}">
                <p14:modId xmlns:p14="http://schemas.microsoft.com/office/powerpoint/2010/main" val="3265625972"/>
              </p:ext>
            </p:extLst>
          </p:nvPr>
        </p:nvGraphicFramePr>
        <p:xfrm>
          <a:off x="457200" y="1004903"/>
          <a:ext cx="8147248" cy="1776025"/>
        </p:xfrm>
        <a:graphic>
          <a:graphicData uri="http://schemas.openxmlformats.org/drawingml/2006/table">
            <a:tbl>
              <a:tblPr firstRow="1" firstCol="1" bandRow="1">
                <a:tableStyleId>{5C22544A-7EE6-4342-B048-85BDC9FD1C3A}</a:tableStyleId>
              </a:tblPr>
              <a:tblGrid>
                <a:gridCol w="1330607">
                  <a:extLst>
                    <a:ext uri="{9D8B030D-6E8A-4147-A177-3AD203B41FA5}">
                      <a16:colId xmlns:a16="http://schemas.microsoft.com/office/drawing/2014/main" val="3364259370"/>
                    </a:ext>
                  </a:extLst>
                </a:gridCol>
                <a:gridCol w="1654172">
                  <a:extLst>
                    <a:ext uri="{9D8B030D-6E8A-4147-A177-3AD203B41FA5}">
                      <a16:colId xmlns:a16="http://schemas.microsoft.com/office/drawing/2014/main" val="245599355"/>
                    </a:ext>
                  </a:extLst>
                </a:gridCol>
                <a:gridCol w="5162469">
                  <a:extLst>
                    <a:ext uri="{9D8B030D-6E8A-4147-A177-3AD203B41FA5}">
                      <a16:colId xmlns:a16="http://schemas.microsoft.com/office/drawing/2014/main" val="341859462"/>
                    </a:ext>
                  </a:extLst>
                </a:gridCol>
              </a:tblGrid>
              <a:tr h="293561">
                <a:tc>
                  <a:txBody>
                    <a:bodyPr/>
                    <a:lstStyle/>
                    <a:p>
                      <a:pPr marL="19685" algn="ctr">
                        <a:lnSpc>
                          <a:spcPct val="115000"/>
                        </a:lnSpc>
                        <a:spcAft>
                          <a:spcPts val="1000"/>
                        </a:spcAft>
                      </a:pPr>
                      <a:r>
                        <a:rPr lang="en-US" sz="1400" dirty="0">
                          <a:effectLst/>
                        </a:rPr>
                        <a:t>CLO</a:t>
                      </a:r>
                      <a:endParaRPr lang="x-none" sz="1400" dirty="0">
                        <a:effectLst/>
                        <a:latin typeface="Calibri" panose="020F0502020204030204" pitchFamily="34" charset="0"/>
                        <a:ea typeface="Calibri" panose="020F0502020204030204" pitchFamily="34" charset="0"/>
                        <a:cs typeface="Arial" panose="020B0604020202020204" pitchFamily="34" charset="0"/>
                      </a:endParaRPr>
                    </a:p>
                  </a:txBody>
                  <a:tcPr marL="68576" marR="68576" marT="0" marB="0" anchor="ctr"/>
                </a:tc>
                <a:tc>
                  <a:txBody>
                    <a:bodyPr/>
                    <a:lstStyle/>
                    <a:p>
                      <a:pPr algn="ctr">
                        <a:lnSpc>
                          <a:spcPct val="115000"/>
                        </a:lnSpc>
                        <a:spcAft>
                          <a:spcPts val="1000"/>
                        </a:spcAft>
                      </a:pPr>
                      <a:r>
                        <a:rPr lang="en-US" sz="1400">
                          <a:effectLst/>
                        </a:rPr>
                        <a:t>Bloom Taxonomy</a:t>
                      </a:r>
                      <a:endParaRPr lang="x-none" sz="1400">
                        <a:effectLst/>
                        <a:latin typeface="Calibri" panose="020F0502020204030204" pitchFamily="34" charset="0"/>
                        <a:ea typeface="Calibri" panose="020F0502020204030204" pitchFamily="34" charset="0"/>
                        <a:cs typeface="Arial" panose="020B0604020202020204" pitchFamily="34" charset="0"/>
                      </a:endParaRPr>
                    </a:p>
                  </a:txBody>
                  <a:tcPr marL="68576" marR="68576" marT="0" marB="0" anchor="ctr"/>
                </a:tc>
                <a:tc>
                  <a:txBody>
                    <a:bodyPr/>
                    <a:lstStyle/>
                    <a:p>
                      <a:pPr algn="ctr">
                        <a:lnSpc>
                          <a:spcPct val="115000"/>
                        </a:lnSpc>
                        <a:spcAft>
                          <a:spcPts val="1000"/>
                        </a:spcAft>
                      </a:pPr>
                      <a:r>
                        <a:rPr lang="en-US" sz="1400" dirty="0">
                          <a:effectLst/>
                        </a:rPr>
                        <a:t>Specific Outcome</a:t>
                      </a:r>
                      <a:endParaRPr lang="x-none" sz="1400" dirty="0">
                        <a:effectLst/>
                        <a:latin typeface="Calibri" panose="020F0502020204030204" pitchFamily="34" charset="0"/>
                        <a:ea typeface="Calibri" panose="020F0502020204030204" pitchFamily="34" charset="0"/>
                        <a:cs typeface="Arial" panose="020B0604020202020204" pitchFamily="34" charset="0"/>
                      </a:endParaRPr>
                    </a:p>
                  </a:txBody>
                  <a:tcPr marL="68576" marR="68576" marT="0" marB="0" anchor="ctr"/>
                </a:tc>
                <a:extLst>
                  <a:ext uri="{0D108BD9-81ED-4DB2-BD59-A6C34878D82A}">
                    <a16:rowId xmlns:a16="http://schemas.microsoft.com/office/drawing/2014/main" val="872498785"/>
                  </a:ext>
                </a:extLst>
              </a:tr>
              <a:tr h="741232">
                <a:tc>
                  <a:txBody>
                    <a:bodyPr/>
                    <a:lstStyle/>
                    <a:p>
                      <a:pPr marL="19685" algn="ctr">
                        <a:lnSpc>
                          <a:spcPct val="115000"/>
                        </a:lnSpc>
                        <a:spcAft>
                          <a:spcPts val="1000"/>
                        </a:spcAft>
                      </a:pPr>
                      <a:r>
                        <a:rPr lang="en-US" sz="1400" b="1" kern="1200" dirty="0">
                          <a:solidFill>
                            <a:schemeClr val="lt1"/>
                          </a:solidFill>
                          <a:effectLst/>
                          <a:latin typeface="+mn-lt"/>
                          <a:ea typeface="+mn-ea"/>
                          <a:cs typeface="+mn-cs"/>
                        </a:rPr>
                        <a:t>CLO1</a:t>
                      </a:r>
                      <a:endParaRPr lang="x-none" sz="1400" b="1" kern="1200" dirty="0">
                        <a:solidFill>
                          <a:schemeClr val="lt1"/>
                        </a:solidFill>
                        <a:effectLst/>
                        <a:latin typeface="+mn-lt"/>
                        <a:ea typeface="+mn-ea"/>
                        <a:cs typeface="+mn-cs"/>
                      </a:endParaRPr>
                    </a:p>
                  </a:txBody>
                  <a:tcPr marL="68580" marR="68580" marT="0" marB="0" anchor="ctr"/>
                </a:tc>
                <a:tc>
                  <a:txBody>
                    <a:bodyPr/>
                    <a:lstStyle/>
                    <a:p>
                      <a:pPr algn="ctr">
                        <a:lnSpc>
                          <a:spcPct val="115000"/>
                        </a:lnSpc>
                        <a:spcAft>
                          <a:spcPts val="1000"/>
                        </a:spcAft>
                      </a:pPr>
                      <a:r>
                        <a:rPr lang="en-US" sz="1400" kern="1200">
                          <a:solidFill>
                            <a:schemeClr val="dk1"/>
                          </a:solidFill>
                          <a:effectLst/>
                          <a:latin typeface="+mn-lt"/>
                          <a:ea typeface="+mn-ea"/>
                          <a:cs typeface="+mn-cs"/>
                        </a:rPr>
                        <a:t>C2</a:t>
                      </a:r>
                      <a:endParaRPr lang="x-none" sz="1400" kern="1200">
                        <a:solidFill>
                          <a:schemeClr val="dk1"/>
                        </a:solidFill>
                        <a:effectLst/>
                        <a:latin typeface="+mn-lt"/>
                        <a:ea typeface="+mn-ea"/>
                        <a:cs typeface="+mn-cs"/>
                      </a:endParaRPr>
                    </a:p>
                  </a:txBody>
                  <a:tcPr marL="68580" marR="68580" marT="0" marB="0" anchor="ctr"/>
                </a:tc>
                <a:tc>
                  <a:txBody>
                    <a:bodyPr/>
                    <a:lstStyle/>
                    <a:p>
                      <a:pPr algn="l">
                        <a:lnSpc>
                          <a:spcPct val="115000"/>
                        </a:lnSpc>
                        <a:spcAft>
                          <a:spcPts val="1000"/>
                        </a:spcAft>
                      </a:pPr>
                      <a:r>
                        <a:rPr lang="en-US" sz="1400" kern="1200" dirty="0">
                          <a:solidFill>
                            <a:schemeClr val="dk1"/>
                          </a:solidFill>
                          <a:effectLst/>
                          <a:latin typeface="+mn-lt"/>
                          <a:ea typeface="+mn-ea"/>
                          <a:cs typeface="+mn-cs"/>
                        </a:rPr>
                        <a:t>Comprehend the theoretical knowledge of computer architecture using hardware architectures</a:t>
                      </a:r>
                      <a:endParaRPr lang="x-none" sz="1400" kern="12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93198097"/>
                  </a:ext>
                </a:extLst>
              </a:tr>
              <a:tr h="741232">
                <a:tc>
                  <a:txBody>
                    <a:bodyPr/>
                    <a:lstStyle/>
                    <a:p>
                      <a:pPr algn="ctr">
                        <a:lnSpc>
                          <a:spcPct val="115000"/>
                        </a:lnSpc>
                        <a:spcAft>
                          <a:spcPts val="1000"/>
                        </a:spcAft>
                      </a:pPr>
                      <a:r>
                        <a:rPr lang="en-US" sz="1400" b="1" kern="1200" dirty="0">
                          <a:solidFill>
                            <a:schemeClr val="lt1"/>
                          </a:solidFill>
                          <a:effectLst/>
                          <a:latin typeface="+mn-lt"/>
                          <a:ea typeface="+mn-ea"/>
                          <a:cs typeface="+mn-cs"/>
                        </a:rPr>
                        <a:t>CLO2</a:t>
                      </a:r>
                      <a:endParaRPr lang="x-none" sz="1400" b="1" kern="1200" dirty="0">
                        <a:solidFill>
                          <a:schemeClr val="lt1"/>
                        </a:solidFill>
                        <a:effectLst/>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1000"/>
                        </a:spcAft>
                      </a:pPr>
                      <a:r>
                        <a:rPr lang="en-US" sz="1400" kern="1200">
                          <a:solidFill>
                            <a:schemeClr val="dk1"/>
                          </a:solidFill>
                          <a:effectLst/>
                          <a:latin typeface="+mn-lt"/>
                          <a:ea typeface="+mn-ea"/>
                          <a:cs typeface="+mn-cs"/>
                        </a:rPr>
                        <a:t>C5</a:t>
                      </a:r>
                      <a:endParaRPr lang="x-none" sz="1400" kern="1200">
                        <a:solidFill>
                          <a:schemeClr val="dk1"/>
                        </a:solidFill>
                        <a:effectLst/>
                        <a:latin typeface="+mn-lt"/>
                        <a:ea typeface="+mn-ea"/>
                        <a:cs typeface="+mn-cs"/>
                      </a:endParaRPr>
                    </a:p>
                  </a:txBody>
                  <a:tcPr marL="68580" marR="68580" marT="0" marB="0" anchor="ctr"/>
                </a:tc>
                <a:tc>
                  <a:txBody>
                    <a:bodyPr/>
                    <a:lstStyle/>
                    <a:p>
                      <a:pPr marL="0" algn="l" defTabSz="914400" rtl="0" eaLnBrk="1" latinLnBrk="0" hangingPunct="1">
                        <a:lnSpc>
                          <a:spcPct val="115000"/>
                        </a:lnSpc>
                        <a:spcAft>
                          <a:spcPts val="1000"/>
                        </a:spcAft>
                      </a:pPr>
                      <a:r>
                        <a:rPr lang="en-US" sz="1400" kern="1200" dirty="0">
                          <a:solidFill>
                            <a:schemeClr val="dk1"/>
                          </a:solidFill>
                          <a:effectLst/>
                          <a:latin typeface="+mn-lt"/>
                          <a:ea typeface="+mn-ea"/>
                          <a:cs typeface="+mn-cs"/>
                        </a:rPr>
                        <a:t>Integrate the RAM/ROM with 8088 microprocessors using NAND address decoding techniques.</a:t>
                      </a:r>
                      <a:endParaRPr lang="x-none" sz="1400" kern="12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8519143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9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9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29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BE1960F-9EB4-4906-85C0-0B19660418DC}" type="slidenum">
              <a:rPr lang="en-US" altLang="en-US" sz="1200" smtClean="0">
                <a:latin typeface="Garamond" panose="02020404030301010803" pitchFamily="18" charset="0"/>
              </a:rPr>
              <a:pPr>
                <a:spcBef>
                  <a:spcPct val="0"/>
                </a:spcBef>
                <a:buClrTx/>
                <a:buSzTx/>
                <a:buFontTx/>
                <a:buNone/>
              </a:pPr>
              <a:t>3</a:t>
            </a:fld>
            <a:endParaRPr lang="en-US" altLang="en-US" sz="1200">
              <a:latin typeface="Garamond" panose="02020404030301010803" pitchFamily="18" charset="0"/>
            </a:endParaRPr>
          </a:p>
        </p:txBody>
      </p:sp>
      <p:sp>
        <p:nvSpPr>
          <p:cNvPr id="8195" name="Rectangle 2"/>
          <p:cNvSpPr>
            <a:spLocks noGrp="1" noChangeArrowheads="1"/>
          </p:cNvSpPr>
          <p:nvPr>
            <p:ph type="title"/>
          </p:nvPr>
        </p:nvSpPr>
        <p:spPr/>
        <p:txBody>
          <a:bodyPr/>
          <a:lstStyle/>
          <a:p>
            <a:pPr eaLnBrk="1" hangingPunct="1"/>
            <a:r>
              <a:rPr lang="en-US" altLang="en-US" dirty="0"/>
              <a:t>Architecture</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dirty="0"/>
          </a:p>
        </p:txBody>
      </p:sp>
      <p:pic>
        <p:nvPicPr>
          <p:cNvPr id="8199" name="Picture 7" descr="Organizational Block Diagram of the Intel 8088 Proces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957262"/>
            <a:ext cx="6296025" cy="5514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4</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Pinout of 8088</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pic>
        <p:nvPicPr>
          <p:cNvPr id="10245" name="Picture 5"/>
          <p:cNvPicPr>
            <a:picLocks noChangeAspect="1"/>
          </p:cNvPicPr>
          <p:nvPr/>
        </p:nvPicPr>
        <p:blipFill rotWithShape="1">
          <a:blip r:embed="rId2">
            <a:extLst>
              <a:ext uri="{28A0092B-C50C-407E-A947-70E740481C1C}">
                <a14:useLocalDpi xmlns:a14="http://schemas.microsoft.com/office/drawing/2010/main" val="0"/>
              </a:ext>
            </a:extLst>
          </a:blip>
          <a:srcRect l="51879" t="3238" r="1816" b="18700"/>
          <a:stretch/>
        </p:blipFill>
        <p:spPr bwMode="auto">
          <a:xfrm>
            <a:off x="2305173" y="847725"/>
            <a:ext cx="4821899" cy="5317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0694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5</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Pinout of 8088</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graphicFrame>
        <p:nvGraphicFramePr>
          <p:cNvPr id="3" name="Table 2"/>
          <p:cNvGraphicFramePr>
            <a:graphicFrameLocks noGrp="1"/>
          </p:cNvGraphicFramePr>
          <p:nvPr>
            <p:extLst>
              <p:ext uri="{D42A27DB-BD31-4B8C-83A1-F6EECF244321}">
                <p14:modId xmlns:p14="http://schemas.microsoft.com/office/powerpoint/2010/main" val="3989279158"/>
              </p:ext>
            </p:extLst>
          </p:nvPr>
        </p:nvGraphicFramePr>
        <p:xfrm>
          <a:off x="1179122" y="980728"/>
          <a:ext cx="7488832" cy="5156989"/>
        </p:xfrm>
        <a:graphic>
          <a:graphicData uri="http://schemas.openxmlformats.org/drawingml/2006/table">
            <a:tbl>
              <a:tblPr/>
              <a:tblGrid>
                <a:gridCol w="3744416">
                  <a:extLst>
                    <a:ext uri="{9D8B030D-6E8A-4147-A177-3AD203B41FA5}">
                      <a16:colId xmlns:a16="http://schemas.microsoft.com/office/drawing/2014/main" val="3839628812"/>
                    </a:ext>
                  </a:extLst>
                </a:gridCol>
                <a:gridCol w="3744416">
                  <a:extLst>
                    <a:ext uri="{9D8B030D-6E8A-4147-A177-3AD203B41FA5}">
                      <a16:colId xmlns:a16="http://schemas.microsoft.com/office/drawing/2014/main" val="3025977395"/>
                    </a:ext>
                  </a:extLst>
                </a:gridCol>
              </a:tblGrid>
              <a:tr h="400990">
                <a:tc>
                  <a:txBody>
                    <a:bodyPr/>
                    <a:lstStyle/>
                    <a:p>
                      <a:r>
                        <a:rPr lang="en-US" sz="1800" b="1"/>
                        <a:t>Pin Number</a:t>
                      </a:r>
                      <a:r>
                        <a:rPr lang="en-US" sz="1800"/>
                        <a:t> </a:t>
                      </a:r>
                    </a:p>
                  </a:txBody>
                  <a:tcPr marL="44419" marR="44419" marT="22209" marB="22209" anchor="ctr">
                    <a:lnL>
                      <a:noFill/>
                    </a:lnL>
                    <a:lnR>
                      <a:noFill/>
                    </a:lnR>
                    <a:lnT>
                      <a:noFill/>
                    </a:lnT>
                    <a:lnB>
                      <a:noFill/>
                    </a:lnB>
                  </a:tcPr>
                </a:tc>
                <a:tc>
                  <a:txBody>
                    <a:bodyPr/>
                    <a:lstStyle/>
                    <a:p>
                      <a:r>
                        <a:rPr lang="en-US" sz="1800" b="1"/>
                        <a:t>Description</a:t>
                      </a:r>
                      <a:r>
                        <a:rPr lang="en-US" sz="1800"/>
                        <a:t> </a:t>
                      </a:r>
                    </a:p>
                  </a:txBody>
                  <a:tcPr marL="44419" marR="44419" marT="22209" marB="22209" anchor="ctr">
                    <a:lnL>
                      <a:noFill/>
                    </a:lnL>
                    <a:lnR>
                      <a:noFill/>
                    </a:lnR>
                    <a:lnT>
                      <a:noFill/>
                    </a:lnT>
                    <a:lnB>
                      <a:noFill/>
                    </a:lnB>
                  </a:tcPr>
                </a:tc>
                <a:extLst>
                  <a:ext uri="{0D108BD9-81ED-4DB2-BD59-A6C34878D82A}">
                    <a16:rowId xmlns:a16="http://schemas.microsoft.com/office/drawing/2014/main" val="3276811576"/>
                  </a:ext>
                </a:extLst>
              </a:tr>
              <a:tr h="400990">
                <a:tc>
                  <a:txBody>
                    <a:bodyPr/>
                    <a:lstStyle/>
                    <a:p>
                      <a:r>
                        <a:rPr lang="en-US" sz="1800" dirty="0"/>
                        <a:t>1 </a:t>
                      </a:r>
                    </a:p>
                  </a:txBody>
                  <a:tcPr marL="44419" marR="44419" marT="22209" marB="22209" anchor="ctr">
                    <a:lnL>
                      <a:noFill/>
                    </a:lnL>
                    <a:lnR>
                      <a:noFill/>
                    </a:lnR>
                    <a:lnT>
                      <a:noFill/>
                    </a:lnT>
                    <a:lnB>
                      <a:noFill/>
                    </a:lnB>
                  </a:tcPr>
                </a:tc>
                <a:tc>
                  <a:txBody>
                    <a:bodyPr/>
                    <a:lstStyle/>
                    <a:p>
                      <a:r>
                        <a:rPr lang="en-US" sz="1800"/>
                        <a:t>GND - Ground </a:t>
                      </a:r>
                    </a:p>
                  </a:txBody>
                  <a:tcPr marL="44419" marR="44419" marT="22209" marB="22209" anchor="ctr">
                    <a:lnL>
                      <a:noFill/>
                    </a:lnL>
                    <a:lnR>
                      <a:noFill/>
                    </a:lnR>
                    <a:lnT>
                      <a:noFill/>
                    </a:lnT>
                    <a:lnB>
                      <a:noFill/>
                    </a:lnB>
                  </a:tcPr>
                </a:tc>
                <a:extLst>
                  <a:ext uri="{0D108BD9-81ED-4DB2-BD59-A6C34878D82A}">
                    <a16:rowId xmlns:a16="http://schemas.microsoft.com/office/drawing/2014/main" val="3953854654"/>
                  </a:ext>
                </a:extLst>
              </a:tr>
              <a:tr h="400990">
                <a:tc>
                  <a:txBody>
                    <a:bodyPr/>
                    <a:lstStyle/>
                    <a:p>
                      <a:r>
                        <a:rPr lang="en-US" sz="1800" dirty="0"/>
                        <a:t>2-8 </a:t>
                      </a:r>
                    </a:p>
                  </a:txBody>
                  <a:tcPr marL="44419" marR="44419" marT="22209" marB="22209" anchor="ctr">
                    <a:lnL>
                      <a:noFill/>
                    </a:lnL>
                    <a:lnR>
                      <a:noFill/>
                    </a:lnR>
                    <a:lnT>
                      <a:noFill/>
                    </a:lnT>
                    <a:lnB>
                      <a:noFill/>
                    </a:lnB>
                  </a:tcPr>
                </a:tc>
                <a:tc>
                  <a:txBody>
                    <a:bodyPr/>
                    <a:lstStyle/>
                    <a:p>
                      <a:r>
                        <a:rPr lang="en-US" sz="1800"/>
                        <a:t>ADDR - Address Bus </a:t>
                      </a:r>
                    </a:p>
                  </a:txBody>
                  <a:tcPr marL="44419" marR="44419" marT="22209" marB="22209" anchor="ctr">
                    <a:lnL>
                      <a:noFill/>
                    </a:lnL>
                    <a:lnR>
                      <a:noFill/>
                    </a:lnR>
                    <a:lnT>
                      <a:noFill/>
                    </a:lnT>
                    <a:lnB>
                      <a:noFill/>
                    </a:lnB>
                  </a:tcPr>
                </a:tc>
                <a:extLst>
                  <a:ext uri="{0D108BD9-81ED-4DB2-BD59-A6C34878D82A}">
                    <a16:rowId xmlns:a16="http://schemas.microsoft.com/office/drawing/2014/main" val="1658208322"/>
                  </a:ext>
                </a:extLst>
              </a:tr>
              <a:tr h="400990">
                <a:tc>
                  <a:txBody>
                    <a:bodyPr/>
                    <a:lstStyle/>
                    <a:p>
                      <a:r>
                        <a:rPr lang="en-US" sz="1800"/>
                        <a:t>9-16 </a:t>
                      </a:r>
                    </a:p>
                  </a:txBody>
                  <a:tcPr marL="44419" marR="44419" marT="22209" marB="22209" anchor="ctr">
                    <a:lnL>
                      <a:noFill/>
                    </a:lnL>
                    <a:lnR>
                      <a:noFill/>
                    </a:lnR>
                    <a:lnT>
                      <a:noFill/>
                    </a:lnT>
                    <a:lnB>
                      <a:noFill/>
                    </a:lnB>
                  </a:tcPr>
                </a:tc>
                <a:tc>
                  <a:txBody>
                    <a:bodyPr/>
                    <a:lstStyle/>
                    <a:p>
                      <a:r>
                        <a:rPr lang="en-US" sz="1800"/>
                        <a:t>Data - Address Data Bus </a:t>
                      </a:r>
                    </a:p>
                  </a:txBody>
                  <a:tcPr marL="44419" marR="44419" marT="22209" marB="22209" anchor="ctr">
                    <a:lnL>
                      <a:noFill/>
                    </a:lnL>
                    <a:lnR>
                      <a:noFill/>
                    </a:lnR>
                    <a:lnT>
                      <a:noFill/>
                    </a:lnT>
                    <a:lnB>
                      <a:noFill/>
                    </a:lnB>
                  </a:tcPr>
                </a:tc>
                <a:extLst>
                  <a:ext uri="{0D108BD9-81ED-4DB2-BD59-A6C34878D82A}">
                    <a16:rowId xmlns:a16="http://schemas.microsoft.com/office/drawing/2014/main" val="2090068765"/>
                  </a:ext>
                </a:extLst>
              </a:tr>
              <a:tr h="400990">
                <a:tc>
                  <a:txBody>
                    <a:bodyPr/>
                    <a:lstStyle/>
                    <a:p>
                      <a:r>
                        <a:rPr lang="en-US" sz="1800"/>
                        <a:t>17 </a:t>
                      </a:r>
                    </a:p>
                  </a:txBody>
                  <a:tcPr marL="44419" marR="44419" marT="22209" marB="22209" anchor="ctr">
                    <a:lnL>
                      <a:noFill/>
                    </a:lnL>
                    <a:lnR>
                      <a:noFill/>
                    </a:lnR>
                    <a:lnT>
                      <a:noFill/>
                    </a:lnT>
                    <a:lnB>
                      <a:noFill/>
                    </a:lnB>
                  </a:tcPr>
                </a:tc>
                <a:tc>
                  <a:txBody>
                    <a:bodyPr/>
                    <a:lstStyle/>
                    <a:p>
                      <a:r>
                        <a:rPr lang="en-US" sz="1800"/>
                        <a:t>NMI - Non-Maskable Interrupt </a:t>
                      </a:r>
                    </a:p>
                  </a:txBody>
                  <a:tcPr marL="44419" marR="44419" marT="22209" marB="22209" anchor="ctr">
                    <a:lnL>
                      <a:noFill/>
                    </a:lnL>
                    <a:lnR>
                      <a:noFill/>
                    </a:lnR>
                    <a:lnT>
                      <a:noFill/>
                    </a:lnT>
                    <a:lnB>
                      <a:noFill/>
                    </a:lnB>
                  </a:tcPr>
                </a:tc>
                <a:extLst>
                  <a:ext uri="{0D108BD9-81ED-4DB2-BD59-A6C34878D82A}">
                    <a16:rowId xmlns:a16="http://schemas.microsoft.com/office/drawing/2014/main" val="1046514353"/>
                  </a:ext>
                </a:extLst>
              </a:tr>
              <a:tr h="400990">
                <a:tc>
                  <a:txBody>
                    <a:bodyPr/>
                    <a:lstStyle/>
                    <a:p>
                      <a:r>
                        <a:rPr lang="en-US" sz="1800"/>
                        <a:t>18 </a:t>
                      </a:r>
                    </a:p>
                  </a:txBody>
                  <a:tcPr marL="44419" marR="44419" marT="22209" marB="22209" anchor="ctr">
                    <a:lnL>
                      <a:noFill/>
                    </a:lnL>
                    <a:lnR>
                      <a:noFill/>
                    </a:lnR>
                    <a:lnT>
                      <a:noFill/>
                    </a:lnT>
                    <a:lnB>
                      <a:noFill/>
                    </a:lnB>
                  </a:tcPr>
                </a:tc>
                <a:tc>
                  <a:txBody>
                    <a:bodyPr/>
                    <a:lstStyle/>
                    <a:p>
                      <a:r>
                        <a:rPr lang="en-US" sz="1800"/>
                        <a:t>INTR - Interrupt Request </a:t>
                      </a:r>
                    </a:p>
                  </a:txBody>
                  <a:tcPr marL="44419" marR="44419" marT="22209" marB="22209" anchor="ctr">
                    <a:lnL>
                      <a:noFill/>
                    </a:lnL>
                    <a:lnR>
                      <a:noFill/>
                    </a:lnR>
                    <a:lnT>
                      <a:noFill/>
                    </a:lnT>
                    <a:lnB>
                      <a:noFill/>
                    </a:lnB>
                  </a:tcPr>
                </a:tc>
                <a:extLst>
                  <a:ext uri="{0D108BD9-81ED-4DB2-BD59-A6C34878D82A}">
                    <a16:rowId xmlns:a16="http://schemas.microsoft.com/office/drawing/2014/main" val="2696908755"/>
                  </a:ext>
                </a:extLst>
              </a:tr>
              <a:tr h="400990">
                <a:tc>
                  <a:txBody>
                    <a:bodyPr/>
                    <a:lstStyle/>
                    <a:p>
                      <a:r>
                        <a:rPr lang="en-US" sz="1800" dirty="0"/>
                        <a:t>19 </a:t>
                      </a:r>
                    </a:p>
                  </a:txBody>
                  <a:tcPr marL="44419" marR="44419" marT="22209" marB="22209" anchor="ctr">
                    <a:lnL>
                      <a:noFill/>
                    </a:lnL>
                    <a:lnR>
                      <a:noFill/>
                    </a:lnR>
                    <a:lnT>
                      <a:noFill/>
                    </a:lnT>
                    <a:lnB>
                      <a:noFill/>
                    </a:lnB>
                  </a:tcPr>
                </a:tc>
                <a:tc>
                  <a:txBody>
                    <a:bodyPr/>
                    <a:lstStyle/>
                    <a:p>
                      <a:r>
                        <a:rPr lang="en-US" sz="1800"/>
                        <a:t>CLK - Clock </a:t>
                      </a:r>
                    </a:p>
                  </a:txBody>
                  <a:tcPr marL="44419" marR="44419" marT="22209" marB="22209" anchor="ctr">
                    <a:lnL>
                      <a:noFill/>
                    </a:lnL>
                    <a:lnR>
                      <a:noFill/>
                    </a:lnR>
                    <a:lnT>
                      <a:noFill/>
                    </a:lnT>
                    <a:lnB>
                      <a:noFill/>
                    </a:lnB>
                  </a:tcPr>
                </a:tc>
                <a:extLst>
                  <a:ext uri="{0D108BD9-81ED-4DB2-BD59-A6C34878D82A}">
                    <a16:rowId xmlns:a16="http://schemas.microsoft.com/office/drawing/2014/main" val="1225530223"/>
                  </a:ext>
                </a:extLst>
              </a:tr>
              <a:tr h="400990">
                <a:tc>
                  <a:txBody>
                    <a:bodyPr/>
                    <a:lstStyle/>
                    <a:p>
                      <a:r>
                        <a:rPr lang="en-US" sz="1800"/>
                        <a:t>20 </a:t>
                      </a:r>
                    </a:p>
                  </a:txBody>
                  <a:tcPr marL="44419" marR="44419" marT="22209" marB="22209" anchor="ctr">
                    <a:lnL>
                      <a:noFill/>
                    </a:lnL>
                    <a:lnR>
                      <a:noFill/>
                    </a:lnR>
                    <a:lnT>
                      <a:noFill/>
                    </a:lnT>
                    <a:lnB>
                      <a:noFill/>
                    </a:lnB>
                  </a:tcPr>
                </a:tc>
                <a:tc>
                  <a:txBody>
                    <a:bodyPr/>
                    <a:lstStyle/>
                    <a:p>
                      <a:r>
                        <a:rPr lang="en-US" sz="1800"/>
                        <a:t>GND - Ground </a:t>
                      </a:r>
                    </a:p>
                  </a:txBody>
                  <a:tcPr marL="44419" marR="44419" marT="22209" marB="22209" anchor="ctr">
                    <a:lnL>
                      <a:noFill/>
                    </a:lnL>
                    <a:lnR>
                      <a:noFill/>
                    </a:lnR>
                    <a:lnT>
                      <a:noFill/>
                    </a:lnT>
                    <a:lnB>
                      <a:noFill/>
                    </a:lnB>
                  </a:tcPr>
                </a:tc>
                <a:extLst>
                  <a:ext uri="{0D108BD9-81ED-4DB2-BD59-A6C34878D82A}">
                    <a16:rowId xmlns:a16="http://schemas.microsoft.com/office/drawing/2014/main" val="1926646952"/>
                  </a:ext>
                </a:extLst>
              </a:tr>
              <a:tr h="400990">
                <a:tc>
                  <a:txBody>
                    <a:bodyPr/>
                    <a:lstStyle/>
                    <a:p>
                      <a:r>
                        <a:rPr lang="en-US" sz="1800" dirty="0"/>
                        <a:t>21 </a:t>
                      </a:r>
                    </a:p>
                  </a:txBody>
                  <a:tcPr marL="44419" marR="44419" marT="22209" marB="22209" anchor="ctr">
                    <a:lnL>
                      <a:noFill/>
                    </a:lnL>
                    <a:lnR>
                      <a:noFill/>
                    </a:lnR>
                    <a:lnT>
                      <a:noFill/>
                    </a:lnT>
                    <a:lnB>
                      <a:noFill/>
                    </a:lnB>
                  </a:tcPr>
                </a:tc>
                <a:tc>
                  <a:txBody>
                    <a:bodyPr/>
                    <a:lstStyle/>
                    <a:p>
                      <a:r>
                        <a:rPr lang="en-US" sz="1800"/>
                        <a:t>RESET - Reset </a:t>
                      </a:r>
                    </a:p>
                  </a:txBody>
                  <a:tcPr marL="44419" marR="44419" marT="22209" marB="22209" anchor="ctr">
                    <a:lnL>
                      <a:noFill/>
                    </a:lnL>
                    <a:lnR>
                      <a:noFill/>
                    </a:lnR>
                    <a:lnT>
                      <a:noFill/>
                    </a:lnT>
                    <a:lnB>
                      <a:noFill/>
                    </a:lnB>
                  </a:tcPr>
                </a:tc>
                <a:extLst>
                  <a:ext uri="{0D108BD9-81ED-4DB2-BD59-A6C34878D82A}">
                    <a16:rowId xmlns:a16="http://schemas.microsoft.com/office/drawing/2014/main" val="1112040008"/>
                  </a:ext>
                </a:extLst>
              </a:tr>
              <a:tr h="400990">
                <a:tc>
                  <a:txBody>
                    <a:bodyPr/>
                    <a:lstStyle/>
                    <a:p>
                      <a:r>
                        <a:rPr lang="en-US" sz="1800"/>
                        <a:t>22 </a:t>
                      </a:r>
                    </a:p>
                  </a:txBody>
                  <a:tcPr marL="44419" marR="44419" marT="22209" marB="22209" anchor="ctr">
                    <a:lnL>
                      <a:noFill/>
                    </a:lnL>
                    <a:lnR>
                      <a:noFill/>
                    </a:lnR>
                    <a:lnT>
                      <a:noFill/>
                    </a:lnT>
                    <a:lnB>
                      <a:noFill/>
                    </a:lnB>
                  </a:tcPr>
                </a:tc>
                <a:tc>
                  <a:txBody>
                    <a:bodyPr/>
                    <a:lstStyle/>
                    <a:p>
                      <a:r>
                        <a:rPr lang="en-US" sz="1800"/>
                        <a:t>READY - Ready </a:t>
                      </a:r>
                    </a:p>
                  </a:txBody>
                  <a:tcPr marL="44419" marR="44419" marT="22209" marB="22209" anchor="ctr">
                    <a:lnL>
                      <a:noFill/>
                    </a:lnL>
                    <a:lnR>
                      <a:noFill/>
                    </a:lnR>
                    <a:lnT>
                      <a:noFill/>
                    </a:lnT>
                    <a:lnB>
                      <a:noFill/>
                    </a:lnB>
                  </a:tcPr>
                </a:tc>
                <a:extLst>
                  <a:ext uri="{0D108BD9-81ED-4DB2-BD59-A6C34878D82A}">
                    <a16:rowId xmlns:a16="http://schemas.microsoft.com/office/drawing/2014/main" val="48517734"/>
                  </a:ext>
                </a:extLst>
              </a:tr>
              <a:tr h="400990">
                <a:tc>
                  <a:txBody>
                    <a:bodyPr/>
                    <a:lstStyle/>
                    <a:p>
                      <a:r>
                        <a:rPr lang="en-US" sz="1800"/>
                        <a:t>23 </a:t>
                      </a:r>
                    </a:p>
                  </a:txBody>
                  <a:tcPr marL="44419" marR="44419" marT="22209" marB="22209" anchor="ctr">
                    <a:lnL>
                      <a:noFill/>
                    </a:lnL>
                    <a:lnR>
                      <a:noFill/>
                    </a:lnR>
                    <a:lnT>
                      <a:noFill/>
                    </a:lnT>
                    <a:lnB>
                      <a:noFill/>
                    </a:lnB>
                  </a:tcPr>
                </a:tc>
                <a:tc>
                  <a:txBody>
                    <a:bodyPr/>
                    <a:lstStyle/>
                    <a:p>
                      <a:r>
                        <a:rPr lang="en-US" sz="1800"/>
                        <a:t>TEST - Test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1615652122"/>
                  </a:ext>
                </a:extLst>
              </a:tr>
              <a:tr h="746099">
                <a:tc>
                  <a:txBody>
                    <a:bodyPr/>
                    <a:lstStyle/>
                    <a:p>
                      <a:r>
                        <a:rPr lang="en-US" sz="1800"/>
                        <a:t>24 </a:t>
                      </a:r>
                    </a:p>
                  </a:txBody>
                  <a:tcPr marL="44419" marR="44419" marT="22209" marB="22209" anchor="ctr">
                    <a:lnL>
                      <a:noFill/>
                    </a:lnL>
                    <a:lnR>
                      <a:noFill/>
                    </a:lnR>
                    <a:lnT>
                      <a:noFill/>
                    </a:lnT>
                    <a:lnB>
                      <a:noFill/>
                    </a:lnB>
                  </a:tcPr>
                </a:tc>
                <a:tc>
                  <a:txBody>
                    <a:bodyPr/>
                    <a:lstStyle/>
                    <a:p>
                      <a:r>
                        <a:rPr lang="en-US" sz="1800" dirty="0"/>
                        <a:t>INTA - Interrupt Acknowledge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3462375535"/>
                  </a:ext>
                </a:extLst>
              </a:tr>
            </a:tbl>
          </a:graphicData>
        </a:graphic>
      </p:graphicFrame>
    </p:spTree>
    <p:extLst>
      <p:ext uri="{BB962C8B-B14F-4D97-AF65-F5344CB8AC3E}">
        <p14:creationId xmlns:p14="http://schemas.microsoft.com/office/powerpoint/2010/main" val="386021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a:t>Pinout of 8088</a:t>
            </a:r>
          </a:p>
        </p:txBody>
      </p:sp>
      <p:sp>
        <p:nvSpPr>
          <p:cNvPr id="1331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D67E69D-715D-4870-8F54-575F32C2BAA5}" type="slidenum">
              <a:rPr lang="en-US" altLang="en-US" sz="1200" smtClean="0">
                <a:latin typeface="Garamond" panose="02020404030301010803" pitchFamily="18" charset="0"/>
              </a:rPr>
              <a:pPr>
                <a:spcBef>
                  <a:spcPct val="0"/>
                </a:spcBef>
                <a:buClrTx/>
                <a:buSzTx/>
                <a:buFontTx/>
                <a:buNone/>
              </a:pPr>
              <a:t>6</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graphicFrame>
        <p:nvGraphicFramePr>
          <p:cNvPr id="3" name="Table 2"/>
          <p:cNvGraphicFramePr>
            <a:graphicFrameLocks noGrp="1"/>
          </p:cNvGraphicFramePr>
          <p:nvPr>
            <p:extLst>
              <p:ext uri="{D42A27DB-BD31-4B8C-83A1-F6EECF244321}">
                <p14:modId xmlns:p14="http://schemas.microsoft.com/office/powerpoint/2010/main" val="2508384198"/>
              </p:ext>
            </p:extLst>
          </p:nvPr>
        </p:nvGraphicFramePr>
        <p:xfrm>
          <a:off x="1331640" y="1052736"/>
          <a:ext cx="6840760" cy="4986917"/>
        </p:xfrm>
        <a:graphic>
          <a:graphicData uri="http://schemas.openxmlformats.org/drawingml/2006/table">
            <a:tbl>
              <a:tblPr/>
              <a:tblGrid>
                <a:gridCol w="3420380">
                  <a:extLst>
                    <a:ext uri="{9D8B030D-6E8A-4147-A177-3AD203B41FA5}">
                      <a16:colId xmlns:a16="http://schemas.microsoft.com/office/drawing/2014/main" val="3631057042"/>
                    </a:ext>
                  </a:extLst>
                </a:gridCol>
                <a:gridCol w="3420380">
                  <a:extLst>
                    <a:ext uri="{9D8B030D-6E8A-4147-A177-3AD203B41FA5}">
                      <a16:colId xmlns:a16="http://schemas.microsoft.com/office/drawing/2014/main" val="513000255"/>
                    </a:ext>
                  </a:extLst>
                </a:gridCol>
              </a:tblGrid>
              <a:tr h="370457">
                <a:tc>
                  <a:txBody>
                    <a:bodyPr/>
                    <a:lstStyle/>
                    <a:p>
                      <a:r>
                        <a:rPr lang="en-US" sz="1800" dirty="0"/>
                        <a:t>25 </a:t>
                      </a:r>
                    </a:p>
                  </a:txBody>
                  <a:tcPr marL="44419" marR="44419" marT="22209" marB="22209" anchor="ctr">
                    <a:lnL>
                      <a:noFill/>
                    </a:lnL>
                    <a:lnR>
                      <a:noFill/>
                    </a:lnR>
                    <a:lnT>
                      <a:noFill/>
                    </a:lnT>
                    <a:lnB>
                      <a:noFill/>
                    </a:lnB>
                  </a:tcPr>
                </a:tc>
                <a:tc>
                  <a:txBody>
                    <a:bodyPr/>
                    <a:lstStyle/>
                    <a:p>
                      <a:r>
                        <a:rPr lang="en-US" sz="1800" dirty="0"/>
                        <a:t>ALE - Address Latch Enable </a:t>
                      </a:r>
                    </a:p>
                  </a:txBody>
                  <a:tcPr marL="44419" marR="44419" marT="22209" marB="22209" anchor="ctr">
                    <a:lnL>
                      <a:noFill/>
                    </a:lnL>
                    <a:lnR>
                      <a:noFill/>
                    </a:lnR>
                    <a:lnT>
                      <a:noFill/>
                    </a:lnT>
                    <a:lnB>
                      <a:noFill/>
                    </a:lnB>
                  </a:tcPr>
                </a:tc>
                <a:extLst>
                  <a:ext uri="{0D108BD9-81ED-4DB2-BD59-A6C34878D82A}">
                    <a16:rowId xmlns:a16="http://schemas.microsoft.com/office/drawing/2014/main" val="2438379195"/>
                  </a:ext>
                </a:extLst>
              </a:tr>
              <a:tr h="370457">
                <a:tc>
                  <a:txBody>
                    <a:bodyPr/>
                    <a:lstStyle/>
                    <a:p>
                      <a:r>
                        <a:rPr lang="en-US" sz="1800" dirty="0"/>
                        <a:t>26 </a:t>
                      </a:r>
                    </a:p>
                  </a:txBody>
                  <a:tcPr marL="44419" marR="44419" marT="22209" marB="22209" anchor="ctr">
                    <a:lnL>
                      <a:noFill/>
                    </a:lnL>
                    <a:lnR>
                      <a:noFill/>
                    </a:lnR>
                    <a:lnT>
                      <a:noFill/>
                    </a:lnT>
                    <a:lnB>
                      <a:noFill/>
                    </a:lnB>
                  </a:tcPr>
                </a:tc>
                <a:tc>
                  <a:txBody>
                    <a:bodyPr/>
                    <a:lstStyle/>
                    <a:p>
                      <a:r>
                        <a:rPr lang="en-US" sz="1800"/>
                        <a:t>DEN - Data Enable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4248727437"/>
                  </a:ext>
                </a:extLst>
              </a:tr>
              <a:tr h="370457">
                <a:tc>
                  <a:txBody>
                    <a:bodyPr/>
                    <a:lstStyle/>
                    <a:p>
                      <a:r>
                        <a:rPr lang="en-US" sz="1800" dirty="0"/>
                        <a:t>27 </a:t>
                      </a:r>
                    </a:p>
                  </a:txBody>
                  <a:tcPr marL="44419" marR="44419" marT="22209" marB="22209" anchor="ctr">
                    <a:lnL>
                      <a:noFill/>
                    </a:lnL>
                    <a:lnR>
                      <a:noFill/>
                    </a:lnR>
                    <a:lnT>
                      <a:noFill/>
                    </a:lnT>
                    <a:lnB>
                      <a:noFill/>
                    </a:lnB>
                  </a:tcPr>
                </a:tc>
                <a:tc>
                  <a:txBody>
                    <a:bodyPr/>
                    <a:lstStyle/>
                    <a:p>
                      <a:r>
                        <a:rPr lang="en-US" sz="1800"/>
                        <a:t>DT/R - Data Transmit/Receive </a:t>
                      </a:r>
                    </a:p>
                  </a:txBody>
                  <a:tcPr marL="44419" marR="44419" marT="22209" marB="22209" anchor="ctr">
                    <a:lnL>
                      <a:noFill/>
                    </a:lnL>
                    <a:lnR>
                      <a:noFill/>
                    </a:lnR>
                    <a:lnT>
                      <a:noFill/>
                    </a:lnT>
                    <a:lnB>
                      <a:noFill/>
                    </a:lnB>
                  </a:tcPr>
                </a:tc>
                <a:extLst>
                  <a:ext uri="{0D108BD9-81ED-4DB2-BD59-A6C34878D82A}">
                    <a16:rowId xmlns:a16="http://schemas.microsoft.com/office/drawing/2014/main" val="3403235166"/>
                  </a:ext>
                </a:extLst>
              </a:tr>
              <a:tr h="370457">
                <a:tc>
                  <a:txBody>
                    <a:bodyPr/>
                    <a:lstStyle/>
                    <a:p>
                      <a:r>
                        <a:rPr lang="en-US" sz="1800" dirty="0"/>
                        <a:t>28 </a:t>
                      </a:r>
                    </a:p>
                  </a:txBody>
                  <a:tcPr marL="44419" marR="44419" marT="22209" marB="22209" anchor="ctr">
                    <a:lnL>
                      <a:noFill/>
                    </a:lnL>
                    <a:lnR>
                      <a:noFill/>
                    </a:lnR>
                    <a:lnT>
                      <a:noFill/>
                    </a:lnT>
                    <a:lnB>
                      <a:noFill/>
                    </a:lnB>
                  </a:tcPr>
                </a:tc>
                <a:tc>
                  <a:txBody>
                    <a:bodyPr/>
                    <a:lstStyle/>
                    <a:p>
                      <a:r>
                        <a:rPr lang="en-US" sz="1800"/>
                        <a:t>IO/M - Status Line </a:t>
                      </a:r>
                    </a:p>
                  </a:txBody>
                  <a:tcPr marL="44419" marR="44419" marT="22209" marB="22209" anchor="ctr">
                    <a:lnL>
                      <a:noFill/>
                    </a:lnL>
                    <a:lnR>
                      <a:noFill/>
                    </a:lnR>
                    <a:lnT>
                      <a:noFill/>
                    </a:lnT>
                    <a:lnB>
                      <a:noFill/>
                    </a:lnB>
                  </a:tcPr>
                </a:tc>
                <a:extLst>
                  <a:ext uri="{0D108BD9-81ED-4DB2-BD59-A6C34878D82A}">
                    <a16:rowId xmlns:a16="http://schemas.microsoft.com/office/drawing/2014/main" val="2306822015"/>
                  </a:ext>
                </a:extLst>
              </a:tr>
              <a:tr h="370457">
                <a:tc>
                  <a:txBody>
                    <a:bodyPr/>
                    <a:lstStyle/>
                    <a:p>
                      <a:r>
                        <a:rPr lang="en-US" sz="1800" dirty="0"/>
                        <a:t>29 </a:t>
                      </a:r>
                    </a:p>
                  </a:txBody>
                  <a:tcPr marL="44419" marR="44419" marT="22209" marB="22209" anchor="ctr">
                    <a:lnL>
                      <a:noFill/>
                    </a:lnL>
                    <a:lnR>
                      <a:noFill/>
                    </a:lnR>
                    <a:lnT>
                      <a:noFill/>
                    </a:lnT>
                    <a:lnB>
                      <a:noFill/>
                    </a:lnB>
                  </a:tcPr>
                </a:tc>
                <a:tc>
                  <a:txBody>
                    <a:bodyPr/>
                    <a:lstStyle/>
                    <a:p>
                      <a:r>
                        <a:rPr lang="en-US" sz="1800"/>
                        <a:t>WR - Write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1843672524"/>
                  </a:ext>
                </a:extLst>
              </a:tr>
              <a:tr h="370457">
                <a:tc>
                  <a:txBody>
                    <a:bodyPr/>
                    <a:lstStyle/>
                    <a:p>
                      <a:r>
                        <a:rPr lang="en-US" sz="1800" dirty="0"/>
                        <a:t>30 </a:t>
                      </a:r>
                    </a:p>
                  </a:txBody>
                  <a:tcPr marL="44419" marR="44419" marT="22209" marB="22209" anchor="ctr">
                    <a:lnL>
                      <a:noFill/>
                    </a:lnL>
                    <a:lnR>
                      <a:noFill/>
                    </a:lnR>
                    <a:lnT>
                      <a:noFill/>
                    </a:lnT>
                    <a:lnB>
                      <a:noFill/>
                    </a:lnB>
                  </a:tcPr>
                </a:tc>
                <a:tc>
                  <a:txBody>
                    <a:bodyPr/>
                    <a:lstStyle/>
                    <a:p>
                      <a:r>
                        <a:rPr lang="en-US" sz="1800"/>
                        <a:t>HLDA - Hold A </a:t>
                      </a:r>
                    </a:p>
                  </a:txBody>
                  <a:tcPr marL="44419" marR="44419" marT="22209" marB="22209" anchor="ctr">
                    <a:lnL>
                      <a:noFill/>
                    </a:lnL>
                    <a:lnR>
                      <a:noFill/>
                    </a:lnR>
                    <a:lnT>
                      <a:noFill/>
                    </a:lnT>
                    <a:lnB>
                      <a:noFill/>
                    </a:lnB>
                  </a:tcPr>
                </a:tc>
                <a:extLst>
                  <a:ext uri="{0D108BD9-81ED-4DB2-BD59-A6C34878D82A}">
                    <a16:rowId xmlns:a16="http://schemas.microsoft.com/office/drawing/2014/main" val="634747168"/>
                  </a:ext>
                </a:extLst>
              </a:tr>
              <a:tr h="370457">
                <a:tc>
                  <a:txBody>
                    <a:bodyPr/>
                    <a:lstStyle/>
                    <a:p>
                      <a:r>
                        <a:rPr lang="en-US" sz="1800" dirty="0"/>
                        <a:t>31 </a:t>
                      </a:r>
                    </a:p>
                  </a:txBody>
                  <a:tcPr marL="44419" marR="44419" marT="22209" marB="22209" anchor="ctr">
                    <a:lnL>
                      <a:noFill/>
                    </a:lnL>
                    <a:lnR>
                      <a:noFill/>
                    </a:lnR>
                    <a:lnT>
                      <a:noFill/>
                    </a:lnT>
                    <a:lnB>
                      <a:noFill/>
                    </a:lnB>
                  </a:tcPr>
                </a:tc>
                <a:tc>
                  <a:txBody>
                    <a:bodyPr/>
                    <a:lstStyle/>
                    <a:p>
                      <a:r>
                        <a:rPr lang="en-US" sz="1800"/>
                        <a:t>HOLD - Hold </a:t>
                      </a:r>
                    </a:p>
                  </a:txBody>
                  <a:tcPr marL="44419" marR="44419" marT="22209" marB="22209" anchor="ctr">
                    <a:lnL>
                      <a:noFill/>
                    </a:lnL>
                    <a:lnR>
                      <a:noFill/>
                    </a:lnR>
                    <a:lnT>
                      <a:noFill/>
                    </a:lnT>
                    <a:lnB>
                      <a:noFill/>
                    </a:lnB>
                  </a:tcPr>
                </a:tc>
                <a:extLst>
                  <a:ext uri="{0D108BD9-81ED-4DB2-BD59-A6C34878D82A}">
                    <a16:rowId xmlns:a16="http://schemas.microsoft.com/office/drawing/2014/main" val="424910167"/>
                  </a:ext>
                </a:extLst>
              </a:tr>
              <a:tr h="370457">
                <a:tc>
                  <a:txBody>
                    <a:bodyPr/>
                    <a:lstStyle/>
                    <a:p>
                      <a:r>
                        <a:rPr lang="en-US" sz="1800" dirty="0"/>
                        <a:t>32 </a:t>
                      </a:r>
                    </a:p>
                  </a:txBody>
                  <a:tcPr marL="44419" marR="44419" marT="22209" marB="22209" anchor="ctr">
                    <a:lnL>
                      <a:noFill/>
                    </a:lnL>
                    <a:lnR>
                      <a:noFill/>
                    </a:lnR>
                    <a:lnT>
                      <a:noFill/>
                    </a:lnT>
                    <a:lnB>
                      <a:noFill/>
                    </a:lnB>
                  </a:tcPr>
                </a:tc>
                <a:tc>
                  <a:txBody>
                    <a:bodyPr/>
                    <a:lstStyle/>
                    <a:p>
                      <a:r>
                        <a:rPr lang="en-US" sz="1800"/>
                        <a:t>RD - Read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234889212"/>
                  </a:ext>
                </a:extLst>
              </a:tr>
              <a:tr h="430675">
                <a:tc>
                  <a:txBody>
                    <a:bodyPr/>
                    <a:lstStyle/>
                    <a:p>
                      <a:r>
                        <a:rPr lang="en-US" sz="1800" dirty="0"/>
                        <a:t>33 </a:t>
                      </a:r>
                    </a:p>
                  </a:txBody>
                  <a:tcPr marL="44419" marR="44419" marT="22209" marB="22209" anchor="ctr">
                    <a:lnL>
                      <a:noFill/>
                    </a:lnL>
                    <a:lnR>
                      <a:noFill/>
                    </a:lnR>
                    <a:lnT>
                      <a:noFill/>
                    </a:lnT>
                    <a:lnB>
                      <a:noFill/>
                    </a:lnB>
                  </a:tcPr>
                </a:tc>
                <a:tc>
                  <a:txBody>
                    <a:bodyPr/>
                    <a:lstStyle/>
                    <a:p>
                      <a:r>
                        <a:rPr lang="en-US" sz="1800" dirty="0"/>
                        <a:t>MN/MX - Minimum or Maximum Mode </a:t>
                      </a:r>
                    </a:p>
                  </a:txBody>
                  <a:tcPr marL="44419" marR="44419" marT="22209" marB="22209" anchor="ctr">
                    <a:lnL>
                      <a:noFill/>
                    </a:lnL>
                    <a:lnR>
                      <a:noFill/>
                    </a:lnR>
                    <a:lnT>
                      <a:noFill/>
                    </a:lnT>
                    <a:lnB>
                      <a:noFill/>
                    </a:lnB>
                  </a:tcPr>
                </a:tc>
                <a:extLst>
                  <a:ext uri="{0D108BD9-81ED-4DB2-BD59-A6C34878D82A}">
                    <a16:rowId xmlns:a16="http://schemas.microsoft.com/office/drawing/2014/main" val="4036246563"/>
                  </a:ext>
                </a:extLst>
              </a:tr>
              <a:tr h="370457">
                <a:tc>
                  <a:txBody>
                    <a:bodyPr/>
                    <a:lstStyle/>
                    <a:p>
                      <a:r>
                        <a:rPr lang="en-US" sz="1800" dirty="0"/>
                        <a:t>34 </a:t>
                      </a:r>
                    </a:p>
                  </a:txBody>
                  <a:tcPr marL="44419" marR="44419" marT="22209" marB="22209" anchor="ctr">
                    <a:lnL>
                      <a:noFill/>
                    </a:lnL>
                    <a:lnR>
                      <a:noFill/>
                    </a:lnR>
                    <a:lnT>
                      <a:noFill/>
                    </a:lnT>
                    <a:lnB>
                      <a:noFill/>
                    </a:lnB>
                  </a:tcPr>
                </a:tc>
                <a:tc>
                  <a:txBody>
                    <a:bodyPr/>
                    <a:lstStyle/>
                    <a:p>
                      <a:r>
                        <a:rPr lang="en-US" sz="1800"/>
                        <a:t>SSO - Status Line (Active Low) </a:t>
                      </a:r>
                    </a:p>
                  </a:txBody>
                  <a:tcPr marL="44419" marR="44419" marT="22209" marB="22209" anchor="ctr">
                    <a:lnL>
                      <a:noFill/>
                    </a:lnL>
                    <a:lnR>
                      <a:noFill/>
                    </a:lnR>
                    <a:lnT>
                      <a:noFill/>
                    </a:lnT>
                    <a:lnB>
                      <a:noFill/>
                    </a:lnB>
                  </a:tcPr>
                </a:tc>
                <a:extLst>
                  <a:ext uri="{0D108BD9-81ED-4DB2-BD59-A6C34878D82A}">
                    <a16:rowId xmlns:a16="http://schemas.microsoft.com/office/drawing/2014/main" val="3881706188"/>
                  </a:ext>
                </a:extLst>
              </a:tr>
              <a:tr h="689289">
                <a:tc>
                  <a:txBody>
                    <a:bodyPr/>
                    <a:lstStyle/>
                    <a:p>
                      <a:r>
                        <a:rPr lang="en-US" sz="1800" dirty="0"/>
                        <a:t>35-39 </a:t>
                      </a:r>
                    </a:p>
                  </a:txBody>
                  <a:tcPr marL="44419" marR="44419" marT="22209" marB="22209" anchor="ctr">
                    <a:lnL>
                      <a:noFill/>
                    </a:lnL>
                    <a:lnR>
                      <a:noFill/>
                    </a:lnR>
                    <a:lnT>
                      <a:noFill/>
                    </a:lnT>
                    <a:lnB>
                      <a:noFill/>
                    </a:lnB>
                  </a:tcPr>
                </a:tc>
                <a:tc>
                  <a:txBody>
                    <a:bodyPr/>
                    <a:lstStyle/>
                    <a:p>
                      <a:r>
                        <a:rPr lang="en-US" sz="1800"/>
                        <a:t>ADDRESS/STATUS - Address/Status Information </a:t>
                      </a:r>
                    </a:p>
                  </a:txBody>
                  <a:tcPr marL="44419" marR="44419" marT="22209" marB="22209" anchor="ctr">
                    <a:lnL>
                      <a:noFill/>
                    </a:lnL>
                    <a:lnR>
                      <a:noFill/>
                    </a:lnR>
                    <a:lnT>
                      <a:noFill/>
                    </a:lnT>
                    <a:lnB>
                      <a:noFill/>
                    </a:lnB>
                  </a:tcPr>
                </a:tc>
                <a:extLst>
                  <a:ext uri="{0D108BD9-81ED-4DB2-BD59-A6C34878D82A}">
                    <a16:rowId xmlns:a16="http://schemas.microsoft.com/office/drawing/2014/main" val="1616807215"/>
                  </a:ext>
                </a:extLst>
              </a:tr>
              <a:tr h="370457">
                <a:tc>
                  <a:txBody>
                    <a:bodyPr/>
                    <a:lstStyle/>
                    <a:p>
                      <a:r>
                        <a:rPr lang="en-US" sz="1800" dirty="0"/>
                        <a:t>40 </a:t>
                      </a:r>
                    </a:p>
                  </a:txBody>
                  <a:tcPr marL="44419" marR="44419" marT="22209" marB="22209" anchor="ctr">
                    <a:lnL>
                      <a:noFill/>
                    </a:lnL>
                    <a:lnR>
                      <a:noFill/>
                    </a:lnR>
                    <a:lnT>
                      <a:noFill/>
                    </a:lnT>
                    <a:lnB>
                      <a:noFill/>
                    </a:lnB>
                  </a:tcPr>
                </a:tc>
                <a:tc>
                  <a:txBody>
                    <a:bodyPr/>
                    <a:lstStyle/>
                    <a:p>
                      <a:r>
                        <a:rPr lang="en-US" sz="1800" dirty="0" err="1"/>
                        <a:t>Vcc</a:t>
                      </a:r>
                      <a:r>
                        <a:rPr lang="en-US" sz="1800" dirty="0"/>
                        <a:t> - Positive Power Supply </a:t>
                      </a:r>
                    </a:p>
                  </a:txBody>
                  <a:tcPr marL="44419" marR="44419" marT="22209" marB="22209" anchor="ctr">
                    <a:lnL>
                      <a:noFill/>
                    </a:lnL>
                    <a:lnR>
                      <a:noFill/>
                    </a:lnR>
                    <a:lnT>
                      <a:noFill/>
                    </a:lnT>
                    <a:lnB>
                      <a:noFill/>
                    </a:lnB>
                  </a:tcPr>
                </a:tc>
                <a:extLst>
                  <a:ext uri="{0D108BD9-81ED-4DB2-BD59-A6C34878D82A}">
                    <a16:rowId xmlns:a16="http://schemas.microsoft.com/office/drawing/2014/main" val="257733529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7</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 Explanation</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sp>
        <p:nvSpPr>
          <p:cNvPr id="3" name="Rectangle 2"/>
          <p:cNvSpPr/>
          <p:nvPr/>
        </p:nvSpPr>
        <p:spPr>
          <a:xfrm>
            <a:off x="611560" y="954366"/>
            <a:ext cx="8352928" cy="4708981"/>
          </a:xfrm>
          <a:prstGeom prst="rect">
            <a:avLst/>
          </a:prstGeom>
        </p:spPr>
        <p:txBody>
          <a:bodyPr wrap="square">
            <a:spAutoFit/>
          </a:bodyPr>
          <a:lstStyle/>
          <a:p>
            <a:r>
              <a:rPr lang="en-US" sz="2000" b="1" dirty="0">
                <a:effectLst/>
                <a:latin typeface="Georgia" panose="02040502050405020303" pitchFamily="18" charset="0"/>
              </a:rPr>
              <a:t>AD7-AD0</a:t>
            </a:r>
            <a:r>
              <a:rPr lang="en-US" sz="2000" dirty="0">
                <a:effectLst/>
                <a:latin typeface="Georgia" panose="02040502050405020303" pitchFamily="18" charset="0"/>
              </a:rPr>
              <a:t> : address/data bus(multiplexed)</a:t>
            </a:r>
          </a:p>
          <a:p>
            <a:r>
              <a:rPr lang="en-US" sz="2000" dirty="0">
                <a:effectLst/>
                <a:latin typeface="Georgia" panose="02040502050405020303" pitchFamily="18" charset="0"/>
              </a:rPr>
              <a:t>memory address or I/O port no : whenever ALE = 1</a:t>
            </a:r>
          </a:p>
          <a:p>
            <a:r>
              <a:rPr lang="en-US" sz="2000" dirty="0">
                <a:effectLst/>
                <a:latin typeface="Georgia" panose="02040502050405020303" pitchFamily="18" charset="0"/>
              </a:rPr>
              <a:t>data : whenever ALE = 0</a:t>
            </a:r>
          </a:p>
          <a:p>
            <a:r>
              <a:rPr lang="en-US" sz="2000" dirty="0">
                <a:effectLst/>
                <a:latin typeface="Georgia" panose="02040502050405020303" pitchFamily="18" charset="0"/>
              </a:rPr>
              <a:t>high-impedance state : during a hold acknowledge</a:t>
            </a:r>
          </a:p>
          <a:p>
            <a:r>
              <a:rPr lang="en-US" sz="2000" b="1" dirty="0">
                <a:effectLst/>
                <a:latin typeface="Georgia" panose="02040502050405020303" pitchFamily="18" charset="0"/>
              </a:rPr>
              <a:t>AD15-AD8</a:t>
            </a:r>
            <a:r>
              <a:rPr lang="en-US" sz="2000" dirty="0">
                <a:effectLst/>
                <a:latin typeface="Georgia" panose="02040502050405020303" pitchFamily="18" charset="0"/>
              </a:rPr>
              <a:t> : address/data bus(multiplexed)</a:t>
            </a:r>
          </a:p>
          <a:p>
            <a:r>
              <a:rPr lang="en-US" sz="2000" dirty="0">
                <a:effectLst/>
                <a:latin typeface="Georgia" panose="02040502050405020303" pitchFamily="18" charset="0"/>
              </a:rPr>
              <a:t>memory address bits A15-A8 : whenever ALE = 1</a:t>
            </a:r>
          </a:p>
          <a:p>
            <a:r>
              <a:rPr lang="en-US" sz="2000" dirty="0">
                <a:effectLst/>
                <a:latin typeface="Georgia" panose="02040502050405020303" pitchFamily="18" charset="0"/>
              </a:rPr>
              <a:t>data bits D15-D8 : whenever ALE = 0</a:t>
            </a:r>
          </a:p>
          <a:p>
            <a:r>
              <a:rPr lang="en-US" sz="2000" dirty="0">
                <a:effectLst/>
                <a:latin typeface="Georgia" panose="02040502050405020303" pitchFamily="18" charset="0"/>
              </a:rPr>
              <a:t>high-impedance state : during a hold acknowledge</a:t>
            </a:r>
          </a:p>
          <a:p>
            <a:r>
              <a:rPr lang="en-US" sz="2000" b="1" dirty="0">
                <a:effectLst/>
                <a:latin typeface="Georgia" panose="02040502050405020303" pitchFamily="18" charset="0"/>
              </a:rPr>
              <a:t>A19/S6-A16/S3 </a:t>
            </a:r>
            <a:r>
              <a:rPr lang="en-US" sz="2000" dirty="0">
                <a:effectLst/>
                <a:latin typeface="Georgia" panose="02040502050405020303" pitchFamily="18" charset="0"/>
              </a:rPr>
              <a:t>: address/status bus(multiplexed)</a:t>
            </a:r>
          </a:p>
          <a:p>
            <a:r>
              <a:rPr lang="en-US" sz="2000" dirty="0">
                <a:effectLst/>
                <a:latin typeface="Georgia" panose="02040502050405020303" pitchFamily="18" charset="0"/>
              </a:rPr>
              <a:t>memory address A19-A16, status bits S6-S3</a:t>
            </a:r>
          </a:p>
          <a:p>
            <a:r>
              <a:rPr lang="en-US" sz="2000" dirty="0">
                <a:effectLst/>
                <a:latin typeface="Georgia" panose="02040502050405020303" pitchFamily="18" charset="0"/>
              </a:rPr>
              <a:t>S6 : always remain a logic 0</a:t>
            </a:r>
          </a:p>
          <a:p>
            <a:r>
              <a:rPr lang="en-US" sz="2000" dirty="0">
                <a:effectLst/>
                <a:latin typeface="Georgia" panose="02040502050405020303" pitchFamily="18" charset="0"/>
              </a:rPr>
              <a:t>S5 : indicate condition of IF flag bits</a:t>
            </a:r>
          </a:p>
          <a:p>
            <a:r>
              <a:rPr lang="en-US" sz="2000" dirty="0">
                <a:effectLst/>
                <a:latin typeface="Georgia" panose="02040502050405020303" pitchFamily="18" charset="0"/>
              </a:rPr>
              <a:t>S4, S3 : show which segment is accessed during current bus cycle</a:t>
            </a:r>
          </a:p>
          <a:p>
            <a:r>
              <a:rPr lang="en-US" sz="2000" dirty="0">
                <a:effectLst/>
                <a:latin typeface="Georgia" panose="02040502050405020303" pitchFamily="18" charset="0"/>
              </a:rPr>
              <a:t>S4, S3 : can used to address four separate 1M byte memory banks by decoding them as A21, A20</a:t>
            </a:r>
          </a:p>
        </p:txBody>
      </p:sp>
    </p:spTree>
    <p:extLst>
      <p:ext uri="{BB962C8B-B14F-4D97-AF65-F5344CB8AC3E}">
        <p14:creationId xmlns:p14="http://schemas.microsoft.com/office/powerpoint/2010/main" val="1656327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8</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 Explanation</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sp>
        <p:nvSpPr>
          <p:cNvPr id="3" name="Rectangle 2"/>
          <p:cNvSpPr/>
          <p:nvPr/>
        </p:nvSpPr>
        <p:spPr>
          <a:xfrm>
            <a:off x="611560" y="954366"/>
            <a:ext cx="8352928" cy="5386090"/>
          </a:xfrm>
          <a:prstGeom prst="rect">
            <a:avLst/>
          </a:prstGeom>
        </p:spPr>
        <p:txBody>
          <a:bodyPr wrap="square">
            <a:spAutoFit/>
          </a:bodyPr>
          <a:lstStyle/>
          <a:p>
            <a:r>
              <a:rPr lang="en-US" sz="2000" b="1" dirty="0"/>
              <a:t>RD(bar)</a:t>
            </a:r>
            <a:r>
              <a:rPr lang="en-US" sz="2000" dirty="0"/>
              <a:t> : read signal</a:t>
            </a:r>
          </a:p>
          <a:p>
            <a:r>
              <a:rPr lang="en-US" sz="2000" dirty="0"/>
              <a:t>data bus receive data from memory or I/O device :RD’=0</a:t>
            </a:r>
          </a:p>
          <a:p>
            <a:r>
              <a:rPr lang="en-US" sz="2000" b="1" dirty="0"/>
              <a:t>READY</a:t>
            </a:r>
            <a:r>
              <a:rPr lang="en-US" sz="2000" dirty="0"/>
              <a:t> :</a:t>
            </a:r>
          </a:p>
          <a:p>
            <a:r>
              <a:rPr lang="en-US" sz="2000" dirty="0"/>
              <a:t>µ enter into wait states and remain idle : READY = 0</a:t>
            </a:r>
          </a:p>
          <a:p>
            <a:r>
              <a:rPr lang="en-US" sz="2000" b="1" dirty="0"/>
              <a:t>INTR</a:t>
            </a:r>
            <a:r>
              <a:rPr lang="en-US" sz="2000" dirty="0"/>
              <a:t> : interrupt request</a:t>
            </a:r>
          </a:p>
          <a:p>
            <a:r>
              <a:rPr lang="en-US" sz="2000" dirty="0"/>
              <a:t>used to request a hardware interrupt</a:t>
            </a:r>
          </a:p>
          <a:p>
            <a:r>
              <a:rPr lang="en-US" sz="2000" dirty="0"/>
              <a:t>if INTR is held high when IF = 1 : µ enter interrupt acknowledge cycle(INTA’ become active) after current instruction has complete execution </a:t>
            </a:r>
          </a:p>
          <a:p>
            <a:r>
              <a:rPr lang="en-US" sz="2000" b="1" dirty="0"/>
              <a:t>TEST(bar)(BUSY(bar))</a:t>
            </a:r>
            <a:r>
              <a:rPr lang="en-US" sz="2000" dirty="0"/>
              <a:t> : tested by the WAIT instruction</a:t>
            </a:r>
          </a:p>
          <a:p>
            <a:r>
              <a:rPr lang="en-US" sz="2000" dirty="0"/>
              <a:t>WAIT instruction function as a NOP : if TEST’= 0</a:t>
            </a:r>
          </a:p>
          <a:p>
            <a:r>
              <a:rPr lang="en-US" sz="2000" dirty="0"/>
              <a:t>WAIT instruction wait for TEST’ to become 0:if TEST’=1</a:t>
            </a:r>
          </a:p>
          <a:p>
            <a:r>
              <a:rPr lang="en-US" sz="2000" b="1" dirty="0"/>
              <a:t>NMI </a:t>
            </a:r>
            <a:r>
              <a:rPr lang="en-US" sz="2000" dirty="0"/>
              <a:t>: non-</a:t>
            </a:r>
            <a:r>
              <a:rPr lang="en-US" sz="2000" dirty="0" err="1"/>
              <a:t>maskable</a:t>
            </a:r>
            <a:r>
              <a:rPr lang="en-US" sz="2000" dirty="0"/>
              <a:t> interrupt</a:t>
            </a:r>
          </a:p>
          <a:p>
            <a:r>
              <a:rPr lang="en-US" sz="2000" dirty="0"/>
              <a:t>similar to INTR except that no check IF flag bit</a:t>
            </a:r>
          </a:p>
          <a:p>
            <a:r>
              <a:rPr lang="en-US" sz="2000" dirty="0"/>
              <a:t>if NMI is activated : use interrupt vector 2</a:t>
            </a:r>
            <a:endParaRPr lang="en-US" dirty="0"/>
          </a:p>
          <a:p>
            <a:r>
              <a:rPr lang="en-US" b="1" dirty="0"/>
              <a:t>RESET</a:t>
            </a:r>
            <a:r>
              <a:rPr lang="en-US" dirty="0"/>
              <a:t> : </a:t>
            </a:r>
          </a:p>
          <a:p>
            <a:r>
              <a:rPr lang="en-US" dirty="0"/>
              <a:t>µ : reset  if RESET held high for a minimum of four clock</a:t>
            </a:r>
          </a:p>
        </p:txBody>
      </p:sp>
    </p:spTree>
    <p:extLst>
      <p:ext uri="{BB962C8B-B14F-4D97-AF65-F5344CB8AC3E}">
        <p14:creationId xmlns:p14="http://schemas.microsoft.com/office/powerpoint/2010/main" val="325233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9</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 Explanation</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sp>
        <p:nvSpPr>
          <p:cNvPr id="3" name="Rectangle 2"/>
          <p:cNvSpPr/>
          <p:nvPr/>
        </p:nvSpPr>
        <p:spPr>
          <a:xfrm>
            <a:off x="611560" y="954366"/>
            <a:ext cx="8352928" cy="4401205"/>
          </a:xfrm>
          <a:prstGeom prst="rect">
            <a:avLst/>
          </a:prstGeom>
        </p:spPr>
        <p:txBody>
          <a:bodyPr wrap="square">
            <a:spAutoFit/>
          </a:bodyPr>
          <a:lstStyle/>
          <a:p>
            <a:r>
              <a:rPr lang="en-US" sz="2000" b="1" dirty="0"/>
              <a:t>CLK(CLOCK)</a:t>
            </a:r>
            <a:r>
              <a:rPr lang="en-US" sz="2000" dirty="0"/>
              <a:t> : provide basic timing to µ duty cycle of 33%</a:t>
            </a:r>
          </a:p>
          <a:p>
            <a:r>
              <a:rPr lang="en-US" sz="2000" b="1" dirty="0"/>
              <a:t>VCC(power supply)</a:t>
            </a:r>
            <a:r>
              <a:rPr lang="en-US" sz="2000" dirty="0"/>
              <a:t> : +5.0V, ±10%</a:t>
            </a:r>
          </a:p>
          <a:p>
            <a:r>
              <a:rPr lang="en-US" sz="2000" b="1" dirty="0"/>
              <a:t>GND(Ground)</a:t>
            </a:r>
            <a:r>
              <a:rPr lang="en-US" sz="2000" dirty="0"/>
              <a:t> : two pins labeled GND</a:t>
            </a:r>
          </a:p>
          <a:p>
            <a:r>
              <a:rPr lang="en-US" sz="2000" b="1" dirty="0"/>
              <a:t>MN/MX(bar) </a:t>
            </a:r>
            <a:r>
              <a:rPr lang="en-US" sz="2000" dirty="0"/>
              <a:t>: select either minimum or maximum mode (HIGH for minimum mode)</a:t>
            </a:r>
          </a:p>
          <a:p>
            <a:r>
              <a:rPr lang="en-US" sz="2000" b="1" dirty="0"/>
              <a:t>BHE(bar)/S7</a:t>
            </a:r>
            <a:r>
              <a:rPr lang="en-US" sz="2000" dirty="0"/>
              <a:t> : bus high enable</a:t>
            </a:r>
          </a:p>
          <a:p>
            <a:r>
              <a:rPr lang="en-US" sz="2000" dirty="0"/>
              <a:t>status of S7 : always a logic 1</a:t>
            </a:r>
          </a:p>
          <a:p>
            <a:r>
              <a:rPr lang="en-US" sz="2000" dirty="0"/>
              <a:t>BHE=0 at least one byte of current transfer is to be made AD15-AD8 ( HIGHER ORDER BYTE)</a:t>
            </a:r>
          </a:p>
          <a:p>
            <a:r>
              <a:rPr lang="en-US" sz="2000" b="1" dirty="0"/>
              <a:t>IO/M(bar)(8088) or M/IO(bar)(8086)</a:t>
            </a:r>
            <a:r>
              <a:rPr lang="en-US" sz="2000" dirty="0"/>
              <a:t> : select memory or I/O</a:t>
            </a:r>
          </a:p>
          <a:p>
            <a:r>
              <a:rPr lang="en-US" sz="2000" dirty="0"/>
              <a:t>address bus : whether memory or I/O port address</a:t>
            </a:r>
          </a:p>
          <a:p>
            <a:r>
              <a:rPr lang="en-US" sz="2000" b="1" dirty="0"/>
              <a:t>WR(bar)</a:t>
            </a:r>
            <a:r>
              <a:rPr lang="en-US" sz="2000" dirty="0"/>
              <a:t> : write signal(high impedance state during hold </a:t>
            </a:r>
            <a:r>
              <a:rPr lang="en-US" sz="2000" dirty="0" err="1"/>
              <a:t>ack</a:t>
            </a:r>
            <a:r>
              <a:rPr lang="en-US" sz="2000" dirty="0"/>
              <a:t>).</a:t>
            </a:r>
          </a:p>
          <a:p>
            <a:r>
              <a:rPr lang="en-US" sz="2000" dirty="0"/>
              <a:t>strobe that indicate that output data to memory or I/O</a:t>
            </a:r>
          </a:p>
          <a:p>
            <a:r>
              <a:rPr lang="en-US" sz="2000" dirty="0"/>
              <a:t>during WR(bar)=0 : data bus contains valid data for M or I/O</a:t>
            </a:r>
          </a:p>
        </p:txBody>
      </p:sp>
    </p:spTree>
    <p:extLst>
      <p:ext uri="{BB962C8B-B14F-4D97-AF65-F5344CB8AC3E}">
        <p14:creationId xmlns:p14="http://schemas.microsoft.com/office/powerpoint/2010/main" val="3926459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0CFCB07-E678-4E7E-8F0E-D70E0A561991}" type="slidenum">
              <a:rPr lang="en-US" altLang="en-US" sz="1200" smtClean="0">
                <a:latin typeface="Garamond" panose="02020404030301010803" pitchFamily="18" charset="0"/>
              </a:rPr>
              <a:pPr>
                <a:spcBef>
                  <a:spcPct val="0"/>
                </a:spcBef>
                <a:buClrTx/>
                <a:buSzTx/>
                <a:buFontTx/>
                <a:buNone/>
              </a:pPr>
              <a:t>10</a:t>
            </a:fld>
            <a:endParaRPr lang="en-US" altLang="en-US" sz="1200">
              <a:latin typeface="Garamond" panose="02020404030301010803" pitchFamily="18" charset="0"/>
            </a:endParaRPr>
          </a:p>
        </p:txBody>
      </p:sp>
      <p:sp>
        <p:nvSpPr>
          <p:cNvPr id="10243" name="Rectangle 2"/>
          <p:cNvSpPr>
            <a:spLocks noGrp="1" noChangeArrowheads="1"/>
          </p:cNvSpPr>
          <p:nvPr>
            <p:ph type="title"/>
          </p:nvPr>
        </p:nvSpPr>
        <p:spPr/>
        <p:txBody>
          <a:bodyPr/>
          <a:lstStyle/>
          <a:p>
            <a:pPr eaLnBrk="1" hangingPunct="1"/>
            <a:r>
              <a:rPr lang="en-US" altLang="en-US" dirty="0"/>
              <a:t>Pin Explanation</a:t>
            </a:r>
          </a:p>
        </p:txBody>
      </p:sp>
      <p:sp>
        <p:nvSpPr>
          <p:cNvPr id="2" name="Date Placeholder 1"/>
          <p:cNvSpPr>
            <a:spLocks noGrp="1"/>
          </p:cNvSpPr>
          <p:nvPr>
            <p:ph type="dt" sz="quarter" idx="10"/>
          </p:nvPr>
        </p:nvSpPr>
        <p:spPr/>
        <p:txBody>
          <a:bodyPr/>
          <a:lstStyle/>
          <a:p>
            <a:pPr>
              <a:defRPr/>
            </a:pPr>
            <a:fld id="{263B5F76-73F2-4350-9ECB-9B8B3A80AFA2}" type="datetime2">
              <a:rPr lang="en-US" altLang="en-US"/>
              <a:pPr>
                <a:defRPr/>
              </a:pPr>
              <a:t>Saturday, October 11, 2025</a:t>
            </a:fld>
            <a:endParaRPr lang="en-US" altLang="en-US"/>
          </a:p>
        </p:txBody>
      </p:sp>
      <p:sp>
        <p:nvSpPr>
          <p:cNvPr id="3" name="Rectangle 2"/>
          <p:cNvSpPr/>
          <p:nvPr/>
        </p:nvSpPr>
        <p:spPr>
          <a:xfrm>
            <a:off x="611560" y="954366"/>
            <a:ext cx="8352928" cy="2123658"/>
          </a:xfrm>
          <a:prstGeom prst="rect">
            <a:avLst/>
          </a:prstGeom>
        </p:spPr>
        <p:txBody>
          <a:bodyPr wrap="square">
            <a:spAutoFit/>
          </a:bodyPr>
          <a:lstStyle/>
          <a:p>
            <a:r>
              <a:rPr lang="en-US" dirty="0"/>
              <a:t>S6 : always remain a logic 0</a:t>
            </a:r>
          </a:p>
          <a:p>
            <a:r>
              <a:rPr lang="en-US" dirty="0"/>
              <a:t>S5 : indicate condition of IF flag bits</a:t>
            </a:r>
          </a:p>
          <a:p>
            <a:r>
              <a:rPr lang="en-US" dirty="0"/>
              <a:t>S4, S3 : show which segment is accessed during current bus cycle</a:t>
            </a:r>
          </a:p>
          <a:p>
            <a:r>
              <a:rPr lang="en-US" dirty="0"/>
              <a:t>S4, S3 : can used to address four separate 1M byte memory banks by decoding them as A21, A20</a:t>
            </a:r>
          </a:p>
        </p:txBody>
      </p:sp>
      <p:graphicFrame>
        <p:nvGraphicFramePr>
          <p:cNvPr id="6" name="Table 5"/>
          <p:cNvGraphicFramePr>
            <a:graphicFrameLocks noGrp="1"/>
          </p:cNvGraphicFramePr>
          <p:nvPr>
            <p:extLst>
              <p:ext uri="{D42A27DB-BD31-4B8C-83A1-F6EECF244321}">
                <p14:modId xmlns:p14="http://schemas.microsoft.com/office/powerpoint/2010/main" val="3942647415"/>
              </p:ext>
            </p:extLst>
          </p:nvPr>
        </p:nvGraphicFramePr>
        <p:xfrm>
          <a:off x="1259315" y="3340995"/>
          <a:ext cx="5985664" cy="2913535"/>
        </p:xfrm>
        <a:graphic>
          <a:graphicData uri="http://schemas.openxmlformats.org/drawingml/2006/table">
            <a:tbl>
              <a:tblPr/>
              <a:tblGrid>
                <a:gridCol w="461301">
                  <a:extLst>
                    <a:ext uri="{9D8B030D-6E8A-4147-A177-3AD203B41FA5}">
                      <a16:colId xmlns:a16="http://schemas.microsoft.com/office/drawing/2014/main" val="3580904301"/>
                    </a:ext>
                  </a:extLst>
                </a:gridCol>
                <a:gridCol w="618818">
                  <a:extLst>
                    <a:ext uri="{9D8B030D-6E8A-4147-A177-3AD203B41FA5}">
                      <a16:colId xmlns:a16="http://schemas.microsoft.com/office/drawing/2014/main" val="3341232260"/>
                    </a:ext>
                  </a:extLst>
                </a:gridCol>
                <a:gridCol w="4905545">
                  <a:extLst>
                    <a:ext uri="{9D8B030D-6E8A-4147-A177-3AD203B41FA5}">
                      <a16:colId xmlns:a16="http://schemas.microsoft.com/office/drawing/2014/main" val="2732464939"/>
                    </a:ext>
                  </a:extLst>
                </a:gridCol>
              </a:tblGrid>
              <a:tr h="582707">
                <a:tc>
                  <a:txBody>
                    <a:bodyPr/>
                    <a:lstStyle/>
                    <a:p>
                      <a:r>
                        <a:rPr lang="en-US" b="1">
                          <a:solidFill>
                            <a:srgbClr val="000000"/>
                          </a:solidFill>
                          <a:effectLst/>
                        </a:rPr>
                        <a:t>S4</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solidFill>
                            <a:srgbClr val="000000"/>
                          </a:solidFill>
                          <a:effectLst/>
                        </a:rPr>
                        <a:t>S3</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solidFill>
                            <a:srgbClr val="000000"/>
                          </a:solidFill>
                          <a:effectLst/>
                        </a:rPr>
                        <a:t>Function</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5882494"/>
                  </a:ext>
                </a:extLst>
              </a:tr>
              <a:tr h="582707">
                <a:tc>
                  <a:txBody>
                    <a:bodyPr/>
                    <a:lstStyle/>
                    <a:p>
                      <a:r>
                        <a:rPr lang="en-US">
                          <a:solidFill>
                            <a:srgbClr val="000000"/>
                          </a:solidFill>
                          <a:effectLst/>
                        </a:rPr>
                        <a:t>0</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r>
                        <a:rPr lang="en-US">
                          <a:solidFill>
                            <a:srgbClr val="000000"/>
                          </a:solidFill>
                          <a:effectLst/>
                        </a:rPr>
                        <a:t>0</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r>
                        <a:rPr lang="en-US">
                          <a:solidFill>
                            <a:srgbClr val="000000"/>
                          </a:solidFill>
                          <a:effectLst/>
                        </a:rPr>
                        <a:t>Extra Segment</a:t>
                      </a:r>
                      <a:endParaRPr lang="en-US">
                        <a:effectLst/>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C0C0C0"/>
                    </a:solidFill>
                  </a:tcPr>
                </a:tc>
                <a:extLst>
                  <a:ext uri="{0D108BD9-81ED-4DB2-BD59-A6C34878D82A}">
                    <a16:rowId xmlns:a16="http://schemas.microsoft.com/office/drawing/2014/main" val="2690723745"/>
                  </a:ext>
                </a:extLst>
              </a:tr>
              <a:tr h="582707">
                <a:tc>
                  <a:txBody>
                    <a:bodyPr/>
                    <a:lstStyle/>
                    <a:p>
                      <a:r>
                        <a:rPr lang="en-US">
                          <a:solidFill>
                            <a:srgbClr val="000000"/>
                          </a:solidFill>
                          <a:effectLst/>
                        </a:rPr>
                        <a:t>0</a:t>
                      </a:r>
                      <a:endParaRPr lang="en-US">
                        <a:effectLst/>
                      </a:endParaRPr>
                    </a:p>
                  </a:txBody>
                  <a:tcPr marL="68580" marR="68580" marT="0" marB="0">
                    <a:lnL>
                      <a:noFill/>
                    </a:lnL>
                    <a:lnR>
                      <a:noFill/>
                    </a:lnR>
                    <a:lnT>
                      <a:noFill/>
                    </a:lnT>
                    <a:lnB>
                      <a:noFill/>
                    </a:lnB>
                  </a:tcPr>
                </a:tc>
                <a:tc>
                  <a:txBody>
                    <a:bodyPr/>
                    <a:lstStyle/>
                    <a:p>
                      <a:r>
                        <a:rPr lang="en-US">
                          <a:solidFill>
                            <a:srgbClr val="000000"/>
                          </a:solidFill>
                          <a:effectLst/>
                        </a:rPr>
                        <a:t>1</a:t>
                      </a:r>
                      <a:endParaRPr lang="en-US">
                        <a:effectLst/>
                      </a:endParaRPr>
                    </a:p>
                  </a:txBody>
                  <a:tcPr marL="68580" marR="68580" marT="0" marB="0">
                    <a:lnL>
                      <a:noFill/>
                    </a:lnL>
                    <a:lnR>
                      <a:noFill/>
                    </a:lnR>
                    <a:lnT>
                      <a:noFill/>
                    </a:lnT>
                    <a:lnB>
                      <a:noFill/>
                    </a:lnB>
                  </a:tcPr>
                </a:tc>
                <a:tc>
                  <a:txBody>
                    <a:bodyPr/>
                    <a:lstStyle/>
                    <a:p>
                      <a:r>
                        <a:rPr lang="en-US">
                          <a:solidFill>
                            <a:srgbClr val="000000"/>
                          </a:solidFill>
                          <a:effectLst/>
                        </a:rPr>
                        <a:t>Stack Segment</a:t>
                      </a:r>
                      <a:endParaRPr lang="en-US">
                        <a:effectLst/>
                      </a:endParaRPr>
                    </a:p>
                  </a:txBody>
                  <a:tcPr marL="68580" marR="68580" marT="0" marB="0">
                    <a:lnL>
                      <a:noFill/>
                    </a:lnL>
                    <a:lnR>
                      <a:noFill/>
                    </a:lnR>
                    <a:lnT>
                      <a:noFill/>
                    </a:lnT>
                    <a:lnB>
                      <a:noFill/>
                    </a:lnB>
                  </a:tcPr>
                </a:tc>
                <a:extLst>
                  <a:ext uri="{0D108BD9-81ED-4DB2-BD59-A6C34878D82A}">
                    <a16:rowId xmlns:a16="http://schemas.microsoft.com/office/drawing/2014/main" val="1167444128"/>
                  </a:ext>
                </a:extLst>
              </a:tr>
              <a:tr h="582707">
                <a:tc>
                  <a:txBody>
                    <a:bodyPr/>
                    <a:lstStyle/>
                    <a:p>
                      <a:r>
                        <a:rPr lang="en-US">
                          <a:solidFill>
                            <a:srgbClr val="000000"/>
                          </a:solidFill>
                          <a:effectLst/>
                        </a:rPr>
                        <a:t>1</a:t>
                      </a:r>
                      <a:endParaRPr lang="en-US">
                        <a:effectLst/>
                      </a:endParaRPr>
                    </a:p>
                  </a:txBody>
                  <a:tcPr marL="68580" marR="68580" marT="0" marB="0">
                    <a:lnL>
                      <a:noFill/>
                    </a:lnL>
                    <a:lnR>
                      <a:noFill/>
                    </a:lnR>
                    <a:lnT>
                      <a:noFill/>
                    </a:lnT>
                    <a:lnB>
                      <a:noFill/>
                    </a:lnB>
                    <a:solidFill>
                      <a:srgbClr val="C0C0C0"/>
                    </a:solidFill>
                  </a:tcPr>
                </a:tc>
                <a:tc>
                  <a:txBody>
                    <a:bodyPr/>
                    <a:lstStyle/>
                    <a:p>
                      <a:r>
                        <a:rPr lang="en-US">
                          <a:solidFill>
                            <a:srgbClr val="000000"/>
                          </a:solidFill>
                          <a:effectLst/>
                        </a:rPr>
                        <a:t>0</a:t>
                      </a:r>
                      <a:endParaRPr lang="en-US">
                        <a:effectLst/>
                      </a:endParaRPr>
                    </a:p>
                  </a:txBody>
                  <a:tcPr marL="68580" marR="68580" marT="0" marB="0">
                    <a:lnL>
                      <a:noFill/>
                    </a:lnL>
                    <a:lnR>
                      <a:noFill/>
                    </a:lnR>
                    <a:lnT>
                      <a:noFill/>
                    </a:lnT>
                    <a:lnB>
                      <a:noFill/>
                    </a:lnB>
                    <a:solidFill>
                      <a:srgbClr val="C0C0C0"/>
                    </a:solidFill>
                  </a:tcPr>
                </a:tc>
                <a:tc>
                  <a:txBody>
                    <a:bodyPr/>
                    <a:lstStyle/>
                    <a:p>
                      <a:r>
                        <a:rPr lang="en-US">
                          <a:solidFill>
                            <a:srgbClr val="000000"/>
                          </a:solidFill>
                          <a:effectLst/>
                        </a:rPr>
                        <a:t>Code or no Segment</a:t>
                      </a:r>
                      <a:endParaRPr lang="en-US">
                        <a:effectLst/>
                      </a:endParaRPr>
                    </a:p>
                  </a:txBody>
                  <a:tcPr marL="68580" marR="68580" marT="0" marB="0">
                    <a:lnL>
                      <a:noFill/>
                    </a:lnL>
                    <a:lnR>
                      <a:noFill/>
                    </a:lnR>
                    <a:lnT>
                      <a:noFill/>
                    </a:lnT>
                    <a:lnB>
                      <a:noFill/>
                    </a:lnB>
                    <a:solidFill>
                      <a:srgbClr val="C0C0C0"/>
                    </a:solidFill>
                  </a:tcPr>
                </a:tc>
                <a:extLst>
                  <a:ext uri="{0D108BD9-81ED-4DB2-BD59-A6C34878D82A}">
                    <a16:rowId xmlns:a16="http://schemas.microsoft.com/office/drawing/2014/main" val="2693455288"/>
                  </a:ext>
                </a:extLst>
              </a:tr>
              <a:tr h="582707">
                <a:tc>
                  <a:txBody>
                    <a:bodyPr/>
                    <a:lstStyle/>
                    <a:p>
                      <a:r>
                        <a:rPr lang="en-US">
                          <a:solidFill>
                            <a:srgbClr val="000000"/>
                          </a:solidFill>
                          <a:effectLst/>
                        </a:rPr>
                        <a:t>1</a:t>
                      </a:r>
                      <a:endParaRPr lang="en-US">
                        <a:effectLst/>
                      </a:endParaRPr>
                    </a:p>
                  </a:txBody>
                  <a:tcPr marL="68580" marR="68580" marT="0" marB="0">
                    <a:lnL>
                      <a:noFill/>
                    </a:lnL>
                    <a:lnR>
                      <a:noFill/>
                    </a:lnR>
                    <a:lnT>
                      <a:noFill/>
                    </a:lnT>
                    <a:lnB>
                      <a:noFill/>
                    </a:lnB>
                  </a:tcPr>
                </a:tc>
                <a:tc>
                  <a:txBody>
                    <a:bodyPr/>
                    <a:lstStyle/>
                    <a:p>
                      <a:r>
                        <a:rPr lang="en-US">
                          <a:solidFill>
                            <a:srgbClr val="000000"/>
                          </a:solidFill>
                          <a:effectLst/>
                        </a:rPr>
                        <a:t>1</a:t>
                      </a:r>
                      <a:endParaRPr lang="en-US">
                        <a:effectLst/>
                      </a:endParaRPr>
                    </a:p>
                  </a:txBody>
                  <a:tcPr marL="68580" marR="68580" marT="0" marB="0">
                    <a:lnL>
                      <a:noFill/>
                    </a:lnL>
                    <a:lnR>
                      <a:noFill/>
                    </a:lnR>
                    <a:lnT>
                      <a:noFill/>
                    </a:lnT>
                    <a:lnB>
                      <a:noFill/>
                    </a:lnB>
                  </a:tcPr>
                </a:tc>
                <a:tc>
                  <a:txBody>
                    <a:bodyPr/>
                    <a:lstStyle/>
                    <a:p>
                      <a:r>
                        <a:rPr lang="en-US" dirty="0">
                          <a:solidFill>
                            <a:srgbClr val="000000"/>
                          </a:solidFill>
                          <a:effectLst/>
                        </a:rPr>
                        <a:t>Data Segment</a:t>
                      </a:r>
                      <a:endParaRPr lang="en-US" dirty="0">
                        <a:effectLst/>
                      </a:endParaRPr>
                    </a:p>
                  </a:txBody>
                  <a:tcPr marL="68580" marR="68580" marT="0" marB="0">
                    <a:lnL>
                      <a:noFill/>
                    </a:lnL>
                    <a:lnR>
                      <a:noFill/>
                    </a:lnR>
                    <a:lnT>
                      <a:noFill/>
                    </a:lnT>
                    <a:lnB>
                      <a:noFill/>
                    </a:lnB>
                  </a:tcPr>
                </a:tc>
                <a:extLst>
                  <a:ext uri="{0D108BD9-81ED-4DB2-BD59-A6C34878D82A}">
                    <a16:rowId xmlns:a16="http://schemas.microsoft.com/office/drawing/2014/main" val="72732910"/>
                  </a:ext>
                </a:extLst>
              </a:tr>
            </a:tbl>
          </a:graphicData>
        </a:graphic>
      </p:graphicFrame>
    </p:spTree>
    <p:extLst>
      <p:ext uri="{BB962C8B-B14F-4D97-AF65-F5344CB8AC3E}">
        <p14:creationId xmlns:p14="http://schemas.microsoft.com/office/powerpoint/2010/main" val="1000486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196152" y="2034808"/>
            <a:ext cx="1385248" cy="93699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196152" y="1779896"/>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76200" y="1828800"/>
            <a:ext cx="1205552" cy="3311856"/>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11</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648200" y="800993"/>
            <a:ext cx="4316288" cy="3492103"/>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0</a:t>
            </a: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15</a:t>
            </a:r>
            <a:r>
              <a:rPr lang="en-US" b="1" dirty="0">
                <a:latin typeface="Verdana" pitchFamily="34" charset="0"/>
                <a:ea typeface="Verdana" pitchFamily="34" charset="0"/>
                <a:cs typeface="Verdana" pitchFamily="34" charset="0"/>
              </a:rPr>
              <a:t> (Bidirectional)</a:t>
            </a:r>
            <a:r>
              <a:rPr lang="en-US" dirty="0">
                <a:latin typeface="Verdana" pitchFamily="34" charset="0"/>
                <a:ea typeface="Verdana" pitchFamily="34" charset="0"/>
                <a:cs typeface="Verdana" pitchFamily="34" charset="0"/>
              </a:rPr>
              <a:t> </a:t>
            </a:r>
            <a:endParaRPr lang="en-US" b="1" dirty="0">
              <a:latin typeface="Verdana" pitchFamily="34" charset="0"/>
              <a:ea typeface="Verdana" pitchFamily="34" charset="0"/>
              <a:cs typeface="Verdana" pitchFamily="34" charset="0"/>
            </a:endParaRPr>
          </a:p>
          <a:p>
            <a:pPr algn="just"/>
            <a:endParaRPr lang="en-US" b="1" dirty="0">
              <a:latin typeface="Verdana" pitchFamily="34" charset="0"/>
              <a:ea typeface="Verdana" pitchFamily="34" charset="0"/>
              <a:cs typeface="Verdana" pitchFamily="34" charset="0"/>
            </a:endParaRPr>
          </a:p>
          <a:p>
            <a:pPr algn="ctr"/>
            <a:r>
              <a:rPr lang="en-US" sz="1600" b="1" dirty="0">
                <a:solidFill>
                  <a:srgbClr val="FF0066"/>
                </a:solidFill>
                <a:latin typeface="Verdana" pitchFamily="34" charset="0"/>
                <a:ea typeface="Verdana" pitchFamily="34" charset="0"/>
                <a:cs typeface="Verdana" pitchFamily="34" charset="0"/>
              </a:rPr>
              <a:t>Address/Data bus</a:t>
            </a:r>
          </a:p>
          <a:p>
            <a:pPr algn="just"/>
            <a:endParaRPr lang="en-US" sz="1600"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Low order address bus; these are multiplexed with data.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AD lines are used to transmit memory address the symbol A is used instead of AD, for example A</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-A</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data are transmitted over AD lines the symbol D is used in place of AD, for example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or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a:t>
            </a:r>
          </a:p>
        </p:txBody>
      </p:sp>
      <p:sp>
        <p:nvSpPr>
          <p:cNvPr id="10" name="Rectangle 9"/>
          <p:cNvSpPr/>
          <p:nvPr/>
        </p:nvSpPr>
        <p:spPr>
          <a:xfrm>
            <a:off x="4572000" y="4509120"/>
            <a:ext cx="4392488" cy="1446550"/>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a:t>
            </a:r>
            <a:r>
              <a:rPr lang="en-US" b="1" baseline="-25000" dirty="0">
                <a:latin typeface="Verdana" pitchFamily="34" charset="0"/>
                <a:ea typeface="Verdana" pitchFamily="34" charset="0"/>
                <a:cs typeface="Verdana" pitchFamily="34" charset="0"/>
              </a:rPr>
              <a:t>16</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3</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17</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4</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18</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5</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19</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6</a:t>
            </a:r>
            <a:r>
              <a:rPr lang="en-US" dirty="0">
                <a:latin typeface="Verdana" pitchFamily="34" charset="0"/>
                <a:ea typeface="Verdana" pitchFamily="34" charset="0"/>
                <a:cs typeface="Verdana" pitchFamily="34" charset="0"/>
              </a:rPr>
              <a:t> </a:t>
            </a:r>
          </a:p>
          <a:p>
            <a:pPr algn="ctr"/>
            <a:endParaRPr lang="en-US" sz="16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High order address bus. These are multiplexed with status signals</a:t>
            </a:r>
          </a:p>
        </p:txBody>
      </p:sp>
    </p:spTree>
    <p:extLst>
      <p:ext uri="{BB962C8B-B14F-4D97-AF65-F5344CB8AC3E}">
        <p14:creationId xmlns:p14="http://schemas.microsoft.com/office/powerpoint/2010/main" val="235361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8" grpId="0" animBg="1"/>
      <p:bldP spid="48" grpId="1" animBg="1"/>
      <p:bldP spid="45" grpId="0" animBg="1"/>
      <p:bldP spid="45" grpId="1" animBg="1"/>
      <p:bldP spid="47"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2918192"/>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12</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648200" y="800993"/>
            <a:ext cx="4343400" cy="2092881"/>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BHE (Active Low)/S</a:t>
            </a:r>
            <a:r>
              <a:rPr lang="en-US" b="1" baseline="-25000" dirty="0">
                <a:latin typeface="Verdana" pitchFamily="34" charset="0"/>
                <a:ea typeface="Verdana" pitchFamily="34" charset="0"/>
                <a:cs typeface="Verdana" pitchFamily="34" charset="0"/>
              </a:rPr>
              <a:t>7</a:t>
            </a:r>
            <a:r>
              <a:rPr lang="en-US" b="1" dirty="0">
                <a:latin typeface="Verdana" pitchFamily="34" charset="0"/>
                <a:ea typeface="Verdana" pitchFamily="34" charset="0"/>
                <a:cs typeface="Verdana" pitchFamily="34" charset="0"/>
              </a:rPr>
              <a:t> (Output)  </a:t>
            </a:r>
          </a:p>
          <a:p>
            <a:pPr algn="ctr"/>
            <a:r>
              <a:rPr lang="en-US" sz="1600" b="1" dirty="0">
                <a:solidFill>
                  <a:srgbClr val="FF0066"/>
                </a:solidFill>
                <a:latin typeface="Verdana" pitchFamily="34" charset="0"/>
                <a:ea typeface="Verdana" pitchFamily="34" charset="0"/>
                <a:cs typeface="Verdana" pitchFamily="34" charset="0"/>
              </a:rPr>
              <a:t>Bus High Enable/Status </a:t>
            </a:r>
          </a:p>
          <a:p>
            <a:pPr algn="just"/>
            <a:r>
              <a:rPr lang="en-US" sz="1400" b="1" dirty="0">
                <a:latin typeface="Verdana" pitchFamily="34" charset="0"/>
                <a:ea typeface="Verdana" pitchFamily="34" charset="0"/>
                <a:cs typeface="Verdana" pitchFamily="34" charset="0"/>
              </a:rPr>
              <a:t>It is used to enable data onto the most significant half of data bus,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8-bit device connected to upper half of the data bus use BHE (Active Low) signal. It is multiplexed with status signal S</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a:t>
            </a:r>
          </a:p>
        </p:txBody>
      </p:sp>
      <p:sp>
        <p:nvSpPr>
          <p:cNvPr id="10" name="Rectangle 9"/>
          <p:cNvSpPr/>
          <p:nvPr/>
        </p:nvSpPr>
        <p:spPr>
          <a:xfrm>
            <a:off x="4658662" y="3077904"/>
            <a:ext cx="4343400" cy="1107996"/>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MN/ MX  </a:t>
            </a:r>
          </a:p>
          <a:p>
            <a:pPr algn="ctr"/>
            <a:r>
              <a:rPr lang="en-US" sz="1600" b="1" dirty="0">
                <a:solidFill>
                  <a:srgbClr val="FF0066"/>
                </a:solidFill>
                <a:latin typeface="Verdana" pitchFamily="34" charset="0"/>
                <a:ea typeface="Verdana" pitchFamily="34" charset="0"/>
                <a:cs typeface="Verdana" pitchFamily="34" charset="0"/>
              </a:rPr>
              <a:t>MINIMUM / MAXIMUM </a:t>
            </a:r>
          </a:p>
          <a:p>
            <a:pPr algn="just"/>
            <a:r>
              <a:rPr lang="en-US" sz="1400" b="1" dirty="0">
                <a:latin typeface="Verdana" pitchFamily="34" charset="0"/>
                <a:ea typeface="Verdana" pitchFamily="34" charset="0"/>
                <a:cs typeface="Verdana" pitchFamily="34" charset="0"/>
              </a:rPr>
              <a:t>This pin signal indicates  what mode the processor is to operate in. </a:t>
            </a:r>
          </a:p>
        </p:txBody>
      </p:sp>
      <p:sp>
        <p:nvSpPr>
          <p:cNvPr id="14" name="Rectangle 13"/>
          <p:cNvSpPr/>
          <p:nvPr/>
        </p:nvSpPr>
        <p:spPr>
          <a:xfrm>
            <a:off x="4697760" y="4369930"/>
            <a:ext cx="4244280" cy="1415772"/>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RD (Read) (Active Low) </a:t>
            </a:r>
          </a:p>
          <a:p>
            <a:pPr algn="ctr"/>
            <a:endParaRPr lang="en-US"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The signal is used for read operation. </a:t>
            </a:r>
          </a:p>
          <a:p>
            <a:pPr algn="ctr"/>
            <a:r>
              <a:rPr lang="en-US" sz="1400" b="1" dirty="0">
                <a:latin typeface="Verdana" pitchFamily="34" charset="0"/>
                <a:ea typeface="Verdana" pitchFamily="34" charset="0"/>
                <a:cs typeface="Verdana" pitchFamily="34" charset="0"/>
              </a:rPr>
              <a:t>It is an output signal. </a:t>
            </a:r>
          </a:p>
          <a:p>
            <a:pPr algn="ctr"/>
            <a:r>
              <a:rPr lang="en-US" sz="1400" b="1" dirty="0">
                <a:latin typeface="Verdana" pitchFamily="34" charset="0"/>
                <a:ea typeface="Verdana" pitchFamily="34" charset="0"/>
                <a:cs typeface="Verdana" pitchFamily="34" charset="0"/>
              </a:rPr>
              <a:t>It is active when low.</a:t>
            </a:r>
          </a:p>
        </p:txBody>
      </p:sp>
    </p:spTree>
    <p:extLst>
      <p:ext uri="{BB962C8B-B14F-4D97-AF65-F5344CB8AC3E}">
        <p14:creationId xmlns:p14="http://schemas.microsoft.com/office/powerpoint/2010/main" val="283947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1" nodeType="clickEffect">
                                  <p:stCondLst>
                                    <p:cond delay="0"/>
                                  </p:stCondLst>
                                  <p:childTnLst>
                                    <p:animMotion origin="layout" path="M 1.38889E-6 -7.67808E-7 L 1.38889E-6 0.03377 " pathEditMode="relative" rAng="0" ptsTypes="AA">
                                      <p:cBhvr>
                                        <p:cTn id="14" dur="500" fill="hold"/>
                                        <p:tgtEl>
                                          <p:spTgt spid="48"/>
                                        </p:tgtEl>
                                        <p:attrNameLst>
                                          <p:attrName>ppt_x</p:attrName>
                                          <p:attrName>ppt_y</p:attrName>
                                        </p:attrNameLst>
                                      </p:cBhvr>
                                      <p:rCtr x="0" y="1688"/>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grpId="2" nodeType="clickEffect">
                                  <p:stCondLst>
                                    <p:cond delay="0"/>
                                  </p:stCondLst>
                                  <p:childTnLst>
                                    <p:animMotion origin="layout" path="M 1.38889E-6 0.03377 L 1.38889E-6 0.06707 " pathEditMode="relative" rAng="0" ptsTypes="AA">
                                      <p:cBhvr>
                                        <p:cTn id="21" dur="500" fill="hold"/>
                                        <p:tgtEl>
                                          <p:spTgt spid="48"/>
                                        </p:tgtEl>
                                        <p:attrNameLst>
                                          <p:attrName>ppt_x</p:attrName>
                                          <p:attrName>ppt_y</p:attrName>
                                        </p:attrNameLst>
                                      </p:cBhvr>
                                      <p:rCtr x="0" y="1665"/>
                                    </p:animMotion>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7" grpId="0" animBg="1"/>
      <p:bldP spid="10"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3340136"/>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13</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mc:AlternateContent xmlns:mc="http://schemas.openxmlformats.org/markup-compatibility/2006" xmlns:a14="http://schemas.microsoft.com/office/drawing/2010/main">
        <mc:Choice Requires="a14">
          <p:sp>
            <p:nvSpPr>
              <p:cNvPr id="47" name="Rectangle 46"/>
              <p:cNvSpPr/>
              <p:nvPr/>
            </p:nvSpPr>
            <p:spPr>
              <a:xfrm>
                <a:off x="4648200" y="800993"/>
                <a:ext cx="4343400" cy="2801664"/>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TEST</a:t>
                </a:r>
              </a:p>
              <a:p>
                <a:pPr algn="just"/>
                <a14:m>
                  <m:oMath xmlns:m="http://schemas.openxmlformats.org/officeDocument/2006/math">
                    <m:acc>
                      <m:accPr>
                        <m:chr m:val="̅"/>
                        <m:ctrlPr>
                          <a:rPr lang="en-US" sz="1400" b="1" i="1">
                            <a:latin typeface="Cambria Math" panose="02040503050406030204" pitchFamily="18" charset="0"/>
                            <a:ea typeface="Verdana" pitchFamily="34" charset="0"/>
                            <a:cs typeface="Verdana" pitchFamily="34" charset="0"/>
                          </a:rPr>
                        </m:ctrlPr>
                      </m:accPr>
                      <m:e>
                        <m:r>
                          <a:rPr lang="en-US" sz="1400" b="1">
                            <a:latin typeface="Cambria Math"/>
                            <a:ea typeface="Verdana" pitchFamily="34" charset="0"/>
                            <a:cs typeface="Verdana" pitchFamily="34" charset="0"/>
                          </a:rPr>
                          <m:t>𝐓𝐄𝐒𝐓</m:t>
                        </m:r>
                      </m:e>
                    </m:acc>
                  </m:oMath>
                </a14:m>
                <a:r>
                  <a:rPr lang="en-US" sz="1400" b="1" dirty="0">
                    <a:latin typeface="Verdana" pitchFamily="34" charset="0"/>
                    <a:ea typeface="Verdana" pitchFamily="34" charset="0"/>
                    <a:cs typeface="Verdana" pitchFamily="34" charset="0"/>
                  </a:rPr>
                  <a:t>input is tested by the ‘WAIT’ instruction.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8086 will enter a wait state after execution of the WAIT instruction and will resume execution only when the </a:t>
                </a:r>
                <a14:m>
                  <m:oMath xmlns:m="http://schemas.openxmlformats.org/officeDocument/2006/math">
                    <m:acc>
                      <m:accPr>
                        <m:chr m:val="̅"/>
                        <m:ctrlPr>
                          <a:rPr lang="en-US" sz="1400" b="1" i="1" smtClean="0">
                            <a:latin typeface="Cambria Math" panose="02040503050406030204" pitchFamily="18" charset="0"/>
                            <a:ea typeface="Verdana" pitchFamily="34" charset="0"/>
                            <a:cs typeface="Verdana" pitchFamily="34" charset="0"/>
                          </a:rPr>
                        </m:ctrlPr>
                      </m:accPr>
                      <m:e>
                        <m:r>
                          <a:rPr lang="en-US" sz="1400" b="1" i="0" smtClean="0">
                            <a:latin typeface="Cambria Math"/>
                            <a:ea typeface="Verdana" pitchFamily="34" charset="0"/>
                            <a:cs typeface="Verdana" pitchFamily="34" charset="0"/>
                          </a:rPr>
                          <m:t>𝐓𝐄𝐒𝐓</m:t>
                        </m:r>
                      </m:e>
                    </m:acc>
                  </m:oMath>
                </a14:m>
                <a:r>
                  <a:rPr lang="en-US" sz="1400" b="1" dirty="0">
                    <a:latin typeface="Verdana" pitchFamily="34" charset="0"/>
                    <a:ea typeface="Verdana" pitchFamily="34" charset="0"/>
                    <a:cs typeface="Verdana" pitchFamily="34" charset="0"/>
                  </a:rPr>
                  <a:t> is made low by an active hardware.</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is used to synchronize an external activity to the processor internal operation.</a:t>
                </a:r>
              </a:p>
            </p:txBody>
          </p:sp>
        </mc:Choice>
        <mc:Fallback xmlns="">
          <p:sp>
            <p:nvSpPr>
              <p:cNvPr id="47" name="Rectangle 46"/>
              <p:cNvSpPr>
                <a:spLocks noRot="1" noChangeAspect="1" noMove="1" noResize="1" noEditPoints="1" noAdjustHandles="1" noChangeArrowheads="1" noChangeShapeType="1" noTextEdit="1"/>
              </p:cNvSpPr>
              <p:nvPr/>
            </p:nvSpPr>
            <p:spPr>
              <a:xfrm>
                <a:off x="4648200" y="800993"/>
                <a:ext cx="4343400" cy="2801664"/>
              </a:xfrm>
              <a:prstGeom prst="rect">
                <a:avLst/>
              </a:prstGeom>
              <a:blipFill>
                <a:blip r:embed="rId4"/>
                <a:stretch>
                  <a:fillRect l="-139" t="-645" b="-645"/>
                </a:stretch>
              </a:blipFill>
              <a:ln w="28575">
                <a:solidFill>
                  <a:schemeClr val="accent6">
                    <a:lumMod val="75000"/>
                  </a:schemeClr>
                </a:solidFill>
              </a:ln>
            </p:spPr>
            <p:txBody>
              <a:bodyPr/>
              <a:lstStyle/>
              <a:p>
                <a:r>
                  <a:rPr lang="en-US">
                    <a:noFill/>
                  </a:rPr>
                  <a:t> </a:t>
                </a:r>
              </a:p>
            </p:txBody>
          </p:sp>
        </mc:Fallback>
      </mc:AlternateContent>
      <p:sp>
        <p:nvSpPr>
          <p:cNvPr id="10" name="Rectangle 9"/>
          <p:cNvSpPr/>
          <p:nvPr/>
        </p:nvSpPr>
        <p:spPr>
          <a:xfrm>
            <a:off x="4648200" y="3981033"/>
            <a:ext cx="4343400" cy="2585323"/>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READY </a:t>
            </a:r>
          </a:p>
          <a:p>
            <a:pPr algn="just"/>
            <a:r>
              <a:rPr lang="en-US" sz="1400" b="1" dirty="0">
                <a:latin typeface="Verdana" pitchFamily="34" charset="0"/>
                <a:ea typeface="Verdana" pitchFamily="34" charset="0"/>
                <a:cs typeface="Verdana" pitchFamily="34" charset="0"/>
              </a:rPr>
              <a:t>This is the acknowledgement from the slow device or memory that they have completed the data transfer.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made available by the devices is synchronized by the 8284A clock generator to provide ready input to the 8086.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is active high.</a:t>
            </a:r>
          </a:p>
        </p:txBody>
      </p:sp>
    </p:spTree>
    <p:extLst>
      <p:ext uri="{BB962C8B-B14F-4D97-AF65-F5344CB8AC3E}">
        <p14:creationId xmlns:p14="http://schemas.microsoft.com/office/powerpoint/2010/main" val="355557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2.11841E-6 L 1.38889E-6 0.29417 " pathEditMode="relative" rAng="0" ptsTypes="AA">
                                      <p:cBhvr>
                                        <p:cTn id="6" dur="500" fill="hold"/>
                                        <p:tgtEl>
                                          <p:spTgt spid="48"/>
                                        </p:tgtEl>
                                        <p:attrNameLst>
                                          <p:attrName>ppt_x</p:attrName>
                                          <p:attrName>ppt_y</p:attrName>
                                        </p:attrNameLst>
                                      </p:cBhvr>
                                      <p:rCtr x="0" y="14709"/>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1.38889E-6 0.29417 L 0.00087 0.32747 " pathEditMode="relative" rAng="0" ptsTypes="AA">
                                      <p:cBhvr>
                                        <p:cTn id="13" dur="500" fill="hold"/>
                                        <p:tgtEl>
                                          <p:spTgt spid="48"/>
                                        </p:tgtEl>
                                        <p:attrNameLst>
                                          <p:attrName>ppt_x</p:attrName>
                                          <p:attrName>ppt_y</p:attrName>
                                        </p:attrNameLst>
                                      </p:cBhvr>
                                      <p:rCtr x="35" y="1665"/>
                                    </p:animMotion>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7"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5563584"/>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14</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648200" y="800993"/>
            <a:ext cx="4343400" cy="1508105"/>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RESET (Input)</a:t>
            </a:r>
            <a:r>
              <a:rPr lang="en-US" dirty="0">
                <a:latin typeface="Verdana" pitchFamily="34" charset="0"/>
                <a:ea typeface="Verdana" pitchFamily="34" charset="0"/>
                <a:cs typeface="Verdana" pitchFamily="34" charset="0"/>
              </a:rPr>
              <a:t>  </a:t>
            </a:r>
          </a:p>
          <a:p>
            <a:pPr algn="just"/>
            <a:r>
              <a:rPr lang="en-US" sz="1400" b="1" dirty="0">
                <a:latin typeface="Verdana" pitchFamily="34" charset="0"/>
                <a:ea typeface="Verdana" pitchFamily="34" charset="0"/>
                <a:cs typeface="Verdana" pitchFamily="34" charset="0"/>
              </a:rPr>
              <a:t>Causes the processor to immediately terminate its present  activity.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must be active HIGH for at least four clock cycles.</a:t>
            </a:r>
          </a:p>
        </p:txBody>
      </p:sp>
      <p:sp>
        <p:nvSpPr>
          <p:cNvPr id="10" name="Rectangle 9"/>
          <p:cNvSpPr/>
          <p:nvPr/>
        </p:nvSpPr>
        <p:spPr>
          <a:xfrm>
            <a:off x="4648200" y="2606695"/>
            <a:ext cx="4343400" cy="1292662"/>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CLK</a:t>
            </a:r>
          </a:p>
          <a:p>
            <a:pPr algn="just"/>
            <a:r>
              <a:rPr lang="en-US" sz="1400" b="1" dirty="0">
                <a:latin typeface="Verdana" pitchFamily="34" charset="0"/>
                <a:ea typeface="Verdana" pitchFamily="34" charset="0"/>
                <a:cs typeface="Verdana" pitchFamily="34" charset="0"/>
              </a:rPr>
              <a:t>The clock input provides the basic timing for processor operation and bus control activity. Its an asymmetric square wave with 33% duty cycle.</a:t>
            </a:r>
          </a:p>
        </p:txBody>
      </p:sp>
      <p:sp>
        <p:nvSpPr>
          <p:cNvPr id="11" name="Rectangle 10"/>
          <p:cNvSpPr/>
          <p:nvPr/>
        </p:nvSpPr>
        <p:spPr>
          <a:xfrm>
            <a:off x="4648200" y="4191000"/>
            <a:ext cx="4343400" cy="2369880"/>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INTR Interrupt Request  </a:t>
            </a:r>
          </a:p>
          <a:p>
            <a:pPr algn="just"/>
            <a:r>
              <a:rPr lang="en-US" sz="1400" b="1" dirty="0">
                <a:latin typeface="Verdana" pitchFamily="34" charset="0"/>
                <a:ea typeface="Verdana" pitchFamily="34" charset="0"/>
                <a:cs typeface="Verdana" pitchFamily="34" charset="0"/>
              </a:rPr>
              <a:t>This is a triggered input. This is sampled during the last clock cycles of each instruction to determine the availability of the request. If any interrupt request is pending, the processor enters the interrupt acknowledge cycle.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signal is active high and internally synchronized.</a:t>
            </a:r>
          </a:p>
        </p:txBody>
      </p:sp>
    </p:spTree>
    <p:extLst>
      <p:ext uri="{BB962C8B-B14F-4D97-AF65-F5344CB8AC3E}">
        <p14:creationId xmlns:p14="http://schemas.microsoft.com/office/powerpoint/2010/main" val="358739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3.43201E-6 L 1.38889E-6 0.03677 " pathEditMode="relative" rAng="0" ptsTypes="AA">
                                      <p:cBhvr>
                                        <p:cTn id="6" dur="500" fill="hold"/>
                                        <p:tgtEl>
                                          <p:spTgt spid="48"/>
                                        </p:tgtEl>
                                        <p:attrNameLst>
                                          <p:attrName>ppt_x</p:attrName>
                                          <p:attrName>ppt_y</p:attrName>
                                        </p:attrNameLst>
                                      </p:cBhvr>
                                      <p:rCtr x="0" y="1827"/>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1" nodeType="clickEffect">
                                  <p:stCondLst>
                                    <p:cond delay="0"/>
                                  </p:stCondLst>
                                  <p:childTnLst>
                                    <p:animMotion origin="layout" path="M 1.38889E-6 0.03677 L -0.25 0.03677 " pathEditMode="relative" rAng="0" ptsTypes="AA">
                                      <p:cBhvr>
                                        <p:cTn id="13" dur="500" fill="hold"/>
                                        <p:tgtEl>
                                          <p:spTgt spid="48"/>
                                        </p:tgtEl>
                                        <p:attrNameLst>
                                          <p:attrName>ppt_x</p:attrName>
                                          <p:attrName>ppt_y</p:attrName>
                                        </p:attrNameLst>
                                      </p:cBhvr>
                                      <p:rCtr x="-12500" y="0"/>
                                    </p:animMotion>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64" presetClass="path" presetSubtype="0" accel="50000" decel="50000" fill="hold" grpId="2" nodeType="withEffect">
                                  <p:stCondLst>
                                    <p:cond delay="0"/>
                                  </p:stCondLst>
                                  <p:childTnLst>
                                    <p:animMotion origin="layout" path="M -0.25 0.03677 L -0.25 0.00347 " pathEditMode="relative" rAng="0" ptsTypes="AA">
                                      <p:cBhvr>
                                        <p:cTn id="20" dur="500" fill="hold"/>
                                        <p:tgtEl>
                                          <p:spTgt spid="48"/>
                                        </p:tgtEl>
                                        <p:attrNameLst>
                                          <p:attrName>ppt_x</p:attrName>
                                          <p:attrName>ppt_y</p:attrName>
                                        </p:attrNameLst>
                                      </p:cBhvr>
                                      <p:rCtr x="0" y="-1665"/>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64" presetClass="path" presetSubtype="0" accel="50000" decel="50000" fill="hold" grpId="3" nodeType="withEffect">
                                  <p:stCondLst>
                                    <p:cond delay="0"/>
                                  </p:stCondLst>
                                  <p:childTnLst>
                                    <p:animMotion origin="layout" path="M -0.25 0.00347 L -0.25 -0.02983 " pathEditMode="relative" rAng="0" ptsTypes="AA">
                                      <p:cBhvr>
                                        <p:cTn id="27" dur="500" fill="hold"/>
                                        <p:tgtEl>
                                          <p:spTgt spid="48"/>
                                        </p:tgtEl>
                                        <p:attrNameLst>
                                          <p:attrName>ppt_x</p:attrName>
                                          <p:attrName>ppt_y</p:attrName>
                                        </p:attrNameLst>
                                      </p:cBhvr>
                                      <p:rCtr x="0" y="-1665"/>
                                    </p:animMotion>
                                  </p:childTnLst>
                                </p:cTn>
                              </p:par>
                            </p:childTnLst>
                          </p:cTn>
                        </p:par>
                      </p:childTnLst>
                    </p:cTn>
                  </p:par>
                  <p:par>
                    <p:cTn id="28" fill="hold">
                      <p:stCondLst>
                        <p:cond delay="indefinite"/>
                      </p:stCondLst>
                      <p:childTnLst>
                        <p:par>
                          <p:cTn id="29" fill="hold">
                            <p:stCondLst>
                              <p:cond delay="0"/>
                            </p:stCondLst>
                            <p:childTnLst>
                              <p:par>
                                <p:cTn id="30" presetID="64" presetClass="path" presetSubtype="0" accel="50000" decel="50000" fill="hold" grpId="4" nodeType="clickEffect">
                                  <p:stCondLst>
                                    <p:cond delay="0"/>
                                  </p:stCondLst>
                                  <p:childTnLst>
                                    <p:animMotion origin="layout" path="M -0.25 -0.02983 L -0.25 -0.06313 " pathEditMode="relative" rAng="0" ptsTypes="AA">
                                      <p:cBhvr>
                                        <p:cTn id="31" dur="500" fill="hold"/>
                                        <p:tgtEl>
                                          <p:spTgt spid="48"/>
                                        </p:tgtEl>
                                        <p:attrNameLst>
                                          <p:attrName>ppt_x</p:attrName>
                                          <p:attrName>ppt_y</p:attrName>
                                        </p:attrNameLst>
                                      </p:cBhvr>
                                      <p:rCtr x="0" y="-1665"/>
                                    </p:animMotion>
                                  </p:childTnLst>
                                </p:cTn>
                              </p:par>
                            </p:childTnLst>
                          </p:cTn>
                        </p:par>
                      </p:childTnLst>
                    </p:cTn>
                  </p:par>
                  <p:par>
                    <p:cTn id="32" fill="hold">
                      <p:stCondLst>
                        <p:cond delay="indefinite"/>
                      </p:stCondLst>
                      <p:childTnLst>
                        <p:par>
                          <p:cTn id="33" fill="hold">
                            <p:stCondLst>
                              <p:cond delay="0"/>
                            </p:stCondLst>
                            <p:childTnLst>
                              <p:par>
                                <p:cTn id="34" presetID="56" presetClass="path" presetSubtype="0" accel="50000" decel="50000" fill="hold" grpId="5" nodeType="clickEffect">
                                  <p:stCondLst>
                                    <p:cond delay="0"/>
                                  </p:stCondLst>
                                  <p:childTnLst>
                                    <p:animMotion origin="layout" path="M -0.25 -0.06521 L -0.00747 -0.57585 " pathEditMode="relative" rAng="0" ptsTypes="AA">
                                      <p:cBhvr>
                                        <p:cTn id="35" dur="500" fill="hold"/>
                                        <p:tgtEl>
                                          <p:spTgt spid="48"/>
                                        </p:tgtEl>
                                        <p:attrNameLst>
                                          <p:attrName>ppt_x</p:attrName>
                                          <p:attrName>ppt_y</p:attrName>
                                        </p:attrNameLst>
                                      </p:cBhvr>
                                      <p:rCtr x="12118" y="-25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8" grpId="3" animBg="1"/>
      <p:bldP spid="48" grpId="4" animBg="1"/>
      <p:bldP spid="48" grpId="5" animBg="1"/>
      <p:bldP spid="47"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114800" y="990600"/>
            <a:ext cx="4572000" cy="881877"/>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sp>
        <p:nvSpPr>
          <p:cNvPr id="48" name="Slide Number Placeholder 47"/>
          <p:cNvSpPr>
            <a:spLocks noGrp="1"/>
          </p:cNvSpPr>
          <p:nvPr>
            <p:ph type="sldNum" sz="quarter" idx="12"/>
          </p:nvPr>
        </p:nvSpPr>
        <p:spPr/>
        <p:txBody>
          <a:bodyPr/>
          <a:lstStyle/>
          <a:p>
            <a:fld id="{85E6815B-E59C-4D87-B1F6-ECBDD22AF1DC}" type="slidenum">
              <a:rPr lang="en-US" smtClean="0"/>
              <a:pPr/>
              <a:t>15</a:t>
            </a:fld>
            <a:endParaRPr lang="en-US" dirty="0"/>
          </a:p>
        </p:txBody>
      </p:sp>
      <p:sp>
        <p:nvSpPr>
          <p:cNvPr id="4" name="Rectangle 3"/>
          <p:cNvSpPr/>
          <p:nvPr/>
        </p:nvSpPr>
        <p:spPr>
          <a:xfrm>
            <a:off x="0" y="1752600"/>
            <a:ext cx="3200400" cy="15865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03507" y="138752"/>
            <a:ext cx="2249334" cy="400110"/>
          </a:xfrm>
          <a:prstGeom prst="rect">
            <a:avLst/>
          </a:prstGeom>
          <a:noFill/>
        </p:spPr>
        <p:txBody>
          <a:bodyPr wrap="none" rtlCol="0">
            <a:spAutoFit/>
          </a:bodyPr>
          <a:lstStyle/>
          <a:p>
            <a:r>
              <a:rPr lang="en-US" sz="2000" b="1" dirty="0">
                <a:latin typeface="Verdana" pitchFamily="34" charset="0"/>
                <a:ea typeface="Verdana" pitchFamily="34" charset="0"/>
                <a:cs typeface="Verdana" pitchFamily="34" charset="0"/>
              </a:rPr>
              <a:t>Min/ Max Pins</a:t>
            </a:r>
          </a:p>
        </p:txBody>
      </p:sp>
      <p:sp>
        <p:nvSpPr>
          <p:cNvPr id="6" name="Rectangle 5"/>
          <p:cNvSpPr/>
          <p:nvPr/>
        </p:nvSpPr>
        <p:spPr>
          <a:xfrm>
            <a:off x="4114800" y="1066800"/>
            <a:ext cx="4572000" cy="5047536"/>
          </a:xfrm>
          <a:prstGeom prst="rect">
            <a:avLst/>
          </a:prstGeom>
        </p:spPr>
        <p:txBody>
          <a:bodyPr>
            <a:spAutoFit/>
          </a:bodyPr>
          <a:lstStyle/>
          <a:p>
            <a:pPr algn="just"/>
            <a:r>
              <a:rPr lang="en-US" sz="1400" b="1" dirty="0">
                <a:latin typeface="Verdana" pitchFamily="34" charset="0"/>
                <a:ea typeface="Verdana" pitchFamily="34" charset="0"/>
                <a:cs typeface="Verdana" pitchFamily="34" charset="0"/>
              </a:rPr>
              <a:t>The 8086 microprocessor can work in two  modes of  operations : </a:t>
            </a:r>
            <a:r>
              <a:rPr lang="en-US" sz="1400" b="1" dirty="0">
                <a:solidFill>
                  <a:srgbClr val="FF0066"/>
                </a:solidFill>
                <a:latin typeface="Verdana" pitchFamily="34" charset="0"/>
                <a:ea typeface="Verdana" pitchFamily="34" charset="0"/>
                <a:cs typeface="Verdana" pitchFamily="34" charset="0"/>
              </a:rPr>
              <a:t>Minimum mode </a:t>
            </a:r>
            <a:r>
              <a:rPr lang="en-US" sz="1400" b="1" dirty="0">
                <a:latin typeface="Verdana" pitchFamily="34" charset="0"/>
                <a:ea typeface="Verdana" pitchFamily="34" charset="0"/>
                <a:cs typeface="Verdana" pitchFamily="34" charset="0"/>
              </a:rPr>
              <a:t>and </a:t>
            </a:r>
            <a:r>
              <a:rPr lang="en-US" sz="1400" b="1" dirty="0">
                <a:solidFill>
                  <a:srgbClr val="FF0066"/>
                </a:solidFill>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In the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of operation the microprocessor </a:t>
            </a:r>
            <a:r>
              <a:rPr lang="en-US" sz="1400" b="1" u="sng" dirty="0">
                <a:latin typeface="Verdana" pitchFamily="34" charset="0"/>
                <a:ea typeface="Verdana" pitchFamily="34" charset="0"/>
                <a:cs typeface="Verdana" pitchFamily="34" charset="0"/>
              </a:rPr>
              <a:t>do not </a:t>
            </a:r>
            <a:r>
              <a:rPr lang="en-US" sz="1400" b="1" dirty="0">
                <a:latin typeface="Verdana" pitchFamily="34" charset="0"/>
                <a:ea typeface="Verdana" pitchFamily="34" charset="0"/>
                <a:cs typeface="Verdana" pitchFamily="34" charset="0"/>
              </a:rPr>
              <a:t>associate with any co-processors   and can not be used for multiprocessor   systems.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In the </a:t>
            </a:r>
            <a:r>
              <a:rPr lang="en-US" sz="1400" b="1" u="sng" dirty="0">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the 8086 </a:t>
            </a:r>
            <a:r>
              <a:rPr lang="en-US" sz="1400" b="1" u="sng" dirty="0">
                <a:latin typeface="Verdana" pitchFamily="34" charset="0"/>
                <a:ea typeface="Verdana" pitchFamily="34" charset="0"/>
                <a:cs typeface="Verdana" pitchFamily="34" charset="0"/>
              </a:rPr>
              <a:t>can work</a:t>
            </a:r>
            <a:r>
              <a:rPr lang="en-US" sz="1400" b="1" dirty="0">
                <a:latin typeface="Verdana" pitchFamily="34" charset="0"/>
                <a:ea typeface="Verdana" pitchFamily="34" charset="0"/>
                <a:cs typeface="Verdana" pitchFamily="34" charset="0"/>
              </a:rPr>
              <a:t> in multi-processor or co-processor   configuration.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Minimum  or maximum mode operations  are decided by the pin MN/ MX(Active low).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this pin is </a:t>
            </a:r>
            <a:r>
              <a:rPr lang="en-US" sz="1400" b="1" u="sng" dirty="0">
                <a:latin typeface="Verdana" pitchFamily="34" charset="0"/>
                <a:ea typeface="Verdana" pitchFamily="34" charset="0"/>
                <a:cs typeface="Verdana" pitchFamily="34" charset="0"/>
              </a:rPr>
              <a:t>high</a:t>
            </a:r>
            <a:r>
              <a:rPr lang="en-US" sz="1400" b="1" dirty="0">
                <a:latin typeface="Verdana" pitchFamily="34" charset="0"/>
                <a:ea typeface="Verdana" pitchFamily="34" charset="0"/>
                <a:cs typeface="Verdana" pitchFamily="34" charset="0"/>
              </a:rPr>
              <a:t> 8086 operates in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otherwise it operates in Maximum mode.</a:t>
            </a:r>
          </a:p>
        </p:txBody>
      </p:sp>
      <p:sp>
        <p:nvSpPr>
          <p:cNvPr id="21" name="Rectangle 20"/>
          <p:cNvSpPr/>
          <p:nvPr/>
        </p:nvSpPr>
        <p:spPr>
          <a:xfrm>
            <a:off x="1351129" y="3557872"/>
            <a:ext cx="1890215" cy="16228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0" y="3352800"/>
            <a:ext cx="1022294" cy="3673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019057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4"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grpId="0" nodeType="clickEffect">
                                  <p:stCondLst>
                                    <p:cond delay="0"/>
                                  </p:stCondLst>
                                  <p:childTnLst>
                                    <p:animMotion origin="layout" path="M 0 -3.14524E-6 L 0 0.16883 " pathEditMode="relative" rAng="0" ptsTypes="AA">
                                      <p:cBhvr>
                                        <p:cTn id="12" dur="500" fill="hold"/>
                                        <p:tgtEl>
                                          <p:spTgt spid="7"/>
                                        </p:tgtEl>
                                        <p:attrNameLst>
                                          <p:attrName>ppt_x</p:attrName>
                                          <p:attrName>ppt_y</p:attrName>
                                        </p:attrNameLst>
                                      </p:cBhvr>
                                      <p:rCtr x="0" y="8441"/>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16883 L 0 0.34644 " pathEditMode="relative" rAng="0" ptsTypes="AA">
                                      <p:cBhvr>
                                        <p:cTn id="16" dur="500" fill="hold"/>
                                        <p:tgtEl>
                                          <p:spTgt spid="7"/>
                                        </p:tgtEl>
                                        <p:attrNameLst>
                                          <p:attrName>ppt_x</p:attrName>
                                          <p:attrName>ppt_y</p:attrName>
                                        </p:attrNameLst>
                                      </p:cBhvr>
                                      <p:rCtr x="0" y="8881"/>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0 0.34644 L 0 0.47965 " pathEditMode="relative" rAng="0" ptsTypes="AA">
                                      <p:cBhvr>
                                        <p:cTn id="20" dur="500" fill="hold"/>
                                        <p:tgtEl>
                                          <p:spTgt spid="7"/>
                                        </p:tgtEl>
                                        <p:attrNameLst>
                                          <p:attrName>ppt_x</p:attrName>
                                          <p:attrName>ppt_y</p:attrName>
                                        </p:attrNameLst>
                                      </p:cBhvr>
                                      <p:rCtr x="0" y="6660"/>
                                    </p:animMotion>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3" nodeType="clickEffect">
                                  <p:stCondLst>
                                    <p:cond delay="0"/>
                                  </p:stCondLst>
                                  <p:childTnLst>
                                    <p:animMotion origin="layout" path="M 0 0.47965 L 0 0.62396 " pathEditMode="relative" rAng="0" ptsTypes="AA">
                                      <p:cBhvr>
                                        <p:cTn id="24" dur="500" fill="hold"/>
                                        <p:tgtEl>
                                          <p:spTgt spid="7"/>
                                        </p:tgtEl>
                                        <p:attrNameLst>
                                          <p:attrName>ppt_x</p:attrName>
                                          <p:attrName>ppt_y</p:attrName>
                                        </p:attrNameLst>
                                      </p:cBhvr>
                                      <p:rCtr x="0" y="72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4539344"/>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5" name="TextBox 4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8086 itself generates all the bus control signals</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rotWithShape="1">
                <a:blip r:embed="rId4"/>
                <a:stretch>
                  <a:fillRect t="-441" b="-3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37744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DT/</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m:t>
                                  </m:r>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Transmit/ Receive</a:t>
                          </a:r>
                          <a:r>
                            <a:rPr lang="en-US" sz="1200" dirty="0">
                              <a:solidFill>
                                <a:sysClr val="windowText" lastClr="000000"/>
                              </a:solidFill>
                              <a:latin typeface="Verdana" pitchFamily="34" charset="0"/>
                              <a:ea typeface="Verdana" pitchFamily="34" charset="0"/>
                              <a:cs typeface="Verdana" pitchFamily="34" charset="0"/>
                            </a:rPr>
                            <a:t>) Output signal from the processor to control the direction of data flow through the data transceivers</a:t>
                          </a: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694115271"/>
                  </p:ext>
                </p:extLst>
              </p:nvPr>
            </p:nvGraphicFramePr>
            <p:xfrm>
              <a:off x="3385457" y="237744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a:p>
                      </a:txBody>
                      <a:tcPr>
                        <a:blipFill rotWithShape="1">
                          <a:blip r:embed="rId5"/>
                          <a:stretch>
                            <a:fillRect r="-489610" b="-7619"/>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Data Transmit/ Receive</a:t>
                          </a:r>
                          <a:r>
                            <a:rPr lang="en-US" sz="1200" dirty="0" smtClean="0">
                              <a:solidFill>
                                <a:sysClr val="windowText" lastClr="000000"/>
                              </a:solidFill>
                              <a:latin typeface="Verdana" pitchFamily="34" charset="0"/>
                              <a:ea typeface="Verdana" pitchFamily="34" charset="0"/>
                              <a:cs typeface="Verdana" pitchFamily="34" charset="0"/>
                            </a:rPr>
                            <a:t>) Output signal from the processor to control the direction of data flow through the data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9" name="Table 48"/>
              <p:cNvGraphicFramePr>
                <a:graphicFrameLocks noGrp="1"/>
              </p:cNvGraphicFramePr>
              <p:nvPr/>
            </p:nvGraphicFramePr>
            <p:xfrm>
              <a:off x="3385457" y="321564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𝐃𝐄𝐍</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Enable</a:t>
                          </a:r>
                          <a:r>
                            <a:rPr lang="en-US" sz="1200" dirty="0">
                              <a:solidFill>
                                <a:sysClr val="windowText" lastClr="000000"/>
                              </a:solidFill>
                              <a:latin typeface="Verdana" pitchFamily="34" charset="0"/>
                              <a:ea typeface="Verdana" pitchFamily="34" charset="0"/>
                              <a:cs typeface="Verdana" pitchFamily="34" charset="0"/>
                            </a:rPr>
                            <a:t>) Output signal</a:t>
                          </a:r>
                          <a:r>
                            <a:rPr lang="en-US" sz="1200" baseline="0" dirty="0">
                              <a:solidFill>
                                <a:sysClr val="windowText" lastClr="000000"/>
                              </a:solidFill>
                              <a:latin typeface="Verdana" pitchFamily="34" charset="0"/>
                              <a:ea typeface="Verdana" pitchFamily="34" charset="0"/>
                              <a:cs typeface="Verdana" pitchFamily="34" charset="0"/>
                            </a:rPr>
                            <a:t> from the processor used as out put enable for the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9" name="Table 48"/>
              <p:cNvGraphicFramePr>
                <a:graphicFrameLocks noGrp="1"/>
              </p:cNvGraphicFramePr>
              <p:nvPr>
                <p:extLst>
                  <p:ext uri="{D42A27DB-BD31-4B8C-83A1-F6EECF244321}">
                    <p14:modId xmlns:p14="http://schemas.microsoft.com/office/powerpoint/2010/main" xmlns="" xmlns:a14="http://schemas.microsoft.com/office/drawing/2010/main" val="3373928436"/>
                  </p:ext>
                </p:extLst>
              </p:nvPr>
            </p:nvGraphicFramePr>
            <p:xfrm>
              <a:off x="3385457" y="3215640"/>
              <a:ext cx="5529943" cy="457200"/>
            </p:xfrm>
            <a:graphic>
              <a:graphicData uri="http://schemas.openxmlformats.org/drawingml/2006/table">
                <a:tbl>
                  <a:tblPr firstRow="1" bandRow="1">
                    <a:tableStyleId>{5C22544A-7EE6-4342-B048-85BDC9FD1C3A}</a:tableStyleId>
                  </a:tblPr>
                  <a:tblGrid>
                    <a:gridCol w="938115"/>
                    <a:gridCol w="4591828"/>
                  </a:tblGrid>
                  <a:tr h="457200">
                    <a:tc>
                      <a:txBody>
                        <a:bodyPr/>
                        <a:lstStyle/>
                        <a:p>
                          <a:endParaRPr lang="en-US"/>
                        </a:p>
                      </a:txBody>
                      <a:tcPr>
                        <a:blipFill rotWithShape="1">
                          <a:blip r:embed="rId6"/>
                          <a:stretch>
                            <a:fillRect t="-1333" r="-489610" b="-9333"/>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Data Enable</a:t>
                          </a:r>
                          <a:r>
                            <a:rPr lang="en-US" sz="1200" dirty="0" smtClean="0">
                              <a:solidFill>
                                <a:sysClr val="windowText" lastClr="000000"/>
                              </a:solidFill>
                              <a:latin typeface="Verdana" pitchFamily="34" charset="0"/>
                              <a:ea typeface="Verdana" pitchFamily="34" charset="0"/>
                              <a:cs typeface="Verdana" pitchFamily="34" charset="0"/>
                            </a:rPr>
                            <a:t>) Output signal</a:t>
                          </a:r>
                          <a:r>
                            <a:rPr lang="en-US" sz="1200" baseline="0" dirty="0" smtClean="0">
                              <a:solidFill>
                                <a:sysClr val="windowText" lastClr="000000"/>
                              </a:solidFill>
                              <a:latin typeface="Verdana" pitchFamily="34" charset="0"/>
                              <a:ea typeface="Verdana" pitchFamily="34" charset="0"/>
                              <a:cs typeface="Verdana" pitchFamily="34" charset="0"/>
                            </a:rPr>
                            <a:t> from the processor used as out put enable for the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mc:Fallback>
      </mc:AlternateContent>
      <p:graphicFrame>
        <p:nvGraphicFramePr>
          <p:cNvPr id="50" name="Table 49"/>
          <p:cNvGraphicFramePr>
            <a:graphicFrameLocks noGrp="1"/>
          </p:cNvGraphicFramePr>
          <p:nvPr/>
        </p:nvGraphicFramePr>
        <p:xfrm>
          <a:off x="3385457" y="38557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ALE</a:t>
                      </a: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Address Latch Enable</a:t>
                      </a:r>
                      <a:r>
                        <a:rPr lang="en-US" sz="1200" dirty="0">
                          <a:solidFill>
                            <a:schemeClr val="tx1"/>
                          </a:solidFill>
                          <a:latin typeface="Verdana" pitchFamily="34" charset="0"/>
                          <a:ea typeface="Verdana" pitchFamily="34" charset="0"/>
                          <a:cs typeface="Verdana" pitchFamily="34" charset="0"/>
                        </a:rPr>
                        <a:t>) Used</a:t>
                      </a:r>
                      <a:r>
                        <a:rPr lang="en-US" sz="1200" baseline="0" dirty="0">
                          <a:solidFill>
                            <a:schemeClr val="tx1"/>
                          </a:solidFill>
                          <a:latin typeface="Verdana" pitchFamily="34" charset="0"/>
                          <a:ea typeface="Verdana" pitchFamily="34" charset="0"/>
                          <a:cs typeface="Verdana" pitchFamily="34" charset="0"/>
                        </a:rPr>
                        <a:t> to </a:t>
                      </a:r>
                      <a:r>
                        <a:rPr lang="en-US" sz="1200" baseline="0" dirty="0" err="1">
                          <a:solidFill>
                            <a:schemeClr val="tx1"/>
                          </a:solidFill>
                          <a:latin typeface="Verdana" pitchFamily="34" charset="0"/>
                          <a:ea typeface="Verdana" pitchFamily="34" charset="0"/>
                          <a:cs typeface="Verdana" pitchFamily="34" charset="0"/>
                        </a:rPr>
                        <a:t>demultiplex</a:t>
                      </a:r>
                      <a:r>
                        <a:rPr lang="en-US" sz="1200" baseline="0" dirty="0">
                          <a:solidFill>
                            <a:schemeClr val="tx1"/>
                          </a:solidFill>
                          <a:latin typeface="Verdana" pitchFamily="34" charset="0"/>
                          <a:ea typeface="Verdana" pitchFamily="34" charset="0"/>
                          <a:cs typeface="Verdana" pitchFamily="34" charset="0"/>
                        </a:rPr>
                        <a:t> the address and data lines using external latches</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51" name="Table 50"/>
              <p:cNvGraphicFramePr>
                <a:graphicFrameLocks noGrp="1"/>
              </p:cNvGraphicFramePr>
              <p:nvPr/>
            </p:nvGraphicFramePr>
            <p:xfrm>
              <a:off x="3385457" y="44653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M/</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𝐈𝐎</m:t>
                                  </m:r>
                                </m:e>
                              </m:acc>
                            </m:oMath>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latin typeface="Verdana" pitchFamily="34" charset="0"/>
                              <a:ea typeface="Verdana" pitchFamily="34" charset="0"/>
                              <a:cs typeface="Verdana" pitchFamily="34" charset="0"/>
                            </a:rPr>
                            <a:t>Used to differentiate</a:t>
                          </a:r>
                          <a:r>
                            <a:rPr lang="en-US" sz="1200" baseline="0" dirty="0">
                              <a:solidFill>
                                <a:sysClr val="windowText" lastClr="000000"/>
                              </a:solidFill>
                              <a:latin typeface="Verdana" pitchFamily="34" charset="0"/>
                              <a:ea typeface="Verdana" pitchFamily="34" charset="0"/>
                              <a:cs typeface="Verdana" pitchFamily="34" charset="0"/>
                            </a:rPr>
                            <a:t> memory access and I/O access. For memory reference instructions, it is </a:t>
                          </a:r>
                          <a:r>
                            <a:rPr lang="en-US" sz="1200" baseline="0" dirty="0">
                              <a:solidFill>
                                <a:srgbClr val="FF0066"/>
                              </a:solidFill>
                              <a:latin typeface="Verdana" pitchFamily="34" charset="0"/>
                              <a:ea typeface="Verdana" pitchFamily="34" charset="0"/>
                              <a:cs typeface="Verdana" pitchFamily="34" charset="0"/>
                            </a:rPr>
                            <a:t>high</a:t>
                          </a:r>
                          <a:r>
                            <a:rPr lang="en-US" sz="1200" baseline="0" dirty="0">
                              <a:solidFill>
                                <a:sysClr val="windowText" lastClr="000000"/>
                              </a:solidFill>
                              <a:latin typeface="Verdana" pitchFamily="34" charset="0"/>
                              <a:ea typeface="Verdana" pitchFamily="34" charset="0"/>
                              <a:cs typeface="Verdana" pitchFamily="34" charset="0"/>
                            </a:rPr>
                            <a:t>. For IN and OUT instructions, it is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1" name="Table 50"/>
              <p:cNvGraphicFramePr>
                <a:graphicFrameLocks noGrp="1"/>
              </p:cNvGraphicFramePr>
              <p:nvPr>
                <p:extLst>
                  <p:ext uri="{D42A27DB-BD31-4B8C-83A1-F6EECF244321}">
                    <p14:modId xmlns:p14="http://schemas.microsoft.com/office/powerpoint/2010/main" xmlns="" xmlns:a14="http://schemas.microsoft.com/office/drawing/2010/main" val="87097923"/>
                  </p:ext>
                </p:extLst>
              </p:nvPr>
            </p:nvGraphicFramePr>
            <p:xfrm>
              <a:off x="3385457" y="446532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a:p>
                      </a:txBody>
                      <a:tcPr>
                        <a:blipFill rotWithShape="1">
                          <a:blip r:embed="rId7"/>
                          <a:stretch>
                            <a:fillRect t="-952" r="-489610" b="-6667"/>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ysClr val="windowText" lastClr="000000"/>
                              </a:solidFill>
                              <a:latin typeface="Verdana" pitchFamily="34" charset="0"/>
                              <a:ea typeface="Verdana" pitchFamily="34" charset="0"/>
                              <a:cs typeface="Verdana" pitchFamily="34" charset="0"/>
                            </a:rPr>
                            <a:t>Used to differentiate</a:t>
                          </a:r>
                          <a:r>
                            <a:rPr lang="en-US" sz="1200" baseline="0" dirty="0" smtClean="0">
                              <a:solidFill>
                                <a:sysClr val="windowText" lastClr="000000"/>
                              </a:solidFill>
                              <a:latin typeface="Verdana" pitchFamily="34" charset="0"/>
                              <a:ea typeface="Verdana" pitchFamily="34" charset="0"/>
                              <a:cs typeface="Verdana" pitchFamily="34" charset="0"/>
                            </a:rPr>
                            <a:t> memory access and I/O access. For memory reference instructions, it is </a:t>
                          </a:r>
                          <a:r>
                            <a:rPr lang="en-US" sz="1200" baseline="0" dirty="0" smtClean="0">
                              <a:solidFill>
                                <a:srgbClr val="FF0066"/>
                              </a:solidFill>
                              <a:latin typeface="Verdana" pitchFamily="34" charset="0"/>
                              <a:ea typeface="Verdana" pitchFamily="34" charset="0"/>
                              <a:cs typeface="Verdana" pitchFamily="34" charset="0"/>
                            </a:rPr>
                            <a:t>high</a:t>
                          </a:r>
                          <a:r>
                            <a:rPr lang="en-US" sz="1200" baseline="0" dirty="0" smtClean="0">
                              <a:solidFill>
                                <a:sysClr val="windowText" lastClr="000000"/>
                              </a:solidFill>
                              <a:latin typeface="Verdana" pitchFamily="34" charset="0"/>
                              <a:ea typeface="Verdana" pitchFamily="34" charset="0"/>
                              <a:cs typeface="Verdana" pitchFamily="34" charset="0"/>
                            </a:rPr>
                            <a:t>. For IN and OUT instructions, it is </a:t>
                          </a:r>
                          <a:r>
                            <a:rPr lang="en-US" sz="1200" baseline="0" dirty="0" smtClean="0">
                              <a:solidFill>
                                <a:srgbClr val="FF0066"/>
                              </a:solidFill>
                              <a:latin typeface="Verdana" pitchFamily="34" charset="0"/>
                              <a:ea typeface="Verdana" pitchFamily="34" charset="0"/>
                              <a:cs typeface="Verdana" pitchFamily="34" charset="0"/>
                            </a:rPr>
                            <a:t>low</a:t>
                          </a:r>
                          <a:r>
                            <a:rPr lang="en-US" sz="1200" baseline="0" dirty="0" smtClean="0">
                              <a:solidFill>
                                <a:sysClr val="windowText" lastClr="000000"/>
                              </a:solidFill>
                              <a:latin typeface="Verdana" pitchFamily="34" charset="0"/>
                              <a:ea typeface="Verdana" pitchFamily="34" charset="0"/>
                              <a:cs typeface="Verdana" pitchFamily="34" charset="0"/>
                            </a:rPr>
                            <a:t>. </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52" name="Table 51"/>
              <p:cNvGraphicFramePr>
                <a:graphicFrameLocks noGrp="1"/>
              </p:cNvGraphicFramePr>
              <p:nvPr/>
            </p:nvGraphicFramePr>
            <p:xfrm>
              <a:off x="3385457" y="52273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𝐖𝐑</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baseline="0" dirty="0">
                              <a:solidFill>
                                <a:sysClr val="windowText" lastClr="000000"/>
                              </a:solidFill>
                              <a:latin typeface="Verdana" pitchFamily="34" charset="0"/>
                              <a:ea typeface="Verdana" pitchFamily="34" charset="0"/>
                              <a:cs typeface="Verdana" pitchFamily="34" charset="0"/>
                            </a:rPr>
                            <a:t>Write control signal; asserted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Whenever processor writes data to memory or I/O port</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2" name="Table 51"/>
              <p:cNvGraphicFramePr>
                <a:graphicFrameLocks noGrp="1"/>
              </p:cNvGraphicFramePr>
              <p:nvPr>
                <p:extLst>
                  <p:ext uri="{D42A27DB-BD31-4B8C-83A1-F6EECF244321}">
                    <p14:modId xmlns:p14="http://schemas.microsoft.com/office/powerpoint/2010/main" xmlns="" xmlns:a14="http://schemas.microsoft.com/office/drawing/2010/main" val="3770986844"/>
                  </p:ext>
                </p:extLst>
              </p:nvPr>
            </p:nvGraphicFramePr>
            <p:xfrm>
              <a:off x="3385457" y="5227320"/>
              <a:ext cx="5529943" cy="457200"/>
            </p:xfrm>
            <a:graphic>
              <a:graphicData uri="http://schemas.openxmlformats.org/drawingml/2006/table">
                <a:tbl>
                  <a:tblPr firstRow="1" bandRow="1">
                    <a:tableStyleId>{5C22544A-7EE6-4342-B048-85BDC9FD1C3A}</a:tableStyleId>
                  </a:tblPr>
                  <a:tblGrid>
                    <a:gridCol w="938115"/>
                    <a:gridCol w="4591828"/>
                  </a:tblGrid>
                  <a:tr h="457200">
                    <a:tc>
                      <a:txBody>
                        <a:bodyPr/>
                        <a:lstStyle/>
                        <a:p>
                          <a:endParaRPr lang="en-US"/>
                        </a:p>
                      </a:txBody>
                      <a:tcPr>
                        <a:blipFill rotWithShape="1">
                          <a:blip r:embed="rId8"/>
                          <a:stretch>
                            <a:fillRect t="-1333" r="-489610" b="-9333"/>
                          </a:stretch>
                        </a:blipFill>
                      </a:tcPr>
                    </a:tc>
                    <a:tc>
                      <a:txBody>
                        <a:bodyPr/>
                        <a:lstStyle/>
                        <a:p>
                          <a:r>
                            <a:rPr lang="en-US" sz="1200" baseline="0" dirty="0" smtClean="0">
                              <a:solidFill>
                                <a:sysClr val="windowText" lastClr="000000"/>
                              </a:solidFill>
                              <a:latin typeface="Verdana" pitchFamily="34" charset="0"/>
                              <a:ea typeface="Verdana" pitchFamily="34" charset="0"/>
                              <a:cs typeface="Verdana" pitchFamily="34" charset="0"/>
                            </a:rPr>
                            <a:t>Write control signal; asserted </a:t>
                          </a:r>
                          <a:r>
                            <a:rPr lang="en-US" sz="1200" baseline="0" dirty="0" smtClean="0">
                              <a:solidFill>
                                <a:srgbClr val="FF0066"/>
                              </a:solidFill>
                              <a:latin typeface="Verdana" pitchFamily="34" charset="0"/>
                              <a:ea typeface="Verdana" pitchFamily="34" charset="0"/>
                              <a:cs typeface="Verdana" pitchFamily="34" charset="0"/>
                            </a:rPr>
                            <a:t>low</a:t>
                          </a:r>
                          <a:r>
                            <a:rPr lang="en-US" sz="1200" baseline="0" dirty="0" smtClean="0">
                              <a:solidFill>
                                <a:sysClr val="windowText" lastClr="000000"/>
                              </a:solidFill>
                              <a:latin typeface="Verdana" pitchFamily="34" charset="0"/>
                              <a:ea typeface="Verdana" pitchFamily="34" charset="0"/>
                              <a:cs typeface="Verdana" pitchFamily="34" charset="0"/>
                            </a:rPr>
                            <a:t> Whenever processor writes data to memory or I/O port</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53" name="Table 52"/>
              <p:cNvGraphicFramePr>
                <a:graphicFrameLocks noGrp="1"/>
              </p:cNvGraphicFramePr>
              <p:nvPr/>
            </p:nvGraphicFramePr>
            <p:xfrm>
              <a:off x="3385457" y="57607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𝐈𝐍𝐓𝐀</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Interrupt Acknowledge</a:t>
                          </a:r>
                          <a:r>
                            <a:rPr lang="en-US" sz="1200" dirty="0">
                              <a:solidFill>
                                <a:schemeClr val="tx1"/>
                              </a:solidFill>
                              <a:latin typeface="Verdana" pitchFamily="34" charset="0"/>
                              <a:ea typeface="Verdana" pitchFamily="34" charset="0"/>
                              <a:cs typeface="Verdana" pitchFamily="34" charset="0"/>
                            </a:rPr>
                            <a:t>) When the interrupt request is accepted by the processor, the output is </a:t>
                          </a:r>
                          <a:r>
                            <a:rPr lang="en-US" sz="1200" dirty="0">
                              <a:solidFill>
                                <a:srgbClr val="FF0066"/>
                              </a:solidFill>
                              <a:latin typeface="Verdana" pitchFamily="34" charset="0"/>
                              <a:ea typeface="Verdana" pitchFamily="34" charset="0"/>
                              <a:cs typeface="Verdana" pitchFamily="34" charset="0"/>
                            </a:rPr>
                            <a:t>low </a:t>
                          </a:r>
                          <a:r>
                            <a:rPr lang="en-US" sz="1200" dirty="0">
                              <a:solidFill>
                                <a:schemeClr val="tx1"/>
                              </a:solidFill>
                              <a:latin typeface="Verdana" pitchFamily="34" charset="0"/>
                              <a:ea typeface="Verdana" pitchFamily="34" charset="0"/>
                              <a:cs typeface="Verdana" pitchFamily="34" charset="0"/>
                            </a:rPr>
                            <a:t>on this line.</a:t>
                          </a: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3" name="Table 52"/>
              <p:cNvGraphicFramePr>
                <a:graphicFrameLocks noGrp="1"/>
              </p:cNvGraphicFramePr>
              <p:nvPr>
                <p:extLst>
                  <p:ext uri="{D42A27DB-BD31-4B8C-83A1-F6EECF244321}">
                    <p14:modId xmlns:p14="http://schemas.microsoft.com/office/powerpoint/2010/main" xmlns="" xmlns:a14="http://schemas.microsoft.com/office/drawing/2010/main" val="2490951794"/>
                  </p:ext>
                </p:extLst>
              </p:nvPr>
            </p:nvGraphicFramePr>
            <p:xfrm>
              <a:off x="3385457" y="576072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a:p>
                      </a:txBody>
                      <a:tcPr>
                        <a:blipFill rotWithShape="1">
                          <a:blip r:embed="rId9"/>
                          <a:stretch>
                            <a:fillRect r="-489610" b="-7619"/>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Interrupt Acknowledge</a:t>
                          </a:r>
                          <a:r>
                            <a:rPr lang="en-US" sz="1200" dirty="0" smtClean="0">
                              <a:solidFill>
                                <a:schemeClr val="tx1"/>
                              </a:solidFill>
                              <a:latin typeface="Verdana" pitchFamily="34" charset="0"/>
                              <a:ea typeface="Verdana" pitchFamily="34" charset="0"/>
                              <a:cs typeface="Verdana" pitchFamily="34" charset="0"/>
                            </a:rPr>
                            <a:t>) When the interrupt request is accepted by the processor, the output is </a:t>
                          </a:r>
                          <a:r>
                            <a:rPr lang="en-US" sz="1200" dirty="0" smtClean="0">
                              <a:solidFill>
                                <a:srgbClr val="FF0066"/>
                              </a:solidFill>
                              <a:latin typeface="Verdana" pitchFamily="34" charset="0"/>
                              <a:ea typeface="Verdana" pitchFamily="34" charset="0"/>
                              <a:cs typeface="Verdana" pitchFamily="34" charset="0"/>
                            </a:rPr>
                            <a:t>low </a:t>
                          </a:r>
                          <a:r>
                            <a:rPr lang="en-US" sz="1200" dirty="0" smtClean="0">
                              <a:solidFill>
                                <a:schemeClr val="tx1"/>
                              </a:solidFill>
                              <a:latin typeface="Verdana" pitchFamily="34" charset="0"/>
                              <a:ea typeface="Verdana" pitchFamily="34" charset="0"/>
                              <a:cs typeface="Verdana" pitchFamily="34" charset="0"/>
                            </a:rPr>
                            <a:t>on this line.</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16</a:t>
            </a:fld>
            <a:endParaRPr lang="en-US" dirty="0"/>
          </a:p>
        </p:txBody>
      </p:sp>
      <p:sp>
        <p:nvSpPr>
          <p:cNvPr id="4" name="Rectangle 3"/>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791456" y="188879"/>
            <a:ext cx="2906565" cy="338554"/>
          </a:xfrm>
          <a:prstGeom prst="rect">
            <a:avLst/>
          </a:prstGeom>
          <a:solidFill>
            <a:srgbClr val="99FFCC"/>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Minimum mode signals</a:t>
            </a:r>
          </a:p>
        </p:txBody>
      </p:sp>
    </p:spTree>
    <p:extLst>
      <p:ext uri="{BB962C8B-B14F-4D97-AF65-F5344CB8AC3E}">
        <p14:creationId xmlns:p14="http://schemas.microsoft.com/office/powerpoint/2010/main" val="209310111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par>
                                <p:cTn id="16" presetID="42" presetClass="path" presetSubtype="0" accel="50000" decel="50000" fill="hold" grpId="1" nodeType="withEffect">
                                  <p:stCondLst>
                                    <p:cond delay="0"/>
                                  </p:stCondLst>
                                  <p:childTnLst>
                                    <p:animMotion origin="layout" path="M 2.77778E-6 1.85185E-6 L 2.77778E-6 0.03171 " pathEditMode="relative" rAng="0" ptsTypes="AA">
                                      <p:cBhvr>
                                        <p:cTn id="17" dur="500" fill="hold"/>
                                        <p:tgtEl>
                                          <p:spTgt spid="44"/>
                                        </p:tgtEl>
                                        <p:attrNameLst>
                                          <p:attrName>ppt_x</p:attrName>
                                          <p:attrName>ppt_y</p:attrName>
                                        </p:attrNameLst>
                                      </p:cBhvr>
                                      <p:rCtr x="0" y="1574"/>
                                    </p:animMotion>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42" presetClass="path" presetSubtype="0" accel="50000" decel="50000" fill="hold" grpId="2" nodeType="withEffect">
                                  <p:stCondLst>
                                    <p:cond delay="0"/>
                                  </p:stCondLst>
                                  <p:childTnLst>
                                    <p:animMotion origin="layout" path="M 2.77778E-6 0.03171 L 2.77778E-6 0.06342 " pathEditMode="relative" rAng="0" ptsTypes="AA">
                                      <p:cBhvr>
                                        <p:cTn id="24" dur="500" fill="hold"/>
                                        <p:tgtEl>
                                          <p:spTgt spid="44"/>
                                        </p:tgtEl>
                                        <p:attrNameLst>
                                          <p:attrName>ppt_x</p:attrName>
                                          <p:attrName>ppt_y</p:attrName>
                                        </p:attrNameLst>
                                      </p:cBhvr>
                                      <p:rCtr x="0" y="1574"/>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64" presetClass="path" presetSubtype="0" accel="50000" decel="50000" fill="hold" grpId="3" nodeType="withEffect">
                                  <p:stCondLst>
                                    <p:cond delay="0"/>
                                  </p:stCondLst>
                                  <p:childTnLst>
                                    <p:animMotion origin="layout" path="M 2.77778E-6 0.06412 L 2.77778E-6 -0.03588 " pathEditMode="relative" rAng="0" ptsTypes="AA">
                                      <p:cBhvr>
                                        <p:cTn id="31" dur="500" fill="hold"/>
                                        <p:tgtEl>
                                          <p:spTgt spid="44"/>
                                        </p:tgtEl>
                                        <p:attrNameLst>
                                          <p:attrName>ppt_x</p:attrName>
                                          <p:attrName>ppt_y</p:attrName>
                                        </p:attrNameLst>
                                      </p:cBhvr>
                                      <p:rCtr x="0" y="-5000"/>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par>
                                <p:cTn id="37" presetID="64" presetClass="path" presetSubtype="0" accel="50000" decel="50000" fill="hold" grpId="4" nodeType="withEffect">
                                  <p:stCondLst>
                                    <p:cond delay="0"/>
                                  </p:stCondLst>
                                  <p:childTnLst>
                                    <p:animMotion origin="layout" path="M 2.77778E-6 -0.03496 L 2.77778E-6 -0.0581 " pathEditMode="relative" rAng="0" ptsTypes="AA">
                                      <p:cBhvr>
                                        <p:cTn id="38" dur="500" fill="hold"/>
                                        <p:tgtEl>
                                          <p:spTgt spid="44"/>
                                        </p:tgtEl>
                                        <p:attrNameLst>
                                          <p:attrName>ppt_x</p:attrName>
                                          <p:attrName>ppt_y</p:attrName>
                                        </p:attrNameLst>
                                      </p:cBhvr>
                                      <p:rCtr x="0" y="-1157"/>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par>
                                <p:cTn id="44" presetID="42" presetClass="path" presetSubtype="0" accel="50000" decel="50000" fill="hold" grpId="5" nodeType="withEffect">
                                  <p:stCondLst>
                                    <p:cond delay="0"/>
                                  </p:stCondLst>
                                  <p:childTnLst>
                                    <p:animMotion origin="layout" path="M 2.77778E-6 -0.05648 L 2.77778E-6 0.08819 " pathEditMode="relative" rAng="0" ptsTypes="AA">
                                      <p:cBhvr>
                                        <p:cTn id="45" dur="500" fill="hold"/>
                                        <p:tgtEl>
                                          <p:spTgt spid="44"/>
                                        </p:tgtEl>
                                        <p:attrNameLst>
                                          <p:attrName>ppt_x</p:attrName>
                                          <p:attrName>ppt_y</p:attrName>
                                        </p:attrNameLst>
                                      </p:cBhvr>
                                      <p:rCtr x="0" y="722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4" grpId="2" animBg="1"/>
      <p:bldP spid="44" grpId="3" animBg="1"/>
      <p:bldP spid="44" grpId="4" animBg="1"/>
      <p:bldP spid="44" grpId="5"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3733800"/>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7" name="Table 46"/>
          <p:cNvGraphicFramePr>
            <a:graphicFrameLocks noGrp="1"/>
          </p:cNvGraphicFramePr>
          <p:nvPr/>
        </p:nvGraphicFramePr>
        <p:xfrm>
          <a:off x="3385457" y="2362200"/>
          <a:ext cx="5529943" cy="100584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HOLD</a:t>
                      </a:r>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Input signal to the processor form the</a:t>
                      </a:r>
                      <a:r>
                        <a:rPr lang="en-US" sz="1200" baseline="0" dirty="0">
                          <a:solidFill>
                            <a:sysClr val="windowText" lastClr="000000"/>
                          </a:solidFill>
                          <a:latin typeface="Verdana" pitchFamily="34" charset="0"/>
                          <a:ea typeface="Verdana" pitchFamily="34" charset="0"/>
                          <a:cs typeface="Verdana" pitchFamily="34" charset="0"/>
                        </a:rPr>
                        <a:t> bus masters as a request to grant the control of the bus.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Usually used by the DMA controller to get the control of the bus.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p:graphicFrame>
        <p:nvGraphicFramePr>
          <p:cNvPr id="49" name="Table 48"/>
          <p:cNvGraphicFramePr>
            <a:graphicFrameLocks noGrp="1"/>
          </p:cNvGraphicFramePr>
          <p:nvPr/>
        </p:nvGraphicFramePr>
        <p:xfrm>
          <a:off x="3385457" y="3764280"/>
          <a:ext cx="5529943" cy="118872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HLDA</a:t>
                      </a: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Hold Acknowledge</a:t>
                      </a:r>
                      <a:r>
                        <a:rPr lang="en-US" sz="1200" dirty="0">
                          <a:solidFill>
                            <a:sysClr val="windowText" lastClr="000000"/>
                          </a:solidFill>
                          <a:latin typeface="Verdana" pitchFamily="34" charset="0"/>
                          <a:ea typeface="Verdana" pitchFamily="34" charset="0"/>
                          <a:cs typeface="Verdana" pitchFamily="34" charset="0"/>
                        </a:rPr>
                        <a:t>) Acknowledge</a:t>
                      </a:r>
                      <a:r>
                        <a:rPr lang="en-US" sz="1200" baseline="0" dirty="0">
                          <a:solidFill>
                            <a:sysClr val="windowText" lastClr="000000"/>
                          </a:solidFill>
                          <a:latin typeface="Verdana" pitchFamily="34" charset="0"/>
                          <a:ea typeface="Verdana" pitchFamily="34" charset="0"/>
                          <a:cs typeface="Verdana" pitchFamily="34" charset="0"/>
                        </a:rPr>
                        <a:t> signal by the processor to the bus master requesting the control of the bus through HOLD.</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dirty="0">
                          <a:solidFill>
                            <a:sysClr val="windowText" lastClr="000000"/>
                          </a:solidFill>
                          <a:latin typeface="Verdana" pitchFamily="34" charset="0"/>
                          <a:ea typeface="Verdana" pitchFamily="34" charset="0"/>
                          <a:cs typeface="Verdana" pitchFamily="34" charset="0"/>
                        </a:rPr>
                        <a:t>The acknowledge</a:t>
                      </a:r>
                      <a:r>
                        <a:rPr lang="en-US" sz="1200" baseline="0" dirty="0">
                          <a:solidFill>
                            <a:sysClr val="windowText" lastClr="000000"/>
                          </a:solidFill>
                          <a:latin typeface="Verdana" pitchFamily="34" charset="0"/>
                          <a:ea typeface="Verdana" pitchFamily="34" charset="0"/>
                          <a:cs typeface="Verdana" pitchFamily="34" charset="0"/>
                        </a:rPr>
                        <a:t> is asserted high, when the processor accepts HOLD.</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p:sp>
        <p:nvSpPr>
          <p:cNvPr id="48" name="Slide Number Placeholder 47"/>
          <p:cNvSpPr>
            <a:spLocks noGrp="1"/>
          </p:cNvSpPr>
          <p:nvPr>
            <p:ph type="sldNum" sz="quarter" idx="12"/>
          </p:nvPr>
        </p:nvSpPr>
        <p:spPr/>
        <p:txBody>
          <a:bodyPr/>
          <a:lstStyle/>
          <a:p>
            <a:fld id="{85E6815B-E59C-4D87-B1F6-ECBDD22AF1DC}" type="slidenum">
              <a:rPr lang="en-US" smtClean="0"/>
              <a:pPr/>
              <a:t>17</a:t>
            </a:fld>
            <a:endParaRPr lang="en-US" dirty="0"/>
          </a:p>
        </p:txBody>
      </p:sp>
      <p:sp>
        <p:nvSpPr>
          <p:cNvPr id="10" name="Rectangle 9"/>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791456" y="188879"/>
            <a:ext cx="2906565" cy="338554"/>
          </a:xfrm>
          <a:prstGeom prst="rect">
            <a:avLst/>
          </a:prstGeom>
          <a:solidFill>
            <a:srgbClr val="99FFCC"/>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Minimum mode signals</a:t>
            </a:r>
          </a:p>
        </p:txBody>
      </p:sp>
      <mc:AlternateContent xmlns:mc="http://schemas.openxmlformats.org/markup-compatibility/2006" xmlns:a14="http://schemas.microsoft.com/office/drawing/2010/main">
        <mc:Choice Requires="a14">
          <p:sp>
            <p:nvSpPr>
              <p:cNvPr id="15" name="TextBox 1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8086 itself generates all the bus control signals</a:t>
                </a:r>
              </a:p>
            </p:txBody>
          </p:sp>
        </mc:Choice>
        <mc:Fallback xmlns="">
          <p:sp>
            <p:nvSpPr>
              <p:cNvPr id="15" name="TextBox 1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rotWithShape="1">
                <a:blip r:embed="rId4"/>
                <a:stretch>
                  <a:fillRect t="-441" b="-3524"/>
                </a:stretch>
              </a:blipFill>
            </p:spPr>
            <p:txBody>
              <a:bodyPr/>
              <a:lstStyle/>
              <a:p>
                <a:r>
                  <a:rPr lang="en-US">
                    <a:noFill/>
                  </a:rPr>
                  <a:t> </a:t>
                </a:r>
              </a:p>
            </p:txBody>
          </p:sp>
        </mc:Fallback>
      </mc:AlternateContent>
    </p:spTree>
    <p:extLst>
      <p:ext uri="{BB962C8B-B14F-4D97-AF65-F5344CB8AC3E}">
        <p14:creationId xmlns:p14="http://schemas.microsoft.com/office/powerpoint/2010/main" val="359561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42" presetClass="path" presetSubtype="0" accel="50000" decel="50000" fill="hold" grpId="0" nodeType="withEffect">
                                  <p:stCondLst>
                                    <p:cond delay="0"/>
                                  </p:stCondLst>
                                  <p:childTnLst>
                                    <p:animMotion origin="layout" path="M 2.77778E-6 0.00463 L 2.77778E-6 0.03148 " pathEditMode="relative" rAng="0" ptsTypes="AA">
                                      <p:cBhvr>
                                        <p:cTn id="9" dur="500" fill="hold"/>
                                        <p:tgtEl>
                                          <p:spTgt spid="44"/>
                                        </p:tgtEl>
                                        <p:attrNameLst>
                                          <p:attrName>ppt_x</p:attrName>
                                          <p:attrName>ppt_y</p:attrName>
                                        </p:attrNameLst>
                                      </p:cBhvr>
                                      <p:rCtr x="0" y="13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338891"/>
            <a:ext cx="1424940" cy="627902"/>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𝟏</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𝟐</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rgbClr val="FF0066"/>
                              </a:solidFill>
                              <a:latin typeface="Verdana" pitchFamily="34" charset="0"/>
                              <a:ea typeface="Verdana" pitchFamily="34" charset="0"/>
                              <a:cs typeface="Verdana" pitchFamily="34" charset="0"/>
                            </a:rPr>
                            <a:t>Status signals</a:t>
                          </a:r>
                          <a:r>
                            <a:rPr lang="en-US" sz="1200" dirty="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2094630352"/>
                  </p:ext>
                </p:extLst>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a:p>
                      </a:txBody>
                      <a:tcPr>
                        <a:blipFill rotWithShape="1">
                          <a:blip r:embed="rId4"/>
                          <a:stretch>
                            <a:fillRect r="-489610" b="-7619"/>
                          </a:stretch>
                        </a:blipFill>
                      </a:tcPr>
                    </a:tc>
                    <a:tc>
                      <a:txBody>
                        <a:bodyPr/>
                        <a:lstStyle/>
                        <a:p>
                          <a:r>
                            <a:rPr lang="en-US" sz="1200" dirty="0" smtClean="0">
                              <a:solidFill>
                                <a:srgbClr val="FF0066"/>
                              </a:solidFill>
                              <a:latin typeface="Verdana" pitchFamily="34" charset="0"/>
                              <a:ea typeface="Verdana" pitchFamily="34" charset="0"/>
                              <a:cs typeface="Verdana" pitchFamily="34" charset="0"/>
                            </a:rPr>
                            <a:t>Status signals</a:t>
                          </a:r>
                          <a:r>
                            <a:rPr lang="en-US" sz="1200" dirty="0" smtClean="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smtClean="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18</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41837" y="2911474"/>
            <a:ext cx="3108325" cy="31083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46314595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952999"/>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15544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𝑸𝑺</m:t>
                                      </m:r>
                                    </m:e>
                                    <m:sub>
                                      <m:r>
                                        <a:rPr lang="en-US" sz="1200" b="1" i="1"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1" smtClean="0">
                                      <a:solidFill>
                                        <a:srgbClr val="FF0066"/>
                                      </a:solidFill>
                                      <a:latin typeface="Cambria Math"/>
                                    </a:rPr>
                                    <m:t>𝑸</m:t>
                                  </m:r>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00"/>
                              </a:solidFill>
                              <a:latin typeface="Verdana" pitchFamily="34" charset="0"/>
                              <a:ea typeface="Verdana" pitchFamily="34" charset="0"/>
                              <a:cs typeface="Verdana" pitchFamily="34" charset="0"/>
                            </a:rPr>
                            <a:t>Queue Status</a:t>
                          </a:r>
                          <a:r>
                            <a:rPr lang="en-US" sz="1200" dirty="0">
                              <a:solidFill>
                                <a:sysClr val="windowText" lastClr="000000"/>
                              </a:solidFill>
                              <a:latin typeface="Verdana" pitchFamily="34" charset="0"/>
                              <a:ea typeface="Verdana" pitchFamily="34" charset="0"/>
                              <a:cs typeface="Verdana" pitchFamily="34" charset="0"/>
                            </a:rPr>
                            <a:t>) The processor provides the status of queue in these</a:t>
                          </a:r>
                          <a:r>
                            <a:rPr lang="en-US" sz="1200" baseline="0" dirty="0">
                              <a:solidFill>
                                <a:sysClr val="windowText" lastClr="000000"/>
                              </a:solidFill>
                              <a:latin typeface="Verdana" pitchFamily="34" charset="0"/>
                              <a:ea typeface="Verdana" pitchFamily="34" charset="0"/>
                              <a:cs typeface="Verdana" pitchFamily="34" charset="0"/>
                            </a:rPr>
                            <a:t> lines.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queue status can be used by external device to track the internal status of the queue in 8086.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output on QS</a:t>
                          </a:r>
                          <a:r>
                            <a:rPr lang="en-US" sz="1200" baseline="-25000" dirty="0">
                              <a:solidFill>
                                <a:sysClr val="windowText" lastClr="000000"/>
                              </a:solidFill>
                              <a:latin typeface="Verdana" pitchFamily="34" charset="0"/>
                              <a:ea typeface="Verdana" pitchFamily="34" charset="0"/>
                              <a:cs typeface="Verdana" pitchFamily="34" charset="0"/>
                            </a:rPr>
                            <a:t>0</a:t>
                          </a:r>
                          <a:r>
                            <a:rPr lang="en-US" sz="1200" baseline="0" dirty="0">
                              <a:solidFill>
                                <a:sysClr val="windowText" lastClr="000000"/>
                              </a:solidFill>
                              <a:latin typeface="Verdana" pitchFamily="34" charset="0"/>
                              <a:ea typeface="Verdana" pitchFamily="34" charset="0"/>
                              <a:cs typeface="Verdana" pitchFamily="34" charset="0"/>
                            </a:rPr>
                            <a:t> and QS</a:t>
                          </a:r>
                          <a:r>
                            <a:rPr lang="en-US" sz="1200" baseline="-25000" dirty="0">
                              <a:solidFill>
                                <a:sysClr val="windowText" lastClr="000000"/>
                              </a:solidFill>
                              <a:latin typeface="Verdana" pitchFamily="34" charset="0"/>
                              <a:ea typeface="Verdana" pitchFamily="34" charset="0"/>
                              <a:cs typeface="Verdana" pitchFamily="34" charset="0"/>
                            </a:rPr>
                            <a:t>1</a:t>
                          </a:r>
                          <a:r>
                            <a:rPr lang="en-US" sz="1200" baseline="0" dirty="0">
                              <a:solidFill>
                                <a:sysClr val="windowText" lastClr="000000"/>
                              </a:solidFill>
                              <a:latin typeface="Verdana" pitchFamily="34" charset="0"/>
                              <a:ea typeface="Verdana" pitchFamily="34" charset="0"/>
                              <a:cs typeface="Verdana" pitchFamily="34" charset="0"/>
                            </a:rPr>
                            <a:t> can be interpreted as shown in the table.</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2786467240"/>
                  </p:ext>
                </p:extLst>
              </p:nvPr>
            </p:nvGraphicFramePr>
            <p:xfrm>
              <a:off x="3385457" y="2133600"/>
              <a:ext cx="5529943" cy="1554480"/>
            </p:xfrm>
            <a:graphic>
              <a:graphicData uri="http://schemas.openxmlformats.org/drawingml/2006/table">
                <a:tbl>
                  <a:tblPr firstRow="1" bandRow="1">
                    <a:tableStyleId>{5C22544A-7EE6-4342-B048-85BDC9FD1C3A}</a:tableStyleId>
                  </a:tblPr>
                  <a:tblGrid>
                    <a:gridCol w="938115"/>
                    <a:gridCol w="4591828"/>
                  </a:tblGrid>
                  <a:tr h="1554480">
                    <a:tc>
                      <a:txBody>
                        <a:bodyPr/>
                        <a:lstStyle/>
                        <a:p>
                          <a:endParaRPr lang="en-US"/>
                        </a:p>
                      </a:txBody>
                      <a:tcPr>
                        <a:blipFill rotWithShape="1">
                          <a:blip r:embed="rId4"/>
                          <a:stretch>
                            <a:fillRect r="-489610" b="-3137"/>
                          </a:stretch>
                        </a:blipFill>
                      </a:tcPr>
                    </a:tc>
                    <a:tc>
                      <a:txBody>
                        <a:bodyPr/>
                        <a:lstStyle/>
                        <a:p>
                          <a:pPr algn="just"/>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00"/>
                              </a:solidFill>
                              <a:latin typeface="Verdana" pitchFamily="34" charset="0"/>
                              <a:ea typeface="Verdana" pitchFamily="34" charset="0"/>
                              <a:cs typeface="Verdana" pitchFamily="34" charset="0"/>
                            </a:rPr>
                            <a:t>Queue Status</a:t>
                          </a:r>
                          <a:r>
                            <a:rPr lang="en-US" sz="1200" dirty="0" smtClean="0">
                              <a:solidFill>
                                <a:sysClr val="windowText" lastClr="000000"/>
                              </a:solidFill>
                              <a:latin typeface="Verdana" pitchFamily="34" charset="0"/>
                              <a:ea typeface="Verdana" pitchFamily="34" charset="0"/>
                              <a:cs typeface="Verdana" pitchFamily="34" charset="0"/>
                            </a:rPr>
                            <a:t>) The processor provides the status of queue in these</a:t>
                          </a:r>
                          <a:r>
                            <a:rPr lang="en-US" sz="1200" baseline="0" dirty="0" smtClean="0">
                              <a:solidFill>
                                <a:sysClr val="windowText" lastClr="000000"/>
                              </a:solidFill>
                              <a:latin typeface="Verdana" pitchFamily="34" charset="0"/>
                              <a:ea typeface="Verdana" pitchFamily="34" charset="0"/>
                              <a:cs typeface="Verdana" pitchFamily="34" charset="0"/>
                            </a:rPr>
                            <a:t> lines. </a:t>
                          </a:r>
                        </a:p>
                        <a:p>
                          <a:pPr algn="just"/>
                          <a:endParaRPr lang="en-US" sz="1200" baseline="0" dirty="0" smtClean="0">
                            <a:solidFill>
                              <a:sysClr val="windowText" lastClr="000000"/>
                            </a:solidFill>
                            <a:latin typeface="Verdana" pitchFamily="34" charset="0"/>
                            <a:ea typeface="Verdana" pitchFamily="34" charset="0"/>
                            <a:cs typeface="Verdana" pitchFamily="34" charset="0"/>
                          </a:endParaRPr>
                        </a:p>
                        <a:p>
                          <a:pPr algn="just"/>
                          <a:r>
                            <a:rPr lang="en-US" sz="1200" baseline="0" dirty="0" smtClean="0">
                              <a:solidFill>
                                <a:sysClr val="windowText" lastClr="000000"/>
                              </a:solidFill>
                              <a:latin typeface="Verdana" pitchFamily="34" charset="0"/>
                              <a:ea typeface="Verdana" pitchFamily="34" charset="0"/>
                              <a:cs typeface="Verdana" pitchFamily="34" charset="0"/>
                            </a:rPr>
                            <a:t>The queue status can be used by external device to track the internal status of the queue in 8086. </a:t>
                          </a:r>
                        </a:p>
                        <a:p>
                          <a:pPr algn="just"/>
                          <a:endParaRPr lang="en-US" sz="1200" baseline="0" dirty="0" smtClean="0">
                            <a:solidFill>
                              <a:sysClr val="windowText" lastClr="000000"/>
                            </a:solidFill>
                            <a:latin typeface="Verdana" pitchFamily="34" charset="0"/>
                            <a:ea typeface="Verdana" pitchFamily="34" charset="0"/>
                            <a:cs typeface="Verdana" pitchFamily="34" charset="0"/>
                          </a:endParaRPr>
                        </a:p>
                        <a:p>
                          <a:pPr algn="just"/>
                          <a:r>
                            <a:rPr lang="en-US" sz="1200" baseline="0" dirty="0" smtClean="0">
                              <a:solidFill>
                                <a:sysClr val="windowText" lastClr="000000"/>
                              </a:solidFill>
                              <a:latin typeface="Verdana" pitchFamily="34" charset="0"/>
                              <a:ea typeface="Verdana" pitchFamily="34" charset="0"/>
                              <a:cs typeface="Verdana" pitchFamily="34" charset="0"/>
                            </a:rPr>
                            <a:t>The output on QS</a:t>
                          </a:r>
                          <a:r>
                            <a:rPr lang="en-US" sz="1200" baseline="-25000" dirty="0" smtClean="0">
                              <a:solidFill>
                                <a:sysClr val="windowText" lastClr="000000"/>
                              </a:solidFill>
                              <a:latin typeface="Verdana" pitchFamily="34" charset="0"/>
                              <a:ea typeface="Verdana" pitchFamily="34" charset="0"/>
                              <a:cs typeface="Verdana" pitchFamily="34" charset="0"/>
                            </a:rPr>
                            <a:t>0</a:t>
                          </a:r>
                          <a:r>
                            <a:rPr lang="en-US" sz="1200" baseline="0" dirty="0" smtClean="0">
                              <a:solidFill>
                                <a:sysClr val="windowText" lastClr="000000"/>
                              </a:solidFill>
                              <a:latin typeface="Verdana" pitchFamily="34" charset="0"/>
                              <a:ea typeface="Verdana" pitchFamily="34" charset="0"/>
                              <a:cs typeface="Verdana" pitchFamily="34" charset="0"/>
                            </a:rPr>
                            <a:t> and QS</a:t>
                          </a:r>
                          <a:r>
                            <a:rPr lang="en-US" sz="1200" baseline="-25000" dirty="0" smtClean="0">
                              <a:solidFill>
                                <a:sysClr val="windowText" lastClr="000000"/>
                              </a:solidFill>
                              <a:latin typeface="Verdana" pitchFamily="34" charset="0"/>
                              <a:ea typeface="Verdana" pitchFamily="34" charset="0"/>
                              <a:cs typeface="Verdana" pitchFamily="34" charset="0"/>
                            </a:rPr>
                            <a:t>1</a:t>
                          </a:r>
                          <a:r>
                            <a:rPr lang="en-US" sz="1200" baseline="0" dirty="0" smtClean="0">
                              <a:solidFill>
                                <a:sysClr val="windowText" lastClr="000000"/>
                              </a:solidFill>
                              <a:latin typeface="Verdana" pitchFamily="34" charset="0"/>
                              <a:ea typeface="Verdana" pitchFamily="34" charset="0"/>
                              <a:cs typeface="Verdana" pitchFamily="34" charset="0"/>
                            </a:rPr>
                            <a:t> can be interpreted as shown in the table.</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19</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62400" y="3914775"/>
            <a:ext cx="4344504" cy="21050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409948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828800" y="4133851"/>
            <a:ext cx="1424940" cy="213938"/>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1802130" y="3725023"/>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155486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Bus Request/ Bus Grant</a:t>
                          </a:r>
                          <a:r>
                            <a:rPr lang="en-US" sz="1200" dirty="0">
                              <a:solidFill>
                                <a:sysClr val="windowText" lastClr="000000"/>
                              </a:solidFill>
                              <a:latin typeface="Verdana" pitchFamily="34" charset="0"/>
                              <a:ea typeface="Verdana" pitchFamily="34" charset="0"/>
                              <a:cs typeface="Verdana" pitchFamily="34" charset="0"/>
                            </a:rPr>
                            <a:t>) These requests are used by other local bus masters to force the processor to release the local bus</a:t>
                          </a:r>
                          <a:r>
                            <a:rPr lang="en-US" sz="1200" baseline="0" dirty="0">
                              <a:solidFill>
                                <a:sysClr val="windowText" lastClr="000000"/>
                              </a:solidFill>
                              <a:latin typeface="Verdana" pitchFamily="34" charset="0"/>
                              <a:ea typeface="Verdana" pitchFamily="34" charset="0"/>
                              <a:cs typeface="Verdana" pitchFamily="34" charset="0"/>
                            </a:rPr>
                            <a:t> at the end of the processor’s current bus cycle.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These pins are bidirectional.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The request on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dirty="0">
                              <a:solidFill>
                                <a:sysClr val="windowText" lastClr="000000"/>
                              </a:solidFill>
                              <a:latin typeface="Verdana" pitchFamily="34" charset="0"/>
                              <a:ea typeface="Verdana" pitchFamily="34" charset="0"/>
                              <a:cs typeface="Verdana" pitchFamily="34" charset="0"/>
                            </a:rPr>
                            <a:t> will have higher priority than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3328042336"/>
                  </p:ext>
                </p:extLst>
              </p:nvPr>
            </p:nvGraphicFramePr>
            <p:xfrm>
              <a:off x="3385457" y="2133600"/>
              <a:ext cx="5529943" cy="1738122"/>
            </p:xfrm>
            <a:graphic>
              <a:graphicData uri="http://schemas.openxmlformats.org/drawingml/2006/table">
                <a:tbl>
                  <a:tblPr firstRow="1" bandRow="1">
                    <a:tableStyleId>{5C22544A-7EE6-4342-B048-85BDC9FD1C3A}</a:tableStyleId>
                  </a:tblPr>
                  <a:tblGrid>
                    <a:gridCol w="938115"/>
                    <a:gridCol w="4591828"/>
                  </a:tblGrid>
                  <a:tr h="1738122">
                    <a:tc>
                      <a:txBody>
                        <a:bodyPr/>
                        <a:lstStyle/>
                        <a:p>
                          <a:endParaRPr lang="en-US"/>
                        </a:p>
                      </a:txBody>
                      <a:tcPr>
                        <a:blipFill rotWithShape="1">
                          <a:blip r:embed="rId4"/>
                          <a:stretch>
                            <a:fillRect r="-489610" b="-351"/>
                          </a:stretch>
                        </a:blipFill>
                      </a:tcPr>
                    </a:tc>
                    <a:tc>
                      <a:txBody>
                        <a:bodyPr/>
                        <a:lstStyle/>
                        <a:p>
                          <a:endParaRPr lang="en-US"/>
                        </a:p>
                      </a:txBody>
                      <a:tcPr>
                        <a:blipFill rotWithShape="1">
                          <a:blip r:embed="rId4"/>
                          <a:stretch>
                            <a:fillRect l="-20424" b="-351"/>
                          </a:stretch>
                        </a:blip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20</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nvGraphicFramePr>
            <p:xfrm>
              <a:off x="3385457" y="4144899"/>
              <a:ext cx="5529943" cy="210350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𝐋𝐎𝐂𝐊</m:t>
                                    </m:r>
                                  </m:e>
                                </m:acc>
                              </m:oMath>
                            </m:oMathPara>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i="0" dirty="0">
                              <a:solidFill>
                                <a:sysClr val="windowText" lastClr="000000"/>
                              </a:solidFill>
                              <a:latin typeface="Verdana" pitchFamily="34" charset="0"/>
                              <a:ea typeface="Verdana" pitchFamily="34" charset="0"/>
                              <a:cs typeface="Verdana" pitchFamily="34" charset="0"/>
                            </a:rPr>
                            <a:t>An</a:t>
                          </a:r>
                          <a:r>
                            <a:rPr lang="en-US" sz="1200" i="0" baseline="0" dirty="0">
                              <a:solidFill>
                                <a:sysClr val="windowText" lastClr="000000"/>
                              </a:solidFill>
                              <a:latin typeface="Verdana" pitchFamily="34" charset="0"/>
                              <a:ea typeface="Verdana" pitchFamily="34" charset="0"/>
                              <a:cs typeface="Verdana" pitchFamily="34" charset="0"/>
                            </a:rPr>
                            <a:t> output signal activated by the LOCK prefix instruction.</a:t>
                          </a:r>
                        </a:p>
                        <a:p>
                          <a:pPr algn="just"/>
                          <a:endParaRPr lang="en-US" sz="1200" i="0" baseline="0" dirty="0">
                            <a:solidFill>
                              <a:sysClr val="windowText" lastClr="000000"/>
                            </a:solidFill>
                            <a:latin typeface="Verdana" pitchFamily="34" charset="0"/>
                            <a:ea typeface="Verdana" pitchFamily="34" charset="0"/>
                            <a:cs typeface="Verdana" pitchFamily="34" charset="0"/>
                          </a:endParaRPr>
                        </a:p>
                        <a:p>
                          <a:pPr algn="just"/>
                          <a:r>
                            <a:rPr lang="en-US" sz="1200" i="0" baseline="0" dirty="0">
                              <a:solidFill>
                                <a:sysClr val="windowText" lastClr="000000"/>
                              </a:solidFill>
                              <a:latin typeface="Verdana" pitchFamily="34" charset="0"/>
                              <a:ea typeface="Verdana" pitchFamily="34" charset="0"/>
                              <a:cs typeface="Verdana" pitchFamily="34" charset="0"/>
                            </a:rPr>
                            <a:t>Remains active until the completion of the instruction prefixed by LOCK.</a:t>
                          </a:r>
                        </a:p>
                        <a:p>
                          <a:pPr algn="just"/>
                          <a:endParaRPr lang="en-US" sz="1200" i="0" baseline="0" dirty="0">
                            <a:solidFill>
                              <a:sysClr val="windowText" lastClr="000000"/>
                            </a:solidFill>
                            <a:latin typeface="Verdana" pitchFamily="34" charset="0"/>
                            <a:ea typeface="Verdana" pitchFamily="34" charset="0"/>
                            <a:cs typeface="Verdana"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i="0" baseline="0" dirty="0">
                              <a:solidFill>
                                <a:sysClr val="windowText" lastClr="000000"/>
                              </a:solidFill>
                              <a:latin typeface="Verdana" pitchFamily="34" charset="0"/>
                              <a:ea typeface="Verdana" pitchFamily="34" charset="0"/>
                              <a:cs typeface="Verdana" pitchFamily="34" charset="0"/>
                            </a:rPr>
                            <a:t>The 8086 output low on the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𝐋𝐎𝐂𝐊</m:t>
                                  </m:r>
                                </m:e>
                              </m:acc>
                            </m:oMath>
                          </a14:m>
                          <a:r>
                            <a:rPr lang="en-US" sz="1200" i="0" dirty="0">
                              <a:solidFill>
                                <a:sysClr val="windowText" lastClr="000000"/>
                              </a:solidFill>
                              <a:latin typeface="Verdana" pitchFamily="34" charset="0"/>
                              <a:ea typeface="Verdana" pitchFamily="34" charset="0"/>
                              <a:cs typeface="Verdana" pitchFamily="34" charset="0"/>
                            </a:rPr>
                            <a:t> pin while executing an instruction prefixed by LOCK to </a:t>
                          </a:r>
                          <a:r>
                            <a:rPr lang="en-US" sz="1200" i="0" u="sng" dirty="0">
                              <a:solidFill>
                                <a:sysClr val="windowText" lastClr="000000"/>
                              </a:solidFill>
                              <a:latin typeface="Verdana" pitchFamily="34" charset="0"/>
                              <a:ea typeface="Verdana" pitchFamily="34" charset="0"/>
                              <a:cs typeface="Verdana" pitchFamily="34" charset="0"/>
                            </a:rPr>
                            <a:t>prevent other bus masters from gaining control of the system bus.</a:t>
                          </a:r>
                        </a:p>
                        <a:p>
                          <a:endParaRPr lang="en-US" sz="1200" i="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xmlns="" xmlns:a14="http://schemas.microsoft.com/office/drawing/2010/main" val="4010108024"/>
                  </p:ext>
                </p:extLst>
              </p:nvPr>
            </p:nvGraphicFramePr>
            <p:xfrm>
              <a:off x="3385457" y="4144899"/>
              <a:ext cx="5529943" cy="2103501"/>
            </p:xfrm>
            <a:graphic>
              <a:graphicData uri="http://schemas.openxmlformats.org/drawingml/2006/table">
                <a:tbl>
                  <a:tblPr firstRow="1" bandRow="1">
                    <a:tableStyleId>{5C22544A-7EE6-4342-B048-85BDC9FD1C3A}</a:tableStyleId>
                  </a:tblPr>
                  <a:tblGrid>
                    <a:gridCol w="938115"/>
                    <a:gridCol w="4591828"/>
                  </a:tblGrid>
                  <a:tr h="2103501">
                    <a:tc>
                      <a:txBody>
                        <a:bodyPr/>
                        <a:lstStyle/>
                        <a:p>
                          <a:endParaRPr lang="en-US"/>
                        </a:p>
                      </a:txBody>
                      <a:tcPr>
                        <a:blipFill rotWithShape="1">
                          <a:blip r:embed="rId6"/>
                          <a:stretch>
                            <a:fillRect t="-290" r="-489610"/>
                          </a:stretch>
                        </a:blipFill>
                      </a:tcPr>
                    </a:tc>
                    <a:tc>
                      <a:txBody>
                        <a:bodyPr/>
                        <a:lstStyle/>
                        <a:p>
                          <a:endParaRPr lang="en-US"/>
                        </a:p>
                      </a:txBody>
                      <a:tcPr>
                        <a:blipFill rotWithShape="1">
                          <a:blip r:embed="rId6"/>
                          <a:stretch>
                            <a:fillRect l="-20424" t="-290"/>
                          </a:stretch>
                        </a:blipFill>
                      </a:tcPr>
                    </a:tc>
                  </a:tr>
                </a:tbl>
              </a:graphicData>
            </a:graphic>
          </p:graphicFrame>
        </mc:Fallback>
      </mc:AlternateContent>
      <p:sp>
        <p:nvSpPr>
          <p:cNvPr id="18" name="Rectangle 17"/>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18032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 presetClass="exit"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Memories</a:t>
            </a:r>
          </a:p>
        </p:txBody>
      </p:sp>
      <p:sp>
        <p:nvSpPr>
          <p:cNvPr id="25603" name="Content Placeholder 2"/>
          <p:cNvSpPr>
            <a:spLocks noGrp="1"/>
          </p:cNvSpPr>
          <p:nvPr>
            <p:ph idx="1"/>
          </p:nvPr>
        </p:nvSpPr>
        <p:spPr>
          <a:xfrm>
            <a:off x="436563" y="1125538"/>
            <a:ext cx="8229600" cy="4906962"/>
          </a:xfrm>
        </p:spPr>
        <p:txBody>
          <a:bodyPr/>
          <a:lstStyle/>
          <a:p>
            <a:r>
              <a:rPr lang="en-US" altLang="en-US" sz="2800" dirty="0"/>
              <a:t>Every microprocessor-based system has memories</a:t>
            </a:r>
          </a:p>
          <a:p>
            <a:r>
              <a:rPr lang="en-US" altLang="en-US" sz="2800" dirty="0"/>
              <a:t>Semiconductor memories are used as primary storage of data and code</a:t>
            </a:r>
          </a:p>
          <a:p>
            <a:r>
              <a:rPr lang="en-US" altLang="en-US" sz="2800" dirty="0"/>
              <a:t>These memories are directly connected to CPU</a:t>
            </a:r>
          </a:p>
          <a:p>
            <a:r>
              <a:rPr lang="en-US" altLang="en-US" sz="2800" dirty="0"/>
              <a:t>Two main type of memories</a:t>
            </a:r>
          </a:p>
          <a:p>
            <a:pPr lvl="1"/>
            <a:r>
              <a:rPr lang="en-US" altLang="en-US" dirty="0"/>
              <a:t>RAM (Random Access Memory)</a:t>
            </a:r>
          </a:p>
          <a:p>
            <a:pPr lvl="1"/>
            <a:r>
              <a:rPr lang="en-US" altLang="en-US" dirty="0"/>
              <a:t>ROM (Read Only Memory)</a:t>
            </a:r>
          </a:p>
          <a:p>
            <a:r>
              <a:rPr lang="en-US" altLang="en-US" dirty="0"/>
              <a:t>Memory Capacity</a:t>
            </a:r>
          </a:p>
          <a:p>
            <a:pPr lvl="1"/>
            <a:r>
              <a:rPr lang="en-US" altLang="en-US" dirty="0"/>
              <a:t>The number of bits a memory chip can store</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21</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1934214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Memories</a:t>
            </a:r>
          </a:p>
        </p:txBody>
      </p:sp>
      <mc:AlternateContent xmlns:mc="http://schemas.openxmlformats.org/markup-compatibility/2006" xmlns:a14="http://schemas.microsoft.com/office/drawing/2010/main">
        <mc:Choice Requires="a14">
          <p:sp>
            <p:nvSpPr>
              <p:cNvPr id="25603" name="Content Placeholder 2"/>
              <p:cNvSpPr>
                <a:spLocks noGrp="1"/>
              </p:cNvSpPr>
              <p:nvPr>
                <p:ph idx="1"/>
              </p:nvPr>
            </p:nvSpPr>
            <p:spPr>
              <a:xfrm>
                <a:off x="436563" y="1125538"/>
                <a:ext cx="8229600" cy="4906962"/>
              </a:xfrm>
            </p:spPr>
            <p:txBody>
              <a:bodyPr/>
              <a:lstStyle/>
              <a:p>
                <a:r>
                  <a:rPr lang="en-US" sz="2800" dirty="0"/>
                  <a:t>Some Important numbers to consider</a:t>
                </a:r>
              </a:p>
              <a:p>
                <a:pPr lvl="1"/>
                <a:r>
                  <a:rPr lang="en-US" dirty="0"/>
                  <a:t>1K = 1024 Location   </a:t>
                </a:r>
                <a:r>
                  <a:rPr lang="en-US" dirty="0">
                    <a:sym typeface="Wingdings" panose="05000000000000000000" pitchFamily="2" charset="2"/>
                  </a:rPr>
                  <a:t> 10 Address Pins, </a:t>
                </a:r>
                <a14:m>
                  <m:oMath xmlns:m="http://schemas.openxmlformats.org/officeDocument/2006/math">
                    <m:sSup>
                      <m:sSupPr>
                        <m:ctrlPr>
                          <a:rPr lang="en-US"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2</m:t>
                        </m:r>
                      </m:e>
                      <m:sup>
                        <m:r>
                          <a:rPr lang="en-US" b="0" i="1" smtClean="0">
                            <a:latin typeface="Cambria Math" panose="02040503050406030204" pitchFamily="18" charset="0"/>
                            <a:sym typeface="Wingdings" panose="05000000000000000000" pitchFamily="2" charset="2"/>
                          </a:rPr>
                          <m:t>10</m:t>
                        </m:r>
                      </m:sup>
                    </m:sSup>
                  </m:oMath>
                </a14:m>
                <a:endParaRPr lang="en-US" dirty="0"/>
              </a:p>
              <a:p>
                <a:pPr lvl="1"/>
                <a:r>
                  <a:rPr lang="en-US" dirty="0"/>
                  <a:t>2K = 2048 Location   </a:t>
                </a:r>
                <a:r>
                  <a:rPr lang="en-US" dirty="0">
                    <a:sym typeface="Wingdings" panose="05000000000000000000" pitchFamily="2" charset="2"/>
                  </a:rPr>
                  <a:t>  11 Address Pins </a:t>
                </a:r>
                <a14:m>
                  <m:oMath xmlns:m="http://schemas.openxmlformats.org/officeDocument/2006/math">
                    <m:sSup>
                      <m:sSupPr>
                        <m:ctrlPr>
                          <a:rPr lang="en-US"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2</m:t>
                        </m:r>
                      </m:e>
                      <m:sup>
                        <m:r>
                          <a:rPr lang="en-US" b="0" i="1" smtClean="0">
                            <a:latin typeface="Cambria Math" panose="02040503050406030204" pitchFamily="18" charset="0"/>
                            <a:sym typeface="Wingdings" panose="05000000000000000000" pitchFamily="2" charset="2"/>
                          </a:rPr>
                          <m:t>11</m:t>
                        </m:r>
                      </m:sup>
                    </m:sSup>
                  </m:oMath>
                </a14:m>
                <a:endParaRPr lang="en-US" dirty="0">
                  <a:sym typeface="Wingdings" panose="05000000000000000000" pitchFamily="2" charset="2"/>
                </a:endParaRPr>
              </a:p>
              <a:p>
                <a:pPr lvl="1"/>
                <a:r>
                  <a:rPr lang="en-US" dirty="0">
                    <a:sym typeface="Wingdings" panose="05000000000000000000" pitchFamily="2" charset="2"/>
                  </a:rPr>
                  <a:t>4K = 4096 Location     12 Address Pins </a:t>
                </a:r>
                <a14:m>
                  <m:oMath xmlns:m="http://schemas.openxmlformats.org/officeDocument/2006/math">
                    <m:sSup>
                      <m:sSupPr>
                        <m:ctrlPr>
                          <a:rPr lang="en-US"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2</m:t>
                        </m:r>
                      </m:e>
                      <m:sup>
                        <m:r>
                          <a:rPr lang="en-US" b="0" i="1" smtClean="0">
                            <a:latin typeface="Cambria Math" panose="02040503050406030204" pitchFamily="18" charset="0"/>
                            <a:sym typeface="Wingdings" panose="05000000000000000000" pitchFamily="2" charset="2"/>
                          </a:rPr>
                          <m:t>12</m:t>
                        </m:r>
                      </m:sup>
                    </m:sSup>
                  </m:oMath>
                </a14:m>
                <a:endParaRPr lang="en-US" dirty="0">
                  <a:sym typeface="Wingdings" panose="05000000000000000000" pitchFamily="2" charset="2"/>
                </a:endParaRPr>
              </a:p>
              <a:p>
                <a:pPr lvl="1"/>
                <a:r>
                  <a:rPr lang="en-US" dirty="0">
                    <a:sym typeface="Wingdings" panose="05000000000000000000" pitchFamily="2" charset="2"/>
                  </a:rPr>
                  <a:t>1M = 1 Mega Location  20 Address Pins</a:t>
                </a:r>
              </a:p>
              <a:p>
                <a:pPr lvl="1"/>
                <a:r>
                  <a:rPr lang="en-US" dirty="0"/>
                  <a:t>400H represents 1K-byte of Memory</a:t>
                </a:r>
              </a:p>
              <a:p>
                <a:pPr lvl="1"/>
                <a:r>
                  <a:rPr lang="en-US" dirty="0"/>
                  <a:t>1000H represents 4K</a:t>
                </a:r>
              </a:p>
              <a:p>
                <a:pPr lvl="1"/>
                <a:r>
                  <a:rPr lang="en-US" dirty="0"/>
                  <a:t>2000H represents 8K</a:t>
                </a:r>
              </a:p>
            </p:txBody>
          </p:sp>
        </mc:Choice>
        <mc:Fallback xmlns="">
          <p:sp>
            <p:nvSpPr>
              <p:cNvPr id="25603" name="Content Placeholder 2"/>
              <p:cNvSpPr>
                <a:spLocks noGrp="1" noRot="1" noChangeAspect="1" noMove="1" noResize="1" noEditPoints="1" noAdjustHandles="1" noChangeArrowheads="1" noChangeShapeType="1" noTextEdit="1"/>
              </p:cNvSpPr>
              <p:nvPr>
                <p:ph idx="1"/>
              </p:nvPr>
            </p:nvSpPr>
            <p:spPr>
              <a:xfrm>
                <a:off x="436563" y="1125538"/>
                <a:ext cx="8229600" cy="4906962"/>
              </a:xfrm>
              <a:blipFill>
                <a:blip r:embed="rId2"/>
                <a:stretch>
                  <a:fillRect l="-519" t="-1366"/>
                </a:stretch>
              </a:blipFill>
            </p:spPr>
            <p:txBody>
              <a:bodyPr/>
              <a:lstStyle/>
              <a:p>
                <a:r>
                  <a:rPr lang="en-US">
                    <a:noFill/>
                  </a:rPr>
                  <a:t> </a:t>
                </a:r>
              </a:p>
            </p:txBody>
          </p:sp>
        </mc:Fallback>
      </mc:AlternateContent>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22</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933758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Memories</a:t>
            </a:r>
          </a:p>
        </p:txBody>
      </p:sp>
      <mc:AlternateContent xmlns:mc="http://schemas.openxmlformats.org/markup-compatibility/2006" xmlns:a14="http://schemas.microsoft.com/office/drawing/2010/main">
        <mc:Choice Requires="a14">
          <p:sp>
            <p:nvSpPr>
              <p:cNvPr id="25603" name="Content Placeholder 2"/>
              <p:cNvSpPr>
                <a:spLocks noGrp="1"/>
              </p:cNvSpPr>
              <p:nvPr>
                <p:ph idx="1"/>
              </p:nvPr>
            </p:nvSpPr>
            <p:spPr>
              <a:xfrm>
                <a:off x="436563" y="1125538"/>
                <a:ext cx="8229600" cy="4906962"/>
              </a:xfrm>
            </p:spPr>
            <p:txBody>
              <a:bodyPr/>
              <a:lstStyle/>
              <a:p>
                <a:r>
                  <a:rPr lang="en-US" altLang="en-US" dirty="0"/>
                  <a:t>Memory Organization</a:t>
                </a:r>
              </a:p>
              <a:p>
                <a:pPr lvl="1"/>
                <a:r>
                  <a:rPr lang="en-US" altLang="en-US" dirty="0"/>
                  <a:t>Each memory location contains </a:t>
                </a:r>
                <a14:m>
                  <m:oMath xmlns:m="http://schemas.openxmlformats.org/officeDocument/2006/math">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2</m:t>
                        </m:r>
                      </m:e>
                      <m:sup>
                        <m:r>
                          <a:rPr lang="en-US" b="0" i="1" smtClean="0">
                            <a:latin typeface="Cambria Math" panose="02040503050406030204" pitchFamily="18" charset="0"/>
                            <a:sym typeface="Wingdings" panose="05000000000000000000" pitchFamily="2" charset="2"/>
                          </a:rPr>
                          <m:t>𝑋</m:t>
                        </m:r>
                      </m:sup>
                    </m:sSup>
                  </m:oMath>
                </a14:m>
                <a:r>
                  <a:rPr lang="en-US" altLang="en-US" dirty="0"/>
                  <a:t> locations, where x is the number of address pins on the chip</a:t>
                </a:r>
              </a:p>
              <a:p>
                <a:pPr lvl="1"/>
                <a:r>
                  <a:rPr lang="en-US" altLang="en-US" dirty="0"/>
                  <a:t>Each memory location contains y bits, where y is number of data pins on the chip.</a:t>
                </a:r>
              </a:p>
              <a:p>
                <a:pPr lvl="1"/>
                <a:r>
                  <a:rPr lang="en-US" altLang="en-US" dirty="0"/>
                  <a:t>Total bits= </a:t>
                </a:r>
                <a14:m>
                  <m:oMath xmlns:m="http://schemas.openxmlformats.org/officeDocument/2006/math">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2</m:t>
                        </m:r>
                      </m:e>
                      <m:sup>
                        <m:r>
                          <a:rPr lang="en-US" i="1">
                            <a:latin typeface="Cambria Math" panose="02040503050406030204" pitchFamily="18" charset="0"/>
                            <a:sym typeface="Wingdings" panose="05000000000000000000" pitchFamily="2" charset="2"/>
                          </a:rPr>
                          <m:t>𝑋</m:t>
                        </m:r>
                      </m:sup>
                    </m:sSup>
                    <m:r>
                      <a:rPr lang="en-US">
                        <a:latin typeface="Cambria Math" panose="02040503050406030204" pitchFamily="18" charset="0"/>
                        <a:sym typeface="Wingdings" panose="05000000000000000000" pitchFamily="2" charset="2"/>
                      </a:rPr>
                      <m:t>∗</m:t>
                    </m:r>
                    <m:r>
                      <m:rPr>
                        <m:sty m:val="p"/>
                      </m:rPr>
                      <a:rPr lang="en-US" b="0" i="0" smtClean="0">
                        <a:latin typeface="Cambria Math" panose="02040503050406030204" pitchFamily="18" charset="0"/>
                        <a:sym typeface="Wingdings" panose="05000000000000000000" pitchFamily="2" charset="2"/>
                      </a:rPr>
                      <m:t>Y</m:t>
                    </m:r>
                    <m:r>
                      <a:rPr lang="en-US" b="0" i="0" smtClean="0">
                        <a:latin typeface="Cambria Math" panose="02040503050406030204" pitchFamily="18" charset="0"/>
                        <a:sym typeface="Wingdings" panose="05000000000000000000" pitchFamily="2" charset="2"/>
                      </a:rPr>
                      <m:t> </m:t>
                    </m:r>
                    <m:r>
                      <m:rPr>
                        <m:sty m:val="p"/>
                      </m:rPr>
                      <a:rPr lang="en-US" b="0" i="0" smtClean="0">
                        <a:latin typeface="Cambria Math" panose="02040503050406030204" pitchFamily="18" charset="0"/>
                        <a:sym typeface="Wingdings" panose="05000000000000000000" pitchFamily="2" charset="2"/>
                      </a:rPr>
                      <m:t>bits</m:t>
                    </m:r>
                  </m:oMath>
                </a14:m>
                <a:endParaRPr lang="en-US" altLang="en-US" dirty="0"/>
              </a:p>
              <a:p>
                <a:r>
                  <a:rPr lang="en-US" altLang="en-US" dirty="0"/>
                  <a:t>Memory Speed</a:t>
                </a:r>
              </a:p>
              <a:p>
                <a:pPr lvl="1"/>
                <a:r>
                  <a:rPr lang="en-US" altLang="en-US" dirty="0"/>
                  <a:t>Access Time</a:t>
                </a:r>
              </a:p>
              <a:p>
                <a:pPr lvl="1"/>
                <a:endParaRPr lang="en-US" altLang="en-US" dirty="0"/>
              </a:p>
            </p:txBody>
          </p:sp>
        </mc:Choice>
        <mc:Fallback xmlns="">
          <p:sp>
            <p:nvSpPr>
              <p:cNvPr id="25603" name="Content Placeholder 2"/>
              <p:cNvSpPr>
                <a:spLocks noGrp="1" noRot="1" noChangeAspect="1" noMove="1" noResize="1" noEditPoints="1" noAdjustHandles="1" noChangeArrowheads="1" noChangeShapeType="1" noTextEdit="1"/>
              </p:cNvSpPr>
              <p:nvPr>
                <p:ph idx="1"/>
              </p:nvPr>
            </p:nvSpPr>
            <p:spPr>
              <a:xfrm>
                <a:off x="436563" y="1125538"/>
                <a:ext cx="8229600" cy="4906962"/>
              </a:xfrm>
              <a:blipFill>
                <a:blip r:embed="rId2"/>
                <a:stretch>
                  <a:fillRect l="-667" t="-1615" r="-370"/>
                </a:stretch>
              </a:blipFill>
            </p:spPr>
            <p:txBody>
              <a:bodyPr/>
              <a:lstStyle/>
              <a:p>
                <a:r>
                  <a:rPr lang="en-US">
                    <a:noFill/>
                  </a:rPr>
                  <a:t> </a:t>
                </a:r>
              </a:p>
            </p:txBody>
          </p:sp>
        </mc:Fallback>
      </mc:AlternateContent>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23</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3422173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Pin configuration of Memory Chips</a:t>
            </a:r>
          </a:p>
        </p:txBody>
      </p:sp>
      <p:sp>
        <p:nvSpPr>
          <p:cNvPr id="25603" name="Content Placeholder 2"/>
          <p:cNvSpPr>
            <a:spLocks noGrp="1"/>
          </p:cNvSpPr>
          <p:nvPr>
            <p:ph idx="1"/>
          </p:nvPr>
        </p:nvSpPr>
        <p:spPr>
          <a:xfrm>
            <a:off x="436563" y="1125538"/>
            <a:ext cx="8229600" cy="4906962"/>
          </a:xfrm>
        </p:spPr>
        <p:txBody>
          <a:bodyPr/>
          <a:lstStyle/>
          <a:p>
            <a:r>
              <a:rPr lang="en-US" altLang="en-US" dirty="0"/>
              <a:t>Pin connections common to all memory devices.</a:t>
            </a:r>
          </a:p>
          <a:p>
            <a:pPr lvl="1"/>
            <a:r>
              <a:rPr lang="en-US" altLang="en-US" dirty="0"/>
              <a:t>The address inputs </a:t>
            </a:r>
          </a:p>
          <a:p>
            <a:pPr lvl="1"/>
            <a:r>
              <a:rPr lang="en-US" altLang="en-US" dirty="0"/>
              <a:t>Data outputs or input </a:t>
            </a:r>
          </a:p>
          <a:p>
            <a:pPr lvl="1"/>
            <a:r>
              <a:rPr lang="en-US" altLang="en-US" dirty="0"/>
              <a:t>Some type of selection input</a:t>
            </a:r>
          </a:p>
          <a:p>
            <a:pPr lvl="1"/>
            <a:r>
              <a:rPr lang="en-US" altLang="en-US" dirty="0"/>
              <a:t>At least one control input used to select a read or write operation. </a:t>
            </a:r>
          </a:p>
          <a:p>
            <a:r>
              <a:rPr lang="en-US" altLang="en-US" dirty="0"/>
              <a:t>Memory device has one chip select, chip enable or select</a:t>
            </a:r>
          </a:p>
          <a:p>
            <a:r>
              <a:rPr lang="en-US" altLang="en-US" dirty="0"/>
              <a:t>Memory device has control pin</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24</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2850204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Pin configuration of Memory Chips</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25</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pic>
        <p:nvPicPr>
          <p:cNvPr id="3" name="Picture 2"/>
          <p:cNvPicPr>
            <a:picLocks noChangeAspect="1"/>
          </p:cNvPicPr>
          <p:nvPr/>
        </p:nvPicPr>
        <p:blipFill>
          <a:blip r:embed="rId2"/>
          <a:stretch>
            <a:fillRect/>
          </a:stretch>
        </p:blipFill>
        <p:spPr>
          <a:xfrm>
            <a:off x="1331640" y="1063759"/>
            <a:ext cx="5705533" cy="5408479"/>
          </a:xfrm>
          <a:prstGeom prst="rect">
            <a:avLst/>
          </a:prstGeom>
        </p:spPr>
      </p:pic>
    </p:spTree>
    <p:extLst>
      <p:ext uri="{BB962C8B-B14F-4D97-AF65-F5344CB8AC3E}">
        <p14:creationId xmlns:p14="http://schemas.microsoft.com/office/powerpoint/2010/main" val="19680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Address Connections</a:t>
            </a:r>
          </a:p>
        </p:txBody>
      </p:sp>
      <p:sp>
        <p:nvSpPr>
          <p:cNvPr id="25603" name="Content Placeholder 2"/>
          <p:cNvSpPr>
            <a:spLocks noGrp="1"/>
          </p:cNvSpPr>
          <p:nvPr>
            <p:ph idx="1"/>
          </p:nvPr>
        </p:nvSpPr>
        <p:spPr>
          <a:xfrm>
            <a:off x="436563" y="1125538"/>
            <a:ext cx="8229600" cy="4906962"/>
          </a:xfrm>
        </p:spPr>
        <p:txBody>
          <a:bodyPr/>
          <a:lstStyle/>
          <a:p>
            <a:r>
              <a:rPr lang="en-US" dirty="0"/>
              <a:t>Memory devices have address inputs to select a memory location within the device</a:t>
            </a:r>
            <a:r>
              <a:rPr lang="en-US" altLang="en-US" dirty="0"/>
              <a:t>.</a:t>
            </a:r>
          </a:p>
          <a:p>
            <a:r>
              <a:rPr lang="en-US" dirty="0"/>
              <a:t>The number of address pins on a memory device is determined by the number of memory locations found within it.</a:t>
            </a:r>
          </a:p>
          <a:p>
            <a:r>
              <a:rPr lang="en-US" dirty="0"/>
              <a:t>A 1K memory device has 10 address pins. therefore, 10 address inputs are required to select any of its 1024 memory locations.</a:t>
            </a:r>
          </a:p>
          <a:p>
            <a:r>
              <a:rPr lang="en-US" dirty="0"/>
              <a:t>It takes a 10-bit binary number to select any single location</a:t>
            </a:r>
            <a:endParaRPr lang="en-US" altLang="en-US"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26</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1994282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Data Connections</a:t>
            </a:r>
          </a:p>
        </p:txBody>
      </p:sp>
      <p:sp>
        <p:nvSpPr>
          <p:cNvPr id="25603" name="Content Placeholder 2"/>
          <p:cNvSpPr>
            <a:spLocks noGrp="1"/>
          </p:cNvSpPr>
          <p:nvPr>
            <p:ph idx="1"/>
          </p:nvPr>
        </p:nvSpPr>
        <p:spPr>
          <a:xfrm>
            <a:off x="323528" y="847725"/>
            <a:ext cx="8229600" cy="4906962"/>
          </a:xfrm>
        </p:spPr>
        <p:txBody>
          <a:bodyPr/>
          <a:lstStyle/>
          <a:p>
            <a:r>
              <a:rPr lang="en-US" dirty="0"/>
              <a:t>All memory devices have a set of data outputs or input/outputs.</a:t>
            </a:r>
          </a:p>
          <a:p>
            <a:r>
              <a:rPr lang="en-US" dirty="0"/>
              <a:t>An 8-bit-wide memory device is often called a </a:t>
            </a:r>
            <a:r>
              <a:rPr lang="en-US" b="1" dirty="0"/>
              <a:t>byte-wide </a:t>
            </a:r>
            <a:r>
              <a:rPr lang="en-US" dirty="0"/>
              <a:t>memory.</a:t>
            </a:r>
          </a:p>
          <a:p>
            <a:r>
              <a:rPr lang="en-US" dirty="0"/>
              <a:t>Catalog listings of memory devices often refer to memory locations times bits per location.</a:t>
            </a:r>
          </a:p>
          <a:p>
            <a:pPr lvl="1"/>
            <a:r>
              <a:rPr lang="en-US" dirty="0"/>
              <a:t>A memory device with 1K memory locations and 8 bits in each location is often listed as a 1K x 8 by the manufacturer</a:t>
            </a:r>
          </a:p>
          <a:p>
            <a:pPr lvl="1"/>
            <a:r>
              <a:rPr lang="en-US" dirty="0"/>
              <a:t>Memory devices are often classified according to total bit capacity.</a:t>
            </a:r>
            <a:endParaRPr lang="en-US" altLang="en-US"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27</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783832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Select Connections</a:t>
            </a:r>
          </a:p>
        </p:txBody>
      </p:sp>
      <p:sp>
        <p:nvSpPr>
          <p:cNvPr id="25603" name="Content Placeholder 2"/>
          <p:cNvSpPr>
            <a:spLocks noGrp="1"/>
          </p:cNvSpPr>
          <p:nvPr>
            <p:ph idx="1"/>
          </p:nvPr>
        </p:nvSpPr>
        <p:spPr>
          <a:xfrm>
            <a:off x="323528" y="980728"/>
            <a:ext cx="8229600" cy="4906962"/>
          </a:xfrm>
        </p:spPr>
        <p:txBody>
          <a:bodyPr/>
          <a:lstStyle/>
          <a:p>
            <a:r>
              <a:rPr lang="en-US" dirty="0"/>
              <a:t>Each memory device has an input that selects or enables the memory device.</a:t>
            </a:r>
          </a:p>
          <a:p>
            <a:r>
              <a:rPr lang="en-US" dirty="0"/>
              <a:t>This type of input is most often called a </a:t>
            </a:r>
            <a:r>
              <a:rPr lang="en-US" b="1" dirty="0"/>
              <a:t>chip select </a:t>
            </a:r>
            <a:r>
              <a:rPr lang="en-US" dirty="0"/>
              <a:t>(G2A) </a:t>
            </a:r>
            <a:r>
              <a:rPr lang="en-US" b="1" dirty="0"/>
              <a:t>chip enable </a:t>
            </a:r>
            <a:r>
              <a:rPr lang="en-US" dirty="0"/>
              <a:t>(CE) or simply </a:t>
            </a:r>
            <a:r>
              <a:rPr lang="en-US" b="1" dirty="0"/>
              <a:t>select </a:t>
            </a:r>
            <a:r>
              <a:rPr lang="en-US" dirty="0"/>
              <a:t>(S) input.</a:t>
            </a:r>
          </a:p>
          <a:p>
            <a:r>
              <a:rPr lang="en-US" dirty="0"/>
              <a:t>RAM memory generally has at least one or input, and ROM has at least one</a:t>
            </a:r>
          </a:p>
          <a:p>
            <a:r>
              <a:rPr lang="en-US" dirty="0"/>
              <a:t>If more than one CE connection is present, all must be activated to read or write data.</a:t>
            </a:r>
            <a:endParaRPr lang="en-US" altLang="en-US"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28</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1790107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Control Connections</a:t>
            </a:r>
          </a:p>
        </p:txBody>
      </p:sp>
      <p:sp>
        <p:nvSpPr>
          <p:cNvPr id="25603" name="Content Placeholder 2"/>
          <p:cNvSpPr>
            <a:spLocks noGrp="1"/>
          </p:cNvSpPr>
          <p:nvPr>
            <p:ph idx="1"/>
          </p:nvPr>
        </p:nvSpPr>
        <p:spPr>
          <a:xfrm>
            <a:off x="323528" y="980728"/>
            <a:ext cx="8229600" cy="4906962"/>
          </a:xfrm>
        </p:spPr>
        <p:txBody>
          <a:bodyPr/>
          <a:lstStyle/>
          <a:p>
            <a:r>
              <a:rPr lang="en-US" dirty="0"/>
              <a:t>All memory devices have some form of control input or inputs.</a:t>
            </a:r>
          </a:p>
          <a:p>
            <a:pPr lvl="1"/>
            <a:r>
              <a:rPr lang="en-US" dirty="0"/>
              <a:t>ROM usually has one control input, while RAM often has one or two control inputs</a:t>
            </a:r>
          </a:p>
          <a:p>
            <a:r>
              <a:rPr lang="en-US" dirty="0"/>
              <a:t>Control input often found on ROM is the </a:t>
            </a:r>
            <a:r>
              <a:rPr lang="en-US" b="1" dirty="0"/>
              <a:t>output enable </a:t>
            </a:r>
            <a:r>
              <a:rPr lang="en-US" dirty="0"/>
              <a:t>or </a:t>
            </a:r>
            <a:r>
              <a:rPr lang="en-US" b="1" dirty="0"/>
              <a:t>gate </a:t>
            </a:r>
            <a:r>
              <a:rPr lang="en-US" dirty="0"/>
              <a:t>connection, which allows data flow from output data pins.</a:t>
            </a:r>
          </a:p>
          <a:p>
            <a:r>
              <a:rPr lang="en-US" dirty="0"/>
              <a:t>RAM has either one or two control inputs.</a:t>
            </a:r>
          </a:p>
          <a:p>
            <a:pPr lvl="1"/>
            <a:r>
              <a:rPr lang="en-US" dirty="0"/>
              <a:t>if one control input, it is often called R/W</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29</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2800593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Control Connections</a:t>
            </a:r>
          </a:p>
        </p:txBody>
      </p:sp>
      <p:sp>
        <p:nvSpPr>
          <p:cNvPr id="25603" name="Content Placeholder 2"/>
          <p:cNvSpPr>
            <a:spLocks noGrp="1"/>
          </p:cNvSpPr>
          <p:nvPr>
            <p:ph idx="1"/>
          </p:nvPr>
        </p:nvSpPr>
        <p:spPr>
          <a:xfrm>
            <a:off x="323528" y="980728"/>
            <a:ext cx="8229600" cy="4906962"/>
          </a:xfrm>
        </p:spPr>
        <p:txBody>
          <a:bodyPr/>
          <a:lstStyle/>
          <a:p>
            <a:r>
              <a:rPr lang="en-US" dirty="0"/>
              <a:t>If the RAM has two control inputs, they are usually labeled WE (or W ), and OE (or G ).</a:t>
            </a:r>
          </a:p>
          <a:p>
            <a:pPr lvl="1"/>
            <a:r>
              <a:rPr lang="en-US" b="1" dirty="0"/>
              <a:t>write enable </a:t>
            </a:r>
            <a:r>
              <a:rPr lang="en-US" dirty="0"/>
              <a:t>must be active to perform memory write, and OE active to perform a memory read</a:t>
            </a:r>
          </a:p>
          <a:p>
            <a:pPr lvl="1"/>
            <a:r>
              <a:rPr lang="en-US" dirty="0"/>
              <a:t>when the two controls are present, they must never both be active at the same time</a:t>
            </a:r>
          </a:p>
          <a:p>
            <a:pPr lvl="1"/>
            <a:r>
              <a:rPr lang="en-US" dirty="0"/>
              <a:t>If both inputs are inactive, data are neither written nor read.</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30</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spTree>
    <p:extLst>
      <p:ext uri="{BB962C8B-B14F-4D97-AF65-F5344CB8AC3E}">
        <p14:creationId xmlns:p14="http://schemas.microsoft.com/office/powerpoint/2010/main" val="95375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Memory Hierarchy</a:t>
            </a:r>
          </a:p>
        </p:txBody>
      </p:sp>
      <mc:AlternateContent xmlns:mc="http://schemas.openxmlformats.org/markup-compatibility/2006" xmlns:a14="http://schemas.microsoft.com/office/drawing/2010/main">
        <mc:Choice Requires="a14">
          <p:sp>
            <p:nvSpPr>
              <p:cNvPr id="25603" name="Content Placeholder 2"/>
              <p:cNvSpPr>
                <a:spLocks noGrp="1"/>
              </p:cNvSpPr>
              <p:nvPr>
                <p:ph idx="1"/>
              </p:nvPr>
            </p:nvSpPr>
            <p:spPr>
              <a:xfrm>
                <a:off x="0" y="980728"/>
                <a:ext cx="5148064" cy="4906962"/>
              </a:xfrm>
            </p:spPr>
            <p:txBody>
              <a:bodyPr/>
              <a:lstStyle/>
              <a:p>
                <a:pPr lvl="1"/>
                <a:r>
                  <a:rPr lang="en-US" sz="2400" dirty="0"/>
                  <a:t>Assume a memory 16 X 8</a:t>
                </a:r>
              </a:p>
              <a:p>
                <a:pPr lvl="1"/>
                <a:r>
                  <a:rPr lang="en-US" sz="2400" dirty="0"/>
                  <a:t>Address Pins required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4</m:t>
                        </m:r>
                      </m:sup>
                    </m:sSup>
                    <m:r>
                      <a:rPr lang="en-US" sz="2400" b="0" i="1" smtClean="0">
                        <a:latin typeface="Cambria Math" panose="02040503050406030204" pitchFamily="18" charset="0"/>
                      </a:rPr>
                      <m:t>=16</m:t>
                    </m:r>
                  </m:oMath>
                </a14:m>
                <a:endParaRPr lang="en-US" sz="2400" dirty="0"/>
              </a:p>
              <a:p>
                <a:pPr lvl="1"/>
                <a:r>
                  <a:rPr lang="en-US" sz="2400" dirty="0"/>
                  <a:t>So 4 Address pins are required </a:t>
                </a:r>
                <a:r>
                  <a:rPr lang="en-US" sz="2400" dirty="0" err="1"/>
                  <a:t>i</a:t>
                </a:r>
                <a:r>
                  <a:rPr lang="en-US" sz="2400" dirty="0"/>
                  <a:t>-e: A0 to A3</a:t>
                </a:r>
              </a:p>
              <a:p>
                <a:pPr lvl="1"/>
                <a:r>
                  <a:rPr lang="en-US" sz="2400" dirty="0"/>
                  <a:t>Data pins, always D0 to D7</a:t>
                </a:r>
              </a:p>
            </p:txBody>
          </p:sp>
        </mc:Choice>
        <mc:Fallback xmlns="">
          <p:sp>
            <p:nvSpPr>
              <p:cNvPr id="25603" name="Content Placeholder 2"/>
              <p:cNvSpPr>
                <a:spLocks noGrp="1" noRot="1" noChangeAspect="1" noMove="1" noResize="1" noEditPoints="1" noAdjustHandles="1" noChangeArrowheads="1" noChangeShapeType="1" noTextEdit="1"/>
              </p:cNvSpPr>
              <p:nvPr>
                <p:ph idx="1"/>
              </p:nvPr>
            </p:nvSpPr>
            <p:spPr>
              <a:xfrm>
                <a:off x="0" y="980728"/>
                <a:ext cx="5148064" cy="4906962"/>
              </a:xfrm>
              <a:blipFill>
                <a:blip r:embed="rId2"/>
                <a:stretch>
                  <a:fillRect t="-870" r="-1777"/>
                </a:stretch>
              </a:blipFill>
            </p:spPr>
            <p:txBody>
              <a:bodyPr/>
              <a:lstStyle/>
              <a:p>
                <a:r>
                  <a:rPr lang="en-US">
                    <a:noFill/>
                  </a:rPr>
                  <a:t> </a:t>
                </a:r>
              </a:p>
            </p:txBody>
          </p:sp>
        </mc:Fallback>
      </mc:AlternateContent>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31</a:t>
            </a:fld>
            <a:endParaRPr lang="en-US" altLang="en-US" sz="120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3672825239"/>
              </p:ext>
            </p:extLst>
          </p:nvPr>
        </p:nvGraphicFramePr>
        <p:xfrm>
          <a:off x="5076056" y="458314"/>
          <a:ext cx="3995935" cy="5181600"/>
        </p:xfrm>
        <a:graphic>
          <a:graphicData uri="http://schemas.openxmlformats.org/drawingml/2006/table">
            <a:tbl>
              <a:tblPr firstRow="1" bandRow="1">
                <a:tableStyleId>{D7AC3CCA-C797-4891-BE02-D94E43425B78}</a:tableStyleId>
              </a:tblPr>
              <a:tblGrid>
                <a:gridCol w="1008112">
                  <a:extLst>
                    <a:ext uri="{9D8B030D-6E8A-4147-A177-3AD203B41FA5}">
                      <a16:colId xmlns:a16="http://schemas.microsoft.com/office/drawing/2014/main" val="20000"/>
                    </a:ext>
                  </a:extLst>
                </a:gridCol>
                <a:gridCol w="619943">
                  <a:extLst>
                    <a:ext uri="{9D8B030D-6E8A-4147-A177-3AD203B41FA5}">
                      <a16:colId xmlns:a16="http://schemas.microsoft.com/office/drawing/2014/main" val="20001"/>
                    </a:ext>
                  </a:extLst>
                </a:gridCol>
                <a:gridCol w="345925">
                  <a:extLst>
                    <a:ext uri="{9D8B030D-6E8A-4147-A177-3AD203B41FA5}">
                      <a16:colId xmlns:a16="http://schemas.microsoft.com/office/drawing/2014/main" val="20002"/>
                    </a:ext>
                  </a:extLst>
                </a:gridCol>
                <a:gridCol w="373726">
                  <a:extLst>
                    <a:ext uri="{9D8B030D-6E8A-4147-A177-3AD203B41FA5}">
                      <a16:colId xmlns:a16="http://schemas.microsoft.com/office/drawing/2014/main" val="20003"/>
                    </a:ext>
                  </a:extLst>
                </a:gridCol>
                <a:gridCol w="335395">
                  <a:extLst>
                    <a:ext uri="{9D8B030D-6E8A-4147-A177-3AD203B41FA5}">
                      <a16:colId xmlns:a16="http://schemas.microsoft.com/office/drawing/2014/main" val="20004"/>
                    </a:ext>
                  </a:extLst>
                </a:gridCol>
                <a:gridCol w="316230">
                  <a:extLst>
                    <a:ext uri="{9D8B030D-6E8A-4147-A177-3AD203B41FA5}">
                      <a16:colId xmlns:a16="http://schemas.microsoft.com/office/drawing/2014/main" val="20005"/>
                    </a:ext>
                  </a:extLst>
                </a:gridCol>
                <a:gridCol w="354560">
                  <a:extLst>
                    <a:ext uri="{9D8B030D-6E8A-4147-A177-3AD203B41FA5}">
                      <a16:colId xmlns:a16="http://schemas.microsoft.com/office/drawing/2014/main" val="20006"/>
                    </a:ext>
                  </a:extLst>
                </a:gridCol>
                <a:gridCol w="316230">
                  <a:extLst>
                    <a:ext uri="{9D8B030D-6E8A-4147-A177-3AD203B41FA5}">
                      <a16:colId xmlns:a16="http://schemas.microsoft.com/office/drawing/2014/main" val="20007"/>
                    </a:ext>
                  </a:extLst>
                </a:gridCol>
                <a:gridCol w="325814">
                  <a:extLst>
                    <a:ext uri="{9D8B030D-6E8A-4147-A177-3AD203B41FA5}">
                      <a16:colId xmlns:a16="http://schemas.microsoft.com/office/drawing/2014/main" val="20008"/>
                    </a:ext>
                  </a:extLst>
                </a:gridCol>
              </a:tblGrid>
              <a:tr h="303881">
                <a:tc>
                  <a:txBody>
                    <a:bodyPr/>
                    <a:lstStyle/>
                    <a:p>
                      <a:r>
                        <a:rPr lang="en-US" sz="1400" dirty="0"/>
                        <a:t>Address</a:t>
                      </a:r>
                    </a:p>
                  </a:txBody>
                  <a:tcPr/>
                </a:tc>
                <a:tc rowSpan="17">
                  <a:txBody>
                    <a:bodyPr/>
                    <a:lstStyle/>
                    <a:p>
                      <a:r>
                        <a:rPr lang="en-US" sz="1400" dirty="0"/>
                        <a:t>       </a:t>
                      </a:r>
                    </a:p>
                  </a:txBody>
                  <a:tcPr/>
                </a:tc>
                <a:tc gridSpan="7">
                  <a:txBody>
                    <a:bodyPr/>
                    <a:lstStyle/>
                    <a:p>
                      <a:r>
                        <a:rPr lang="en-US" sz="1400" dirty="0"/>
                        <a:t>Actual Memory Location</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03881">
                <a:tc>
                  <a:txBody>
                    <a:bodyPr/>
                    <a:lstStyle/>
                    <a:p>
                      <a:pPr algn="ctr"/>
                      <a:r>
                        <a:rPr lang="en-US" sz="1400" dirty="0"/>
                        <a:t>000F</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dirty="0"/>
                    </a:p>
                  </a:txBody>
                  <a:tcPr>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dirty="0"/>
                    </a:p>
                  </a:txBody>
                  <a:tcPr>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dirty="0"/>
                    </a:p>
                  </a:txBody>
                  <a:tcPr>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dirty="0"/>
                    </a:p>
                  </a:txBody>
                  <a:tcPr>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a:p>
                  </a:txBody>
                  <a:tcPr>
                    <a:lnT w="12700" cap="flat" cmpd="sng" algn="ctr">
                      <a:solidFill>
                        <a:schemeClr val="tx1"/>
                      </a:solidFill>
                      <a:prstDash val="solid"/>
                      <a:round/>
                      <a:headEnd type="none" w="med" len="med"/>
                      <a:tailEnd type="none" w="med" len="med"/>
                    </a:lnT>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w="25400" h="25400" prst="angle"/>
                      <a:lightRig rig="flood" dir="t"/>
                    </a:cell3D>
                  </a:tcPr>
                </a:tc>
                <a:extLst>
                  <a:ext uri="{0D108BD9-81ED-4DB2-BD59-A6C34878D82A}">
                    <a16:rowId xmlns:a16="http://schemas.microsoft.com/office/drawing/2014/main" val="10001"/>
                  </a:ext>
                </a:extLst>
              </a:tr>
              <a:tr h="303881">
                <a:tc>
                  <a:txBody>
                    <a:bodyPr/>
                    <a:lstStyle/>
                    <a:p>
                      <a:pPr algn="ctr"/>
                      <a:r>
                        <a:rPr lang="en-US" sz="1400" dirty="0"/>
                        <a:t>000E</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2"/>
                  </a:ext>
                </a:extLst>
              </a:tr>
              <a:tr h="303881">
                <a:tc>
                  <a:txBody>
                    <a:bodyPr/>
                    <a:lstStyle/>
                    <a:p>
                      <a:pPr algn="ctr"/>
                      <a:r>
                        <a:rPr lang="en-US" sz="1400" dirty="0"/>
                        <a:t>000D</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3"/>
                  </a:ext>
                </a:extLst>
              </a:tr>
              <a:tr h="303881">
                <a:tc>
                  <a:txBody>
                    <a:bodyPr/>
                    <a:lstStyle/>
                    <a:p>
                      <a:pPr algn="ctr"/>
                      <a:r>
                        <a:rPr lang="en-US" sz="1400" dirty="0"/>
                        <a:t>000C</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4"/>
                  </a:ext>
                </a:extLst>
              </a:tr>
              <a:tr h="303881">
                <a:tc>
                  <a:txBody>
                    <a:bodyPr/>
                    <a:lstStyle/>
                    <a:p>
                      <a:pPr algn="ctr"/>
                      <a:r>
                        <a:rPr lang="en-US" sz="1400" dirty="0"/>
                        <a:t>000B</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5"/>
                  </a:ext>
                </a:extLst>
              </a:tr>
              <a:tr h="303881">
                <a:tc>
                  <a:txBody>
                    <a:bodyPr/>
                    <a:lstStyle/>
                    <a:p>
                      <a:pPr algn="ctr"/>
                      <a:r>
                        <a:rPr lang="en-US" sz="1400" dirty="0"/>
                        <a:t>000A</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6"/>
                  </a:ext>
                </a:extLst>
              </a:tr>
              <a:tr h="303881">
                <a:tc>
                  <a:txBody>
                    <a:bodyPr/>
                    <a:lstStyle/>
                    <a:p>
                      <a:pPr algn="ctr"/>
                      <a:r>
                        <a:rPr lang="en-US" sz="1400" dirty="0"/>
                        <a:t>0009</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7"/>
                  </a:ext>
                </a:extLst>
              </a:tr>
              <a:tr h="303881">
                <a:tc>
                  <a:txBody>
                    <a:bodyPr/>
                    <a:lstStyle/>
                    <a:p>
                      <a:pPr algn="ctr"/>
                      <a:r>
                        <a:rPr lang="en-US" sz="1400" dirty="0"/>
                        <a:t>0008</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8"/>
                  </a:ext>
                </a:extLst>
              </a:tr>
              <a:tr h="303881">
                <a:tc>
                  <a:txBody>
                    <a:bodyPr/>
                    <a:lstStyle/>
                    <a:p>
                      <a:pPr algn="ctr"/>
                      <a:r>
                        <a:rPr lang="en-US" sz="1400" dirty="0"/>
                        <a:t>0007</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09"/>
                  </a:ext>
                </a:extLst>
              </a:tr>
              <a:tr h="303881">
                <a:tc>
                  <a:txBody>
                    <a:bodyPr/>
                    <a:lstStyle/>
                    <a:p>
                      <a:pPr algn="ctr"/>
                      <a:r>
                        <a:rPr lang="en-US" sz="1400" dirty="0"/>
                        <a:t>0006</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0"/>
                  </a:ext>
                </a:extLst>
              </a:tr>
              <a:tr h="303881">
                <a:tc>
                  <a:txBody>
                    <a:bodyPr/>
                    <a:lstStyle/>
                    <a:p>
                      <a:pPr algn="ctr"/>
                      <a:r>
                        <a:rPr lang="en-US" sz="1400" dirty="0"/>
                        <a:t>0005</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1"/>
                  </a:ext>
                </a:extLst>
              </a:tr>
              <a:tr h="303881">
                <a:tc>
                  <a:txBody>
                    <a:bodyPr/>
                    <a:lstStyle/>
                    <a:p>
                      <a:pPr algn="ctr"/>
                      <a:r>
                        <a:rPr lang="en-US" sz="1400" dirty="0"/>
                        <a:t>0004</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2"/>
                  </a:ext>
                </a:extLst>
              </a:tr>
              <a:tr h="303881">
                <a:tc>
                  <a:txBody>
                    <a:bodyPr/>
                    <a:lstStyle/>
                    <a:p>
                      <a:pPr algn="ctr"/>
                      <a:r>
                        <a:rPr lang="en-US" sz="1400" dirty="0"/>
                        <a:t>0003</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3"/>
                  </a:ext>
                </a:extLst>
              </a:tr>
              <a:tr h="303881">
                <a:tc>
                  <a:txBody>
                    <a:bodyPr/>
                    <a:lstStyle/>
                    <a:p>
                      <a:pPr algn="ctr"/>
                      <a:r>
                        <a:rPr lang="en-US" sz="1400" dirty="0"/>
                        <a:t>0002</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4"/>
                  </a:ext>
                </a:extLst>
              </a:tr>
              <a:tr h="303881">
                <a:tc>
                  <a:txBody>
                    <a:bodyPr/>
                    <a:lstStyle/>
                    <a:p>
                      <a:pPr algn="ctr"/>
                      <a:r>
                        <a:rPr lang="en-US" sz="1400" dirty="0"/>
                        <a:t>0001</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cell3D prstMaterial="dkEdge">
                      <a:bevel w="25400" h="25400" prst="angle"/>
                      <a:lightRig rig="flood" dir="t"/>
                    </a:cell3D>
                  </a:tcPr>
                </a:tc>
                <a:extLst>
                  <a:ext uri="{0D108BD9-81ED-4DB2-BD59-A6C34878D82A}">
                    <a16:rowId xmlns:a16="http://schemas.microsoft.com/office/drawing/2014/main" val="10015"/>
                  </a:ext>
                </a:extLst>
              </a:tr>
              <a:tr h="303881">
                <a:tc>
                  <a:txBody>
                    <a:bodyPr/>
                    <a:lstStyle/>
                    <a:p>
                      <a:pPr algn="ctr"/>
                      <a:r>
                        <a:rPr lang="en-US" sz="1400" dirty="0"/>
                        <a:t>0000</a:t>
                      </a:r>
                    </a:p>
                  </a:txBody>
                  <a:tcPr>
                    <a:lnR w="12700" cap="flat" cmpd="sng" algn="ctr">
                      <a:solidFill>
                        <a:schemeClr val="tx1"/>
                      </a:solidFill>
                      <a:prstDash val="solid"/>
                      <a:round/>
                      <a:headEnd type="none" w="med" len="med"/>
                      <a:tailEnd type="none" w="med" len="med"/>
                    </a:lnR>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B w="12700" cap="flat" cmpd="sng" algn="ctr">
                      <a:solidFill>
                        <a:schemeClr val="tx1"/>
                      </a:solidFill>
                      <a:prstDash val="solid"/>
                      <a:round/>
                      <a:headEnd type="none" w="med" len="med"/>
                      <a:tailEnd type="none" w="med" len="med"/>
                    </a:lnB>
                    <a:cell3D prstMaterial="dkEdge">
                      <a:bevel w="25400" h="25400" prst="angle"/>
                      <a:lightRig rig="flood" dir="t"/>
                    </a:cell3D>
                  </a:tcPr>
                </a:tc>
                <a:tc>
                  <a:txBody>
                    <a:bodyPr/>
                    <a:lstStyle/>
                    <a:p>
                      <a:endParaRPr lang="en-US" sz="14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w="25400" h="25400" prst="angle"/>
                      <a:lightRig rig="flood" dir="t"/>
                    </a:cell3D>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95027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ROM Memory</a:t>
            </a:r>
          </a:p>
        </p:txBody>
      </p:sp>
      <p:sp>
        <p:nvSpPr>
          <p:cNvPr id="25603" name="Content Placeholder 2"/>
          <p:cNvSpPr>
            <a:spLocks noGrp="1"/>
          </p:cNvSpPr>
          <p:nvPr>
            <p:ph idx="1"/>
          </p:nvPr>
        </p:nvSpPr>
        <p:spPr>
          <a:xfrm>
            <a:off x="323528" y="980728"/>
            <a:ext cx="8229600" cy="4906962"/>
          </a:xfrm>
        </p:spPr>
        <p:txBody>
          <a:bodyPr/>
          <a:lstStyle/>
          <a:p>
            <a:r>
              <a:rPr lang="en-US" sz="2800" dirty="0"/>
              <a:t>Read-only memory (ROM) permanently stores programs/data resident to the system.</a:t>
            </a:r>
          </a:p>
          <a:p>
            <a:pPr lvl="1"/>
            <a:r>
              <a:rPr lang="en-US" sz="2400" dirty="0"/>
              <a:t>must not change when power disconnected</a:t>
            </a:r>
          </a:p>
          <a:p>
            <a:pPr lvl="1"/>
            <a:r>
              <a:rPr lang="en-US" sz="2800" dirty="0"/>
              <a:t>Often called nonvolatile memory, because its contents do not change even if power is disconnected.</a:t>
            </a:r>
          </a:p>
          <a:p>
            <a:pPr lvl="1"/>
            <a:r>
              <a:rPr lang="en-US" sz="2400" dirty="0"/>
              <a:t>programmed during fabrication at the factory</a:t>
            </a:r>
          </a:p>
          <a:p>
            <a:r>
              <a:rPr lang="en-US" sz="2800" dirty="0"/>
              <a:t>The EPROM (erasable programmable read-only memory) is commonly used when software must be changed often.</a:t>
            </a:r>
          </a:p>
          <a:p>
            <a:pPr lvl="1"/>
            <a:r>
              <a:rPr lang="en-US" sz="2400" dirty="0"/>
              <a:t>An EPROM is programmed in the field</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32</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3893091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ROM Memory</a:t>
            </a:r>
          </a:p>
        </p:txBody>
      </p:sp>
      <p:sp>
        <p:nvSpPr>
          <p:cNvPr id="25603" name="Content Placeholder 2"/>
          <p:cNvSpPr>
            <a:spLocks noGrp="1"/>
          </p:cNvSpPr>
          <p:nvPr>
            <p:ph idx="1"/>
          </p:nvPr>
        </p:nvSpPr>
        <p:spPr>
          <a:xfrm>
            <a:off x="323528" y="980728"/>
            <a:ext cx="8229600" cy="4906962"/>
          </a:xfrm>
        </p:spPr>
        <p:txBody>
          <a:bodyPr/>
          <a:lstStyle/>
          <a:p>
            <a:r>
              <a:rPr lang="en-US" sz="2800" dirty="0"/>
              <a:t>Type of EPROM</a:t>
            </a:r>
          </a:p>
          <a:p>
            <a:pPr lvl="1"/>
            <a:r>
              <a:rPr lang="en-US" sz="2400" dirty="0"/>
              <a:t>PROM memory devices are also available, although they are not as common today.</a:t>
            </a:r>
          </a:p>
          <a:p>
            <a:r>
              <a:rPr lang="en-US" sz="2800" dirty="0"/>
              <a:t>The PROM (programmable read-only memory) is also programmed in the field</a:t>
            </a:r>
          </a:p>
          <a:p>
            <a:pPr lvl="1"/>
            <a:r>
              <a:rPr lang="en-US" sz="2400" dirty="0"/>
              <a:t>Once it is programmed, it cannot be erased.</a:t>
            </a:r>
          </a:p>
          <a:p>
            <a:r>
              <a:rPr lang="en-US" sz="2800" dirty="0"/>
              <a:t>A newer type of read-mostly memory (RMM) is called the flash memory.</a:t>
            </a:r>
          </a:p>
          <a:p>
            <a:pPr lvl="1"/>
            <a:r>
              <a:rPr lang="en-US" sz="2400" dirty="0"/>
              <a:t>also often called an EEPROM (electrically erasable programmable ROM), EAROM (electrically alterable ROM) or </a:t>
            </a:r>
            <a:r>
              <a:rPr lang="it-IT" sz="2400" dirty="0"/>
              <a:t>NOVRAM (nonvolatile RAM)</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33</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968253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ROM Memory</a:t>
            </a:r>
          </a:p>
        </p:txBody>
      </p:sp>
      <p:sp>
        <p:nvSpPr>
          <p:cNvPr id="25603" name="Content Placeholder 2"/>
          <p:cNvSpPr>
            <a:spLocks noGrp="1"/>
          </p:cNvSpPr>
          <p:nvPr>
            <p:ph idx="1"/>
          </p:nvPr>
        </p:nvSpPr>
        <p:spPr>
          <a:xfrm>
            <a:off x="323528" y="980728"/>
            <a:ext cx="8229600" cy="4906962"/>
          </a:xfrm>
        </p:spPr>
        <p:txBody>
          <a:bodyPr/>
          <a:lstStyle/>
          <a:p>
            <a:pPr lvl="1"/>
            <a:r>
              <a:rPr lang="en-US" sz="2400" dirty="0"/>
              <a:t>Electrically erasable in the system, but they require more time to erase than normal RAM.</a:t>
            </a:r>
          </a:p>
          <a:p>
            <a:pPr lvl="1"/>
            <a:r>
              <a:rPr lang="en-US" sz="2400" dirty="0"/>
              <a:t>The flash memory device is used to store setup information for systems such as the video card in the computer.</a:t>
            </a:r>
          </a:p>
          <a:p>
            <a:pPr lvl="1"/>
            <a:r>
              <a:rPr lang="en-US" sz="2400" dirty="0"/>
              <a:t>Flash has all but replaced the EPROM in most computer systems for the BIOS.</a:t>
            </a:r>
          </a:p>
          <a:p>
            <a:pPr lvl="1"/>
            <a:r>
              <a:rPr lang="en-US" sz="2400" dirty="0"/>
              <a:t>some systems contain a password stored in the flash memory device</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34</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1985521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Interfacing with 8088</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35</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pic>
        <p:nvPicPr>
          <p:cNvPr id="4" name="Picture 3"/>
          <p:cNvPicPr>
            <a:picLocks noChangeAspect="1"/>
          </p:cNvPicPr>
          <p:nvPr/>
        </p:nvPicPr>
        <p:blipFill rotWithShape="1">
          <a:blip r:embed="rId2"/>
          <a:srcRect l="12290" t="4369" r="12290" b="3135"/>
          <a:stretch/>
        </p:blipFill>
        <p:spPr>
          <a:xfrm>
            <a:off x="323528" y="963312"/>
            <a:ext cx="8064896" cy="5773056"/>
          </a:xfrm>
          <a:prstGeom prst="rect">
            <a:avLst/>
          </a:prstGeom>
        </p:spPr>
      </p:pic>
    </p:spTree>
    <p:extLst>
      <p:ext uri="{BB962C8B-B14F-4D97-AF65-F5344CB8AC3E}">
        <p14:creationId xmlns:p14="http://schemas.microsoft.com/office/powerpoint/2010/main" val="1025826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Why Decode Memory?</a:t>
            </a:r>
            <a:endParaRPr lang="en-US" altLang="en-US" dirty="0"/>
          </a:p>
        </p:txBody>
      </p:sp>
      <p:sp>
        <p:nvSpPr>
          <p:cNvPr id="25603" name="Content Placeholder 2"/>
          <p:cNvSpPr>
            <a:spLocks noGrp="1"/>
          </p:cNvSpPr>
          <p:nvPr>
            <p:ph idx="1"/>
          </p:nvPr>
        </p:nvSpPr>
        <p:spPr>
          <a:xfrm>
            <a:off x="323528" y="980728"/>
            <a:ext cx="8229600" cy="4906962"/>
          </a:xfrm>
        </p:spPr>
        <p:txBody>
          <a:bodyPr/>
          <a:lstStyle/>
          <a:p>
            <a:r>
              <a:rPr lang="en-US" sz="2800" dirty="0"/>
              <a:t>The 8088 has 20 address connections and the </a:t>
            </a:r>
            <a:r>
              <a:rPr lang="en-US" sz="2800" b="1" dirty="0"/>
              <a:t>RAM/ROM </a:t>
            </a:r>
            <a:r>
              <a:rPr lang="en-US" sz="2800" dirty="0"/>
              <a:t>has X connections.</a:t>
            </a:r>
          </a:p>
          <a:p>
            <a:r>
              <a:rPr lang="en-US" sz="2800" dirty="0"/>
              <a:t>The 8088 sends out a 20-bit memory address whenever it reads or writes data.</a:t>
            </a:r>
          </a:p>
          <a:p>
            <a:r>
              <a:rPr lang="en-US" sz="2800" dirty="0"/>
              <a:t>– because the </a:t>
            </a:r>
            <a:r>
              <a:rPr lang="en-US" sz="2800" b="1" dirty="0"/>
              <a:t>RAM/ROM </a:t>
            </a:r>
            <a:r>
              <a:rPr lang="en-US" sz="2800" dirty="0"/>
              <a:t>has only X address pins, there is a mismatch that must be corrected</a:t>
            </a:r>
          </a:p>
          <a:p>
            <a:r>
              <a:rPr lang="en-US" sz="2800" dirty="0"/>
              <a:t>The decoder corrects the mismatch by decoding address pins that do not connect to the memory component.</a:t>
            </a:r>
          </a:p>
          <a:p>
            <a:r>
              <a:rPr lang="en-US" sz="2800" dirty="0"/>
              <a:t>Types of Decoder</a:t>
            </a:r>
          </a:p>
          <a:p>
            <a:pPr lvl="1"/>
            <a:r>
              <a:rPr lang="en-US" sz="2400" dirty="0"/>
              <a:t>NAND Gate Decoder</a:t>
            </a:r>
          </a:p>
          <a:p>
            <a:pPr lvl="1"/>
            <a:r>
              <a:rPr lang="en-US" sz="2400" dirty="0"/>
              <a:t>3-8 Line Decoder</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36</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2418559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r>
              <a:rPr lang="en-US" sz="2800" dirty="0"/>
              <a:t>When the 2K x 8 SRAM is used:</a:t>
            </a:r>
          </a:p>
          <a:p>
            <a:pPr lvl="1"/>
            <a:r>
              <a:rPr lang="en-US" sz="2400" dirty="0"/>
              <a:t>2K X 8 EPROM, 2</a:t>
            </a:r>
            <a:r>
              <a:rPr lang="en-US" sz="2400" baseline="30000" dirty="0"/>
              <a:t>11</a:t>
            </a:r>
            <a:r>
              <a:rPr lang="en-US" sz="2400" dirty="0"/>
              <a:t> = 2K</a:t>
            </a:r>
          </a:p>
          <a:p>
            <a:pPr lvl="1"/>
            <a:r>
              <a:rPr lang="en-US" sz="2400" dirty="0"/>
              <a:t>Address connections A</a:t>
            </a:r>
            <a:r>
              <a:rPr lang="en-US" sz="2400" baseline="-25000" dirty="0"/>
              <a:t>10</a:t>
            </a:r>
            <a:r>
              <a:rPr lang="en-US" sz="2400" dirty="0"/>
              <a:t>-A</a:t>
            </a:r>
            <a:r>
              <a:rPr lang="en-US" sz="2400" baseline="-25000" dirty="0"/>
              <a:t>0</a:t>
            </a:r>
          </a:p>
          <a:p>
            <a:pPr lvl="1"/>
            <a:r>
              <a:rPr lang="en-US" sz="2400" dirty="0"/>
              <a:t>Remaining 9-pins (A</a:t>
            </a:r>
            <a:r>
              <a:rPr lang="en-US" sz="2400" baseline="-25000" dirty="0"/>
              <a:t>19</a:t>
            </a:r>
            <a:r>
              <a:rPr lang="en-US" sz="2400" dirty="0"/>
              <a:t>-A</a:t>
            </a:r>
            <a:r>
              <a:rPr lang="en-US" sz="2400" baseline="-25000" dirty="0"/>
              <a:t>11</a:t>
            </a:r>
            <a:r>
              <a:rPr lang="en-US" sz="2400" dirty="0"/>
              <a:t>) are used for Decoding</a:t>
            </a:r>
          </a:p>
          <a:p>
            <a:pPr marL="327025" lvl="1" indent="0">
              <a:buNone/>
            </a:pPr>
            <a:r>
              <a:rPr lang="en-US" sz="2400" b="1" u="sng" dirty="0"/>
              <a:t>Example</a:t>
            </a:r>
          </a:p>
          <a:p>
            <a:pPr marL="996950" lvl="3" indent="0">
              <a:buNone/>
            </a:pPr>
            <a:r>
              <a:rPr lang="en-US" sz="1800" dirty="0"/>
              <a:t>	A 2K EPROM is decoded at memory address locations FF800H</a:t>
            </a:r>
          </a:p>
          <a:p>
            <a:pPr marL="996950" lvl="3" indent="0">
              <a:buNone/>
            </a:pPr>
            <a:r>
              <a:rPr lang="en-US" sz="1800" dirty="0"/>
              <a:t>	Starting Address = </a:t>
            </a:r>
            <a:r>
              <a:rPr lang="pt-BR" sz="1800" dirty="0"/>
              <a:t>1111 1111 1000 0000 0000 = FF800H</a:t>
            </a:r>
          </a:p>
          <a:p>
            <a:pPr marL="996950" lvl="3" indent="0">
              <a:buNone/>
            </a:pPr>
            <a:r>
              <a:rPr lang="en-US" sz="1800" dirty="0"/>
              <a:t>	Ending Address = FF800H + 2K -1 = FFFFFH</a:t>
            </a:r>
          </a:p>
          <a:p>
            <a:pPr marL="996950" lvl="3" indent="0">
              <a:buNone/>
            </a:pPr>
            <a:r>
              <a:rPr lang="en-US" sz="1800" dirty="0"/>
              <a:t>	</a:t>
            </a:r>
            <a:r>
              <a:rPr lang="de-DE" sz="1800" dirty="0"/>
              <a:t>1111 1111 1111 1111 1111 = FFFFFH</a:t>
            </a:r>
            <a:endParaRPr lang="en-US" sz="1800" dirty="0"/>
          </a:p>
          <a:p>
            <a:pPr marL="996950" lvl="3" indent="0">
              <a:buNone/>
            </a:pPr>
            <a:r>
              <a:rPr lang="en-US" sz="1800" dirty="0"/>
              <a:t>	</a:t>
            </a:r>
            <a:r>
              <a:rPr lang="en-US" sz="1800" b="1" dirty="0"/>
              <a:t>1111 1111 1XXX XXXX </a:t>
            </a:r>
            <a:r>
              <a:rPr lang="en-US" sz="1800" b="1" dirty="0" err="1"/>
              <a:t>XXXX</a:t>
            </a:r>
            <a:endParaRPr lang="en-US" sz="1800" b="1" dirty="0"/>
          </a:p>
          <a:p>
            <a:endParaRPr lang="en-US" sz="2800"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37</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1346496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endParaRPr lang="en-US" sz="2800" dirty="0"/>
          </a:p>
          <a:p>
            <a:endParaRPr lang="en-US" sz="2800" dirty="0"/>
          </a:p>
          <a:p>
            <a:endParaRPr lang="en-US" sz="2800" dirty="0"/>
          </a:p>
          <a:p>
            <a:endParaRPr lang="en-US" sz="2800" dirty="0"/>
          </a:p>
          <a:p>
            <a:pPr marL="0" indent="0">
              <a:buNone/>
            </a:pPr>
            <a:endParaRPr lang="en-US" sz="2800"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38</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
        <p:nvSpPr>
          <p:cNvPr id="5" name="Rectangle 4"/>
          <p:cNvSpPr/>
          <p:nvPr/>
        </p:nvSpPr>
        <p:spPr>
          <a:xfrm>
            <a:off x="251520" y="980728"/>
            <a:ext cx="8568952" cy="5484578"/>
          </a:xfrm>
          <a:prstGeom prst="rect">
            <a:avLst/>
          </a:prstGeom>
        </p:spPr>
        <p:txBody>
          <a:bodyPr wrap="square">
            <a:spAutoFit/>
          </a:bodyPr>
          <a:lstStyle/>
          <a:p>
            <a:endParaRPr lang="en-US" sz="2400" dirty="0"/>
          </a:p>
          <a:p>
            <a:endParaRPr lang="en-US" sz="2400" dirty="0"/>
          </a:p>
          <a:p>
            <a:endParaRPr lang="en-US" sz="2400" dirty="0"/>
          </a:p>
          <a:p>
            <a:endParaRPr lang="en-US" sz="2400" dirty="0"/>
          </a:p>
          <a:p>
            <a:pPr marL="0" indent="0">
              <a:buNone/>
            </a:pPr>
            <a:endParaRPr lang="en-US" sz="2400" dirty="0"/>
          </a:p>
          <a:p>
            <a:endParaRPr lang="en-US" sz="2400" dirty="0"/>
          </a:p>
          <a:p>
            <a:endParaRPr lang="en-US" sz="2400" dirty="0"/>
          </a:p>
          <a:p>
            <a:endParaRPr lang="en-US" sz="2400" dirty="0"/>
          </a:p>
          <a:p>
            <a:endParaRPr lang="en-US" sz="2400" dirty="0"/>
          </a:p>
          <a:p>
            <a:pPr marL="342900" indent="-342900">
              <a:spcBef>
                <a:spcPct val="20000"/>
              </a:spcBef>
              <a:buClr>
                <a:schemeClr val="accent1"/>
              </a:buClr>
              <a:buSzPct val="65000"/>
              <a:buFont typeface="Wingdings" panose="05000000000000000000" pitchFamily="2" charset="2"/>
              <a:buChar char="n"/>
            </a:pPr>
            <a:endParaRPr lang="en-US" sz="2800" dirty="0">
              <a:latin typeface="+mn-lt"/>
              <a:cs typeface="+mn-cs"/>
            </a:endParaRPr>
          </a:p>
          <a:p>
            <a:pPr>
              <a:spcBef>
                <a:spcPct val="20000"/>
              </a:spcBef>
              <a:buClr>
                <a:schemeClr val="accent1"/>
              </a:buClr>
              <a:buSzPct val="65000"/>
            </a:pPr>
            <a:endParaRPr lang="en-US" sz="2800" dirty="0">
              <a:latin typeface="+mn-lt"/>
              <a:cs typeface="+mn-cs"/>
            </a:endParaRPr>
          </a:p>
          <a:p>
            <a:pPr marL="342900" indent="-342900">
              <a:spcBef>
                <a:spcPct val="20000"/>
              </a:spcBef>
              <a:buClr>
                <a:schemeClr val="accent1"/>
              </a:buClr>
              <a:buSzPct val="65000"/>
              <a:buFont typeface="Wingdings" panose="05000000000000000000" pitchFamily="2" charset="2"/>
              <a:buChar char="n"/>
            </a:pPr>
            <a:r>
              <a:rPr lang="en-US" sz="2800" dirty="0">
                <a:latin typeface="+mn-lt"/>
                <a:cs typeface="+mn-cs"/>
              </a:rPr>
              <a:t>Address </a:t>
            </a:r>
            <a:r>
              <a:rPr lang="en-US" sz="2800" dirty="0"/>
              <a:t>FF800H to FFFFFH.</a:t>
            </a:r>
          </a:p>
          <a:p>
            <a:pPr marL="342900" indent="-342900">
              <a:spcBef>
                <a:spcPct val="20000"/>
              </a:spcBef>
              <a:buClr>
                <a:schemeClr val="accent1"/>
              </a:buClr>
              <a:buSzPct val="65000"/>
              <a:buFont typeface="Wingdings" panose="05000000000000000000" pitchFamily="2" charset="2"/>
              <a:buChar char="n"/>
            </a:pPr>
            <a:endParaRPr lang="en-US" sz="2800" dirty="0">
              <a:latin typeface="+mn-lt"/>
              <a:cs typeface="+mn-cs"/>
            </a:endParaRPr>
          </a:p>
        </p:txBody>
      </p:sp>
      <p:pic>
        <p:nvPicPr>
          <p:cNvPr id="8" name="Picture 7"/>
          <p:cNvPicPr>
            <a:picLocks noChangeAspect="1"/>
          </p:cNvPicPr>
          <p:nvPr/>
        </p:nvPicPr>
        <p:blipFill>
          <a:blip r:embed="rId2"/>
          <a:stretch>
            <a:fillRect/>
          </a:stretch>
        </p:blipFill>
        <p:spPr>
          <a:xfrm>
            <a:off x="93853" y="828246"/>
            <a:ext cx="8972550" cy="4686300"/>
          </a:xfrm>
          <a:prstGeom prst="rect">
            <a:avLst/>
          </a:prstGeom>
        </p:spPr>
      </p:pic>
    </p:spTree>
    <p:extLst>
      <p:ext uri="{BB962C8B-B14F-4D97-AF65-F5344CB8AC3E}">
        <p14:creationId xmlns:p14="http://schemas.microsoft.com/office/powerpoint/2010/main" val="32698177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r>
              <a:rPr lang="en-US" sz="2800" dirty="0"/>
              <a:t>When the 64K x 8 SRAM is used:</a:t>
            </a:r>
          </a:p>
          <a:p>
            <a:pPr lvl="1"/>
            <a:r>
              <a:rPr lang="en-US" sz="2400" dirty="0"/>
              <a:t>Address connections A15–A0 of 8088 are connected to address inputs A15–A0 of the SRAM. </a:t>
            </a:r>
          </a:p>
          <a:p>
            <a:pPr lvl="1"/>
            <a:r>
              <a:rPr lang="en-US" sz="2400" dirty="0"/>
              <a:t>The remaining four address pins (A19–A16) are connected to a NAND gate decoder</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39</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spTree>
    <p:extLst>
      <p:ext uri="{BB962C8B-B14F-4D97-AF65-F5344CB8AC3E}">
        <p14:creationId xmlns:p14="http://schemas.microsoft.com/office/powerpoint/2010/main" val="2598225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endParaRPr lang="en-US" sz="2800" dirty="0"/>
          </a:p>
          <a:p>
            <a:endParaRPr lang="en-US" sz="2800" dirty="0"/>
          </a:p>
          <a:p>
            <a:endParaRPr lang="en-US" sz="2800" dirty="0"/>
          </a:p>
          <a:p>
            <a:endParaRPr lang="en-US" sz="2800" dirty="0"/>
          </a:p>
          <a:p>
            <a:pPr marL="0" indent="0">
              <a:buNone/>
            </a:pPr>
            <a:endParaRPr lang="en-US" sz="2800" dirty="0"/>
          </a:p>
          <a:p>
            <a:r>
              <a:rPr lang="en-US" sz="2800" dirty="0"/>
              <a:t>In this circuit a NAND gate decodes the memory address, as seen in the above figure.</a:t>
            </a:r>
          </a:p>
          <a:p>
            <a:r>
              <a:rPr lang="en-US" sz="2800" dirty="0"/>
              <a:t>The memory will be enabled only when A19-A16 = 1110.</a:t>
            </a:r>
          </a:p>
          <a:p>
            <a:r>
              <a:rPr lang="en-US" sz="2800" dirty="0"/>
              <a:t>The 64K SRAM is mapped to the address range E0000H to EFFFFH.</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40</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pic>
        <p:nvPicPr>
          <p:cNvPr id="3" name="Picture 2"/>
          <p:cNvPicPr>
            <a:picLocks noChangeAspect="1"/>
          </p:cNvPicPr>
          <p:nvPr/>
        </p:nvPicPr>
        <p:blipFill rotWithShape="1">
          <a:blip r:embed="rId2"/>
          <a:srcRect t="18446" b="25777"/>
          <a:stretch/>
        </p:blipFill>
        <p:spPr>
          <a:xfrm>
            <a:off x="899592" y="980728"/>
            <a:ext cx="7177607" cy="2674174"/>
          </a:xfrm>
          <a:prstGeom prst="rect">
            <a:avLst/>
          </a:prstGeom>
        </p:spPr>
      </p:pic>
    </p:spTree>
    <p:extLst>
      <p:ext uri="{BB962C8B-B14F-4D97-AF65-F5344CB8AC3E}">
        <p14:creationId xmlns:p14="http://schemas.microsoft.com/office/powerpoint/2010/main" val="4063760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endParaRPr lang="en-US" sz="2800" dirty="0"/>
          </a:p>
          <a:p>
            <a:endParaRPr lang="en-US" sz="2800" dirty="0"/>
          </a:p>
          <a:p>
            <a:endParaRPr lang="en-US" sz="2800" dirty="0"/>
          </a:p>
          <a:p>
            <a:endParaRPr lang="en-US" sz="2800" dirty="0"/>
          </a:p>
          <a:p>
            <a:pPr marL="0" indent="0">
              <a:buNone/>
            </a:pPr>
            <a:endParaRPr lang="en-US" sz="2800" dirty="0"/>
          </a:p>
          <a:p>
            <a:r>
              <a:rPr lang="en-US" sz="2800" dirty="0"/>
              <a:t>In this circuit a NAND gate decodes the memory address, as seen in the above figure.</a:t>
            </a:r>
          </a:p>
          <a:p>
            <a:r>
              <a:rPr lang="en-US" sz="2800" dirty="0"/>
              <a:t>The memory will be enabled only when A19-A16 = 1100.</a:t>
            </a:r>
          </a:p>
          <a:p>
            <a:r>
              <a:rPr lang="en-US" sz="2800" dirty="0"/>
              <a:t>The 64K SRAM is mapped to the address range C0000H to CFFFFH.</a:t>
            </a:r>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41</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pic>
        <p:nvPicPr>
          <p:cNvPr id="4" name="Picture 3"/>
          <p:cNvPicPr>
            <a:picLocks noChangeAspect="1"/>
          </p:cNvPicPr>
          <p:nvPr/>
        </p:nvPicPr>
        <p:blipFill rotWithShape="1">
          <a:blip r:embed="rId2"/>
          <a:srcRect t="17025" b="17025"/>
          <a:stretch/>
        </p:blipFill>
        <p:spPr>
          <a:xfrm>
            <a:off x="1115616" y="1002973"/>
            <a:ext cx="6192688" cy="2520280"/>
          </a:xfrm>
          <a:prstGeom prst="rect">
            <a:avLst/>
          </a:prstGeom>
        </p:spPr>
      </p:pic>
    </p:spTree>
    <p:extLst>
      <p:ext uri="{BB962C8B-B14F-4D97-AF65-F5344CB8AC3E}">
        <p14:creationId xmlns:p14="http://schemas.microsoft.com/office/powerpoint/2010/main" val="2592155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endParaRPr lang="en-US" sz="2800" dirty="0"/>
          </a:p>
          <a:p>
            <a:endParaRPr lang="en-US" sz="2800" dirty="0"/>
          </a:p>
          <a:p>
            <a:endParaRPr lang="en-US" sz="2800" dirty="0"/>
          </a:p>
          <a:p>
            <a:endParaRPr lang="en-US" sz="2800" dirty="0"/>
          </a:p>
          <a:p>
            <a:pPr marL="0" indent="0">
              <a:buNone/>
            </a:pPr>
            <a:endParaRPr lang="en-US" sz="2800"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42</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pic>
        <p:nvPicPr>
          <p:cNvPr id="3" name="Picture 2"/>
          <p:cNvPicPr>
            <a:picLocks noChangeAspect="1"/>
          </p:cNvPicPr>
          <p:nvPr/>
        </p:nvPicPr>
        <p:blipFill rotWithShape="1">
          <a:blip r:embed="rId2"/>
          <a:srcRect l="5172" t="20470" r="4618" b="56890"/>
          <a:stretch/>
        </p:blipFill>
        <p:spPr>
          <a:xfrm>
            <a:off x="12050" y="1128457"/>
            <a:ext cx="9144000" cy="1290258"/>
          </a:xfrm>
          <a:prstGeom prst="rect">
            <a:avLst/>
          </a:prstGeom>
        </p:spPr>
      </p:pic>
      <p:pic>
        <p:nvPicPr>
          <p:cNvPr id="9" name="Picture 8"/>
          <p:cNvPicPr>
            <a:picLocks noChangeAspect="1"/>
          </p:cNvPicPr>
          <p:nvPr/>
        </p:nvPicPr>
        <p:blipFill rotWithShape="1">
          <a:blip r:embed="rId2"/>
          <a:srcRect l="17050" t="49038" r="14043" b="22293"/>
          <a:stretch/>
        </p:blipFill>
        <p:spPr>
          <a:xfrm>
            <a:off x="363834" y="3284984"/>
            <a:ext cx="8672662" cy="2028677"/>
          </a:xfrm>
          <a:prstGeom prst="rect">
            <a:avLst/>
          </a:prstGeom>
        </p:spPr>
      </p:pic>
    </p:spTree>
    <p:extLst>
      <p:ext uri="{BB962C8B-B14F-4D97-AF65-F5344CB8AC3E}">
        <p14:creationId xmlns:p14="http://schemas.microsoft.com/office/powerpoint/2010/main" val="396016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NAND Gate Decoder</a:t>
            </a:r>
            <a:endParaRPr lang="en-US" altLang="en-US" dirty="0"/>
          </a:p>
        </p:txBody>
      </p:sp>
      <p:sp>
        <p:nvSpPr>
          <p:cNvPr id="25603" name="Content Placeholder 2"/>
          <p:cNvSpPr>
            <a:spLocks noGrp="1"/>
          </p:cNvSpPr>
          <p:nvPr>
            <p:ph idx="1"/>
          </p:nvPr>
        </p:nvSpPr>
        <p:spPr>
          <a:xfrm>
            <a:off x="107504" y="980728"/>
            <a:ext cx="8928992" cy="4906962"/>
          </a:xfrm>
        </p:spPr>
        <p:txBody>
          <a:bodyPr/>
          <a:lstStyle/>
          <a:p>
            <a:endParaRPr lang="en-US" sz="2800" dirty="0"/>
          </a:p>
          <a:p>
            <a:endParaRPr lang="en-US" sz="2800" dirty="0"/>
          </a:p>
          <a:p>
            <a:endParaRPr lang="en-US" sz="2800" dirty="0"/>
          </a:p>
          <a:p>
            <a:endParaRPr lang="en-US" sz="2800" dirty="0"/>
          </a:p>
          <a:p>
            <a:pPr marL="0" indent="0">
              <a:buNone/>
            </a:pPr>
            <a:endParaRPr lang="en-US" sz="2800" dirty="0"/>
          </a:p>
        </p:txBody>
      </p:sp>
      <p:sp>
        <p:nvSpPr>
          <p:cNvPr id="2560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F958C9-0A50-4D64-8BBA-A3F677287FBB}" type="slidenum">
              <a:rPr lang="en-US" altLang="en-US" sz="1200" smtClean="0">
                <a:latin typeface="Garamond" panose="02020404030301010803" pitchFamily="18" charset="0"/>
              </a:rPr>
              <a:pPr>
                <a:spcBef>
                  <a:spcPct val="0"/>
                </a:spcBef>
                <a:buClrTx/>
                <a:buSzTx/>
                <a:buFontTx/>
                <a:buNone/>
              </a:pPr>
              <a:t>43</a:t>
            </a:fld>
            <a:endParaRPr lang="en-US" altLang="en-US" sz="1200" dirty="0">
              <a:latin typeface="Garamond" panose="02020404030301010803" pitchFamily="18" charset="0"/>
            </a:endParaRPr>
          </a:p>
        </p:txBody>
      </p:sp>
      <p:sp>
        <p:nvSpPr>
          <p:cNvPr id="2" name="Date Placeholder 1"/>
          <p:cNvSpPr>
            <a:spLocks noGrp="1"/>
          </p:cNvSpPr>
          <p:nvPr>
            <p:ph type="dt" sz="quarter" idx="10"/>
          </p:nvPr>
        </p:nvSpPr>
        <p:spPr/>
        <p:txBody>
          <a:bodyPr/>
          <a:lstStyle/>
          <a:p>
            <a:pPr>
              <a:defRPr/>
            </a:pPr>
            <a:fld id="{C8B4C483-0DFF-4F38-9879-6E7315558124}" type="datetime2">
              <a:rPr lang="en-US" altLang="en-US"/>
              <a:pPr>
                <a:defRPr/>
              </a:pPr>
              <a:t>Saturday, October 11, 2025</a:t>
            </a:fld>
            <a:endParaRPr lang="en-US" altLang="en-US" dirty="0"/>
          </a:p>
        </p:txBody>
      </p:sp>
      <p:pic>
        <p:nvPicPr>
          <p:cNvPr id="4" name="Picture 3"/>
          <p:cNvPicPr>
            <a:picLocks noChangeAspect="1"/>
          </p:cNvPicPr>
          <p:nvPr/>
        </p:nvPicPr>
        <p:blipFill rotWithShape="1">
          <a:blip r:embed="rId2"/>
          <a:srcRect l="23435" t="49015" r="21775" b="11524"/>
          <a:stretch/>
        </p:blipFill>
        <p:spPr>
          <a:xfrm>
            <a:off x="1007603" y="1124744"/>
            <a:ext cx="7128793" cy="2886646"/>
          </a:xfrm>
          <a:prstGeom prst="rect">
            <a:avLst/>
          </a:prstGeom>
        </p:spPr>
      </p:pic>
      <p:sp>
        <p:nvSpPr>
          <p:cNvPr id="5" name="Rectangle 4"/>
          <p:cNvSpPr/>
          <p:nvPr/>
        </p:nvSpPr>
        <p:spPr>
          <a:xfrm>
            <a:off x="251520" y="980728"/>
            <a:ext cx="8568952" cy="4450449"/>
          </a:xfrm>
          <a:prstGeom prst="rect">
            <a:avLst/>
          </a:prstGeom>
        </p:spPr>
        <p:txBody>
          <a:bodyPr wrap="square">
            <a:spAutoFit/>
          </a:bodyPr>
          <a:lstStyle/>
          <a:p>
            <a:endParaRPr lang="en-US" sz="2400" dirty="0"/>
          </a:p>
          <a:p>
            <a:endParaRPr lang="en-US" sz="2400" dirty="0"/>
          </a:p>
          <a:p>
            <a:endParaRPr lang="en-US" sz="2400" dirty="0"/>
          </a:p>
          <a:p>
            <a:endParaRPr lang="en-US" sz="2400" dirty="0"/>
          </a:p>
          <a:p>
            <a:pPr marL="0" indent="0">
              <a:buNone/>
            </a:pPr>
            <a:endParaRPr lang="en-US" sz="2400" dirty="0"/>
          </a:p>
          <a:p>
            <a:endParaRPr lang="en-US" sz="2400" dirty="0"/>
          </a:p>
          <a:p>
            <a:endParaRPr lang="en-US" sz="2400" dirty="0"/>
          </a:p>
          <a:p>
            <a:endParaRPr lang="en-US" sz="2400" dirty="0"/>
          </a:p>
          <a:p>
            <a:endParaRPr lang="en-US" sz="2400" dirty="0"/>
          </a:p>
          <a:p>
            <a:pPr marL="342900" indent="-342900">
              <a:spcBef>
                <a:spcPct val="20000"/>
              </a:spcBef>
              <a:buClr>
                <a:schemeClr val="accent1"/>
              </a:buClr>
              <a:buSzPct val="65000"/>
              <a:buFont typeface="Wingdings" panose="05000000000000000000" pitchFamily="2" charset="2"/>
              <a:buChar char="n"/>
            </a:pPr>
            <a:r>
              <a:rPr lang="en-US" sz="2800" dirty="0">
                <a:latin typeface="+mn-lt"/>
                <a:cs typeface="+mn-cs"/>
              </a:rPr>
              <a:t>Address </a:t>
            </a:r>
            <a:r>
              <a:rPr lang="en-US" sz="2800" dirty="0"/>
              <a:t>48000H to 4FFFFH.</a:t>
            </a:r>
          </a:p>
          <a:p>
            <a:pPr marL="342900" indent="-342900">
              <a:spcBef>
                <a:spcPct val="20000"/>
              </a:spcBef>
              <a:buClr>
                <a:schemeClr val="accent1"/>
              </a:buClr>
              <a:buSzPct val="65000"/>
              <a:buFont typeface="Wingdings" panose="05000000000000000000" pitchFamily="2" charset="2"/>
              <a:buChar char="n"/>
            </a:pPr>
            <a:endParaRPr lang="en-US" sz="2800" dirty="0">
              <a:latin typeface="+mn-lt"/>
              <a:cs typeface="+mn-cs"/>
            </a:endParaRPr>
          </a:p>
        </p:txBody>
      </p:sp>
    </p:spTree>
    <p:extLst>
      <p:ext uri="{BB962C8B-B14F-4D97-AF65-F5344CB8AC3E}">
        <p14:creationId xmlns:p14="http://schemas.microsoft.com/office/powerpoint/2010/main" val="2042501483"/>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2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2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29188</TotalTime>
  <Words>3108</Words>
  <Application>Microsoft Office PowerPoint</Application>
  <PresentationFormat>On-screen Show (4:3)</PresentationFormat>
  <Paragraphs>545</Paragraphs>
  <Slides>43</Slides>
  <Notes>11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Edge</vt:lpstr>
      <vt:lpstr> Microprocessor Systems and Interfacing  EEE 342</vt:lpstr>
      <vt:lpstr>Microprocessor 8088</vt:lpstr>
      <vt:lpstr>Architecture</vt:lpstr>
      <vt:lpstr>Pinout of 8088</vt:lpstr>
      <vt:lpstr>Pinout of 8088</vt:lpstr>
      <vt:lpstr>Pinout of 8088</vt:lpstr>
      <vt:lpstr>Pin Explanation</vt:lpstr>
      <vt:lpstr>Pin Explanation</vt:lpstr>
      <vt:lpstr>Pin Explanation</vt:lpstr>
      <vt:lpstr>Pin Explanation</vt:lpstr>
      <vt:lpstr>Pins and Signals</vt:lpstr>
      <vt:lpstr>Pins and Signals</vt:lpstr>
      <vt:lpstr>Pins and Signals</vt:lpstr>
      <vt:lpstr>Pins and Signals</vt:lpstr>
      <vt:lpstr>Pins and Signals</vt:lpstr>
      <vt:lpstr>Pins and Signals</vt:lpstr>
      <vt:lpstr>Pins and Signals</vt:lpstr>
      <vt:lpstr>Pins and Signals</vt:lpstr>
      <vt:lpstr>Pins and Signals</vt:lpstr>
      <vt:lpstr>Pins and Signals</vt:lpstr>
      <vt:lpstr>Memories</vt:lpstr>
      <vt:lpstr>Memories</vt:lpstr>
      <vt:lpstr>Memories</vt:lpstr>
      <vt:lpstr>Pin configuration of Memory Chips</vt:lpstr>
      <vt:lpstr>Pin configuration of Memory Chips</vt:lpstr>
      <vt:lpstr>Address Connections</vt:lpstr>
      <vt:lpstr>Data Connections</vt:lpstr>
      <vt:lpstr>Select Connections</vt:lpstr>
      <vt:lpstr>Control Connections</vt:lpstr>
      <vt:lpstr>Control Connections</vt:lpstr>
      <vt:lpstr>Memory Hierarchy</vt:lpstr>
      <vt:lpstr>ROM Memory</vt:lpstr>
      <vt:lpstr>ROM Memory</vt:lpstr>
      <vt:lpstr>ROM Memory</vt:lpstr>
      <vt:lpstr>Interfacing with 8088</vt:lpstr>
      <vt:lpstr>Why Decode Memory?</vt:lpstr>
      <vt:lpstr>NAND Gate Decoder</vt:lpstr>
      <vt:lpstr>NAND Gate Decoder</vt:lpstr>
      <vt:lpstr>NAND Gate Decoder</vt:lpstr>
      <vt:lpstr>NAND Gate Decoder</vt:lpstr>
      <vt:lpstr>NAND Gate Decoder</vt:lpstr>
      <vt:lpstr>NAND Gate Decoder</vt:lpstr>
      <vt:lpstr>NAND Gate Decoder</vt:lpstr>
    </vt:vector>
  </TitlesOfParts>
  <Company>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Measurement-based Deployment Proposal for IP Anycast</dc:title>
  <dc:creator>M. Hassan Aslam</dc:creator>
  <cp:lastModifiedBy>ALISHA BUTT</cp:lastModifiedBy>
  <cp:revision>1747</cp:revision>
  <cp:lastPrinted>2016-02-03T03:45:30Z</cp:lastPrinted>
  <dcterms:created xsi:type="dcterms:W3CDTF">2007-02-17T16:35:06Z</dcterms:created>
  <dcterms:modified xsi:type="dcterms:W3CDTF">2025-10-10T19:11:00Z</dcterms:modified>
</cp:coreProperties>
</file>