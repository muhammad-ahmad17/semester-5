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69" r:id="rId16"/>
    <p:sldId id="273" r:id="rId17"/>
    <p:sldId id="270" r:id="rId18"/>
    <p:sldId id="271" r:id="rId19"/>
    <p:sldId id="272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D40459-3DE8-48C9-99B8-B938B66DB39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E5B669E-66E5-44F9-B936-8A755B317E1E}">
      <dgm:prSet/>
      <dgm:spPr/>
      <dgm:t>
        <a:bodyPr/>
        <a:lstStyle/>
        <a:p>
          <a:r>
            <a:rPr lang="en-US" b="0" i="0"/>
            <a:t>Average Turn Around time = (4 + 15 + 5 + 6 + 10) / 5 = 40 / 5 = 8 unit</a:t>
          </a:r>
          <a:endParaRPr lang="en-US"/>
        </a:p>
      </dgm:t>
    </dgm:pt>
    <dgm:pt modelId="{693A1C68-08CE-4149-BE33-2603310CE6F5}" type="parTrans" cxnId="{C324335E-7D89-47AF-89E0-5E10AAEB1BEC}">
      <dgm:prSet/>
      <dgm:spPr/>
      <dgm:t>
        <a:bodyPr/>
        <a:lstStyle/>
        <a:p>
          <a:endParaRPr lang="en-US"/>
        </a:p>
      </dgm:t>
    </dgm:pt>
    <dgm:pt modelId="{AE2F8B25-6603-42C8-9BCF-8C5FDFD768BB}" type="sibTrans" cxnId="{C324335E-7D89-47AF-89E0-5E10AAEB1BEC}">
      <dgm:prSet/>
      <dgm:spPr/>
      <dgm:t>
        <a:bodyPr/>
        <a:lstStyle/>
        <a:p>
          <a:endParaRPr lang="en-US"/>
        </a:p>
      </dgm:t>
    </dgm:pt>
    <dgm:pt modelId="{E2895253-B716-450A-A831-8AC40DB627AC}">
      <dgm:prSet/>
      <dgm:spPr/>
      <dgm:t>
        <a:bodyPr/>
        <a:lstStyle/>
        <a:p>
          <a:r>
            <a:rPr lang="en-US" b="0" i="0"/>
            <a:t>Average waiting time = (3 + 11 + 3 + 0 + 7) / 5 = 24 / 5 = 4.8 unit</a:t>
          </a:r>
          <a:endParaRPr lang="en-US"/>
        </a:p>
      </dgm:t>
    </dgm:pt>
    <dgm:pt modelId="{B9C0795A-AA59-4B59-B713-E00ED24D88C9}" type="parTrans" cxnId="{898E9434-C6AE-4FFE-9C90-FA99F48AAF86}">
      <dgm:prSet/>
      <dgm:spPr/>
      <dgm:t>
        <a:bodyPr/>
        <a:lstStyle/>
        <a:p>
          <a:endParaRPr lang="en-US"/>
        </a:p>
      </dgm:t>
    </dgm:pt>
    <dgm:pt modelId="{24BF1FD1-1231-430A-85EF-4C22CFA9FFEF}" type="sibTrans" cxnId="{898E9434-C6AE-4FFE-9C90-FA99F48AAF86}">
      <dgm:prSet/>
      <dgm:spPr/>
      <dgm:t>
        <a:bodyPr/>
        <a:lstStyle/>
        <a:p>
          <a:endParaRPr lang="en-US"/>
        </a:p>
      </dgm:t>
    </dgm:pt>
    <dgm:pt modelId="{1F0154A8-40E5-4C82-A822-39D1D7E74118}" type="pres">
      <dgm:prSet presAssocID="{16D40459-3DE8-48C9-99B8-B938B66DB390}" presName="linear" presStyleCnt="0">
        <dgm:presLayoutVars>
          <dgm:animLvl val="lvl"/>
          <dgm:resizeHandles val="exact"/>
        </dgm:presLayoutVars>
      </dgm:prSet>
      <dgm:spPr/>
    </dgm:pt>
    <dgm:pt modelId="{77186CCF-DB9B-4E68-AE07-C2E799801D87}" type="pres">
      <dgm:prSet presAssocID="{AE5B669E-66E5-44F9-B936-8A755B317E1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466CC2B-F330-402D-A0CA-0AB606B269D6}" type="pres">
      <dgm:prSet presAssocID="{AE2F8B25-6603-42C8-9BCF-8C5FDFD768BB}" presName="spacer" presStyleCnt="0"/>
      <dgm:spPr/>
    </dgm:pt>
    <dgm:pt modelId="{4174891C-999C-42C9-AA15-2C6B5A1F6310}" type="pres">
      <dgm:prSet presAssocID="{E2895253-B716-450A-A831-8AC40DB627A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4E69409-57AA-4E1E-B98E-C8C86CFA3EDE}" type="presOf" srcId="{AE5B669E-66E5-44F9-B936-8A755B317E1E}" destId="{77186CCF-DB9B-4E68-AE07-C2E799801D87}" srcOrd="0" destOrd="0" presId="urn:microsoft.com/office/officeart/2005/8/layout/vList2"/>
    <dgm:cxn modelId="{898E9434-C6AE-4FFE-9C90-FA99F48AAF86}" srcId="{16D40459-3DE8-48C9-99B8-B938B66DB390}" destId="{E2895253-B716-450A-A831-8AC40DB627AC}" srcOrd="1" destOrd="0" parTransId="{B9C0795A-AA59-4B59-B713-E00ED24D88C9}" sibTransId="{24BF1FD1-1231-430A-85EF-4C22CFA9FFEF}"/>
    <dgm:cxn modelId="{C324335E-7D89-47AF-89E0-5E10AAEB1BEC}" srcId="{16D40459-3DE8-48C9-99B8-B938B66DB390}" destId="{AE5B669E-66E5-44F9-B936-8A755B317E1E}" srcOrd="0" destOrd="0" parTransId="{693A1C68-08CE-4149-BE33-2603310CE6F5}" sibTransId="{AE2F8B25-6603-42C8-9BCF-8C5FDFD768BB}"/>
    <dgm:cxn modelId="{6CBE4A4D-20EB-4802-898E-F0EA01AB660C}" type="presOf" srcId="{16D40459-3DE8-48C9-99B8-B938B66DB390}" destId="{1F0154A8-40E5-4C82-A822-39D1D7E74118}" srcOrd="0" destOrd="0" presId="urn:microsoft.com/office/officeart/2005/8/layout/vList2"/>
    <dgm:cxn modelId="{0A5D3690-5141-4C00-99BF-B2325B86AB08}" type="presOf" srcId="{E2895253-B716-450A-A831-8AC40DB627AC}" destId="{4174891C-999C-42C9-AA15-2C6B5A1F6310}" srcOrd="0" destOrd="0" presId="urn:microsoft.com/office/officeart/2005/8/layout/vList2"/>
    <dgm:cxn modelId="{03D87631-ACBB-4089-B7BC-016DA353733C}" type="presParOf" srcId="{1F0154A8-40E5-4C82-A822-39D1D7E74118}" destId="{77186CCF-DB9B-4E68-AE07-C2E799801D87}" srcOrd="0" destOrd="0" presId="urn:microsoft.com/office/officeart/2005/8/layout/vList2"/>
    <dgm:cxn modelId="{A0D9EA62-3386-4AA3-BC01-B7D67EE5D10A}" type="presParOf" srcId="{1F0154A8-40E5-4C82-A822-39D1D7E74118}" destId="{5466CC2B-F330-402D-A0CA-0AB606B269D6}" srcOrd="1" destOrd="0" presId="urn:microsoft.com/office/officeart/2005/8/layout/vList2"/>
    <dgm:cxn modelId="{CC52854E-A8F1-4C37-B3F1-4DCC1AE9C0C7}" type="presParOf" srcId="{1F0154A8-40E5-4C82-A822-39D1D7E74118}" destId="{4174891C-999C-42C9-AA15-2C6B5A1F631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186CCF-DB9B-4E68-AE07-C2E799801D87}">
      <dsp:nvSpPr>
        <dsp:cNvPr id="0" name=""/>
        <dsp:cNvSpPr/>
      </dsp:nvSpPr>
      <dsp:spPr>
        <a:xfrm>
          <a:off x="0" y="142463"/>
          <a:ext cx="6245265" cy="258453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b="0" i="0" kern="1200"/>
            <a:t>Average Turn Around time = (4 + 15 + 5 + 6 + 10) / 5 = 40 / 5 = 8 unit</a:t>
          </a:r>
          <a:endParaRPr lang="en-US" sz="4700" kern="1200"/>
        </a:p>
      </dsp:txBody>
      <dsp:txXfrm>
        <a:off x="126166" y="268629"/>
        <a:ext cx="5992933" cy="2332198"/>
      </dsp:txXfrm>
    </dsp:sp>
    <dsp:sp modelId="{4174891C-999C-42C9-AA15-2C6B5A1F6310}">
      <dsp:nvSpPr>
        <dsp:cNvPr id="0" name=""/>
        <dsp:cNvSpPr/>
      </dsp:nvSpPr>
      <dsp:spPr>
        <a:xfrm>
          <a:off x="0" y="2862353"/>
          <a:ext cx="6245265" cy="258453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b="0" i="0" kern="1200"/>
            <a:t>Average waiting time = (3 + 11 + 3 + 0 + 7) / 5 = 24 / 5 = 4.8 unit</a:t>
          </a:r>
          <a:endParaRPr lang="en-US" sz="4700" kern="1200"/>
        </a:p>
      </dsp:txBody>
      <dsp:txXfrm>
        <a:off x="126166" y="2988519"/>
        <a:ext cx="5992933" cy="23321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CDA6D-B197-7E71-87F7-D05B7316F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16C29-0172-4374-84D9-53F753AC2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143AC-22DA-AC77-14BC-617510091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8E3C1-3B14-4D90-BF9B-F2D59D5F1BA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49765-DBD8-A842-62F5-64FBAEE26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C0EDF-620F-4663-0038-DFD75F77F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C22A-3226-4035-91FD-5F9F1C444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26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E2A4A-0362-DEB7-E460-7F88E2D4B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75AAD-D472-5373-D7FF-4CF49A1B8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5DC8E-E69D-F049-9333-35C767837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8E3C1-3B14-4D90-BF9B-F2D59D5F1BA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03665-1C3A-0056-C038-361D10717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E0339-A539-3E36-8590-FBB31818F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C22A-3226-4035-91FD-5F9F1C444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77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C1E54-770F-0019-B0E4-943C7C1FD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676D7-0A2F-DDF3-9156-09E5C82D4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2BCF3-6E50-8E61-5669-A6BAF694F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8E3C1-3B14-4D90-BF9B-F2D59D5F1BA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D15DB-5D1D-1F67-3880-87F70D877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3F4FC-E2F7-9244-C618-30863E1B9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C22A-3226-4035-91FD-5F9F1C444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577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BEC1-DEB5-DBC6-B85B-FB6FC8FD1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E4C3A-93A3-FF84-70A2-712CD03D51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71819-DE40-639B-0685-C71AC1BF1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B5274-BC62-8F28-D446-9A9670C5D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8E3C1-3B14-4D90-BF9B-F2D59D5F1BA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3F6B5-9B01-8D45-9881-34203DE0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CC890-8FD2-7EEF-545D-517558B8A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C22A-3226-4035-91FD-5F9F1C444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192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D6045-F117-6523-C240-96465D3A9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9980D-3C95-3810-2105-B137B0932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A2E554-8AC7-7704-54BC-44D84BDBCB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0FF51-3729-CC00-3D62-F24A6767C2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FF0937-3FC4-1EAD-9CDF-F4D609E162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7BD386-E364-00D1-9D22-6354D4AB3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8E3C1-3B14-4D90-BF9B-F2D59D5F1BA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FB819A-546A-BD15-4738-52DE22384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4691C1-667F-088E-94C7-191994B3D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C22A-3226-4035-91FD-5F9F1C444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735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3ACE8-90F0-C03C-F2C8-48F71C544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CB3D38-11B8-B41B-7305-59806C648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8E3C1-3B14-4D90-BF9B-F2D59D5F1BA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4BE8E-FC7D-915E-8BF2-50EB59452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09D6E6-ED68-8BCB-9809-2FAA0826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C22A-3226-4035-91FD-5F9F1C444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967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22F717-1248-BAE7-50A1-1BD6430E8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8E3C1-3B14-4D90-BF9B-F2D59D5F1BA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3196BF-A526-6E80-295D-BFB97C555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D4E07-7D1E-772D-EAEE-F8A6533BA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C22A-3226-4035-91FD-5F9F1C444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0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9CCE3-10C6-BC22-2FF2-D44D2F904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B70A6-62BA-CCFB-6C2D-36221830A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E81B8-F6B8-B0BE-DB3A-A68EF27C7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6C0FC-2CCB-892B-9A96-E840A2E9B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8E3C1-3B14-4D90-BF9B-F2D59D5F1BA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48AFA-9053-ABFA-6838-F7A9D546C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1860A-4942-0814-AF02-0A59BF11B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C22A-3226-4035-91FD-5F9F1C444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40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6433C-56A8-298B-F581-F1784C19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1D987A-7929-63A3-FF7E-2ABC970364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01E12-BE5F-5AB5-209C-D106FC745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86E73-0E45-3E3E-9A59-052CBDD19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8E3C1-3B14-4D90-BF9B-F2D59D5F1BA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A7C9E-76FF-C326-81B5-0ADCFA8F7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D3E52-1D9A-EAB3-F706-B11F5CA09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C22A-3226-4035-91FD-5F9F1C444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33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91A7F-27D5-8A98-D894-71D2CF81B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F8B566-251E-848E-FAB1-8F331CE8B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6C134-8BC7-B18A-EE9B-9023A47F7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8E3C1-3B14-4D90-BF9B-F2D59D5F1BA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6D729-88EC-D1CD-8F5E-E10C03690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337DB-3B71-9FF7-FFE0-D555B5DE5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C22A-3226-4035-91FD-5F9F1C444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090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38301B-B04F-BD07-9E65-06DB43C886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607C4-532A-57BF-B123-464E16449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B05BA-2F6B-4B4D-6C31-EA018875E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8E3C1-3B14-4D90-BF9B-F2D59D5F1BA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D60EF-8AFA-760E-397B-E6FF2C8FB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76E01-0303-BA94-D314-0167EB287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C22A-3226-4035-91FD-5F9F1C444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35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33F2A3-705D-15DA-D22D-3FDBAB36E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F9105-EAAA-3078-FACC-C7DC9315E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4EF49-674B-6E82-00F0-6FF03B89CE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28E3C1-3B14-4D90-BF9B-F2D59D5F1BA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ECA2B-2EC4-228D-05CA-D3F985F58D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2CFD5-4B81-53FA-F629-A2C8E571F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F8C22A-3226-4035-91FD-5F9F1C444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94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tevidyalay.com/first-come-first-serve-cpu-scheduling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BEEFE-CB0C-06A5-10F3-C9F42CC504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Process Scheduling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DE144-2CDD-CFB2-9D3E-00385F07FA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325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FB74EC-BBF1-0B20-DD01-AC08B2AA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Job First</a:t>
            </a:r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E8AFEE-12C9-363E-5C6B-903B95D7029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0040" y="2869270"/>
            <a:ext cx="11548872" cy="3114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2CEB61-78AF-142D-F9E6-D002FD102ED1}"/>
              </a:ext>
            </a:extLst>
          </p:cNvPr>
          <p:cNvSpPr txBox="1"/>
          <p:nvPr/>
        </p:nvSpPr>
        <p:spPr>
          <a:xfrm>
            <a:off x="1032386" y="1956619"/>
            <a:ext cx="1063850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rimo"/>
              </a:rPr>
              <a:t>Out of all the available processes, CPU is assigned to the process having smallest burst time.</a:t>
            </a:r>
          </a:p>
          <a:p>
            <a:pPr algn="l"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rimo"/>
              </a:rPr>
              <a:t>In case of a tie, it is broken by </a:t>
            </a:r>
            <a:r>
              <a:rPr lang="en-US" sz="2000" b="1" i="0" u="sng" dirty="0">
                <a:effectLst/>
                <a:latin typeface="Arim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FCFS Scheduling</a:t>
            </a:r>
            <a:r>
              <a:rPr lang="en-US" sz="2000" b="0" i="0" dirty="0">
                <a:effectLst/>
                <a:latin typeface="Arim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0963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5450B-AE7C-691A-4109-152422DC3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79"/>
            <a:ext cx="4818888" cy="244724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en-US" sz="5400" b="1" u="sng" dirty="0"/>
              <a:t>Example-01:</a:t>
            </a:r>
            <a:br>
              <a:rPr lang="en-US" altLang="en-US" sz="5400" b="1" dirty="0"/>
            </a:b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0D89078-04CF-59E2-442D-636F54AEA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36" y="2660904"/>
            <a:ext cx="4818888" cy="3547872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Consider the set of 5 processes whose arrival time and burst time are given below-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If the CPU scheduling policy is SJF non-preemptive, calculate the average waiting time and average turn around time.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9F5B4BE-FB31-2474-B807-D37ABA413C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2559858"/>
              </p:ext>
            </p:extLst>
          </p:nvPr>
        </p:nvGraphicFramePr>
        <p:xfrm>
          <a:off x="6099048" y="904436"/>
          <a:ext cx="5458969" cy="5049133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085351">
                  <a:extLst>
                    <a:ext uri="{9D8B030D-6E8A-4147-A177-3AD203B41FA5}">
                      <a16:colId xmlns:a16="http://schemas.microsoft.com/office/drawing/2014/main" val="2221209932"/>
                    </a:ext>
                  </a:extLst>
                </a:gridCol>
                <a:gridCol w="1799782">
                  <a:extLst>
                    <a:ext uri="{9D8B030D-6E8A-4147-A177-3AD203B41FA5}">
                      <a16:colId xmlns:a16="http://schemas.microsoft.com/office/drawing/2014/main" val="2824756088"/>
                    </a:ext>
                  </a:extLst>
                </a:gridCol>
                <a:gridCol w="1573836">
                  <a:extLst>
                    <a:ext uri="{9D8B030D-6E8A-4147-A177-3AD203B41FA5}">
                      <a16:colId xmlns:a16="http://schemas.microsoft.com/office/drawing/2014/main" val="2010445484"/>
                    </a:ext>
                  </a:extLst>
                </a:gridCol>
              </a:tblGrid>
              <a:tr h="13436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cap="none" spc="0">
                          <a:solidFill>
                            <a:schemeClr val="tx1"/>
                          </a:solidFill>
                          <a:effectLst/>
                        </a:rPr>
                        <a:t>Process Id</a:t>
                      </a:r>
                    </a:p>
                  </a:txBody>
                  <a:tcPr marL="126529" marR="150630" marT="36151" marB="27113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cap="none" spc="0">
                          <a:solidFill>
                            <a:schemeClr val="tx1"/>
                          </a:solidFill>
                          <a:effectLst/>
                        </a:rPr>
                        <a:t>Arrival time</a:t>
                      </a:r>
                    </a:p>
                  </a:txBody>
                  <a:tcPr marL="126529" marR="150630" marT="36151" marB="27113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cap="none" spc="0">
                          <a:solidFill>
                            <a:schemeClr val="tx1"/>
                          </a:solidFill>
                          <a:effectLst/>
                        </a:rPr>
                        <a:t>Burst time</a:t>
                      </a:r>
                    </a:p>
                  </a:txBody>
                  <a:tcPr marL="126529" marR="150630" marT="36151" marB="27113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071436"/>
                  </a:ext>
                </a:extLst>
              </a:tr>
              <a:tr h="7411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</a:rPr>
                        <a:t>P1</a:t>
                      </a:r>
                    </a:p>
                  </a:txBody>
                  <a:tcPr marL="126529" marR="150630" marT="36151" marB="27113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126529" marR="150630" marT="36151" marB="2711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26529" marR="150630" marT="36151" marB="2711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563200"/>
                  </a:ext>
                </a:extLst>
              </a:tr>
              <a:tr h="7411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</a:rPr>
                        <a:t>P2</a:t>
                      </a:r>
                    </a:p>
                  </a:txBody>
                  <a:tcPr marL="126529" marR="150630" marT="36151" marB="27113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26529" marR="150630" marT="36151" marB="2711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 marL="126529" marR="150630" marT="36151" marB="2711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321821"/>
                  </a:ext>
                </a:extLst>
              </a:tr>
              <a:tr h="7411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</a:rPr>
                        <a:t>P3</a:t>
                      </a:r>
                    </a:p>
                  </a:txBody>
                  <a:tcPr marL="126529" marR="150630" marT="36151" marB="27113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 marL="126529" marR="150630" marT="36151" marB="2711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126529" marR="150630" marT="36151" marB="2711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667211"/>
                  </a:ext>
                </a:extLst>
              </a:tr>
              <a:tr h="7411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</a:rPr>
                        <a:t>P4</a:t>
                      </a:r>
                    </a:p>
                  </a:txBody>
                  <a:tcPr marL="126529" marR="150630" marT="36151" marB="27113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126529" marR="150630" marT="36151" marB="2711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</a:p>
                  </a:txBody>
                  <a:tcPr marL="126529" marR="150630" marT="36151" marB="2711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989934"/>
                  </a:ext>
                </a:extLst>
              </a:tr>
              <a:tr h="7411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</a:rPr>
                        <a:t>P5</a:t>
                      </a:r>
                    </a:p>
                  </a:txBody>
                  <a:tcPr marL="126529" marR="150630" marT="36151" marB="27113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126529" marR="150630" marT="36151" marB="2711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126529" marR="150630" marT="36151" marB="2711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778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6746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5E395AE0-8789-FAD6-A987-32E65C185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2000" cy="4390253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9D0B14A-6976-26EF-E673-A2CCC12A205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5141" y="623588"/>
            <a:ext cx="10488660" cy="3139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81" name="Straight Connector 3080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481151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996378BB-66FF-C5B9-AFB8-238C006A5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882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D16DB28-6C8B-861D-19C4-B7A2C1D6B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07344"/>
            <a:ext cx="96134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FA58B9-3219-88C1-1559-FA095BB81B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5234337"/>
              </p:ext>
            </p:extLst>
          </p:nvPr>
        </p:nvGraphicFramePr>
        <p:xfrm>
          <a:off x="1706576" y="643467"/>
          <a:ext cx="8778850" cy="5571070"/>
        </p:xfrm>
        <a:graphic>
          <a:graphicData uri="http://schemas.openxmlformats.org/drawingml/2006/table">
            <a:tbl>
              <a:tblPr firstRow="1" bandRow="1">
                <a:solidFill>
                  <a:srgbClr val="404040"/>
                </a:solidFill>
              </a:tblPr>
              <a:tblGrid>
                <a:gridCol w="1935033">
                  <a:extLst>
                    <a:ext uri="{9D8B030D-6E8A-4147-A177-3AD203B41FA5}">
                      <a16:colId xmlns:a16="http://schemas.microsoft.com/office/drawing/2014/main" val="3659804779"/>
                    </a:ext>
                  </a:extLst>
                </a:gridCol>
                <a:gridCol w="1649509">
                  <a:extLst>
                    <a:ext uri="{9D8B030D-6E8A-4147-A177-3AD203B41FA5}">
                      <a16:colId xmlns:a16="http://schemas.microsoft.com/office/drawing/2014/main" val="1848839385"/>
                    </a:ext>
                  </a:extLst>
                </a:gridCol>
                <a:gridCol w="2345119">
                  <a:extLst>
                    <a:ext uri="{9D8B030D-6E8A-4147-A177-3AD203B41FA5}">
                      <a16:colId xmlns:a16="http://schemas.microsoft.com/office/drawing/2014/main" val="693585819"/>
                    </a:ext>
                  </a:extLst>
                </a:gridCol>
                <a:gridCol w="2849189">
                  <a:extLst>
                    <a:ext uri="{9D8B030D-6E8A-4147-A177-3AD203B41FA5}">
                      <a16:colId xmlns:a16="http://schemas.microsoft.com/office/drawing/2014/main" val="3399626193"/>
                    </a:ext>
                  </a:extLst>
                </a:gridCol>
              </a:tblGrid>
              <a:tr h="18448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0" cap="none" spc="0">
                          <a:solidFill>
                            <a:schemeClr val="bg1"/>
                          </a:solidFill>
                          <a:effectLst/>
                        </a:rPr>
                        <a:t>Process Id</a:t>
                      </a:r>
                    </a:p>
                  </a:txBody>
                  <a:tcPr marL="152716" marR="152716" marT="183259" marB="12217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0" cap="none" spc="0">
                          <a:solidFill>
                            <a:schemeClr val="bg1"/>
                          </a:solidFill>
                          <a:effectLst/>
                        </a:rPr>
                        <a:t>Exit time</a:t>
                      </a:r>
                    </a:p>
                  </a:txBody>
                  <a:tcPr marL="152716" marR="152716" marT="183259" marB="12217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0" cap="none" spc="0">
                          <a:solidFill>
                            <a:schemeClr val="bg1"/>
                          </a:solidFill>
                          <a:effectLst/>
                        </a:rPr>
                        <a:t>Turn Around time</a:t>
                      </a:r>
                    </a:p>
                  </a:txBody>
                  <a:tcPr marL="152716" marR="152716" marT="183259" marB="12217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0" cap="none" spc="0">
                          <a:solidFill>
                            <a:schemeClr val="bg1"/>
                          </a:solidFill>
                          <a:effectLst/>
                        </a:rPr>
                        <a:t>Waiting time</a:t>
                      </a:r>
                    </a:p>
                  </a:txBody>
                  <a:tcPr marL="152716" marR="152716" marT="183259" marB="12217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05558"/>
                  </a:ext>
                </a:extLst>
              </a:tr>
              <a:tr h="7452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bg1"/>
                          </a:solidFill>
                          <a:effectLst/>
                        </a:rPr>
                        <a:t>P1</a:t>
                      </a:r>
                    </a:p>
                  </a:txBody>
                  <a:tcPr marL="152716" marR="152716" marT="183259" marB="12217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</a:p>
                  </a:txBody>
                  <a:tcPr marL="152716" marR="152716" marT="183259" marB="12217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bg1"/>
                          </a:solidFill>
                          <a:effectLst/>
                        </a:rPr>
                        <a:t>7 – 3 = 4</a:t>
                      </a:r>
                    </a:p>
                  </a:txBody>
                  <a:tcPr marL="152716" marR="152716" marT="183259" marB="12217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bg1"/>
                          </a:solidFill>
                          <a:effectLst/>
                        </a:rPr>
                        <a:t>4 – 1 = 3</a:t>
                      </a:r>
                    </a:p>
                  </a:txBody>
                  <a:tcPr marL="152716" marR="152716" marT="183259" marB="12217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822341"/>
                  </a:ext>
                </a:extLst>
              </a:tr>
              <a:tr h="7452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bg1"/>
                          </a:solidFill>
                          <a:effectLst/>
                        </a:rPr>
                        <a:t>P2</a:t>
                      </a:r>
                    </a:p>
                  </a:txBody>
                  <a:tcPr marL="152716" marR="152716" marT="183259" marB="12217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bg1"/>
                          </a:solidFill>
                          <a:effectLst/>
                        </a:rPr>
                        <a:t>16</a:t>
                      </a:r>
                    </a:p>
                  </a:txBody>
                  <a:tcPr marL="152716" marR="152716" marT="183259" marB="12217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bg1"/>
                          </a:solidFill>
                          <a:effectLst/>
                        </a:rPr>
                        <a:t>16 – 1 = 15</a:t>
                      </a:r>
                    </a:p>
                  </a:txBody>
                  <a:tcPr marL="152716" marR="152716" marT="183259" marB="12217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bg1"/>
                          </a:solidFill>
                          <a:effectLst/>
                        </a:rPr>
                        <a:t>15 – 4 = 11</a:t>
                      </a:r>
                    </a:p>
                  </a:txBody>
                  <a:tcPr marL="152716" marR="152716" marT="183259" marB="12217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394936"/>
                  </a:ext>
                </a:extLst>
              </a:tr>
              <a:tr h="7452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bg1"/>
                          </a:solidFill>
                          <a:effectLst/>
                        </a:rPr>
                        <a:t>P3</a:t>
                      </a:r>
                    </a:p>
                  </a:txBody>
                  <a:tcPr marL="152716" marR="152716" marT="183259" marB="12217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bg1"/>
                          </a:solidFill>
                          <a:effectLst/>
                        </a:rPr>
                        <a:t>9</a:t>
                      </a:r>
                    </a:p>
                  </a:txBody>
                  <a:tcPr marL="152716" marR="152716" marT="183259" marB="12217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bg1"/>
                          </a:solidFill>
                          <a:effectLst/>
                        </a:rPr>
                        <a:t>9 – 4 = 5</a:t>
                      </a:r>
                    </a:p>
                  </a:txBody>
                  <a:tcPr marL="152716" marR="152716" marT="183259" marB="12217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bg1"/>
                          </a:solidFill>
                          <a:effectLst/>
                        </a:rPr>
                        <a:t>5 – 2 = 3</a:t>
                      </a:r>
                    </a:p>
                  </a:txBody>
                  <a:tcPr marL="152716" marR="152716" marT="183259" marB="12217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062384"/>
                  </a:ext>
                </a:extLst>
              </a:tr>
              <a:tr h="7452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bg1"/>
                          </a:solidFill>
                          <a:effectLst/>
                        </a:rPr>
                        <a:t>P4</a:t>
                      </a:r>
                    </a:p>
                  </a:txBody>
                  <a:tcPr marL="152716" marR="152716" marT="183259" marB="12217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</a:p>
                  </a:txBody>
                  <a:tcPr marL="152716" marR="152716" marT="183259" marB="12217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bg1"/>
                          </a:solidFill>
                          <a:effectLst/>
                        </a:rPr>
                        <a:t>6 – 0 = 6</a:t>
                      </a:r>
                    </a:p>
                  </a:txBody>
                  <a:tcPr marL="152716" marR="152716" marT="183259" marB="12217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bg1"/>
                          </a:solidFill>
                          <a:effectLst/>
                        </a:rPr>
                        <a:t>6 – 6 = 0</a:t>
                      </a:r>
                    </a:p>
                  </a:txBody>
                  <a:tcPr marL="152716" marR="152716" marT="183259" marB="12217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53884"/>
                  </a:ext>
                </a:extLst>
              </a:tr>
              <a:tr h="7452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bg1"/>
                          </a:solidFill>
                          <a:effectLst/>
                        </a:rPr>
                        <a:t>P5</a:t>
                      </a:r>
                    </a:p>
                  </a:txBody>
                  <a:tcPr marL="152716" marR="152716" marT="183259" marB="12217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bg1"/>
                          </a:solidFill>
                          <a:effectLst/>
                        </a:rPr>
                        <a:t>12</a:t>
                      </a:r>
                    </a:p>
                  </a:txBody>
                  <a:tcPr marL="152716" marR="152716" marT="183259" marB="12217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bg1"/>
                          </a:solidFill>
                          <a:effectLst/>
                        </a:rPr>
                        <a:t>12 – 2 = 10</a:t>
                      </a:r>
                    </a:p>
                  </a:txBody>
                  <a:tcPr marL="152716" marR="152716" marT="183259" marB="12217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cap="none" spc="0">
                          <a:solidFill>
                            <a:schemeClr val="bg1"/>
                          </a:solidFill>
                          <a:effectLst/>
                        </a:rPr>
                        <a:t>10 – 3 = 7</a:t>
                      </a:r>
                    </a:p>
                  </a:txBody>
                  <a:tcPr marL="152716" marR="152716" marT="183259" marB="12217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683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7990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2152C-BC01-CCA3-AC9C-A276B9361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8000" dirty="0"/>
              <a:t>Average T.A.T </a:t>
            </a:r>
            <a:br>
              <a:rPr lang="en-US" sz="8000" dirty="0"/>
            </a:br>
            <a:r>
              <a:rPr lang="en-US" sz="8000" dirty="0"/>
              <a:t>&amp; W.T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2B9CC838-C9CE-4F66-3E79-562CFE5342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2027150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8208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7C2854-6792-0D0E-47F1-3E43BE9B2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altLang="en-US" sz="5400" b="1" u="sng" dirty="0"/>
              <a:t>Example-02:</a:t>
            </a:r>
            <a:br>
              <a:rPr lang="en-US" altLang="en-US" sz="5400" b="1" dirty="0"/>
            </a:b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82C7AC0-A4FE-A654-A5B1-047764D4C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36" y="2660904"/>
            <a:ext cx="4818888" cy="3547872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Consider the set of 5 processes whose arrival time and burst time are given below-</a:t>
            </a:r>
          </a:p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If the CPU scheduling policy is SJF preemptive, calculate the average waiting time and average turn around time.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2860527-67D4-CBA8-3323-1F9F5644A4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8058956"/>
              </p:ext>
            </p:extLst>
          </p:nvPr>
        </p:nvGraphicFramePr>
        <p:xfrm>
          <a:off x="6099048" y="1382000"/>
          <a:ext cx="5458970" cy="4094004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1814652">
                  <a:extLst>
                    <a:ext uri="{9D8B030D-6E8A-4147-A177-3AD203B41FA5}">
                      <a16:colId xmlns:a16="http://schemas.microsoft.com/office/drawing/2014/main" val="1265005049"/>
                    </a:ext>
                  </a:extLst>
                </a:gridCol>
                <a:gridCol w="1892234">
                  <a:extLst>
                    <a:ext uri="{9D8B030D-6E8A-4147-A177-3AD203B41FA5}">
                      <a16:colId xmlns:a16="http://schemas.microsoft.com/office/drawing/2014/main" val="559197919"/>
                    </a:ext>
                  </a:extLst>
                </a:gridCol>
                <a:gridCol w="1752084">
                  <a:extLst>
                    <a:ext uri="{9D8B030D-6E8A-4147-A177-3AD203B41FA5}">
                      <a16:colId xmlns:a16="http://schemas.microsoft.com/office/drawing/2014/main" val="43430555"/>
                    </a:ext>
                  </a:extLst>
                </a:gridCol>
              </a:tblGrid>
              <a:tr h="6823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 cap="none" spc="0">
                          <a:solidFill>
                            <a:schemeClr val="bg1"/>
                          </a:solidFill>
                          <a:effectLst/>
                        </a:rPr>
                        <a:t>Process Id</a:t>
                      </a:r>
                    </a:p>
                  </a:txBody>
                  <a:tcPr marL="187401" marR="120129" marT="144155" marB="14415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 cap="none" spc="0">
                          <a:solidFill>
                            <a:schemeClr val="bg1"/>
                          </a:solidFill>
                          <a:effectLst/>
                        </a:rPr>
                        <a:t>Arrival time</a:t>
                      </a:r>
                    </a:p>
                  </a:txBody>
                  <a:tcPr marL="187401" marR="120129" marT="144155" marB="14415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 cap="none" spc="0">
                          <a:solidFill>
                            <a:schemeClr val="bg1"/>
                          </a:solidFill>
                          <a:effectLst/>
                        </a:rPr>
                        <a:t>Burst time</a:t>
                      </a:r>
                    </a:p>
                  </a:txBody>
                  <a:tcPr marL="187401" marR="120129" marT="144155" marB="14415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916669"/>
                  </a:ext>
                </a:extLst>
              </a:tr>
              <a:tr h="6823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  <a:effectLst/>
                        </a:rPr>
                        <a:t>P1</a:t>
                      </a:r>
                    </a:p>
                  </a:txBody>
                  <a:tcPr marL="187401" marR="120129" marT="144155" marB="14415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187401" marR="120129" marT="144155" marB="14415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87401" marR="120129" marT="144155" marB="14415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040355"/>
                  </a:ext>
                </a:extLst>
              </a:tr>
              <a:tr h="6823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  <a:effectLst/>
                        </a:rPr>
                        <a:t>P2</a:t>
                      </a:r>
                    </a:p>
                  </a:txBody>
                  <a:tcPr marL="187401" marR="120129" marT="144155" marB="14415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87401" marR="120129" marT="144155" marB="14415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 marL="187401" marR="120129" marT="144155" marB="14415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212032"/>
                  </a:ext>
                </a:extLst>
              </a:tr>
              <a:tr h="6823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  <a:effectLst/>
                        </a:rPr>
                        <a:t>P3</a:t>
                      </a:r>
                    </a:p>
                  </a:txBody>
                  <a:tcPr marL="187401" marR="120129" marT="144155" marB="14415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 marL="187401" marR="120129" marT="144155" marB="14415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187401" marR="120129" marT="144155" marB="14415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2867"/>
                  </a:ext>
                </a:extLst>
              </a:tr>
              <a:tr h="6823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  <a:effectLst/>
                        </a:rPr>
                        <a:t>P4</a:t>
                      </a:r>
                    </a:p>
                  </a:txBody>
                  <a:tcPr marL="187401" marR="120129" marT="144155" marB="14415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187401" marR="120129" marT="144155" marB="14415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</a:p>
                  </a:txBody>
                  <a:tcPr marL="187401" marR="120129" marT="144155" marB="14415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223158"/>
                  </a:ext>
                </a:extLst>
              </a:tr>
              <a:tr h="6823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  <a:effectLst/>
                        </a:rPr>
                        <a:t>P5</a:t>
                      </a:r>
                    </a:p>
                  </a:txBody>
                  <a:tcPr marL="187401" marR="120129" marT="144155" marB="14415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187401" marR="120129" marT="144155" marB="14415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187401" marR="120129" marT="144155" marB="14415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834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3575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59766E-AC17-D74B-22EE-5AFDED22D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60030-061E-2A24-08DF-C95A789F6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184" y="1459907"/>
            <a:ext cx="10175630" cy="767904"/>
          </a:xfrm>
        </p:spPr>
        <p:txBody>
          <a:bodyPr anchor="ctr">
            <a:normAutofit/>
          </a:bodyPr>
          <a:lstStyle/>
          <a:p>
            <a:pPr algn="ctr"/>
            <a:endParaRPr lang="en-US" sz="2000"/>
          </a:p>
        </p:txBody>
      </p:sp>
      <p:pic>
        <p:nvPicPr>
          <p:cNvPr id="6146" name="Picture 2" descr="A diagram of a chart&#10;&#10;AI-generated content may be incorrect.">
            <a:extLst>
              <a:ext uri="{FF2B5EF4-FFF2-40B4-BE49-F238E27FC236}">
                <a16:creationId xmlns:a16="http://schemas.microsoft.com/office/drawing/2014/main" id="{7AE92BF1-03F9-14F8-115B-9D0073471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5154" y="3207204"/>
            <a:ext cx="10515595" cy="2295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6648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E7D9901-55D4-0652-0287-0C3AD16694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012226"/>
              </p:ext>
            </p:extLst>
          </p:nvPr>
        </p:nvGraphicFramePr>
        <p:xfrm>
          <a:off x="1574134" y="643466"/>
          <a:ext cx="9043734" cy="5571070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1903152">
                  <a:extLst>
                    <a:ext uri="{9D8B030D-6E8A-4147-A177-3AD203B41FA5}">
                      <a16:colId xmlns:a16="http://schemas.microsoft.com/office/drawing/2014/main" val="1798682539"/>
                    </a:ext>
                  </a:extLst>
                </a:gridCol>
                <a:gridCol w="1982306">
                  <a:extLst>
                    <a:ext uri="{9D8B030D-6E8A-4147-A177-3AD203B41FA5}">
                      <a16:colId xmlns:a16="http://schemas.microsoft.com/office/drawing/2014/main" val="2078559508"/>
                    </a:ext>
                  </a:extLst>
                </a:gridCol>
                <a:gridCol w="2587053">
                  <a:extLst>
                    <a:ext uri="{9D8B030D-6E8A-4147-A177-3AD203B41FA5}">
                      <a16:colId xmlns:a16="http://schemas.microsoft.com/office/drawing/2014/main" val="3306929547"/>
                    </a:ext>
                  </a:extLst>
                </a:gridCol>
                <a:gridCol w="2571223">
                  <a:extLst>
                    <a:ext uri="{9D8B030D-6E8A-4147-A177-3AD203B41FA5}">
                      <a16:colId xmlns:a16="http://schemas.microsoft.com/office/drawing/2014/main" val="954513076"/>
                    </a:ext>
                  </a:extLst>
                </a:gridCol>
              </a:tblGrid>
              <a:tr h="12853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0" cap="none" spc="0">
                          <a:solidFill>
                            <a:schemeClr val="bg1"/>
                          </a:solidFill>
                          <a:effectLst/>
                        </a:rPr>
                        <a:t>Process Id</a:t>
                      </a:r>
                    </a:p>
                  </a:txBody>
                  <a:tcPr marL="237086" marR="151979" marT="182373" marB="18237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0" cap="none" spc="0">
                          <a:solidFill>
                            <a:schemeClr val="bg1"/>
                          </a:solidFill>
                          <a:effectLst/>
                        </a:rPr>
                        <a:t>Exit time</a:t>
                      </a:r>
                    </a:p>
                  </a:txBody>
                  <a:tcPr marL="237086" marR="151979" marT="182373" marB="18237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0" cap="none" spc="0">
                          <a:solidFill>
                            <a:schemeClr val="bg1"/>
                          </a:solidFill>
                          <a:effectLst/>
                        </a:rPr>
                        <a:t>Turn Around time</a:t>
                      </a:r>
                    </a:p>
                  </a:txBody>
                  <a:tcPr marL="237086" marR="151979" marT="182373" marB="18237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0" cap="none" spc="0">
                          <a:solidFill>
                            <a:schemeClr val="bg1"/>
                          </a:solidFill>
                          <a:effectLst/>
                        </a:rPr>
                        <a:t>Waiting time</a:t>
                      </a:r>
                    </a:p>
                  </a:txBody>
                  <a:tcPr marL="237086" marR="151979" marT="182373" marB="18237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970979"/>
                  </a:ext>
                </a:extLst>
              </a:tr>
              <a:tr h="8571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  <a:effectLst/>
                        </a:rPr>
                        <a:t>P1</a:t>
                      </a:r>
                    </a:p>
                  </a:txBody>
                  <a:tcPr marL="237086" marR="151979" marT="182373" marB="18237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 marL="237086" marR="151979" marT="182373" marB="18237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  <a:effectLst/>
                        </a:rPr>
                        <a:t>4 – 3 = 1</a:t>
                      </a:r>
                    </a:p>
                  </a:txBody>
                  <a:tcPr marL="237086" marR="151979" marT="182373" marB="18237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  <a:effectLst/>
                        </a:rPr>
                        <a:t>1 – 1 = 0</a:t>
                      </a:r>
                    </a:p>
                  </a:txBody>
                  <a:tcPr marL="237086" marR="151979" marT="182373" marB="18237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031218"/>
                  </a:ext>
                </a:extLst>
              </a:tr>
              <a:tr h="8571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  <a:effectLst/>
                        </a:rPr>
                        <a:t>P2</a:t>
                      </a:r>
                    </a:p>
                  </a:txBody>
                  <a:tcPr marL="237086" marR="151979" marT="182373" marB="18237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</a:p>
                  </a:txBody>
                  <a:tcPr marL="237086" marR="151979" marT="182373" marB="18237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  <a:effectLst/>
                        </a:rPr>
                        <a:t>6 – 1 = 5</a:t>
                      </a:r>
                    </a:p>
                  </a:txBody>
                  <a:tcPr marL="237086" marR="151979" marT="182373" marB="18237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  <a:effectLst/>
                        </a:rPr>
                        <a:t>5 – 4 = 1</a:t>
                      </a:r>
                    </a:p>
                  </a:txBody>
                  <a:tcPr marL="237086" marR="151979" marT="182373" marB="18237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133141"/>
                  </a:ext>
                </a:extLst>
              </a:tr>
              <a:tr h="8571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  <a:effectLst/>
                        </a:rPr>
                        <a:t>P3</a:t>
                      </a:r>
                    </a:p>
                  </a:txBody>
                  <a:tcPr marL="237086" marR="151979" marT="182373" marB="18237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</a:p>
                  </a:txBody>
                  <a:tcPr marL="237086" marR="151979" marT="182373" marB="18237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  <a:effectLst/>
                        </a:rPr>
                        <a:t>8 – 4 = 4</a:t>
                      </a:r>
                    </a:p>
                  </a:txBody>
                  <a:tcPr marL="237086" marR="151979" marT="182373" marB="18237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  <a:effectLst/>
                        </a:rPr>
                        <a:t>4 – 2 = 2</a:t>
                      </a:r>
                    </a:p>
                  </a:txBody>
                  <a:tcPr marL="237086" marR="151979" marT="182373" marB="18237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289311"/>
                  </a:ext>
                </a:extLst>
              </a:tr>
              <a:tr h="8571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  <a:effectLst/>
                        </a:rPr>
                        <a:t>P4</a:t>
                      </a:r>
                    </a:p>
                  </a:txBody>
                  <a:tcPr marL="237086" marR="151979" marT="182373" marB="18237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</a:p>
                  </a:txBody>
                  <a:tcPr marL="237086" marR="151979" marT="182373" marB="18237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  <a:effectLst/>
                        </a:rPr>
                        <a:t>16 – 0 = 16</a:t>
                      </a:r>
                    </a:p>
                  </a:txBody>
                  <a:tcPr marL="237086" marR="151979" marT="182373" marB="18237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  <a:effectLst/>
                        </a:rPr>
                        <a:t>16 – 6 = 10</a:t>
                      </a:r>
                    </a:p>
                  </a:txBody>
                  <a:tcPr marL="237086" marR="151979" marT="182373" marB="18237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012168"/>
                  </a:ext>
                </a:extLst>
              </a:tr>
              <a:tr h="8571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  <a:effectLst/>
                        </a:rPr>
                        <a:t>P5</a:t>
                      </a:r>
                    </a:p>
                  </a:txBody>
                  <a:tcPr marL="237086" marR="151979" marT="182373" marB="18237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</a:p>
                  </a:txBody>
                  <a:tcPr marL="237086" marR="151979" marT="182373" marB="18237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  <a:effectLst/>
                        </a:rPr>
                        <a:t>11 – 2 = 9</a:t>
                      </a:r>
                    </a:p>
                  </a:txBody>
                  <a:tcPr marL="237086" marR="151979" marT="182373" marB="18237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  <a:effectLst/>
                        </a:rPr>
                        <a:t>9 – 3 = 6</a:t>
                      </a:r>
                    </a:p>
                  </a:txBody>
                  <a:tcPr marL="237086" marR="151979" marT="182373" marB="18237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393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508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95E81C-74D8-7C91-696B-99A47E983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SRTF 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FE5FE-44C3-E14F-1F09-089493CC7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rimo"/>
              </a:rPr>
              <a:t>Average Turn Around time = (1 + 5 + 4 + 16 + 9) / 5 = 35 / 5 = 7 unit</a:t>
            </a:r>
          </a:p>
          <a:p>
            <a:pPr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rimo"/>
              </a:rPr>
              <a:t>Average waiting time = (0 + 1 + 2 + 10 + 6) / 5 = 19 / 5 = 3.8 unit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338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DEC8F8-9D28-F177-BA46-F5A7204B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29"/>
            <a:ext cx="10066122" cy="17171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en-US" sz="4800" b="1" u="sng" dirty="0"/>
              <a:t>Class Exercise:</a:t>
            </a:r>
            <a:br>
              <a:rPr lang="en-US" altLang="en-US" sz="4800" b="1" dirty="0"/>
            </a:b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E80CE5F-12FB-1DFD-FD6C-AA6125904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Consider the set of 6 processes whose arrival time and burst time</a:t>
            </a:r>
          </a:p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If the CPU scheduling policy is shortest remaining time first, calculate the average waiting time and average turn around time.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B81B2A3-3176-4D46-3DF8-9226763647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3921529"/>
              </p:ext>
            </p:extLst>
          </p:nvPr>
        </p:nvGraphicFramePr>
        <p:xfrm>
          <a:off x="5911532" y="2805900"/>
          <a:ext cx="5150278" cy="3070957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16686">
                  <a:extLst>
                    <a:ext uri="{9D8B030D-6E8A-4147-A177-3AD203B41FA5}">
                      <a16:colId xmlns:a16="http://schemas.microsoft.com/office/drawing/2014/main" val="4007509806"/>
                    </a:ext>
                  </a:extLst>
                </a:gridCol>
                <a:gridCol w="1716686">
                  <a:extLst>
                    <a:ext uri="{9D8B030D-6E8A-4147-A177-3AD203B41FA5}">
                      <a16:colId xmlns:a16="http://schemas.microsoft.com/office/drawing/2014/main" val="2606973114"/>
                    </a:ext>
                  </a:extLst>
                </a:gridCol>
                <a:gridCol w="1716906">
                  <a:extLst>
                    <a:ext uri="{9D8B030D-6E8A-4147-A177-3AD203B41FA5}">
                      <a16:colId xmlns:a16="http://schemas.microsoft.com/office/drawing/2014/main" val="2535914865"/>
                    </a:ext>
                  </a:extLst>
                </a:gridCol>
              </a:tblGrid>
              <a:tr h="4989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cap="none" spc="0">
                          <a:solidFill>
                            <a:schemeClr val="bg1"/>
                          </a:solidFill>
                          <a:effectLst/>
                        </a:rPr>
                        <a:t>Process Id</a:t>
                      </a:r>
                    </a:p>
                  </a:txBody>
                  <a:tcPr marL="73787" marR="52705" marT="105410" marB="10541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cap="none" spc="0">
                          <a:solidFill>
                            <a:schemeClr val="bg1"/>
                          </a:solidFill>
                          <a:effectLst/>
                        </a:rPr>
                        <a:t>Arrival time</a:t>
                      </a:r>
                    </a:p>
                  </a:txBody>
                  <a:tcPr marL="73787" marR="52705" marT="105410" marB="10541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cap="none" spc="0">
                          <a:solidFill>
                            <a:schemeClr val="bg1"/>
                          </a:solidFill>
                          <a:effectLst/>
                        </a:rPr>
                        <a:t>Burst time</a:t>
                      </a:r>
                    </a:p>
                  </a:txBody>
                  <a:tcPr marL="73787" marR="52705" marT="105410" marB="10541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374392"/>
                  </a:ext>
                </a:extLst>
              </a:tr>
              <a:tr h="4286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P1</a:t>
                      </a:r>
                    </a:p>
                  </a:txBody>
                  <a:tcPr marL="73787" marR="52705" marT="70274" marB="105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73787" marR="52705" marT="70274" marB="105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</a:p>
                  </a:txBody>
                  <a:tcPr marL="73787" marR="52705" marT="70274" marB="105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486059"/>
                  </a:ext>
                </a:extLst>
              </a:tr>
              <a:tr h="4286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P2</a:t>
                      </a:r>
                    </a:p>
                  </a:txBody>
                  <a:tcPr marL="73787" marR="52705" marT="70274" marB="105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73787" marR="52705" marT="70274" marB="105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marL="73787" marR="52705" marT="70274" marB="105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47071"/>
                  </a:ext>
                </a:extLst>
              </a:tr>
              <a:tr h="4286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P3</a:t>
                      </a:r>
                    </a:p>
                  </a:txBody>
                  <a:tcPr marL="73787" marR="52705" marT="70274" marB="105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73787" marR="52705" marT="70274" marB="105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73787" marR="52705" marT="70274" marB="105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187783"/>
                  </a:ext>
                </a:extLst>
              </a:tr>
              <a:tr h="4286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P4</a:t>
                      </a:r>
                    </a:p>
                  </a:txBody>
                  <a:tcPr marL="73787" marR="52705" marT="70274" marB="105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73787" marR="52705" marT="70274" marB="105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73787" marR="52705" marT="70274" marB="105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943642"/>
                  </a:ext>
                </a:extLst>
              </a:tr>
              <a:tr h="4286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P5</a:t>
                      </a:r>
                    </a:p>
                  </a:txBody>
                  <a:tcPr marL="73787" marR="52705" marT="70274" marB="105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 marL="73787" marR="52705" marT="70274" marB="105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73787" marR="52705" marT="70274" marB="105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1338825"/>
                  </a:ext>
                </a:extLst>
              </a:tr>
              <a:tr h="4286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P6</a:t>
                      </a:r>
                    </a:p>
                  </a:txBody>
                  <a:tcPr marL="73787" marR="52705" marT="70274" marB="105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marL="73787" marR="52705" marT="70274" marB="105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73787" marR="52705" marT="70274" marB="105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319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0644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5" name="Rectangle 9224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88FA25-A120-E05F-276E-58934E90B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03" y="3399769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Exercise Solution</a:t>
            </a:r>
          </a:p>
        </p:txBody>
      </p:sp>
      <p:grpSp>
        <p:nvGrpSpPr>
          <p:cNvPr id="9227" name="Group 9226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9228" name="Freeform: Shape 9227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29" name="Freeform: Shape 9228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30" name="Freeform: Shape 9229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9231" name="Freeform: Shape 9230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218" name="Picture 2">
            <a:extLst>
              <a:ext uri="{FF2B5EF4-FFF2-40B4-BE49-F238E27FC236}">
                <a16:creationId xmlns:a16="http://schemas.microsoft.com/office/drawing/2014/main" id="{51332FDD-704B-7259-58AA-E99066713E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2342" y="744408"/>
            <a:ext cx="11525864" cy="1988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233" name="Group 9232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9234" name="Freeform: Shape 9233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35" name="Freeform: Shape 9234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36" name="Freeform: Shape 9235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37" name="Freeform: Shape 9236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76197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4D50B-9A40-A209-2406-270817254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/>
              <a:t>Exercise Solution</a:t>
            </a:r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B2802DF-E824-F0B0-2C5F-DBE8DE318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66" y="2031101"/>
            <a:ext cx="4282984" cy="351194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+mn-lt"/>
              </a:rPr>
              <a:t> 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+mn-lt"/>
              </a:rPr>
              <a:t>Now,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+mn-lt"/>
              </a:rPr>
              <a:t>Average Turn Around time = (19 + 12 + 4 + 1 + 5 + 2) / 6 = 43 / 6 = 7.17 unit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+mn-lt"/>
              </a:rPr>
              <a:t>Average waiting time = (12 + 7 + 1 + 0 + 3 + 1) / 6 = 24 / 6 = 4 unit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67B647E-BE21-4623-0619-301CE11714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4264367"/>
              </p:ext>
            </p:extLst>
          </p:nvPr>
        </p:nvGraphicFramePr>
        <p:xfrm>
          <a:off x="5987738" y="783317"/>
          <a:ext cx="5628019" cy="5058499"/>
        </p:xfrm>
        <a:graphic>
          <a:graphicData uri="http://schemas.openxmlformats.org/drawingml/2006/table">
            <a:tbl>
              <a:tblPr firstRow="1" bandRow="1">
                <a:solidFill>
                  <a:srgbClr val="F7F7F7"/>
                </a:solidFill>
              </a:tblPr>
              <a:tblGrid>
                <a:gridCol w="1527844">
                  <a:extLst>
                    <a:ext uri="{9D8B030D-6E8A-4147-A177-3AD203B41FA5}">
                      <a16:colId xmlns:a16="http://schemas.microsoft.com/office/drawing/2014/main" val="355706113"/>
                    </a:ext>
                  </a:extLst>
                </a:gridCol>
                <a:gridCol w="1011912">
                  <a:extLst>
                    <a:ext uri="{9D8B030D-6E8A-4147-A177-3AD203B41FA5}">
                      <a16:colId xmlns:a16="http://schemas.microsoft.com/office/drawing/2014/main" val="1927554997"/>
                    </a:ext>
                  </a:extLst>
                </a:gridCol>
                <a:gridCol w="1418305">
                  <a:extLst>
                    <a:ext uri="{9D8B030D-6E8A-4147-A177-3AD203B41FA5}">
                      <a16:colId xmlns:a16="http://schemas.microsoft.com/office/drawing/2014/main" val="1979083712"/>
                    </a:ext>
                  </a:extLst>
                </a:gridCol>
                <a:gridCol w="1669958">
                  <a:extLst>
                    <a:ext uri="{9D8B030D-6E8A-4147-A177-3AD203B41FA5}">
                      <a16:colId xmlns:a16="http://schemas.microsoft.com/office/drawing/2014/main" val="3790324381"/>
                    </a:ext>
                  </a:extLst>
                </a:gridCol>
              </a:tblGrid>
              <a:tr h="11023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cap="all" spc="60">
                          <a:solidFill>
                            <a:schemeClr val="tx1"/>
                          </a:solidFill>
                          <a:effectLst/>
                        </a:rPr>
                        <a:t>Process Id</a:t>
                      </a:r>
                    </a:p>
                  </a:txBody>
                  <a:tcPr marL="175914" marR="175914" marT="175914" marB="17591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cap="all" spc="60">
                          <a:solidFill>
                            <a:schemeClr val="tx1"/>
                          </a:solidFill>
                          <a:effectLst/>
                        </a:rPr>
                        <a:t>Exit time</a:t>
                      </a:r>
                    </a:p>
                  </a:txBody>
                  <a:tcPr marL="175914" marR="175914" marT="175914" marB="17591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cap="all" spc="60">
                          <a:solidFill>
                            <a:schemeClr val="tx1"/>
                          </a:solidFill>
                          <a:effectLst/>
                        </a:rPr>
                        <a:t>Turn Around time</a:t>
                      </a:r>
                    </a:p>
                  </a:txBody>
                  <a:tcPr marL="175914" marR="175914" marT="175914" marB="17591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cap="all" spc="60">
                          <a:solidFill>
                            <a:schemeClr val="tx1"/>
                          </a:solidFill>
                          <a:effectLst/>
                        </a:rPr>
                        <a:t>Waiting time</a:t>
                      </a:r>
                    </a:p>
                  </a:txBody>
                  <a:tcPr marL="175914" marR="175914" marT="175914" marB="17591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628232"/>
                  </a:ext>
                </a:extLst>
              </a:tr>
              <a:tr h="8678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P1</a:t>
                      </a:r>
                    </a:p>
                  </a:txBody>
                  <a:tcPr marL="97730" marR="97730" marT="78184" marB="1172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19</a:t>
                      </a:r>
                    </a:p>
                  </a:txBody>
                  <a:tcPr marL="97730" marR="97730" marT="78184" marB="1172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19 – 0 = 19</a:t>
                      </a:r>
                    </a:p>
                  </a:txBody>
                  <a:tcPr marL="97730" marR="97730" marT="78184" marB="1172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19 – 7 = 12</a:t>
                      </a:r>
                    </a:p>
                  </a:txBody>
                  <a:tcPr marL="97730" marR="97730" marT="78184" marB="1172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756271"/>
                  </a:ext>
                </a:extLst>
              </a:tr>
              <a:tr h="8678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P2</a:t>
                      </a:r>
                    </a:p>
                  </a:txBody>
                  <a:tcPr marL="97730" marR="97730" marT="78184" marB="1172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</a:p>
                  </a:txBody>
                  <a:tcPr marL="97730" marR="97730" marT="78184" marB="1172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13 – 1 = 12</a:t>
                      </a:r>
                    </a:p>
                  </a:txBody>
                  <a:tcPr marL="97730" marR="97730" marT="78184" marB="1172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12 – 5 = 7</a:t>
                      </a:r>
                    </a:p>
                  </a:txBody>
                  <a:tcPr marL="97730" marR="97730" marT="78184" marB="1172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24755"/>
                  </a:ext>
                </a:extLst>
              </a:tr>
              <a:tr h="5551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P3</a:t>
                      </a:r>
                    </a:p>
                  </a:txBody>
                  <a:tcPr marL="97730" marR="97730" marT="78184" marB="1172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</a:p>
                  </a:txBody>
                  <a:tcPr marL="97730" marR="97730" marT="78184" marB="1172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6 – 2 = 4</a:t>
                      </a:r>
                    </a:p>
                  </a:txBody>
                  <a:tcPr marL="97730" marR="97730" marT="78184" marB="1172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4 – 3 = 1</a:t>
                      </a:r>
                    </a:p>
                  </a:txBody>
                  <a:tcPr marL="97730" marR="97730" marT="78184" marB="1172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712466"/>
                  </a:ext>
                </a:extLst>
              </a:tr>
              <a:tr h="5551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P4</a:t>
                      </a:r>
                    </a:p>
                  </a:txBody>
                  <a:tcPr marL="97730" marR="97730" marT="78184" marB="1172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 marL="97730" marR="97730" marT="78184" marB="1172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4 – 3 = 1</a:t>
                      </a:r>
                    </a:p>
                  </a:txBody>
                  <a:tcPr marL="97730" marR="97730" marT="78184" marB="1172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1 – 1 = 0</a:t>
                      </a:r>
                    </a:p>
                  </a:txBody>
                  <a:tcPr marL="97730" marR="97730" marT="78184" marB="1172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304198"/>
                  </a:ext>
                </a:extLst>
              </a:tr>
              <a:tr h="5551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P5</a:t>
                      </a:r>
                    </a:p>
                  </a:txBody>
                  <a:tcPr marL="97730" marR="97730" marT="78184" marB="1172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</a:p>
                  </a:txBody>
                  <a:tcPr marL="97730" marR="97730" marT="78184" marB="1172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9 – 4 = 5</a:t>
                      </a:r>
                    </a:p>
                  </a:txBody>
                  <a:tcPr marL="97730" marR="97730" marT="78184" marB="1172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5 – 2 = 3</a:t>
                      </a:r>
                    </a:p>
                  </a:txBody>
                  <a:tcPr marL="97730" marR="97730" marT="78184" marB="1172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960477"/>
                  </a:ext>
                </a:extLst>
              </a:tr>
              <a:tr h="5551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P6</a:t>
                      </a:r>
                    </a:p>
                  </a:txBody>
                  <a:tcPr marL="97730" marR="97730" marT="78184" marB="1172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</a:p>
                  </a:txBody>
                  <a:tcPr marL="97730" marR="97730" marT="78184" marB="1172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7 – 5 = 2</a:t>
                      </a:r>
                    </a:p>
                  </a:txBody>
                  <a:tcPr marL="97730" marR="97730" marT="78184" marB="1172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  <a:effectLst/>
                        </a:rPr>
                        <a:t>2 – 1 = 1</a:t>
                      </a:r>
                    </a:p>
                  </a:txBody>
                  <a:tcPr marL="97730" marR="97730" marT="78184" marB="1172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32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498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F30EE-A9A1-1485-91D9-65A42E6BD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BD44F75-8952-06F6-2214-282E03C1A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9398" y="316386"/>
            <a:ext cx="7548403" cy="6225228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DAF0E176-0B9F-55E4-1601-83C5141C2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C838FF48-09C6-3B2E-A296-E20681FE85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38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01F360-88B0-96AA-2671-FBEE89D44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altLang="en-US" sz="4800" b="1" u="sng" dirty="0"/>
              <a:t>Example-01:</a:t>
            </a:r>
            <a:br>
              <a:rPr lang="en-US" altLang="en-US" sz="4800" b="1" dirty="0"/>
            </a:b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A46CEC3-2DEE-BE59-75DB-42E7B1CDE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Consider the set of 5 processes whose arrival time and burst time are given below-</a:t>
            </a:r>
          </a:p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If the CPU scheduling policy is Round Robin with time quantum = 2 unit, calculate the average waiting time and average turn around time.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22DD70E-FDE4-D057-C5CA-34DA913472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1321702"/>
              </p:ext>
            </p:extLst>
          </p:nvPr>
        </p:nvGraphicFramePr>
        <p:xfrm>
          <a:off x="6151383" y="2484255"/>
          <a:ext cx="4670575" cy="3714248"/>
        </p:xfrm>
        <a:graphic>
          <a:graphicData uri="http://schemas.openxmlformats.org/drawingml/2006/table">
            <a:tbl>
              <a:tblPr firstRow="1" bandRow="1"/>
              <a:tblGrid>
                <a:gridCol w="1532540">
                  <a:extLst>
                    <a:ext uri="{9D8B030D-6E8A-4147-A177-3AD203B41FA5}">
                      <a16:colId xmlns:a16="http://schemas.microsoft.com/office/drawing/2014/main" val="2433913909"/>
                    </a:ext>
                  </a:extLst>
                </a:gridCol>
                <a:gridCol w="1631383">
                  <a:extLst>
                    <a:ext uri="{9D8B030D-6E8A-4147-A177-3AD203B41FA5}">
                      <a16:colId xmlns:a16="http://schemas.microsoft.com/office/drawing/2014/main" val="356378099"/>
                    </a:ext>
                  </a:extLst>
                </a:gridCol>
                <a:gridCol w="1506652">
                  <a:extLst>
                    <a:ext uri="{9D8B030D-6E8A-4147-A177-3AD203B41FA5}">
                      <a16:colId xmlns:a16="http://schemas.microsoft.com/office/drawing/2014/main" val="2130258386"/>
                    </a:ext>
                  </a:extLst>
                </a:gridCol>
              </a:tblGrid>
              <a:tr h="5060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B1B1B1"/>
                          </a:solidFill>
                          <a:effectLst/>
                        </a:rPr>
                        <a:t>Process Id</a:t>
                      </a:r>
                      <a:endParaRPr lang="en-US" sz="2700">
                        <a:solidFill>
                          <a:srgbClr val="B1B1B1"/>
                        </a:solidFill>
                        <a:effectLst/>
                      </a:endParaRPr>
                    </a:p>
                  </a:txBody>
                  <a:tcPr marL="112964" marR="112964" marT="90371" marB="90371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B1B1B1"/>
                          </a:solidFill>
                          <a:effectLst/>
                        </a:rPr>
                        <a:t>Arrival time</a:t>
                      </a:r>
                      <a:endParaRPr lang="en-US" sz="2700">
                        <a:solidFill>
                          <a:srgbClr val="B1B1B1"/>
                        </a:solidFill>
                        <a:effectLst/>
                      </a:endParaRPr>
                    </a:p>
                  </a:txBody>
                  <a:tcPr marL="112964" marR="112964" marT="90371" marB="90371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B1B1B1"/>
                          </a:solidFill>
                          <a:effectLst/>
                        </a:rPr>
                        <a:t>Burst time</a:t>
                      </a:r>
                      <a:endParaRPr lang="en-US" sz="2700">
                        <a:solidFill>
                          <a:srgbClr val="B1B1B1"/>
                        </a:solidFill>
                        <a:effectLst/>
                      </a:endParaRPr>
                    </a:p>
                  </a:txBody>
                  <a:tcPr marL="112964" marR="112964" marT="90371" marB="90371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951394"/>
                  </a:ext>
                </a:extLst>
              </a:tr>
              <a:tr h="6416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700">
                          <a:solidFill>
                            <a:srgbClr val="B1B1B1"/>
                          </a:solidFill>
                          <a:effectLst/>
                        </a:rPr>
                        <a:t>P1</a:t>
                      </a:r>
                    </a:p>
                  </a:txBody>
                  <a:tcPr marL="112964" marR="112964" marT="90371" marB="90371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700">
                          <a:solidFill>
                            <a:srgbClr val="B1B1B1"/>
                          </a:solidFill>
                          <a:effectLst/>
                        </a:rPr>
                        <a:t>0</a:t>
                      </a:r>
                    </a:p>
                  </a:txBody>
                  <a:tcPr marL="112964" marR="112964" marT="90371" marB="90371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700">
                          <a:solidFill>
                            <a:srgbClr val="B1B1B1"/>
                          </a:solidFill>
                          <a:effectLst/>
                        </a:rPr>
                        <a:t>5</a:t>
                      </a:r>
                    </a:p>
                  </a:txBody>
                  <a:tcPr marL="112964" marR="112964" marT="90371" marB="90371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132087"/>
                  </a:ext>
                </a:extLst>
              </a:tr>
              <a:tr h="6416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700">
                          <a:solidFill>
                            <a:srgbClr val="B1B1B1"/>
                          </a:solidFill>
                          <a:effectLst/>
                        </a:rPr>
                        <a:t>P2</a:t>
                      </a:r>
                    </a:p>
                  </a:txBody>
                  <a:tcPr marL="112964" marR="112964" marT="90371" marB="90371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700">
                          <a:solidFill>
                            <a:srgbClr val="B1B1B1"/>
                          </a:solidFill>
                          <a:effectLst/>
                        </a:rPr>
                        <a:t>1</a:t>
                      </a:r>
                    </a:p>
                  </a:txBody>
                  <a:tcPr marL="112964" marR="112964" marT="90371" marB="90371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700">
                          <a:solidFill>
                            <a:srgbClr val="B1B1B1"/>
                          </a:solidFill>
                          <a:effectLst/>
                        </a:rPr>
                        <a:t>3</a:t>
                      </a:r>
                    </a:p>
                  </a:txBody>
                  <a:tcPr marL="112964" marR="112964" marT="90371" marB="90371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340251"/>
                  </a:ext>
                </a:extLst>
              </a:tr>
              <a:tr h="6416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700">
                          <a:solidFill>
                            <a:srgbClr val="B1B1B1"/>
                          </a:solidFill>
                          <a:effectLst/>
                        </a:rPr>
                        <a:t>P3</a:t>
                      </a:r>
                    </a:p>
                  </a:txBody>
                  <a:tcPr marL="112964" marR="112964" marT="90371" marB="90371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700">
                          <a:solidFill>
                            <a:srgbClr val="B1B1B1"/>
                          </a:solidFill>
                          <a:effectLst/>
                        </a:rPr>
                        <a:t>2</a:t>
                      </a:r>
                    </a:p>
                  </a:txBody>
                  <a:tcPr marL="112964" marR="112964" marT="90371" marB="90371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700">
                          <a:solidFill>
                            <a:srgbClr val="B1B1B1"/>
                          </a:solidFill>
                          <a:effectLst/>
                        </a:rPr>
                        <a:t>1</a:t>
                      </a:r>
                    </a:p>
                  </a:txBody>
                  <a:tcPr marL="112964" marR="112964" marT="90371" marB="90371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277150"/>
                  </a:ext>
                </a:extLst>
              </a:tr>
              <a:tr h="6416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700">
                          <a:solidFill>
                            <a:srgbClr val="B1B1B1"/>
                          </a:solidFill>
                          <a:effectLst/>
                        </a:rPr>
                        <a:t>P4</a:t>
                      </a:r>
                    </a:p>
                  </a:txBody>
                  <a:tcPr marL="112964" marR="112964" marT="90371" marB="90371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700">
                          <a:solidFill>
                            <a:srgbClr val="B1B1B1"/>
                          </a:solidFill>
                          <a:effectLst/>
                        </a:rPr>
                        <a:t>3</a:t>
                      </a:r>
                    </a:p>
                  </a:txBody>
                  <a:tcPr marL="112964" marR="112964" marT="90371" marB="90371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700">
                          <a:solidFill>
                            <a:srgbClr val="B1B1B1"/>
                          </a:solidFill>
                          <a:effectLst/>
                        </a:rPr>
                        <a:t>2</a:t>
                      </a:r>
                    </a:p>
                  </a:txBody>
                  <a:tcPr marL="112964" marR="112964" marT="90371" marB="90371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98196"/>
                  </a:ext>
                </a:extLst>
              </a:tr>
              <a:tr h="6416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700">
                          <a:solidFill>
                            <a:srgbClr val="B1B1B1"/>
                          </a:solidFill>
                          <a:effectLst/>
                        </a:rPr>
                        <a:t>P5</a:t>
                      </a:r>
                    </a:p>
                  </a:txBody>
                  <a:tcPr marL="112964" marR="112964" marT="90371" marB="90371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700">
                          <a:solidFill>
                            <a:srgbClr val="B1B1B1"/>
                          </a:solidFill>
                          <a:effectLst/>
                        </a:rPr>
                        <a:t>4</a:t>
                      </a:r>
                    </a:p>
                  </a:txBody>
                  <a:tcPr marL="112964" marR="112964" marT="90371" marB="90371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700">
                          <a:solidFill>
                            <a:srgbClr val="B1B1B1"/>
                          </a:solidFill>
                          <a:effectLst/>
                        </a:rPr>
                        <a:t>3</a:t>
                      </a:r>
                    </a:p>
                  </a:txBody>
                  <a:tcPr marL="112964" marR="112964" marT="90371" marB="90371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668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7924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5E42D-0A6C-A85D-114E-5DE2795E4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1EDBD9-7EAA-A6DE-C5FD-8AFDC5A5F52C}"/>
              </a:ext>
            </a:extLst>
          </p:cNvPr>
          <p:cNvSpPr txBox="1"/>
          <p:nvPr/>
        </p:nvSpPr>
        <p:spPr>
          <a:xfrm>
            <a:off x="1111045" y="1909186"/>
            <a:ext cx="7855974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400" b="1" i="0" u="sng" dirty="0">
                <a:effectLst/>
                <a:latin typeface="Roboto Condensed" panose="02000000000000000000" pitchFamily="2" charset="0"/>
              </a:rPr>
              <a:t>Ready Queue-</a:t>
            </a:r>
            <a:endParaRPr lang="en-US" sz="2400" b="1" i="0" dirty="0">
              <a:effectLst/>
              <a:latin typeface="Roboto Condensed" panose="02000000000000000000" pitchFamily="2" charset="0"/>
            </a:endParaRPr>
          </a:p>
          <a:p>
            <a:pPr algn="ctr" fontAlgn="base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2400" b="0" i="0" dirty="0">
                <a:effectLst/>
                <a:latin typeface="Arimo"/>
              </a:rPr>
              <a:t>P5, P1, P2, P5, P4, P1, P3, P2, P1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7645997-81C2-B3C1-ECF6-1FF8F998DEF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362" y="3386931"/>
            <a:ext cx="7153275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5734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57B934-1F4B-AF24-57A9-EAD1A1143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Calculations</a:t>
            </a: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8BFF39B-3B18-6C6D-D8FB-92CA1AE65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 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Now,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Average Turn Around time = (13 + 11 + 3 + 6 + 10) / 5 = 43 / 5 = 8.6 unit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Average waiting time = (8 + 8 + 2 + 4 + 7) / 5 = 29 / 5 = 5.8 unit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FFE01D-A011-E784-6833-F14583147F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0288094"/>
              </p:ext>
            </p:extLst>
          </p:nvPr>
        </p:nvGraphicFramePr>
        <p:xfrm>
          <a:off x="5911532" y="2665106"/>
          <a:ext cx="5150279" cy="3352547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36338">
                  <a:extLst>
                    <a:ext uri="{9D8B030D-6E8A-4147-A177-3AD203B41FA5}">
                      <a16:colId xmlns:a16="http://schemas.microsoft.com/office/drawing/2014/main" val="194764708"/>
                    </a:ext>
                  </a:extLst>
                </a:gridCol>
                <a:gridCol w="987483">
                  <a:extLst>
                    <a:ext uri="{9D8B030D-6E8A-4147-A177-3AD203B41FA5}">
                      <a16:colId xmlns:a16="http://schemas.microsoft.com/office/drawing/2014/main" val="2872432492"/>
                    </a:ext>
                  </a:extLst>
                </a:gridCol>
                <a:gridCol w="1358128">
                  <a:extLst>
                    <a:ext uri="{9D8B030D-6E8A-4147-A177-3AD203B41FA5}">
                      <a16:colId xmlns:a16="http://schemas.microsoft.com/office/drawing/2014/main" val="3416393791"/>
                    </a:ext>
                  </a:extLst>
                </a:gridCol>
                <a:gridCol w="1368330">
                  <a:extLst>
                    <a:ext uri="{9D8B030D-6E8A-4147-A177-3AD203B41FA5}">
                      <a16:colId xmlns:a16="http://schemas.microsoft.com/office/drawing/2014/main" val="1579942204"/>
                    </a:ext>
                  </a:extLst>
                </a:gridCol>
              </a:tblGrid>
              <a:tr h="11164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Process Id</a:t>
                      </a:r>
                    </a:p>
                  </a:txBody>
                  <a:tcPr marL="195864" marR="146898" marT="97932" marB="979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Exit time</a:t>
                      </a:r>
                    </a:p>
                  </a:txBody>
                  <a:tcPr marL="195864" marR="146898" marT="97932" marB="979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Turn Around time</a:t>
                      </a:r>
                    </a:p>
                  </a:txBody>
                  <a:tcPr marL="195864" marR="146898" marT="97932" marB="979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Waiting time</a:t>
                      </a:r>
                    </a:p>
                  </a:txBody>
                  <a:tcPr marL="195864" marR="146898" marT="97932" marB="979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788040"/>
                  </a:ext>
                </a:extLst>
              </a:tr>
              <a:tr h="4472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P1</a:t>
                      </a:r>
                    </a:p>
                  </a:txBody>
                  <a:tcPr marL="195864" marR="146898" marT="97932" marB="979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13</a:t>
                      </a:r>
                    </a:p>
                  </a:txBody>
                  <a:tcPr marL="195864" marR="146898" marT="97932" marB="979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13 – 0 = 13</a:t>
                      </a:r>
                    </a:p>
                  </a:txBody>
                  <a:tcPr marL="195864" marR="146898" marT="97932" marB="979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13 – 5 = 8</a:t>
                      </a:r>
                    </a:p>
                  </a:txBody>
                  <a:tcPr marL="195864" marR="146898" marT="97932" marB="979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58429"/>
                  </a:ext>
                </a:extLst>
              </a:tr>
              <a:tr h="4472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P2</a:t>
                      </a:r>
                    </a:p>
                  </a:txBody>
                  <a:tcPr marL="195864" marR="146898" marT="97932" marB="979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12</a:t>
                      </a:r>
                    </a:p>
                  </a:txBody>
                  <a:tcPr marL="195864" marR="146898" marT="97932" marB="979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12 – 1 = 11</a:t>
                      </a:r>
                    </a:p>
                  </a:txBody>
                  <a:tcPr marL="195864" marR="146898" marT="97932" marB="979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11 – 3 = 8</a:t>
                      </a:r>
                    </a:p>
                  </a:txBody>
                  <a:tcPr marL="195864" marR="146898" marT="97932" marB="979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932975"/>
                  </a:ext>
                </a:extLst>
              </a:tr>
              <a:tr h="4472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P3</a:t>
                      </a:r>
                    </a:p>
                  </a:txBody>
                  <a:tcPr marL="195864" marR="146898" marT="97932" marB="979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5</a:t>
                      </a:r>
                    </a:p>
                  </a:txBody>
                  <a:tcPr marL="195864" marR="146898" marT="97932" marB="979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5 – 2 = 3</a:t>
                      </a:r>
                    </a:p>
                  </a:txBody>
                  <a:tcPr marL="195864" marR="146898" marT="97932" marB="979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 – 1 = 2</a:t>
                      </a:r>
                    </a:p>
                  </a:txBody>
                  <a:tcPr marL="195864" marR="146898" marT="97932" marB="979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332253"/>
                  </a:ext>
                </a:extLst>
              </a:tr>
              <a:tr h="4472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P4</a:t>
                      </a:r>
                    </a:p>
                  </a:txBody>
                  <a:tcPr marL="195864" marR="146898" marT="97932" marB="979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9</a:t>
                      </a:r>
                    </a:p>
                  </a:txBody>
                  <a:tcPr marL="195864" marR="146898" marT="97932" marB="979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9 – 3 = 6</a:t>
                      </a:r>
                    </a:p>
                  </a:txBody>
                  <a:tcPr marL="195864" marR="146898" marT="97932" marB="979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6 – 2 = 4</a:t>
                      </a:r>
                    </a:p>
                  </a:txBody>
                  <a:tcPr marL="195864" marR="146898" marT="97932" marB="979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098132"/>
                  </a:ext>
                </a:extLst>
              </a:tr>
              <a:tr h="4472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P5</a:t>
                      </a:r>
                    </a:p>
                  </a:txBody>
                  <a:tcPr marL="195864" marR="146898" marT="97932" marB="979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14</a:t>
                      </a:r>
                    </a:p>
                  </a:txBody>
                  <a:tcPr marL="195864" marR="146898" marT="97932" marB="979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14 – 4 = 10</a:t>
                      </a:r>
                    </a:p>
                  </a:txBody>
                  <a:tcPr marL="195864" marR="146898" marT="97932" marB="979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10 – 3 = 7</a:t>
                      </a:r>
                    </a:p>
                  </a:txBody>
                  <a:tcPr marL="195864" marR="146898" marT="97932" marB="979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510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245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5AFA52-ABA6-B0CE-58FF-E3A221A74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Example-02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1F2C71B-F07A-BCA9-FB15-6951DA1A9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Consider the set of 6 processes whose arrival time and burst time are given below-</a:t>
            </a:r>
          </a:p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If the CPU scheduling policy is Round Robin with time quantum = 2, calculate the average waiting time and average turn around time.</a:t>
            </a:r>
          </a:p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040608-BB32-FCE1-D861-68310D42E8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4435323"/>
              </p:ext>
            </p:extLst>
          </p:nvPr>
        </p:nvGraphicFramePr>
        <p:xfrm>
          <a:off x="5911532" y="2647785"/>
          <a:ext cx="5150278" cy="3387184"/>
        </p:xfrm>
        <a:graphic>
          <a:graphicData uri="http://schemas.openxmlformats.org/drawingml/2006/table">
            <a:tbl>
              <a:tblPr/>
              <a:tblGrid>
                <a:gridCol w="1716686">
                  <a:extLst>
                    <a:ext uri="{9D8B030D-6E8A-4147-A177-3AD203B41FA5}">
                      <a16:colId xmlns:a16="http://schemas.microsoft.com/office/drawing/2014/main" val="3456466220"/>
                    </a:ext>
                  </a:extLst>
                </a:gridCol>
                <a:gridCol w="1716686">
                  <a:extLst>
                    <a:ext uri="{9D8B030D-6E8A-4147-A177-3AD203B41FA5}">
                      <a16:colId xmlns:a16="http://schemas.microsoft.com/office/drawing/2014/main" val="1948154380"/>
                    </a:ext>
                  </a:extLst>
                </a:gridCol>
                <a:gridCol w="1716906">
                  <a:extLst>
                    <a:ext uri="{9D8B030D-6E8A-4147-A177-3AD203B41FA5}">
                      <a16:colId xmlns:a16="http://schemas.microsoft.com/office/drawing/2014/main" val="2937331002"/>
                    </a:ext>
                  </a:extLst>
                </a:gridCol>
              </a:tblGrid>
              <a:tr h="3935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B1B1B1"/>
                          </a:solidFill>
                          <a:effectLst/>
                          <a:latin typeface="Arial" panose="020B0604020202020204" pitchFamily="34" charset="0"/>
                        </a:rPr>
                        <a:t>Process Id</a:t>
                      </a:r>
                      <a:endParaRPr lang="en-US" sz="2100" b="0" i="0" u="none" strike="noStrike">
                        <a:solidFill>
                          <a:srgbClr val="B1B1B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B1B1B1"/>
                          </a:solidFill>
                          <a:effectLst/>
                          <a:latin typeface="Arial" panose="020B0604020202020204" pitchFamily="34" charset="0"/>
                        </a:rPr>
                        <a:t>Arrival time</a:t>
                      </a:r>
                      <a:endParaRPr lang="en-US" sz="2100" b="0" i="0" u="none" strike="noStrike">
                        <a:solidFill>
                          <a:srgbClr val="B1B1B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B1B1B1"/>
                          </a:solidFill>
                          <a:effectLst/>
                          <a:latin typeface="Arial" panose="020B0604020202020204" pitchFamily="34" charset="0"/>
                        </a:rPr>
                        <a:t>Burst time</a:t>
                      </a:r>
                      <a:endParaRPr lang="en-US" sz="2100" b="0" i="0" u="none" strike="noStrike">
                        <a:solidFill>
                          <a:srgbClr val="B1B1B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543837"/>
                  </a:ext>
                </a:extLst>
              </a:tr>
              <a:tr h="4989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1B1B1"/>
                          </a:solidFill>
                          <a:effectLst/>
                          <a:latin typeface="Arial" panose="020B0604020202020204" pitchFamily="34" charset="0"/>
                        </a:rPr>
                        <a:t>P1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1B1B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1B1B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358872"/>
                  </a:ext>
                </a:extLst>
              </a:tr>
              <a:tr h="4989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1B1B1"/>
                          </a:solidFill>
                          <a:effectLst/>
                          <a:latin typeface="Arial" panose="020B0604020202020204" pitchFamily="34" charset="0"/>
                        </a:rPr>
                        <a:t>P2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1B1B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1B1B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629020"/>
                  </a:ext>
                </a:extLst>
              </a:tr>
              <a:tr h="4989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1B1B1"/>
                          </a:solidFill>
                          <a:effectLst/>
                          <a:latin typeface="Arial" panose="020B0604020202020204" pitchFamily="34" charset="0"/>
                        </a:rPr>
                        <a:t>P3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1B1B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1B1B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54706"/>
                  </a:ext>
                </a:extLst>
              </a:tr>
              <a:tr h="4989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1B1B1"/>
                          </a:solidFill>
                          <a:effectLst/>
                          <a:latin typeface="Arial" panose="020B0604020202020204" pitchFamily="34" charset="0"/>
                        </a:rPr>
                        <a:t>P4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1B1B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1B1B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016478"/>
                  </a:ext>
                </a:extLst>
              </a:tr>
              <a:tr h="4989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1B1B1"/>
                          </a:solidFill>
                          <a:effectLst/>
                          <a:latin typeface="Arial" panose="020B0604020202020204" pitchFamily="34" charset="0"/>
                        </a:rPr>
                        <a:t>P5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1B1B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1B1B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569566"/>
                  </a:ext>
                </a:extLst>
              </a:tr>
              <a:tr h="4989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1B1B1"/>
                          </a:solidFill>
                          <a:effectLst/>
                          <a:latin typeface="Arial" panose="020B0604020202020204" pitchFamily="34" charset="0"/>
                        </a:rPr>
                        <a:t>P6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1B1B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1B1B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453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74596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ACF9E2-C762-0D95-3E88-45CE4DAE8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Solution</a:t>
            </a:r>
          </a:p>
        </p:txBody>
      </p:sp>
      <p:sp>
        <p:nvSpPr>
          <p:cNvPr id="6153" name="Rectangle 615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5" name="Rectangle 615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D670F-CA4D-3EAB-4B7C-A3AA32DA5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Ready Queue-</a:t>
            </a:r>
          </a:p>
          <a:p>
            <a:r>
              <a:rPr lang="en-US" sz="2000"/>
              <a:t>P5, P6, P2, P5, P6, P2, P5, P4, P1, P3, P2, P1</a:t>
            </a:r>
          </a:p>
          <a:p>
            <a:endParaRPr lang="en-US" sz="200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F64460B-E7FE-3F67-A851-79B08982F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3395014"/>
            <a:ext cx="5150277" cy="1892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7" name="Rectangle 615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95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6741C5-75EE-FCEC-DFBA-B55A0367A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Solution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55B5E63-B00E-C020-B133-4EC1DA1E7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 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Now,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Average Turn Around time = (8 + 17 + 4 + 6 + 17 + 13) / 6 = 65 / 6 = 10.84 unit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Average waiting time = (4 + 12 + 2 + 5 + 11 + 10) / 6 = 44 / 6 = 7.33 unit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B25169A-63A8-BB1A-2E37-502C3B1BAD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8165801"/>
              </p:ext>
            </p:extLst>
          </p:nvPr>
        </p:nvGraphicFramePr>
        <p:xfrm>
          <a:off x="6425992" y="2484255"/>
          <a:ext cx="4121359" cy="3714247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804598">
                  <a:extLst>
                    <a:ext uri="{9D8B030D-6E8A-4147-A177-3AD203B41FA5}">
                      <a16:colId xmlns:a16="http://schemas.microsoft.com/office/drawing/2014/main" val="3114148894"/>
                    </a:ext>
                  </a:extLst>
                </a:gridCol>
                <a:gridCol w="846458">
                  <a:extLst>
                    <a:ext uri="{9D8B030D-6E8A-4147-A177-3AD203B41FA5}">
                      <a16:colId xmlns:a16="http://schemas.microsoft.com/office/drawing/2014/main" val="124324999"/>
                    </a:ext>
                  </a:extLst>
                </a:gridCol>
                <a:gridCol w="1120038">
                  <a:extLst>
                    <a:ext uri="{9D8B030D-6E8A-4147-A177-3AD203B41FA5}">
                      <a16:colId xmlns:a16="http://schemas.microsoft.com/office/drawing/2014/main" val="1000882563"/>
                    </a:ext>
                  </a:extLst>
                </a:gridCol>
                <a:gridCol w="1350265">
                  <a:extLst>
                    <a:ext uri="{9D8B030D-6E8A-4147-A177-3AD203B41FA5}">
                      <a16:colId xmlns:a16="http://schemas.microsoft.com/office/drawing/2014/main" val="2374934631"/>
                    </a:ext>
                  </a:extLst>
                </a:gridCol>
              </a:tblGrid>
              <a:tr h="4937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effectLst/>
                        </a:rPr>
                        <a:t>Process Id</a:t>
                      </a:r>
                      <a:endParaRPr lang="en-US" sz="1700">
                        <a:effectLst/>
                      </a:endParaRPr>
                    </a:p>
                  </a:txBody>
                  <a:tcPr marL="71759" marR="71759" marT="57407" marB="574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effectLst/>
                        </a:rPr>
                        <a:t>Exit time</a:t>
                      </a:r>
                      <a:endParaRPr lang="en-US" sz="1700">
                        <a:effectLst/>
                      </a:endParaRPr>
                    </a:p>
                  </a:txBody>
                  <a:tcPr marL="71759" marR="71759" marT="57407" marB="574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effectLst/>
                        </a:rPr>
                        <a:t>Turn Around time</a:t>
                      </a:r>
                      <a:endParaRPr lang="en-US" sz="1700">
                        <a:effectLst/>
                      </a:endParaRPr>
                    </a:p>
                  </a:txBody>
                  <a:tcPr marL="71759" marR="71759" marT="57407" marB="574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effectLst/>
                        </a:rPr>
                        <a:t>Waiting time</a:t>
                      </a:r>
                      <a:endParaRPr lang="en-US" sz="1700">
                        <a:effectLst/>
                      </a:endParaRPr>
                    </a:p>
                  </a:txBody>
                  <a:tcPr marL="71759" marR="71759" marT="57407" marB="57407" anchor="ctr"/>
                </a:tc>
                <a:extLst>
                  <a:ext uri="{0D108BD9-81ED-4DB2-BD59-A6C34878D82A}">
                    <a16:rowId xmlns:a16="http://schemas.microsoft.com/office/drawing/2014/main" val="2717315931"/>
                  </a:ext>
                </a:extLst>
              </a:tr>
              <a:tr h="4075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P1</a:t>
                      </a:r>
                    </a:p>
                  </a:txBody>
                  <a:tcPr marL="71759" marR="71759" marT="57407" marB="574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8</a:t>
                      </a:r>
                    </a:p>
                  </a:txBody>
                  <a:tcPr marL="71759" marR="71759" marT="57407" marB="574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8 – 0 = 8</a:t>
                      </a:r>
                    </a:p>
                  </a:txBody>
                  <a:tcPr marL="71759" marR="71759" marT="57407" marB="574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8 – 4 = 4</a:t>
                      </a:r>
                    </a:p>
                  </a:txBody>
                  <a:tcPr marL="71759" marR="71759" marT="57407" marB="57407" anchor="ctr"/>
                </a:tc>
                <a:extLst>
                  <a:ext uri="{0D108BD9-81ED-4DB2-BD59-A6C34878D82A}">
                    <a16:rowId xmlns:a16="http://schemas.microsoft.com/office/drawing/2014/main" val="4263548033"/>
                  </a:ext>
                </a:extLst>
              </a:tr>
              <a:tr h="6659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P2</a:t>
                      </a:r>
                    </a:p>
                  </a:txBody>
                  <a:tcPr marL="71759" marR="71759" marT="57407" marB="574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18</a:t>
                      </a:r>
                    </a:p>
                  </a:txBody>
                  <a:tcPr marL="71759" marR="71759" marT="57407" marB="574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18 – 1 = 17</a:t>
                      </a:r>
                    </a:p>
                  </a:txBody>
                  <a:tcPr marL="71759" marR="71759" marT="57407" marB="574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17 – 5 = 12</a:t>
                      </a:r>
                    </a:p>
                  </a:txBody>
                  <a:tcPr marL="71759" marR="71759" marT="57407" marB="57407" anchor="ctr"/>
                </a:tc>
                <a:extLst>
                  <a:ext uri="{0D108BD9-81ED-4DB2-BD59-A6C34878D82A}">
                    <a16:rowId xmlns:a16="http://schemas.microsoft.com/office/drawing/2014/main" val="1368720877"/>
                  </a:ext>
                </a:extLst>
              </a:tr>
              <a:tr h="4075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P3</a:t>
                      </a:r>
                    </a:p>
                  </a:txBody>
                  <a:tcPr marL="71759" marR="71759" marT="57407" marB="574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6</a:t>
                      </a:r>
                    </a:p>
                  </a:txBody>
                  <a:tcPr marL="71759" marR="71759" marT="57407" marB="574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6 – 2 = 4</a:t>
                      </a:r>
                    </a:p>
                  </a:txBody>
                  <a:tcPr marL="71759" marR="71759" marT="57407" marB="574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4 – 2 = 2</a:t>
                      </a:r>
                    </a:p>
                  </a:txBody>
                  <a:tcPr marL="71759" marR="71759" marT="57407" marB="57407" anchor="ctr"/>
                </a:tc>
                <a:extLst>
                  <a:ext uri="{0D108BD9-81ED-4DB2-BD59-A6C34878D82A}">
                    <a16:rowId xmlns:a16="http://schemas.microsoft.com/office/drawing/2014/main" val="1930609097"/>
                  </a:ext>
                </a:extLst>
              </a:tr>
              <a:tr h="4075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P4</a:t>
                      </a:r>
                    </a:p>
                  </a:txBody>
                  <a:tcPr marL="71759" marR="71759" marT="57407" marB="574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9</a:t>
                      </a:r>
                    </a:p>
                  </a:txBody>
                  <a:tcPr marL="71759" marR="71759" marT="57407" marB="574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9 – 3 = 6</a:t>
                      </a:r>
                    </a:p>
                  </a:txBody>
                  <a:tcPr marL="71759" marR="71759" marT="57407" marB="574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6 – 1 = 5</a:t>
                      </a:r>
                    </a:p>
                  </a:txBody>
                  <a:tcPr marL="71759" marR="71759" marT="57407" marB="57407" anchor="ctr"/>
                </a:tc>
                <a:extLst>
                  <a:ext uri="{0D108BD9-81ED-4DB2-BD59-A6C34878D82A}">
                    <a16:rowId xmlns:a16="http://schemas.microsoft.com/office/drawing/2014/main" val="1635805244"/>
                  </a:ext>
                </a:extLst>
              </a:tr>
              <a:tr h="6659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P5</a:t>
                      </a:r>
                    </a:p>
                  </a:txBody>
                  <a:tcPr marL="71759" marR="71759" marT="57407" marB="574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21</a:t>
                      </a:r>
                    </a:p>
                  </a:txBody>
                  <a:tcPr marL="71759" marR="71759" marT="57407" marB="574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21 – 4 = 17</a:t>
                      </a:r>
                    </a:p>
                  </a:txBody>
                  <a:tcPr marL="71759" marR="71759" marT="57407" marB="574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17 – 6 = 11</a:t>
                      </a:r>
                    </a:p>
                  </a:txBody>
                  <a:tcPr marL="71759" marR="71759" marT="57407" marB="57407" anchor="ctr"/>
                </a:tc>
                <a:extLst>
                  <a:ext uri="{0D108BD9-81ED-4DB2-BD59-A6C34878D82A}">
                    <a16:rowId xmlns:a16="http://schemas.microsoft.com/office/drawing/2014/main" val="3456478294"/>
                  </a:ext>
                </a:extLst>
              </a:tr>
              <a:tr h="6659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P6</a:t>
                      </a:r>
                    </a:p>
                  </a:txBody>
                  <a:tcPr marL="71759" marR="71759" marT="57407" marB="574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19</a:t>
                      </a:r>
                    </a:p>
                  </a:txBody>
                  <a:tcPr marL="71759" marR="71759" marT="57407" marB="574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19 – 6 = 13</a:t>
                      </a:r>
                    </a:p>
                  </a:txBody>
                  <a:tcPr marL="71759" marR="71759" marT="57407" marB="574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>
                          <a:effectLst/>
                        </a:rPr>
                        <a:t>13 – 3 = 10</a:t>
                      </a:r>
                    </a:p>
                  </a:txBody>
                  <a:tcPr marL="71759" marR="71759" marT="57407" marB="57407" anchor="ctr"/>
                </a:tc>
                <a:extLst>
                  <a:ext uri="{0D108BD9-81ED-4DB2-BD59-A6C34878D82A}">
                    <a16:rowId xmlns:a16="http://schemas.microsoft.com/office/drawing/2014/main" val="3766225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4224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F4A82-52DD-3AFE-5A77-94CD1710D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altLang="en-US" sz="4800" b="1" u="sng" dirty="0"/>
              <a:t>Class Exercise</a:t>
            </a:r>
            <a:br>
              <a:rPr lang="en-US" altLang="en-US" sz="4800" b="1" dirty="0"/>
            </a:b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B351E28-C731-F417-B736-A0FE85D11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Consider the set of 6 processes whose arrival time and burst time are given below-</a:t>
            </a:r>
          </a:p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If the CPU scheduling policy is Round Robin with time quantum = 3, calculate the average waiting time and average turn around time.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AFC8C1-1EEC-7BB6-A5FB-E1805F2F98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1346118"/>
              </p:ext>
            </p:extLst>
          </p:nvPr>
        </p:nvGraphicFramePr>
        <p:xfrm>
          <a:off x="5911532" y="2647785"/>
          <a:ext cx="5150278" cy="3387184"/>
        </p:xfrm>
        <a:graphic>
          <a:graphicData uri="http://schemas.openxmlformats.org/drawingml/2006/table">
            <a:tbl>
              <a:tblPr firstRow="1" bandRow="1"/>
              <a:tblGrid>
                <a:gridCol w="1716686">
                  <a:extLst>
                    <a:ext uri="{9D8B030D-6E8A-4147-A177-3AD203B41FA5}">
                      <a16:colId xmlns:a16="http://schemas.microsoft.com/office/drawing/2014/main" val="1844386870"/>
                    </a:ext>
                  </a:extLst>
                </a:gridCol>
                <a:gridCol w="1716686">
                  <a:extLst>
                    <a:ext uri="{9D8B030D-6E8A-4147-A177-3AD203B41FA5}">
                      <a16:colId xmlns:a16="http://schemas.microsoft.com/office/drawing/2014/main" val="342652403"/>
                    </a:ext>
                  </a:extLst>
                </a:gridCol>
                <a:gridCol w="1716906">
                  <a:extLst>
                    <a:ext uri="{9D8B030D-6E8A-4147-A177-3AD203B41FA5}">
                      <a16:colId xmlns:a16="http://schemas.microsoft.com/office/drawing/2014/main" val="1543292644"/>
                    </a:ext>
                  </a:extLst>
                </a:gridCol>
              </a:tblGrid>
              <a:tr h="393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rgbClr val="B1B1B1"/>
                          </a:solidFill>
                          <a:effectLst/>
                        </a:rPr>
                        <a:t>Process Id</a:t>
                      </a:r>
                      <a:endParaRPr lang="en-US" sz="2100">
                        <a:solidFill>
                          <a:srgbClr val="B1B1B1"/>
                        </a:solidFill>
                        <a:effectLst/>
                      </a:endParaRP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rgbClr val="B1B1B1"/>
                          </a:solidFill>
                          <a:effectLst/>
                        </a:rPr>
                        <a:t>Arrival time</a:t>
                      </a:r>
                      <a:endParaRPr lang="en-US" sz="2100">
                        <a:solidFill>
                          <a:srgbClr val="B1B1B1"/>
                        </a:solidFill>
                        <a:effectLst/>
                      </a:endParaRP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rgbClr val="B1B1B1"/>
                          </a:solidFill>
                          <a:effectLst/>
                        </a:rPr>
                        <a:t>Burst time</a:t>
                      </a:r>
                      <a:endParaRPr lang="en-US" sz="2100">
                        <a:solidFill>
                          <a:srgbClr val="B1B1B1"/>
                        </a:solidFill>
                        <a:effectLst/>
                      </a:endParaRP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428901"/>
                  </a:ext>
                </a:extLst>
              </a:tr>
              <a:tr h="4989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>
                          <a:solidFill>
                            <a:srgbClr val="B1B1B1"/>
                          </a:solidFill>
                          <a:effectLst/>
                        </a:rPr>
                        <a:t>P1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>
                          <a:solidFill>
                            <a:srgbClr val="B1B1B1"/>
                          </a:solidFill>
                          <a:effectLst/>
                        </a:rPr>
                        <a:t>5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>
                          <a:solidFill>
                            <a:srgbClr val="B1B1B1"/>
                          </a:solidFill>
                          <a:effectLst/>
                        </a:rPr>
                        <a:t>5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070902"/>
                  </a:ext>
                </a:extLst>
              </a:tr>
              <a:tr h="4989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>
                          <a:solidFill>
                            <a:srgbClr val="B1B1B1"/>
                          </a:solidFill>
                          <a:effectLst/>
                        </a:rPr>
                        <a:t>P2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>
                          <a:solidFill>
                            <a:srgbClr val="B1B1B1"/>
                          </a:solidFill>
                          <a:effectLst/>
                        </a:rPr>
                        <a:t>4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>
                          <a:solidFill>
                            <a:srgbClr val="B1B1B1"/>
                          </a:solidFill>
                          <a:effectLst/>
                        </a:rPr>
                        <a:t>6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668128"/>
                  </a:ext>
                </a:extLst>
              </a:tr>
              <a:tr h="4989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>
                          <a:solidFill>
                            <a:srgbClr val="B1B1B1"/>
                          </a:solidFill>
                          <a:effectLst/>
                        </a:rPr>
                        <a:t>P3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>
                          <a:solidFill>
                            <a:srgbClr val="B1B1B1"/>
                          </a:solidFill>
                          <a:effectLst/>
                        </a:rPr>
                        <a:t>3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>
                          <a:solidFill>
                            <a:srgbClr val="B1B1B1"/>
                          </a:solidFill>
                          <a:effectLst/>
                        </a:rPr>
                        <a:t>7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478787"/>
                  </a:ext>
                </a:extLst>
              </a:tr>
              <a:tr h="4989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>
                          <a:solidFill>
                            <a:srgbClr val="B1B1B1"/>
                          </a:solidFill>
                          <a:effectLst/>
                        </a:rPr>
                        <a:t>P4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>
                          <a:solidFill>
                            <a:srgbClr val="B1B1B1"/>
                          </a:solidFill>
                          <a:effectLst/>
                        </a:rPr>
                        <a:t>1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>
                          <a:solidFill>
                            <a:srgbClr val="B1B1B1"/>
                          </a:solidFill>
                          <a:effectLst/>
                        </a:rPr>
                        <a:t>9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589918"/>
                  </a:ext>
                </a:extLst>
              </a:tr>
              <a:tr h="4989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>
                          <a:solidFill>
                            <a:srgbClr val="B1B1B1"/>
                          </a:solidFill>
                          <a:effectLst/>
                        </a:rPr>
                        <a:t>P5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>
                          <a:solidFill>
                            <a:srgbClr val="B1B1B1"/>
                          </a:solidFill>
                          <a:effectLst/>
                        </a:rPr>
                        <a:t>2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>
                          <a:solidFill>
                            <a:srgbClr val="B1B1B1"/>
                          </a:solidFill>
                          <a:effectLst/>
                        </a:rPr>
                        <a:t>2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595709"/>
                  </a:ext>
                </a:extLst>
              </a:tr>
              <a:tr h="4989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>
                          <a:solidFill>
                            <a:srgbClr val="B1B1B1"/>
                          </a:solidFill>
                          <a:effectLst/>
                        </a:rPr>
                        <a:t>P6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>
                          <a:solidFill>
                            <a:srgbClr val="B1B1B1"/>
                          </a:solidFill>
                          <a:effectLst/>
                        </a:rPr>
                        <a:t>6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>
                          <a:solidFill>
                            <a:srgbClr val="B1B1B1"/>
                          </a:solidFill>
                          <a:effectLst/>
                        </a:rPr>
                        <a:t>3</a:t>
                      </a:r>
                    </a:p>
                  </a:txBody>
                  <a:tcPr marL="87842" marR="87842" marT="70274" marB="70274" anchor="ctr">
                    <a:lnL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15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481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7691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1AD25B-06B2-87AD-88FB-FF56FD8EE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Solution</a:t>
            </a:r>
          </a:p>
        </p:txBody>
      </p:sp>
      <p:sp>
        <p:nvSpPr>
          <p:cNvPr id="9225" name="Rectangle 9224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7" name="Rectangle 922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D388A-7EBF-0CBC-B221-A0801E1B1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982" y="2599509"/>
            <a:ext cx="5428319" cy="3639450"/>
          </a:xfrm>
        </p:spPr>
        <p:txBody>
          <a:bodyPr anchor="ctr">
            <a:normAutofit/>
          </a:bodyPr>
          <a:lstStyle/>
          <a:p>
            <a:pPr fontAlgn="base"/>
            <a:r>
              <a:rPr lang="en-US" sz="2000" b="1" u="sng" dirty="0"/>
              <a:t>Ready Queue-</a:t>
            </a:r>
            <a:endParaRPr lang="en-US" sz="2000" b="1" dirty="0"/>
          </a:p>
          <a:p>
            <a:pPr fontAlgn="base"/>
            <a:r>
              <a:rPr lang="en-US" sz="2000" dirty="0"/>
              <a:t>P3, P1, P4, P2, P3, P6, P1, P4, P2, P3, P5, P4</a:t>
            </a:r>
          </a:p>
          <a:p>
            <a:endParaRPr lang="en-US" sz="2000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15E92546-CEAD-9F74-9704-24C7DDFE3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3407889"/>
            <a:ext cx="5150277" cy="18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9" name="Rectangle 922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777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E64AA-DA05-B79F-D2E9-364515CB4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Solution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3E11AC3-93B3-5432-4018-58F12BB85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 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Now,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Average Turn Around time = (27 + 23 + 30 + 29 + 4 + 15) / 6 = 128 / 6 = 21.33 unit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+mn-lt"/>
              </a:rPr>
              <a:t>Average waiting time = (22 + 17 + 23 + 20 + 2 + 12) / 6 = 96 / 6 = 16 unit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A1DF8D0-B5EE-E194-1205-CF98418B39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9802714"/>
              </p:ext>
            </p:extLst>
          </p:nvPr>
        </p:nvGraphicFramePr>
        <p:xfrm>
          <a:off x="5911532" y="2501273"/>
          <a:ext cx="5150280" cy="3680212"/>
        </p:xfrm>
        <a:graphic>
          <a:graphicData uri="http://schemas.openxmlformats.org/drawingml/2006/table">
            <a:tbl>
              <a:tblPr firstRow="1" bandRow="1">
                <a:solidFill>
                  <a:srgbClr val="F7F7F7"/>
                </a:solidFill>
              </a:tblPr>
              <a:tblGrid>
                <a:gridCol w="1268385">
                  <a:extLst>
                    <a:ext uri="{9D8B030D-6E8A-4147-A177-3AD203B41FA5}">
                      <a16:colId xmlns:a16="http://schemas.microsoft.com/office/drawing/2014/main" val="32691157"/>
                    </a:ext>
                  </a:extLst>
                </a:gridCol>
                <a:gridCol w="840069">
                  <a:extLst>
                    <a:ext uri="{9D8B030D-6E8A-4147-A177-3AD203B41FA5}">
                      <a16:colId xmlns:a16="http://schemas.microsoft.com/office/drawing/2014/main" val="2870310364"/>
                    </a:ext>
                  </a:extLst>
                </a:gridCol>
                <a:gridCol w="1386367">
                  <a:extLst>
                    <a:ext uri="{9D8B030D-6E8A-4147-A177-3AD203B41FA5}">
                      <a16:colId xmlns:a16="http://schemas.microsoft.com/office/drawing/2014/main" val="3255034978"/>
                    </a:ext>
                  </a:extLst>
                </a:gridCol>
                <a:gridCol w="1655459">
                  <a:extLst>
                    <a:ext uri="{9D8B030D-6E8A-4147-A177-3AD203B41FA5}">
                      <a16:colId xmlns:a16="http://schemas.microsoft.com/office/drawing/2014/main" val="3188574145"/>
                    </a:ext>
                  </a:extLst>
                </a:gridCol>
              </a:tblGrid>
              <a:tr h="915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cap="all" spc="60">
                          <a:solidFill>
                            <a:schemeClr val="tx1"/>
                          </a:solidFill>
                          <a:effectLst/>
                        </a:rPr>
                        <a:t>Process Id</a:t>
                      </a:r>
                    </a:p>
                  </a:txBody>
                  <a:tcPr marL="146040" marR="146040" marT="146040" marB="1460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cap="all" spc="60">
                          <a:solidFill>
                            <a:schemeClr val="tx1"/>
                          </a:solidFill>
                          <a:effectLst/>
                        </a:rPr>
                        <a:t>Exit time</a:t>
                      </a:r>
                    </a:p>
                  </a:txBody>
                  <a:tcPr marL="146040" marR="146040" marT="146040" marB="1460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cap="all" spc="60">
                          <a:solidFill>
                            <a:schemeClr val="tx1"/>
                          </a:solidFill>
                          <a:effectLst/>
                        </a:rPr>
                        <a:t>Turn Around time</a:t>
                      </a:r>
                    </a:p>
                  </a:txBody>
                  <a:tcPr marL="146040" marR="146040" marT="146040" marB="1460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cap="all" spc="60">
                          <a:solidFill>
                            <a:schemeClr val="tx1"/>
                          </a:solidFill>
                          <a:effectLst/>
                        </a:rPr>
                        <a:t>Waiting time</a:t>
                      </a:r>
                    </a:p>
                  </a:txBody>
                  <a:tcPr marL="146040" marR="146040" marT="146040" marB="1460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260750"/>
                  </a:ext>
                </a:extLst>
              </a:tr>
              <a:tr h="4608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P1</a:t>
                      </a:r>
                    </a:p>
                  </a:txBody>
                  <a:tcPr marL="81133" marR="81133" marT="64907" marB="97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32</a:t>
                      </a:r>
                    </a:p>
                  </a:txBody>
                  <a:tcPr marL="81133" marR="81133" marT="64907" marB="97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32 – 5 = 27</a:t>
                      </a:r>
                    </a:p>
                  </a:txBody>
                  <a:tcPr marL="81133" marR="81133" marT="64907" marB="97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27 – 5 = 22</a:t>
                      </a:r>
                    </a:p>
                  </a:txBody>
                  <a:tcPr marL="81133" marR="81133" marT="64907" marB="97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084642"/>
                  </a:ext>
                </a:extLst>
              </a:tr>
              <a:tr h="4608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P2</a:t>
                      </a:r>
                    </a:p>
                  </a:txBody>
                  <a:tcPr marL="81133" marR="81133" marT="64907" marB="97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27</a:t>
                      </a:r>
                    </a:p>
                  </a:txBody>
                  <a:tcPr marL="81133" marR="81133" marT="64907" marB="97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27 – 4 = 23</a:t>
                      </a:r>
                    </a:p>
                  </a:txBody>
                  <a:tcPr marL="81133" marR="81133" marT="64907" marB="97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23 – 6 = 17</a:t>
                      </a:r>
                    </a:p>
                  </a:txBody>
                  <a:tcPr marL="81133" marR="81133" marT="64907" marB="97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933412"/>
                  </a:ext>
                </a:extLst>
              </a:tr>
              <a:tr h="4608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P3</a:t>
                      </a:r>
                    </a:p>
                  </a:txBody>
                  <a:tcPr marL="81133" marR="81133" marT="64907" marB="97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33</a:t>
                      </a:r>
                    </a:p>
                  </a:txBody>
                  <a:tcPr marL="81133" marR="81133" marT="64907" marB="97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33 – 3 = 30</a:t>
                      </a:r>
                    </a:p>
                  </a:txBody>
                  <a:tcPr marL="81133" marR="81133" marT="64907" marB="97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30 – 7 = 23</a:t>
                      </a:r>
                    </a:p>
                  </a:txBody>
                  <a:tcPr marL="81133" marR="81133" marT="64907" marB="97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267643"/>
                  </a:ext>
                </a:extLst>
              </a:tr>
              <a:tr h="4608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P4</a:t>
                      </a:r>
                    </a:p>
                  </a:txBody>
                  <a:tcPr marL="81133" marR="81133" marT="64907" marB="97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</a:p>
                  </a:txBody>
                  <a:tcPr marL="81133" marR="81133" marT="64907" marB="97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30 – 1 = 29</a:t>
                      </a:r>
                    </a:p>
                  </a:txBody>
                  <a:tcPr marL="81133" marR="81133" marT="64907" marB="97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29 – 9 = 20</a:t>
                      </a:r>
                    </a:p>
                  </a:txBody>
                  <a:tcPr marL="81133" marR="81133" marT="64907" marB="97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557577"/>
                  </a:ext>
                </a:extLst>
              </a:tr>
              <a:tr h="4608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P5</a:t>
                      </a:r>
                    </a:p>
                  </a:txBody>
                  <a:tcPr marL="81133" marR="81133" marT="64907" marB="97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</a:p>
                  </a:txBody>
                  <a:tcPr marL="81133" marR="81133" marT="64907" marB="97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6 – 2 = 4</a:t>
                      </a:r>
                    </a:p>
                  </a:txBody>
                  <a:tcPr marL="81133" marR="81133" marT="64907" marB="97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4 – 2 = 2</a:t>
                      </a:r>
                    </a:p>
                  </a:txBody>
                  <a:tcPr marL="81133" marR="81133" marT="64907" marB="97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967449"/>
                  </a:ext>
                </a:extLst>
              </a:tr>
              <a:tr h="4608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P6</a:t>
                      </a:r>
                    </a:p>
                  </a:txBody>
                  <a:tcPr marL="81133" marR="81133" marT="64907" marB="97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21</a:t>
                      </a:r>
                    </a:p>
                  </a:txBody>
                  <a:tcPr marL="81133" marR="81133" marT="64907" marB="97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21 – 6 = 15</a:t>
                      </a:r>
                    </a:p>
                  </a:txBody>
                  <a:tcPr marL="81133" marR="81133" marT="64907" marB="97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15 – 3 = 12</a:t>
                      </a:r>
                    </a:p>
                  </a:txBody>
                  <a:tcPr marL="81133" marR="81133" marT="64907" marB="97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033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53421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35B1C-35B1-D977-7235-7D802502F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Scheduling with I/O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B56D6-299E-B968-939C-B262A1CAF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b="1" u="sng" dirty="0"/>
              <a:t>Problem-01:</a:t>
            </a:r>
            <a:endParaRPr lang="en-US" dirty="0"/>
          </a:p>
          <a:p>
            <a:pPr fontAlgn="base"/>
            <a:r>
              <a:rPr lang="en-US" dirty="0"/>
              <a:t>Consider three process, all arriving at time zero, with total execution time of 10, 20 and 30 units respectively. Each process spends the first 20% of execution time doing I/O, the next 70% of time doing computation, and the last 10% of time doing I/O again. The operating system uses a shortest remaining compute time first scheduling algorithm and schedules a new process either when the running process gets blocked on I/O or when the running process finishes its compute burst. Assume that all I/O operations can be overlapped as much as possible. For what percentage of does the CPU remain idle?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2438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DCA003D-DF44-B3F5-6BBF-82374F9DA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3288" y="2871268"/>
            <a:ext cx="603500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F56033E-8B01-C8DF-35BD-D60D55BFA6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0918989"/>
              </p:ext>
            </p:extLst>
          </p:nvPr>
        </p:nvGraphicFramePr>
        <p:xfrm>
          <a:off x="643467" y="908440"/>
          <a:ext cx="10905069" cy="504112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114044">
                  <a:extLst>
                    <a:ext uri="{9D8B030D-6E8A-4147-A177-3AD203B41FA5}">
                      <a16:colId xmlns:a16="http://schemas.microsoft.com/office/drawing/2014/main" val="2224236208"/>
                    </a:ext>
                  </a:extLst>
                </a:gridCol>
                <a:gridCol w="2698807">
                  <a:extLst>
                    <a:ext uri="{9D8B030D-6E8A-4147-A177-3AD203B41FA5}">
                      <a16:colId xmlns:a16="http://schemas.microsoft.com/office/drawing/2014/main" val="659052911"/>
                    </a:ext>
                  </a:extLst>
                </a:gridCol>
                <a:gridCol w="2254238">
                  <a:extLst>
                    <a:ext uri="{9D8B030D-6E8A-4147-A177-3AD203B41FA5}">
                      <a16:colId xmlns:a16="http://schemas.microsoft.com/office/drawing/2014/main" val="463735679"/>
                    </a:ext>
                  </a:extLst>
                </a:gridCol>
                <a:gridCol w="2583742">
                  <a:extLst>
                    <a:ext uri="{9D8B030D-6E8A-4147-A177-3AD203B41FA5}">
                      <a16:colId xmlns:a16="http://schemas.microsoft.com/office/drawing/2014/main" val="1235381360"/>
                    </a:ext>
                  </a:extLst>
                </a:gridCol>
                <a:gridCol w="2254238">
                  <a:extLst>
                    <a:ext uri="{9D8B030D-6E8A-4147-A177-3AD203B41FA5}">
                      <a16:colId xmlns:a16="http://schemas.microsoft.com/office/drawing/2014/main" val="1037391039"/>
                    </a:ext>
                  </a:extLst>
                </a:gridCol>
              </a:tblGrid>
              <a:tr h="16368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3300" b="1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150631" marT="60252" marB="451893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300" b="1" cap="none" spc="0">
                          <a:solidFill>
                            <a:schemeClr val="tx1"/>
                          </a:solidFill>
                          <a:effectLst/>
                        </a:rPr>
                        <a:t>Total Burst Time</a:t>
                      </a:r>
                    </a:p>
                  </a:txBody>
                  <a:tcPr marL="0" marR="150631" marT="60252" marB="451893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300" b="1" cap="none" spc="0">
                          <a:solidFill>
                            <a:schemeClr val="tx1"/>
                          </a:solidFill>
                          <a:effectLst/>
                        </a:rPr>
                        <a:t>I/O Burst</a:t>
                      </a:r>
                    </a:p>
                  </a:txBody>
                  <a:tcPr marL="0" marR="150631" marT="60252" marB="451893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300" b="1" cap="none" spc="0">
                          <a:solidFill>
                            <a:schemeClr val="tx1"/>
                          </a:solidFill>
                          <a:effectLst/>
                        </a:rPr>
                        <a:t>CPU Burst</a:t>
                      </a:r>
                    </a:p>
                  </a:txBody>
                  <a:tcPr marL="0" marR="150631" marT="60252" marB="451893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300" b="1" cap="none" spc="0">
                          <a:solidFill>
                            <a:schemeClr val="tx1"/>
                          </a:solidFill>
                          <a:effectLst/>
                        </a:rPr>
                        <a:t>I/O Burst</a:t>
                      </a:r>
                    </a:p>
                  </a:txBody>
                  <a:tcPr marL="0" marR="150631" marT="60252" marB="451893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628047"/>
                  </a:ext>
                </a:extLst>
              </a:tr>
              <a:tr h="11347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300" b="1" cap="none" spc="0">
                          <a:solidFill>
                            <a:schemeClr val="tx1"/>
                          </a:solidFill>
                          <a:effectLst/>
                        </a:rPr>
                        <a:t> P1</a:t>
                      </a:r>
                      <a:endParaRPr lang="en-US" sz="3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150631" marT="60252" marB="451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300" cap="none" spc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</a:p>
                  </a:txBody>
                  <a:tcPr marL="0" marR="150631" marT="60252" marB="451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30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0" marR="150631" marT="60252" marB="451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300" cap="none" spc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</a:p>
                  </a:txBody>
                  <a:tcPr marL="0" marR="150631" marT="60252" marB="451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3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0" marR="150631" marT="60252" marB="451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408340"/>
                  </a:ext>
                </a:extLst>
              </a:tr>
              <a:tr h="11347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300" b="1" cap="none" spc="0">
                          <a:solidFill>
                            <a:schemeClr val="tx1"/>
                          </a:solidFill>
                          <a:effectLst/>
                        </a:rPr>
                        <a:t> P2</a:t>
                      </a:r>
                      <a:endParaRPr lang="en-US" sz="3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150631" marT="60252" marB="451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300" cap="none" spc="0">
                          <a:solidFill>
                            <a:schemeClr val="tx1"/>
                          </a:solidFill>
                          <a:effectLst/>
                        </a:rPr>
                        <a:t>20</a:t>
                      </a:r>
                    </a:p>
                  </a:txBody>
                  <a:tcPr marL="0" marR="150631" marT="60252" marB="451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300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 marL="0" marR="150631" marT="60252" marB="451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300" cap="none" spc="0">
                          <a:solidFill>
                            <a:schemeClr val="tx1"/>
                          </a:solidFill>
                          <a:effectLst/>
                        </a:rPr>
                        <a:t>14</a:t>
                      </a:r>
                    </a:p>
                  </a:txBody>
                  <a:tcPr marL="0" marR="150631" marT="60252" marB="451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30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0" marR="150631" marT="60252" marB="451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551263"/>
                  </a:ext>
                </a:extLst>
              </a:tr>
              <a:tr h="11347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300" b="1" cap="none" spc="0">
                          <a:solidFill>
                            <a:schemeClr val="tx1"/>
                          </a:solidFill>
                          <a:effectLst/>
                        </a:rPr>
                        <a:t>P3</a:t>
                      </a:r>
                      <a:endParaRPr lang="en-US" sz="3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150631" marT="60252" marB="451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300" cap="none" spc="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</a:p>
                  </a:txBody>
                  <a:tcPr marL="0" marR="150631" marT="60252" marB="451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300" cap="none" spc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</a:p>
                  </a:txBody>
                  <a:tcPr marL="0" marR="150631" marT="60252" marB="451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300" cap="none" spc="0">
                          <a:solidFill>
                            <a:schemeClr val="tx1"/>
                          </a:solidFill>
                          <a:effectLst/>
                        </a:rPr>
                        <a:t>21</a:t>
                      </a:r>
                    </a:p>
                  </a:txBody>
                  <a:tcPr marL="0" marR="150631" marT="60252" marB="451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3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0" marR="150631" marT="60252" marB="4518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308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83302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7FB7DE-3979-F031-2D81-6C3C7B7FA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616033"/>
            <a:ext cx="10905066" cy="362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6361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0C6E0-7D8A-8DA2-F03F-45F769F3B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0BD07-8851-94E9-D64A-879F70D9B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54C6B7-245D-39D3-A13B-F9F059B77B71}"/>
              </a:ext>
            </a:extLst>
          </p:cNvPr>
          <p:cNvSpPr txBox="1"/>
          <p:nvPr/>
        </p:nvSpPr>
        <p:spPr>
          <a:xfrm>
            <a:off x="3047163" y="2815959"/>
            <a:ext cx="609432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b="0" i="0" dirty="0">
                <a:effectLst/>
                <a:latin typeface="Arimo"/>
              </a:rPr>
              <a:t>Percentage of time CPU remains idle</a:t>
            </a:r>
          </a:p>
          <a:p>
            <a:pPr algn="l" fontAlgn="base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b="0" i="0" dirty="0">
                <a:effectLst/>
                <a:latin typeface="Arimo"/>
              </a:rPr>
              <a:t>= (5 / 47) x 100</a:t>
            </a:r>
          </a:p>
          <a:p>
            <a:pPr algn="l" fontAlgn="base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b="0" i="0" dirty="0">
                <a:effectLst/>
                <a:latin typeface="Arimo"/>
              </a:rPr>
              <a:t>= 10.638%</a:t>
            </a:r>
          </a:p>
        </p:txBody>
      </p:sp>
    </p:spTree>
    <p:extLst>
      <p:ext uri="{BB962C8B-B14F-4D97-AF65-F5344CB8AC3E}">
        <p14:creationId xmlns:p14="http://schemas.microsoft.com/office/powerpoint/2010/main" val="18059897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3349C3-4D78-C235-FDAC-68F92D0A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D848253-4CF9-613E-34EB-E097E19E5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0256" y="3833199"/>
            <a:ext cx="8332826" cy="111998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If the CPU scheduling policy is Shortest Remaining Time First, calculate the average waiting time and average turn around time.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F858170-21F7-7A89-7FBC-B0F0FFF686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4512210"/>
              </p:ext>
            </p:extLst>
          </p:nvPr>
        </p:nvGraphicFramePr>
        <p:xfrm>
          <a:off x="2652412" y="402570"/>
          <a:ext cx="6887178" cy="3215276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442543">
                  <a:extLst>
                    <a:ext uri="{9D8B030D-6E8A-4147-A177-3AD203B41FA5}">
                      <a16:colId xmlns:a16="http://schemas.microsoft.com/office/drawing/2014/main" val="1782869474"/>
                    </a:ext>
                  </a:extLst>
                </a:gridCol>
                <a:gridCol w="1427572">
                  <a:extLst>
                    <a:ext uri="{9D8B030D-6E8A-4147-A177-3AD203B41FA5}">
                      <a16:colId xmlns:a16="http://schemas.microsoft.com/office/drawing/2014/main" val="2185100387"/>
                    </a:ext>
                  </a:extLst>
                </a:gridCol>
                <a:gridCol w="1338683">
                  <a:extLst>
                    <a:ext uri="{9D8B030D-6E8A-4147-A177-3AD203B41FA5}">
                      <a16:colId xmlns:a16="http://schemas.microsoft.com/office/drawing/2014/main" val="3460789759"/>
                    </a:ext>
                  </a:extLst>
                </a:gridCol>
                <a:gridCol w="1339190">
                  <a:extLst>
                    <a:ext uri="{9D8B030D-6E8A-4147-A177-3AD203B41FA5}">
                      <a16:colId xmlns:a16="http://schemas.microsoft.com/office/drawing/2014/main" val="3447332570"/>
                    </a:ext>
                  </a:extLst>
                </a:gridCol>
                <a:gridCol w="1339190">
                  <a:extLst>
                    <a:ext uri="{9D8B030D-6E8A-4147-A177-3AD203B41FA5}">
                      <a16:colId xmlns:a16="http://schemas.microsoft.com/office/drawing/2014/main" val="2307898272"/>
                    </a:ext>
                  </a:extLst>
                </a:gridCol>
              </a:tblGrid>
              <a:tr h="454686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effectLst/>
                        </a:rPr>
                        <a:t>Process No.</a:t>
                      </a:r>
                      <a:endParaRPr lang="en-US" sz="2400">
                        <a:effectLst/>
                      </a:endParaRPr>
                    </a:p>
                  </a:txBody>
                  <a:tcPr marL="101492" marR="101492" marT="81194" marB="81194" anchor="ctr"/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effectLst/>
                        </a:rPr>
                        <a:t>Arrival Time</a:t>
                      </a:r>
                      <a:endParaRPr lang="en-US" sz="2400">
                        <a:effectLst/>
                      </a:endParaRPr>
                    </a:p>
                  </a:txBody>
                  <a:tcPr marL="101492" marR="101492" marT="81194" marB="81194" anchor="ctr"/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effectLst/>
                        </a:rPr>
                        <a:t>Burst Time</a:t>
                      </a:r>
                      <a:endParaRPr lang="en-US" sz="2400">
                        <a:effectLst/>
                      </a:endParaRPr>
                    </a:p>
                  </a:txBody>
                  <a:tcPr marL="101492" marR="101492" marT="81194" marB="81194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588204"/>
                  </a:ext>
                </a:extLst>
              </a:tr>
              <a:tr h="4546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effectLst/>
                        </a:rPr>
                        <a:t>CPU Burst</a:t>
                      </a:r>
                      <a:endParaRPr lang="en-US" sz="2400">
                        <a:effectLst/>
                      </a:endParaRPr>
                    </a:p>
                  </a:txBody>
                  <a:tcPr marL="101492" marR="101492" marT="81194" marB="811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effectLst/>
                        </a:rPr>
                        <a:t>I/O Burst</a:t>
                      </a:r>
                      <a:endParaRPr lang="en-US" sz="2400">
                        <a:effectLst/>
                      </a:endParaRPr>
                    </a:p>
                  </a:txBody>
                  <a:tcPr marL="101492" marR="101492" marT="81194" marB="811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effectLst/>
                        </a:rPr>
                        <a:t>CPU Burst</a:t>
                      </a:r>
                      <a:endParaRPr lang="en-US" sz="2400">
                        <a:effectLst/>
                      </a:endParaRPr>
                    </a:p>
                  </a:txBody>
                  <a:tcPr marL="101492" marR="101492" marT="81194" marB="81194" anchor="ctr"/>
                </a:tc>
                <a:extLst>
                  <a:ext uri="{0D108BD9-81ED-4DB2-BD59-A6C34878D82A}">
                    <a16:rowId xmlns:a16="http://schemas.microsoft.com/office/drawing/2014/main" val="1315136584"/>
                  </a:ext>
                </a:extLst>
              </a:tr>
              <a:tr h="5764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effectLst/>
                        </a:rPr>
                        <a:t>P1</a:t>
                      </a:r>
                      <a:endParaRPr lang="en-US" sz="2400">
                        <a:effectLst/>
                      </a:endParaRPr>
                    </a:p>
                  </a:txBody>
                  <a:tcPr marL="101492" marR="101492" marT="81194" marB="811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0</a:t>
                      </a:r>
                    </a:p>
                  </a:txBody>
                  <a:tcPr marL="101492" marR="101492" marT="81194" marB="811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3</a:t>
                      </a:r>
                    </a:p>
                  </a:txBody>
                  <a:tcPr marL="101492" marR="101492" marT="81194" marB="811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2</a:t>
                      </a:r>
                    </a:p>
                  </a:txBody>
                  <a:tcPr marL="101492" marR="101492" marT="81194" marB="811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2</a:t>
                      </a:r>
                    </a:p>
                  </a:txBody>
                  <a:tcPr marL="101492" marR="101492" marT="81194" marB="81194" anchor="ctr"/>
                </a:tc>
                <a:extLst>
                  <a:ext uri="{0D108BD9-81ED-4DB2-BD59-A6C34878D82A}">
                    <a16:rowId xmlns:a16="http://schemas.microsoft.com/office/drawing/2014/main" val="646090605"/>
                  </a:ext>
                </a:extLst>
              </a:tr>
              <a:tr h="5764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effectLst/>
                        </a:rPr>
                        <a:t>P2</a:t>
                      </a:r>
                      <a:endParaRPr lang="en-US" sz="2400">
                        <a:effectLst/>
                      </a:endParaRPr>
                    </a:p>
                  </a:txBody>
                  <a:tcPr marL="101492" marR="101492" marT="81194" marB="811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0</a:t>
                      </a:r>
                    </a:p>
                  </a:txBody>
                  <a:tcPr marL="101492" marR="101492" marT="81194" marB="811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2</a:t>
                      </a:r>
                    </a:p>
                  </a:txBody>
                  <a:tcPr marL="101492" marR="101492" marT="81194" marB="811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4</a:t>
                      </a:r>
                    </a:p>
                  </a:txBody>
                  <a:tcPr marL="101492" marR="101492" marT="81194" marB="811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1</a:t>
                      </a:r>
                    </a:p>
                  </a:txBody>
                  <a:tcPr marL="101492" marR="101492" marT="81194" marB="81194" anchor="ctr"/>
                </a:tc>
                <a:extLst>
                  <a:ext uri="{0D108BD9-81ED-4DB2-BD59-A6C34878D82A}">
                    <a16:rowId xmlns:a16="http://schemas.microsoft.com/office/drawing/2014/main" val="2253488648"/>
                  </a:ext>
                </a:extLst>
              </a:tr>
              <a:tr h="5764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effectLst/>
                        </a:rPr>
                        <a:t>P3</a:t>
                      </a:r>
                      <a:endParaRPr lang="en-US" sz="2400">
                        <a:effectLst/>
                      </a:endParaRPr>
                    </a:p>
                  </a:txBody>
                  <a:tcPr marL="101492" marR="101492" marT="81194" marB="811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2</a:t>
                      </a:r>
                    </a:p>
                  </a:txBody>
                  <a:tcPr marL="101492" marR="101492" marT="81194" marB="811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1</a:t>
                      </a:r>
                    </a:p>
                  </a:txBody>
                  <a:tcPr marL="101492" marR="101492" marT="81194" marB="811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3</a:t>
                      </a:r>
                    </a:p>
                  </a:txBody>
                  <a:tcPr marL="101492" marR="101492" marT="81194" marB="811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2</a:t>
                      </a:r>
                    </a:p>
                  </a:txBody>
                  <a:tcPr marL="101492" marR="101492" marT="81194" marB="81194" anchor="ctr"/>
                </a:tc>
                <a:extLst>
                  <a:ext uri="{0D108BD9-81ED-4DB2-BD59-A6C34878D82A}">
                    <a16:rowId xmlns:a16="http://schemas.microsoft.com/office/drawing/2014/main" val="831091106"/>
                  </a:ext>
                </a:extLst>
              </a:tr>
              <a:tr h="5764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effectLst/>
                        </a:rPr>
                        <a:t>P4</a:t>
                      </a:r>
                      <a:endParaRPr lang="en-US" sz="2400">
                        <a:effectLst/>
                      </a:endParaRPr>
                    </a:p>
                  </a:txBody>
                  <a:tcPr marL="101492" marR="101492" marT="81194" marB="811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5</a:t>
                      </a:r>
                    </a:p>
                  </a:txBody>
                  <a:tcPr marL="101492" marR="101492" marT="81194" marB="811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2</a:t>
                      </a:r>
                    </a:p>
                  </a:txBody>
                  <a:tcPr marL="101492" marR="101492" marT="81194" marB="811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2</a:t>
                      </a:r>
                    </a:p>
                  </a:txBody>
                  <a:tcPr marL="101492" marR="101492" marT="81194" marB="811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effectLst/>
                        </a:rPr>
                        <a:t>1</a:t>
                      </a:r>
                    </a:p>
                  </a:txBody>
                  <a:tcPr marL="101492" marR="101492" marT="81194" marB="81194" anchor="ctr"/>
                </a:tc>
                <a:extLst>
                  <a:ext uri="{0D108BD9-81ED-4DB2-BD59-A6C34878D82A}">
                    <a16:rowId xmlns:a16="http://schemas.microsoft.com/office/drawing/2014/main" val="2416089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47202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399482F-F17B-C860-6703-BD14E9F900C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825416"/>
            <a:ext cx="10905066" cy="5207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54158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9C12768-2AD1-CD7A-8982-02871630C3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9308565"/>
              </p:ext>
            </p:extLst>
          </p:nvPr>
        </p:nvGraphicFramePr>
        <p:xfrm>
          <a:off x="643467" y="831504"/>
          <a:ext cx="10905069" cy="519499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445113">
                  <a:extLst>
                    <a:ext uri="{9D8B030D-6E8A-4147-A177-3AD203B41FA5}">
                      <a16:colId xmlns:a16="http://schemas.microsoft.com/office/drawing/2014/main" val="1825332753"/>
                    </a:ext>
                  </a:extLst>
                </a:gridCol>
                <a:gridCol w="1532138">
                  <a:extLst>
                    <a:ext uri="{9D8B030D-6E8A-4147-A177-3AD203B41FA5}">
                      <a16:colId xmlns:a16="http://schemas.microsoft.com/office/drawing/2014/main" val="1162086213"/>
                    </a:ext>
                  </a:extLst>
                </a:gridCol>
                <a:gridCol w="3478433">
                  <a:extLst>
                    <a:ext uri="{9D8B030D-6E8A-4147-A177-3AD203B41FA5}">
                      <a16:colId xmlns:a16="http://schemas.microsoft.com/office/drawing/2014/main" val="2346479193"/>
                    </a:ext>
                  </a:extLst>
                </a:gridCol>
                <a:gridCol w="3449385">
                  <a:extLst>
                    <a:ext uri="{9D8B030D-6E8A-4147-A177-3AD203B41FA5}">
                      <a16:colId xmlns:a16="http://schemas.microsoft.com/office/drawing/2014/main" val="2959389295"/>
                    </a:ext>
                  </a:extLst>
                </a:gridCol>
              </a:tblGrid>
              <a:tr h="16572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4200" b="0" cap="none" spc="0">
                          <a:solidFill>
                            <a:schemeClr val="tx1"/>
                          </a:solidFill>
                          <a:effectLst/>
                        </a:rPr>
                        <a:t>Process Id</a:t>
                      </a:r>
                    </a:p>
                  </a:txBody>
                  <a:tcPr marL="0" marR="199194" marT="47807" marB="23903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4200" b="0" cap="none" spc="0">
                          <a:solidFill>
                            <a:schemeClr val="tx1"/>
                          </a:solidFill>
                          <a:effectLst/>
                        </a:rPr>
                        <a:t>Exit time</a:t>
                      </a:r>
                    </a:p>
                  </a:txBody>
                  <a:tcPr marL="0" marR="199194" marT="47807" marB="23903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4200" b="0" cap="none" spc="0">
                          <a:solidFill>
                            <a:schemeClr val="tx1"/>
                          </a:solidFill>
                          <a:effectLst/>
                        </a:rPr>
                        <a:t>Turn Around time</a:t>
                      </a:r>
                    </a:p>
                  </a:txBody>
                  <a:tcPr marL="0" marR="199194" marT="47807" marB="23903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4200" b="0" cap="none" spc="0">
                          <a:solidFill>
                            <a:schemeClr val="tx1"/>
                          </a:solidFill>
                          <a:effectLst/>
                        </a:rPr>
                        <a:t>Waiting time</a:t>
                      </a:r>
                    </a:p>
                  </a:txBody>
                  <a:tcPr marL="0" marR="199194" marT="47807" marB="23903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12779"/>
                  </a:ext>
                </a:extLst>
              </a:tr>
              <a:tr h="884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  <a:effectLst/>
                        </a:rPr>
                        <a:t>P1</a:t>
                      </a:r>
                    </a:p>
                  </a:txBody>
                  <a:tcPr marL="0" marR="199194" marT="71710" marB="2390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</a:p>
                  </a:txBody>
                  <a:tcPr marL="0" marR="199194" marT="71710" marB="2390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  <a:effectLst/>
                        </a:rPr>
                        <a:t>11 – 0 = 11</a:t>
                      </a:r>
                    </a:p>
                  </a:txBody>
                  <a:tcPr marL="0" marR="199194" marT="71710" marB="2390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  <a:effectLst/>
                        </a:rPr>
                        <a:t>11 – (3+2) = 6</a:t>
                      </a:r>
                    </a:p>
                  </a:txBody>
                  <a:tcPr marL="0" marR="199194" marT="71710" marB="2390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720177"/>
                  </a:ext>
                </a:extLst>
              </a:tr>
              <a:tr h="884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  <a:effectLst/>
                        </a:rPr>
                        <a:t>P2</a:t>
                      </a:r>
                    </a:p>
                  </a:txBody>
                  <a:tcPr marL="0" marR="199194" marT="71710" marB="2390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</a:p>
                  </a:txBody>
                  <a:tcPr marL="0" marR="199194" marT="71710" marB="2390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  <a:effectLst/>
                        </a:rPr>
                        <a:t>7 – 0 = 7</a:t>
                      </a:r>
                    </a:p>
                  </a:txBody>
                  <a:tcPr marL="0" marR="199194" marT="71710" marB="2390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  <a:effectLst/>
                        </a:rPr>
                        <a:t>7 – (2+1) = 4</a:t>
                      </a:r>
                    </a:p>
                  </a:txBody>
                  <a:tcPr marL="0" marR="199194" marT="71710" marB="2390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396971"/>
                  </a:ext>
                </a:extLst>
              </a:tr>
              <a:tr h="884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  <a:effectLst/>
                        </a:rPr>
                        <a:t>P3</a:t>
                      </a:r>
                    </a:p>
                  </a:txBody>
                  <a:tcPr marL="0" marR="199194" marT="71710" marB="2390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</a:p>
                  </a:txBody>
                  <a:tcPr marL="0" marR="199194" marT="71710" marB="2390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  <a:effectLst/>
                        </a:rPr>
                        <a:t>9 – 2 = 7</a:t>
                      </a:r>
                    </a:p>
                  </a:txBody>
                  <a:tcPr marL="0" marR="199194" marT="71710" marB="2390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  <a:effectLst/>
                        </a:rPr>
                        <a:t>7 – (1+2) = 4</a:t>
                      </a:r>
                    </a:p>
                  </a:txBody>
                  <a:tcPr marL="0" marR="199194" marT="71710" marB="2390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5733157"/>
                  </a:ext>
                </a:extLst>
              </a:tr>
              <a:tr h="884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  <a:effectLst/>
                        </a:rPr>
                        <a:t>P4</a:t>
                      </a:r>
                    </a:p>
                  </a:txBody>
                  <a:tcPr marL="0" marR="199194" marT="71710" marB="2390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</a:p>
                  </a:txBody>
                  <a:tcPr marL="0" marR="199194" marT="71710" marB="2390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  <a:effectLst/>
                        </a:rPr>
                        <a:t>16 – 5 = 11</a:t>
                      </a:r>
                    </a:p>
                  </a:txBody>
                  <a:tcPr marL="0" marR="199194" marT="71710" marB="2390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  <a:effectLst/>
                        </a:rPr>
                        <a:t>11 – (2+1) = 8</a:t>
                      </a:r>
                    </a:p>
                  </a:txBody>
                  <a:tcPr marL="0" marR="199194" marT="71710" marB="2390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81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20336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E823D-883C-1C6E-DEE1-311F71265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CA64-E1F9-52F4-01A2-781B1A4AC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18135E-103A-DC32-A6F9-0F04D34676F5}"/>
              </a:ext>
            </a:extLst>
          </p:cNvPr>
          <p:cNvSpPr txBox="1"/>
          <p:nvPr/>
        </p:nvSpPr>
        <p:spPr>
          <a:xfrm>
            <a:off x="3048000" y="2715878"/>
            <a:ext cx="609600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b="0" i="0" dirty="0">
                <a:effectLst/>
                <a:latin typeface="Arimo"/>
              </a:rPr>
              <a:t>Now,</a:t>
            </a:r>
          </a:p>
          <a:p>
            <a:pPr algn="l"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mo"/>
              </a:rPr>
              <a:t>Average Turn Around time = (11 + 7 + 7 + 11) / 4 = 36 / 4 = 9 units</a:t>
            </a:r>
          </a:p>
          <a:p>
            <a:pPr algn="l"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mo"/>
              </a:rPr>
              <a:t>Average waiting time = (6 + 4 + 4 + 8) / 4 = 22 / 5 = 4.4 units</a:t>
            </a:r>
          </a:p>
        </p:txBody>
      </p:sp>
    </p:spTree>
    <p:extLst>
      <p:ext uri="{BB962C8B-B14F-4D97-AF65-F5344CB8AC3E}">
        <p14:creationId xmlns:p14="http://schemas.microsoft.com/office/powerpoint/2010/main" val="34760967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501587-C238-7677-28F2-F1A9AE2BB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6150381-C3B7-A508-B232-36AE8423B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094" y="2718054"/>
            <a:ext cx="3438906" cy="320725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effectLst/>
                <a:latin typeface="+mn-lt"/>
              </a:rPr>
              <a:t>Problem-03: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Consider the set of 4 processes whose arrival time and burst time are given below-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If the CPU scheduling policy is Priority Scheduling, calculate the average waiting time and average turn around time. (Lower number means higher priority)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7A4734-0ED3-37FF-2CBA-CC8B44584D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2253471"/>
              </p:ext>
            </p:extLst>
          </p:nvPr>
        </p:nvGraphicFramePr>
        <p:xfrm>
          <a:off x="4901184" y="1894933"/>
          <a:ext cx="6922011" cy="3168722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1337396">
                  <a:extLst>
                    <a:ext uri="{9D8B030D-6E8A-4147-A177-3AD203B41FA5}">
                      <a16:colId xmlns:a16="http://schemas.microsoft.com/office/drawing/2014/main" val="1731909687"/>
                    </a:ext>
                  </a:extLst>
                </a:gridCol>
                <a:gridCol w="1168127">
                  <a:extLst>
                    <a:ext uri="{9D8B030D-6E8A-4147-A177-3AD203B41FA5}">
                      <a16:colId xmlns:a16="http://schemas.microsoft.com/office/drawing/2014/main" val="3066480620"/>
                    </a:ext>
                  </a:extLst>
                </a:gridCol>
                <a:gridCol w="1312006">
                  <a:extLst>
                    <a:ext uri="{9D8B030D-6E8A-4147-A177-3AD203B41FA5}">
                      <a16:colId xmlns:a16="http://schemas.microsoft.com/office/drawing/2014/main" val="4073281974"/>
                    </a:ext>
                  </a:extLst>
                </a:gridCol>
                <a:gridCol w="1034827">
                  <a:extLst>
                    <a:ext uri="{9D8B030D-6E8A-4147-A177-3AD203B41FA5}">
                      <a16:colId xmlns:a16="http://schemas.microsoft.com/office/drawing/2014/main" val="2096285319"/>
                    </a:ext>
                  </a:extLst>
                </a:gridCol>
                <a:gridCol w="1034828">
                  <a:extLst>
                    <a:ext uri="{9D8B030D-6E8A-4147-A177-3AD203B41FA5}">
                      <a16:colId xmlns:a16="http://schemas.microsoft.com/office/drawing/2014/main" val="2902887622"/>
                    </a:ext>
                  </a:extLst>
                </a:gridCol>
                <a:gridCol w="1034827">
                  <a:extLst>
                    <a:ext uri="{9D8B030D-6E8A-4147-A177-3AD203B41FA5}">
                      <a16:colId xmlns:a16="http://schemas.microsoft.com/office/drawing/2014/main" val="1709256993"/>
                    </a:ext>
                  </a:extLst>
                </a:gridCol>
              </a:tblGrid>
              <a:tr h="57687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Process No.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8436" marR="101561" marT="121874" marB="12187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Arrival Time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8436" marR="101561" marT="121874" marB="12187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Priority 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8436" marR="101561" marT="121874" marB="12187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Burst Time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8436" marR="101561" marT="121874" marB="12187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450519"/>
                  </a:ext>
                </a:extLst>
              </a:tr>
              <a:tr h="8612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CPU Burst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8436" marR="101561" marT="121874" marB="12187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I/O Burst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8436" marR="101561" marT="121874" marB="12187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CPU Burst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8436" marR="101561" marT="121874" marB="12187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45857"/>
                  </a:ext>
                </a:extLst>
              </a:tr>
              <a:tr h="5768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P1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8436" marR="101561" marT="121874" marB="12187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158436" marR="101561" marT="121874" marB="12187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158436" marR="101561" marT="121874" marB="12187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58436" marR="101561" marT="121874" marB="12187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marL="158436" marR="101561" marT="121874" marB="12187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158436" marR="101561" marT="121874" marB="12187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051145"/>
                  </a:ext>
                </a:extLst>
              </a:tr>
              <a:tr h="5768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P2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8436" marR="101561" marT="121874" marB="12187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158436" marR="101561" marT="121874" marB="12187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158436" marR="101561" marT="121874" marB="12187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158436" marR="101561" marT="121874" marB="12187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158436" marR="101561" marT="121874" marB="12187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58436" marR="101561" marT="121874" marB="12187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61593"/>
                  </a:ext>
                </a:extLst>
              </a:tr>
              <a:tr h="5768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  <a:effectLst/>
                        </a:rPr>
                        <a:t>P3</a:t>
                      </a:r>
                      <a:endParaRPr lang="en-US" sz="19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8436" marR="101561" marT="121874" marB="12187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158436" marR="101561" marT="121874" marB="12187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58436" marR="101561" marT="121874" marB="12187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158436" marR="101561" marT="121874" marB="12187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158436" marR="101561" marT="121874" marB="12187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58436" marR="101561" marT="121874" marB="12187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204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83000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2B0F1E1F-4124-221F-6B8B-B94FE59810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825415"/>
            <a:ext cx="10905066" cy="5207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07880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9A50F-3062-3E38-C5FD-C2C8227A6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741" y="639520"/>
            <a:ext cx="3698195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Calculations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237CD8B-DCC5-DC4C-45D7-7166FF63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36" y="2807208"/>
            <a:ext cx="3429000" cy="3410712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+mn-lt"/>
            </a:endParaRP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+mn-lt"/>
              </a:rPr>
              <a:t>Average Turn Around time = (10 + 13 + 6) / 3 = 29 / 3 = 9.67 units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+mn-lt"/>
              </a:rPr>
              <a:t>Average waiting time = (6 + 9 + 3) / 3 = 18 / 3 = 6 units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528D0A-8727-AC3F-9D2B-5E4504F6C3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3327577"/>
              </p:ext>
            </p:extLst>
          </p:nvPr>
        </p:nvGraphicFramePr>
        <p:xfrm>
          <a:off x="4654296" y="1517309"/>
          <a:ext cx="6903721" cy="3823385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1576195">
                  <a:extLst>
                    <a:ext uri="{9D8B030D-6E8A-4147-A177-3AD203B41FA5}">
                      <a16:colId xmlns:a16="http://schemas.microsoft.com/office/drawing/2014/main" val="699710033"/>
                    </a:ext>
                  </a:extLst>
                </a:gridCol>
                <a:gridCol w="1082199">
                  <a:extLst>
                    <a:ext uri="{9D8B030D-6E8A-4147-A177-3AD203B41FA5}">
                      <a16:colId xmlns:a16="http://schemas.microsoft.com/office/drawing/2014/main" val="4251952858"/>
                    </a:ext>
                  </a:extLst>
                </a:gridCol>
                <a:gridCol w="2129062">
                  <a:extLst>
                    <a:ext uri="{9D8B030D-6E8A-4147-A177-3AD203B41FA5}">
                      <a16:colId xmlns:a16="http://schemas.microsoft.com/office/drawing/2014/main" val="1326450486"/>
                    </a:ext>
                  </a:extLst>
                </a:gridCol>
                <a:gridCol w="2116265">
                  <a:extLst>
                    <a:ext uri="{9D8B030D-6E8A-4147-A177-3AD203B41FA5}">
                      <a16:colId xmlns:a16="http://schemas.microsoft.com/office/drawing/2014/main" val="3585438202"/>
                    </a:ext>
                  </a:extLst>
                </a:gridCol>
              </a:tblGrid>
              <a:tr h="10418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0" cap="none" spc="0">
                          <a:solidFill>
                            <a:schemeClr val="bg1"/>
                          </a:solidFill>
                          <a:effectLst/>
                        </a:rPr>
                        <a:t>Process Id</a:t>
                      </a:r>
                    </a:p>
                  </a:txBody>
                  <a:tcPr marL="191661" marR="160549" marT="147431" marB="14743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0" cap="none" spc="0">
                          <a:solidFill>
                            <a:schemeClr val="bg1"/>
                          </a:solidFill>
                          <a:effectLst/>
                        </a:rPr>
                        <a:t>Exit time</a:t>
                      </a:r>
                    </a:p>
                  </a:txBody>
                  <a:tcPr marL="191661" marR="160549" marT="147431" marB="14743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0" cap="none" spc="0">
                          <a:solidFill>
                            <a:schemeClr val="bg1"/>
                          </a:solidFill>
                          <a:effectLst/>
                        </a:rPr>
                        <a:t>Turn Around time</a:t>
                      </a:r>
                    </a:p>
                  </a:txBody>
                  <a:tcPr marL="191661" marR="160549" marT="147431" marB="14743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0" cap="none" spc="0">
                          <a:solidFill>
                            <a:schemeClr val="bg1"/>
                          </a:solidFill>
                          <a:effectLst/>
                        </a:rPr>
                        <a:t>Waiting time</a:t>
                      </a:r>
                    </a:p>
                  </a:txBody>
                  <a:tcPr marL="191661" marR="160549" marT="147431" marB="14743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477369"/>
                  </a:ext>
                </a:extLst>
              </a:tr>
              <a:tr h="10418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  <a:effectLst/>
                        </a:rPr>
                        <a:t>P1</a:t>
                      </a:r>
                    </a:p>
                  </a:txBody>
                  <a:tcPr marL="191661" marR="160549" marT="147431" marB="14743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</a:p>
                  </a:txBody>
                  <a:tcPr marL="191661" marR="160549" marT="147431" marB="14743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  <a:effectLst/>
                        </a:rPr>
                        <a:t>10 – 0 = 10</a:t>
                      </a:r>
                    </a:p>
                  </a:txBody>
                  <a:tcPr marL="191661" marR="160549" marT="147431" marB="14743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  <a:effectLst/>
                        </a:rPr>
                        <a:t>10 – (1+3) = 6</a:t>
                      </a:r>
                    </a:p>
                  </a:txBody>
                  <a:tcPr marL="191661" marR="160549" marT="147431" marB="14743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099617"/>
                  </a:ext>
                </a:extLst>
              </a:tr>
              <a:tr h="10418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  <a:effectLst/>
                        </a:rPr>
                        <a:t>P2</a:t>
                      </a:r>
                    </a:p>
                  </a:txBody>
                  <a:tcPr marL="191661" marR="160549" marT="147431" marB="14743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</a:p>
                  </a:txBody>
                  <a:tcPr marL="191661" marR="160549" marT="147431" marB="14743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  <a:effectLst/>
                        </a:rPr>
                        <a:t>15 – 2 = 13</a:t>
                      </a:r>
                    </a:p>
                  </a:txBody>
                  <a:tcPr marL="191661" marR="160549" marT="147431" marB="14743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  <a:effectLst/>
                        </a:rPr>
                        <a:t>13 – (3+1) = 9</a:t>
                      </a:r>
                    </a:p>
                  </a:txBody>
                  <a:tcPr marL="191661" marR="160549" marT="147431" marB="14743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85944"/>
                  </a:ext>
                </a:extLst>
              </a:tr>
              <a:tr h="6978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  <a:effectLst/>
                        </a:rPr>
                        <a:t>P3</a:t>
                      </a:r>
                    </a:p>
                  </a:txBody>
                  <a:tcPr marL="191661" marR="160549" marT="147431" marB="14743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</a:p>
                  </a:txBody>
                  <a:tcPr marL="191661" marR="160549" marT="147431" marB="14743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  <a:effectLst/>
                        </a:rPr>
                        <a:t>9 – 3 = 6</a:t>
                      </a:r>
                    </a:p>
                  </a:txBody>
                  <a:tcPr marL="191661" marR="160549" marT="147431" marB="14743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  <a:effectLst/>
                        </a:rPr>
                        <a:t>6 – (2+1) = 3</a:t>
                      </a:r>
                    </a:p>
                  </a:txBody>
                  <a:tcPr marL="191661" marR="160549" marT="147431" marB="14743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319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2106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422F2-CFD9-600B-6224-783E3DF26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68E10-5D5C-11D1-B06C-D391E08C8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75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1795</Words>
  <Application>Microsoft Office PowerPoint</Application>
  <PresentationFormat>Widescreen</PresentationFormat>
  <Paragraphs>467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Aptos</vt:lpstr>
      <vt:lpstr>Aptos Display</vt:lpstr>
      <vt:lpstr>Arial</vt:lpstr>
      <vt:lpstr>Arimo</vt:lpstr>
      <vt:lpstr>Calibri</vt:lpstr>
      <vt:lpstr>Roboto Condensed</vt:lpstr>
      <vt:lpstr>Office Theme</vt:lpstr>
      <vt:lpstr>Process Scheduling</vt:lpstr>
      <vt:lpstr>Shortest Job First</vt:lpstr>
      <vt:lpstr>Example-01: </vt:lpstr>
      <vt:lpstr>PowerPoint Presentation</vt:lpstr>
      <vt:lpstr>PowerPoint Presentation</vt:lpstr>
      <vt:lpstr>Average T.A.T  &amp; W.T</vt:lpstr>
      <vt:lpstr>Example-02: </vt:lpstr>
      <vt:lpstr>PowerPoint Presentation</vt:lpstr>
      <vt:lpstr>PowerPoint Presentation</vt:lpstr>
      <vt:lpstr>SRTF Performance Metrics</vt:lpstr>
      <vt:lpstr>Class Exercise: </vt:lpstr>
      <vt:lpstr>Exercise Solution</vt:lpstr>
      <vt:lpstr>Exercise Solution</vt:lpstr>
      <vt:lpstr>PowerPoint Presentation</vt:lpstr>
      <vt:lpstr>Example-01: </vt:lpstr>
      <vt:lpstr>PowerPoint Presentation</vt:lpstr>
      <vt:lpstr>Calculations</vt:lpstr>
      <vt:lpstr>Example-02</vt:lpstr>
      <vt:lpstr>Solution</vt:lpstr>
      <vt:lpstr>Solution</vt:lpstr>
      <vt:lpstr>Class Exercise </vt:lpstr>
      <vt:lpstr>Solution</vt:lpstr>
      <vt:lpstr>Solution</vt:lpstr>
      <vt:lpstr>Process Scheduling with I/O Time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Calculations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Mudassir</dc:creator>
  <cp:lastModifiedBy>Ahmad Mudassir</cp:lastModifiedBy>
  <cp:revision>16</cp:revision>
  <dcterms:created xsi:type="dcterms:W3CDTF">2025-09-24T01:36:17Z</dcterms:created>
  <dcterms:modified xsi:type="dcterms:W3CDTF">2025-10-29T02:00:33Z</dcterms:modified>
</cp:coreProperties>
</file>