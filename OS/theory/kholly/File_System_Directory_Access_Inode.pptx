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66" r:id="rId4"/>
    <p:sldId id="264" r:id="rId5"/>
    <p:sldId id="267" r:id="rId6"/>
    <p:sldId id="265" r:id="rId7"/>
    <p:sldId id="269" r:id="rId8"/>
    <p:sldId id="257" r:id="rId9"/>
    <p:sldId id="268" r:id="rId10"/>
    <p:sldId id="258" r:id="rId11"/>
    <p:sldId id="261" r:id="rId12"/>
    <p:sldId id="262" r:id="rId13"/>
    <p:sldId id="272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27052-8CAA-403E-814B-C50E88497B2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F891C-FECA-4EC6-82A6-0D4D95A36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81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F891C-FECA-4EC6-82A6-0D4D95A36EF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56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48859-031B-3ECB-3757-9432F5CB2F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2842C-A298-020B-A625-E8BC097E2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7FA-2B49-27D3-AB45-AFC0D5DDE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BD93-C21C-4ADA-B3E1-6EF230B7BCC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B095E-FA2E-23EC-C836-DB4A014D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3D52F-C0FB-BB03-9620-DB9E60330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7742-DF80-4FEA-BA90-5CAA74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700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8E401-2B01-5F4E-88A7-CB25D37AE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32B80-558B-2E7E-77A5-1BD5A5D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A9E17-ECFF-5F8B-D1E3-7B8059EA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BD93-C21C-4ADA-B3E1-6EF230B7BCC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473AF-3249-45F2-A3E6-2BC6AB6C5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23B66-AE24-BE3A-94FA-D6FED63C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7742-DF80-4FEA-BA90-5CAA74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5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1C8BC-1D0C-32BB-F686-94A46D2B0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D38C0-FF15-3BCF-AD3D-7612BA853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B44F4-0ABF-5208-B5E3-E277AE46B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BD93-C21C-4ADA-B3E1-6EF230B7BCC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724D8-57FA-CB6A-EED6-913A906A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F997B-B2CE-F72E-4BA1-BFDDFE0E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7742-DF80-4FEA-BA90-5CAA74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19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8024-52B5-022E-841F-EA4736B14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F9413-B596-C556-A565-8ED67E6C1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815D7-92D2-4F6C-E499-898AD8F38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86256-42C6-790C-D962-78F9AE1C6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BD93-C21C-4ADA-B3E1-6EF230B7BCC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C80ED-59FE-BD68-9EBC-C2D447F47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7DCC3-01A5-2F52-F076-5CA4A7F55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7742-DF80-4FEA-BA90-5CAA74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50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9213-22A7-74AC-A78E-35981917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0DF09-B0D5-9CD7-E321-D509ED1F5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3FD4C-27D6-EB44-8F79-E77977A0A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2B316B-6FF7-C391-6BD1-6F4FA56A7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2E3CC3-09C2-B2CC-E2C5-DF0E15AE9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5A694C-3E38-F68F-6FB6-8A290DB5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BD93-C21C-4ADA-B3E1-6EF230B7BCC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44E83-6B92-D366-944B-20E504F84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A96E73-BD19-FD9B-05F8-6954BFFA1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7742-DF80-4FEA-BA90-5CAA74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2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109B9-E51C-EFE1-98C8-6EA2A4AAD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1ED11C-C831-E2E7-C2AE-A24368BF7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BD93-C21C-4ADA-B3E1-6EF230B7BCC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E26A4-2253-1610-2A68-A087FCDA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7A914E-86B4-BBFB-FD92-FDE5E95F6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7742-DF80-4FEA-BA90-5CAA74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821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F4B48D-7E81-21D9-E040-40757A26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BD93-C21C-4ADA-B3E1-6EF230B7BCC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6EF75-7BED-8232-1412-91E1EFF5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F8F8E-F9FF-57DB-8EEA-488430C8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7742-DF80-4FEA-BA90-5CAA74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4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DA0E-9BEA-C2C6-C778-4D724AB4B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FECF6-FAD6-260F-B88D-936ECF547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7BC06-500B-0E33-5314-01F32986A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0CAA4-0833-0A00-2ED4-2F5E0FBC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BD93-C21C-4ADA-B3E1-6EF230B7BCC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5CF93-F498-0326-88B1-68A8F2110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26B8A-99A2-9618-AD8F-3FF5285A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7742-DF80-4FEA-BA90-5CAA74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29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3EE5B-FE4C-DCC1-7704-8E7BD023F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5DC72-9BA8-2C2C-FBB4-A145B5998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D7780-A1B7-2AEB-EE8B-85BA66DCE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A6EF2-E7E5-4FA9-9849-F4602AF82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BD93-C21C-4ADA-B3E1-6EF230B7BCC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32307-CD67-4D47-12D9-01B312C3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74B7F-4416-C38D-71C5-7110636B3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7742-DF80-4FEA-BA90-5CAA74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42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9C209-05B2-6DC4-421A-3E73A1B7B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CDECA-D8CE-74BF-AAC3-E03878C9B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EBDAE-8645-8BBC-3BAB-7BDEC8A69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BD93-C21C-4ADA-B3E1-6EF230B7BCC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AC278-E513-6450-219E-4B8A7F7D6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5261E-12EB-70FC-6F0E-B9CC4F6D8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7742-DF80-4FEA-BA90-5CAA74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526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5E55DF-2829-7275-0435-00DDB33E1E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509CF-4446-08DC-97D7-B9120CB1C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7A297-DF6A-1655-0CDB-7DACD856B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BD93-C21C-4ADA-B3E1-6EF230B7BCC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2F300-377A-F06E-5AD5-745C73128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291E-A1B3-9ACF-79E8-837252CE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7742-DF80-4FEA-BA90-5CAA74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38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4A1F81-2606-3E56-4421-CA5D92066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488F9-34EE-4305-460D-C6D0A1745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E1E57-A1AD-D1C7-C00F-8C944CF15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2BD93-C21C-4ADA-B3E1-6EF230B7BCC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C50E3-4792-6A50-B8B4-376690C1B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6CC18-1813-88FD-D6B4-A44DF4B6D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857742-DF80-4FEA-BA90-5CAA74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0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1F325-FD83-ECA5-83E0-6448A68ABA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Disk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8649C-AC1F-49F9-ECF6-4780A96C06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5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Background">
            <a:extLst>
              <a:ext uri="{FF2B5EF4-FFF2-40B4-BE49-F238E27FC236}">
                <a16:creationId xmlns:a16="http://schemas.microsoft.com/office/drawing/2014/main" id="{AA857166-A416-4C5E-8AA9-5D5D1E13D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A48C6C-3CC4-4EE5-A773-EC1EB7F5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240" y="0"/>
            <a:ext cx="4617491" cy="6858000"/>
          </a:xfrm>
          <a:prstGeom prst="rect">
            <a:avLst/>
          </a:prstGeom>
          <a:ln>
            <a:noFill/>
          </a:ln>
          <a:effectLst>
            <a:outerShdw blurRad="203200" dist="88900" dir="21540000" sx="94000" sy="94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240" y="-1"/>
            <a:ext cx="4617491" cy="5136739"/>
          </a:xfrm>
          <a:prstGeom prst="rect">
            <a:avLst/>
          </a:prstGeom>
          <a:ln>
            <a:noFill/>
          </a:ln>
          <a:effectLst>
            <a:outerShdw blurRad="177800" dist="101600" dir="5400000" sx="97000" sy="97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B74BD4-B507-4477-0442-B58249B6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887" y="617921"/>
            <a:ext cx="3482041" cy="3988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File Descriptor Table, System File Table, in-memory Inode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E6A113-FCFE-96A6-F0AD-782B447DA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9145" y="1427566"/>
            <a:ext cx="6409958" cy="409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12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EB0D2-00D7-5761-C5A3-CDA938349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806C5-755C-95C7-E4E0-0CE767577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i="1" dirty="0"/>
              <a:t>system file table</a:t>
            </a:r>
            <a:r>
              <a:rPr lang="en-US" dirty="0"/>
              <a:t>, which is shared by all the processes in the system, has an entry for each active open. </a:t>
            </a:r>
          </a:p>
          <a:p>
            <a:r>
              <a:rPr lang="en-US" dirty="0"/>
              <a:t>Each system file table entry contains the file offset, an indication of the access mode (i.e., read, write or read-write) and a count of the number of file descriptor table entries pointing to it.</a:t>
            </a:r>
          </a:p>
          <a:p>
            <a:r>
              <a:rPr lang="en-US" dirty="0"/>
              <a:t>Several system file table entries may correspond to the same physical file. Each of these entries points to the same entry in the </a:t>
            </a:r>
            <a:r>
              <a:rPr lang="en-US" i="1" dirty="0"/>
              <a:t>in-memory </a:t>
            </a:r>
            <a:r>
              <a:rPr lang="en-US" i="1" dirty="0" err="1"/>
              <a:t>inode</a:t>
            </a:r>
            <a:r>
              <a:rPr lang="en-US" i="1" dirty="0"/>
              <a:t> table</a:t>
            </a:r>
            <a:r>
              <a:rPr lang="en-US" dirty="0"/>
              <a:t>. </a:t>
            </a:r>
          </a:p>
          <a:p>
            <a:r>
              <a:rPr lang="en-US" dirty="0"/>
              <a:t>The in-memory </a:t>
            </a:r>
            <a:r>
              <a:rPr lang="en-US" dirty="0" err="1"/>
              <a:t>inode</a:t>
            </a:r>
            <a:r>
              <a:rPr lang="en-US" dirty="0"/>
              <a:t> table contains an entry for each active file in the system. </a:t>
            </a:r>
          </a:p>
          <a:p>
            <a:r>
              <a:rPr lang="en-US" dirty="0"/>
              <a:t>When a program opens a particular physical file that is not currently open, the call creates an entry in this </a:t>
            </a:r>
            <a:r>
              <a:rPr lang="en-US" dirty="0" err="1"/>
              <a:t>inode</a:t>
            </a:r>
            <a:r>
              <a:rPr lang="en-US" dirty="0"/>
              <a:t> table for that file.</a:t>
            </a:r>
          </a:p>
        </p:txBody>
      </p:sp>
    </p:spTree>
    <p:extLst>
      <p:ext uri="{BB962C8B-B14F-4D97-AF65-F5344CB8AC3E}">
        <p14:creationId xmlns:p14="http://schemas.microsoft.com/office/powerpoint/2010/main" val="545221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EC965B-36FC-EDD3-B29A-8BFAA154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File Table Shared Entry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A3B9FA-9CAA-C7E4-74F2-3F4EC1070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1295" y="643466"/>
            <a:ext cx="6212742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75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A9059-24C0-5A70-3EB4-8FC40D350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E17D0-A86F-3E5A-9A8D-1548F9F04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 process opens a file for reading and then forks a child process. Both the parent and child can read from the file. How are reads by these two processes related? What about writes?</a:t>
            </a:r>
          </a:p>
        </p:txBody>
      </p:sp>
    </p:spTree>
    <p:extLst>
      <p:ext uri="{BB962C8B-B14F-4D97-AF65-F5344CB8AC3E}">
        <p14:creationId xmlns:p14="http://schemas.microsoft.com/office/powerpoint/2010/main" val="34227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4D6E0E-65E0-257B-B2D0-E63B82B10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File Table Different Entries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ADAF9F-3851-0747-4CA7-E43D7215D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1295" y="643466"/>
            <a:ext cx="6212742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971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5F963-2F9A-C6C6-49EF-E358EAE82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Structure of Typical UNIX File System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51FDCC-F860-BB10-8C58-A13D1C0EAA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3064534"/>
            <a:ext cx="11548872" cy="272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78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36D53-DACD-51B2-F862-ED95EC4C5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File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B7E9CA-8D5E-26B7-C268-BEDF35F83F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2040" y="2128811"/>
            <a:ext cx="6772274" cy="352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55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6E6EF4-04DA-F831-D18D-01071C1D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Directory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181F8-9136-A40E-8006-57366A1C0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#include &lt;dirent.h&gt;</a:t>
            </a:r>
          </a:p>
          <a:p>
            <a:r>
              <a:rPr lang="en-US" sz="2000"/>
              <a:t>DIR *opendir(const char *dirname);</a:t>
            </a:r>
          </a:p>
          <a:p>
            <a:r>
              <a:rPr lang="en-US" sz="2000"/>
              <a:t>struct dirent *readdir(DIR *dirp);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0D6D1E9-B57A-C121-A834-DF1C9C760717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int closedir(DIR *dirp);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void rewinddir(DIR *dirp);</a:t>
            </a:r>
          </a:p>
        </p:txBody>
      </p:sp>
    </p:spTree>
    <p:extLst>
      <p:ext uri="{BB962C8B-B14F-4D97-AF65-F5344CB8AC3E}">
        <p14:creationId xmlns:p14="http://schemas.microsoft.com/office/powerpoint/2010/main" val="1054161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67718-E380-FED0-0A67-E3F641C4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6381B-BEBB-4638-E8D5-3FD3FB48F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2CA422-67E1-2ACC-A2D8-7FCE190699FF}"/>
              </a:ext>
            </a:extLst>
          </p:cNvPr>
          <p:cNvSpPr txBox="1"/>
          <p:nvPr/>
        </p:nvSpPr>
        <p:spPr>
          <a:xfrm>
            <a:off x="1278194" y="681037"/>
            <a:ext cx="817060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#include &lt;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dirent.h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#include &lt;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errno.h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#include &lt;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stdio.h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int main(int 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argc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, char *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argv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[]) {</a:t>
            </a:r>
          </a:p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struct 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dirent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 *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direntp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DIR *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dirp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if (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argc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 != 2) {</a:t>
            </a:r>
          </a:p>
          <a:p>
            <a:pPr algn="l"/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fprintf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(stderr, "Usage: %s 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directory_name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\n", 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argv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[0]);</a:t>
            </a:r>
          </a:p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return 1;</a:t>
            </a:r>
          </a:p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if ((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dirp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 = 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opendir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(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argv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[1])) == NULL) {</a:t>
            </a:r>
          </a:p>
          <a:p>
            <a:pPr algn="l"/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perror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 ("Failed to open directory");</a:t>
            </a:r>
          </a:p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return 1;</a:t>
            </a:r>
          </a:p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while ((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direntp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 = 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readdir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(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dirp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)) != NULL)</a:t>
            </a:r>
          </a:p>
          <a:p>
            <a:pPr algn="l"/>
            <a:r>
              <a:rPr lang="pt-BR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printf("%s\n", direntp-&gt;d_name);</a:t>
            </a:r>
          </a:p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while ((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closedir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(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dirp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) == -1) &amp;&amp; (</a:t>
            </a:r>
            <a:r>
              <a:rPr lang="en-US" sz="1800" b="0" i="0" u="none" strike="noStrike" baseline="0" dirty="0" err="1">
                <a:solidFill>
                  <a:srgbClr val="790029"/>
                </a:solidFill>
                <a:latin typeface="Courier New" panose="02070309020205020404" pitchFamily="49" charset="0"/>
              </a:rPr>
              <a:t>errno</a:t>
            </a:r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 == EINTR)) ;</a:t>
            </a:r>
          </a:p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return 0;</a:t>
            </a:r>
          </a:p>
          <a:p>
            <a:pPr algn="l"/>
            <a:r>
              <a:rPr lang="en-US" sz="1800" b="0" i="0" u="none" strike="noStrike" baseline="0" dirty="0">
                <a:solidFill>
                  <a:srgbClr val="790029"/>
                </a:solidFill>
                <a:latin typeface="Courier New" panose="020703090202050204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61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6E0C-EB98-EAC3-397A-77F952876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File Status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E8845-0423-5CFE-1696-1108BDE84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#include &lt;sys/</a:t>
            </a:r>
            <a:r>
              <a:rPr lang="en-US" dirty="0" err="1"/>
              <a:t>stat.h</a:t>
            </a:r>
            <a:r>
              <a:rPr lang="en-US" dirty="0"/>
              <a:t>&gt;</a:t>
            </a:r>
          </a:p>
          <a:p>
            <a:r>
              <a:rPr lang="en-US" dirty="0"/>
              <a:t>int </a:t>
            </a:r>
            <a:r>
              <a:rPr lang="en-US" dirty="0" err="1"/>
              <a:t>lstat</a:t>
            </a:r>
            <a:r>
              <a:rPr lang="en-US" dirty="0"/>
              <a:t>(const char *restrict path, struct stat *restrict </a:t>
            </a:r>
            <a:r>
              <a:rPr lang="en-US" dirty="0" err="1"/>
              <a:t>buf</a:t>
            </a:r>
            <a:r>
              <a:rPr lang="en-US" dirty="0"/>
              <a:t>);</a:t>
            </a:r>
          </a:p>
          <a:p>
            <a:r>
              <a:rPr lang="en-US" dirty="0"/>
              <a:t>int stat(const char *restrict path, struct stat *restrict </a:t>
            </a:r>
            <a:r>
              <a:rPr lang="en-US" dirty="0" err="1"/>
              <a:t>buf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528941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973C6-1602-0954-54BB-01250876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Inode Structure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BDD32A-940C-5384-1439-10B3DFFCB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8426" y="625683"/>
            <a:ext cx="5798726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251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74A9C1-61E0-3C45-8DAC-ADA24E939E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3319" y="643466"/>
            <a:ext cx="716536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96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4059B-CD93-C438-F660-8C7D6CD15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Exercise</a:t>
            </a:r>
            <a:b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F1140-5705-6142-E1D8-786EA65D3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C8F643-152D-0AC4-A47C-5914E1EEC768}"/>
              </a:ext>
            </a:extLst>
          </p:cNvPr>
          <p:cNvSpPr txBox="1"/>
          <p:nvPr/>
        </p:nvSpPr>
        <p:spPr>
          <a:xfrm>
            <a:off x="1061884" y="2231184"/>
            <a:ext cx="100092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Verdana" panose="020B0604030504040204" pitchFamily="34" charset="0"/>
              </a:rPr>
              <a:t>Suppose that an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Verdana" panose="020B0604030504040204" pitchFamily="34" charset="0"/>
              </a:rPr>
              <a:t>inode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Verdana" panose="020B0604030504040204" pitchFamily="34" charset="0"/>
              </a:rPr>
              <a:t> is 128 bytes, pointers are 4 bytes long, and the status information takes</a:t>
            </a: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Verdana" panose="020B0604030504040204" pitchFamily="34" charset="0"/>
              </a:rPr>
              <a:t>up 68 bytes. Assume a block size of 8K bytes and block pointers of 32 bits each. How much</a:t>
            </a: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Verdana" panose="020B0604030504040204" pitchFamily="34" charset="0"/>
              </a:rPr>
              <a:t>room is there for pointers in the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Verdana" panose="020B0604030504040204" pitchFamily="34" charset="0"/>
              </a:rPr>
              <a:t>inode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Verdana" panose="020B0604030504040204" pitchFamily="34" charset="0"/>
              </a:rPr>
              <a:t>? How big a file can be represented with direct pointers?</a:t>
            </a: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Verdana" panose="020B0604030504040204" pitchFamily="34" charset="0"/>
              </a:rPr>
              <a:t>Indirect? Double indirect? Triple indirect?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548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135E4-6240-30C8-CB0A-421D84E49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BB79A-1780-D004-A0E9-97AB845B5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single, double, and triple indirect pointers take 4 bytes each, so 128 - 68 - 12 = 48 bytes</a:t>
            </a:r>
          </a:p>
          <a:p>
            <a:r>
              <a:rPr lang="en-US" dirty="0"/>
              <a:t>are available for 12 direct pointers. The size of the </a:t>
            </a:r>
            <a:r>
              <a:rPr lang="en-US" dirty="0" err="1"/>
              <a:t>inode</a:t>
            </a:r>
            <a:r>
              <a:rPr lang="en-US" dirty="0"/>
              <a:t> and the block size depend on the</a:t>
            </a:r>
          </a:p>
          <a:p>
            <a:r>
              <a:rPr lang="en-US" dirty="0"/>
              <a:t>system. A file as large as 8192 x 12 = 98, 304 bytes can be represented solely with direct</a:t>
            </a:r>
          </a:p>
          <a:p>
            <a:r>
              <a:rPr lang="en-US" dirty="0"/>
              <a:t>pointers. If the block size is 8K bytes, the single indirect pointer addresses an 8K block that can</a:t>
            </a:r>
          </a:p>
          <a:p>
            <a:r>
              <a:rPr lang="en-US" dirty="0"/>
              <a:t>hold 8192 ÷ 4 = 2048 pointers to data blocks. Thus, the single indirect pointer provides the</a:t>
            </a:r>
          </a:p>
          <a:p>
            <a:r>
              <a:rPr lang="en-US" dirty="0"/>
              <a:t>capability of addressing an additional 2048 x 8192 = 16, 777, 216 bytes or 16 megabytes of</a:t>
            </a:r>
          </a:p>
          <a:p>
            <a:r>
              <a:rPr lang="en-US" dirty="0"/>
              <a:t>information. Double indirect addressing provide 2048 x 2048 pointers with the capability of</a:t>
            </a:r>
          </a:p>
          <a:p>
            <a:r>
              <a:rPr lang="en-US" dirty="0"/>
              <a:t>addressing an additional 32 gigabytes. Triple indirect addressing provides 2048 x 2048 x 2048</a:t>
            </a:r>
          </a:p>
          <a:p>
            <a:r>
              <a:rPr lang="en-US" dirty="0"/>
              <a:t>pointers with the capability of addressing an additional 64 terabytes. However, since 20483 =</a:t>
            </a:r>
          </a:p>
          <a:p>
            <a:r>
              <a:rPr lang="en-US" dirty="0"/>
              <a:t>233, pointers would need to be longer than 4 bytes to fully address this storage.</a:t>
            </a:r>
          </a:p>
        </p:txBody>
      </p:sp>
    </p:spTree>
    <p:extLst>
      <p:ext uri="{BB962C8B-B14F-4D97-AF65-F5344CB8AC3E}">
        <p14:creationId xmlns:p14="http://schemas.microsoft.com/office/powerpoint/2010/main" val="3465481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692</Words>
  <Application>Microsoft Office PowerPoint</Application>
  <PresentationFormat>Widescreen</PresentationFormat>
  <Paragraphs>61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Courier New</vt:lpstr>
      <vt:lpstr>Verdana</vt:lpstr>
      <vt:lpstr>Office Theme</vt:lpstr>
      <vt:lpstr>Disk Management</vt:lpstr>
      <vt:lpstr>File Descriptor Table, System File Table, in-memory Inode Table</vt:lpstr>
      <vt:lpstr>Contd..</vt:lpstr>
      <vt:lpstr>System File Table Shared Entry</vt:lpstr>
      <vt:lpstr>Question?</vt:lpstr>
      <vt:lpstr>System File Table Different Entries</vt:lpstr>
      <vt:lpstr>Structure of Typical UNIX File System</vt:lpstr>
      <vt:lpstr>Unix File System</vt:lpstr>
      <vt:lpstr>Directory Access</vt:lpstr>
      <vt:lpstr>PowerPoint Presentation</vt:lpstr>
      <vt:lpstr>Accessing File Status Information</vt:lpstr>
      <vt:lpstr>Inode Structure</vt:lpstr>
      <vt:lpstr>PowerPoint Presentation</vt:lpstr>
      <vt:lpstr>Exercise </vt:lpstr>
      <vt:lpstr>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Mudassir</dc:creator>
  <cp:lastModifiedBy>Ahmad Mudassir</cp:lastModifiedBy>
  <cp:revision>2</cp:revision>
  <dcterms:created xsi:type="dcterms:W3CDTF">2025-10-07T01:55:16Z</dcterms:created>
  <dcterms:modified xsi:type="dcterms:W3CDTF">2025-10-07T02:34:50Z</dcterms:modified>
</cp:coreProperties>
</file>