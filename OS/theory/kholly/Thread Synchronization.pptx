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303" r:id="rId3"/>
    <p:sldId id="275" r:id="rId4"/>
    <p:sldId id="290" r:id="rId5"/>
    <p:sldId id="260" r:id="rId6"/>
    <p:sldId id="259" r:id="rId7"/>
    <p:sldId id="277" r:id="rId8"/>
    <p:sldId id="261" r:id="rId9"/>
    <p:sldId id="291" r:id="rId10"/>
    <p:sldId id="264" r:id="rId11"/>
    <p:sldId id="266" r:id="rId12"/>
    <p:sldId id="263" r:id="rId13"/>
    <p:sldId id="267" r:id="rId14"/>
    <p:sldId id="268" r:id="rId15"/>
    <p:sldId id="269" r:id="rId16"/>
    <p:sldId id="278" r:id="rId17"/>
    <p:sldId id="270" r:id="rId18"/>
    <p:sldId id="279" r:id="rId19"/>
    <p:sldId id="257" r:id="rId20"/>
    <p:sldId id="271" r:id="rId21"/>
    <p:sldId id="280" r:id="rId22"/>
    <p:sldId id="273"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6" d="100"/>
          <a:sy n="76" d="100"/>
        </p:scale>
        <p:origin x="62" y="1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23CD09-1825-4073-8278-B168427C9704}" type="datetimeFigureOut">
              <a:rPr lang="en-US" smtClean="0"/>
              <a:t>11/5/2025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BA6212-50CE-4CAD-9C0E-D6E6DD56C279}" type="slidenum">
              <a:rPr lang="en-US" smtClean="0"/>
              <a:t>‹#›</a:t>
            </a:fld>
            <a:endParaRPr lang="en-US"/>
          </a:p>
        </p:txBody>
      </p:sp>
    </p:spTree>
    <p:extLst>
      <p:ext uri="{BB962C8B-B14F-4D97-AF65-F5344CB8AC3E}">
        <p14:creationId xmlns:p14="http://schemas.microsoft.com/office/powerpoint/2010/main" val="7860829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6FF6C12-54CE-F1F1-CBC4-D615F3C4007F}"/>
              </a:ext>
            </a:extLst>
          </p:cNvPr>
          <p:cNvSpPr>
            <a:spLocks noGrp="1" noChangeArrowheads="1"/>
          </p:cNvSpPr>
          <p:nvPr>
            <p:ph type="sldNum" sz="quarter" idx="5"/>
          </p:nvPr>
        </p:nvSpPr>
        <p:spPr>
          <a:ln/>
        </p:spPr>
        <p:txBody>
          <a:bodyPr/>
          <a:lstStyle/>
          <a:p>
            <a:fld id="{D2CF1FA1-5059-44A3-817B-7102604ECF23}" type="slidenum">
              <a:rPr lang="en-US" altLang="en-US"/>
              <a:pPr/>
              <a:t>2</a:t>
            </a:fld>
            <a:endParaRPr lang="en-US" altLang="en-US"/>
          </a:p>
        </p:txBody>
      </p:sp>
      <p:sp>
        <p:nvSpPr>
          <p:cNvPr id="65538" name="Rectangle 2">
            <a:extLst>
              <a:ext uri="{FF2B5EF4-FFF2-40B4-BE49-F238E27FC236}">
                <a16:creationId xmlns:a16="http://schemas.microsoft.com/office/drawing/2014/main" id="{4A6CFADC-2BBD-4D84-ED44-BFA83B3FE453}"/>
              </a:ext>
            </a:extLst>
          </p:cNvPr>
          <p:cNvSpPr>
            <a:spLocks noChangeArrowheads="1" noTextEdit="1"/>
          </p:cNvSpPr>
          <p:nvPr>
            <p:ph type="sldImg"/>
          </p:nvPr>
        </p:nvSpPr>
        <p:spPr>
          <a:ln/>
        </p:spPr>
      </p:sp>
      <p:sp>
        <p:nvSpPr>
          <p:cNvPr id="65539" name="Rectangle 3">
            <a:extLst>
              <a:ext uri="{FF2B5EF4-FFF2-40B4-BE49-F238E27FC236}">
                <a16:creationId xmlns:a16="http://schemas.microsoft.com/office/drawing/2014/main" id="{FCD522F9-DD79-6C3D-ECCC-1CF6A546C96C}"/>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A62AF14-1DA5-9C50-1061-D1BDBDBE6D7C}"/>
              </a:ext>
            </a:extLst>
          </p:cNvPr>
          <p:cNvSpPr>
            <a:spLocks noGrp="1" noChangeArrowheads="1"/>
          </p:cNvSpPr>
          <p:nvPr>
            <p:ph type="sldNum" sz="quarter" idx="5"/>
          </p:nvPr>
        </p:nvSpPr>
        <p:spPr>
          <a:ln/>
        </p:spPr>
        <p:txBody>
          <a:bodyPr/>
          <a:lstStyle/>
          <a:p>
            <a:fld id="{79C99A58-838D-42B4-A0B8-824DFFB305ED}" type="slidenum">
              <a:rPr lang="en-US" altLang="en-US"/>
              <a:pPr/>
              <a:t>3</a:t>
            </a:fld>
            <a:endParaRPr lang="en-US" altLang="en-US"/>
          </a:p>
        </p:txBody>
      </p:sp>
      <p:sp>
        <p:nvSpPr>
          <p:cNvPr id="66562" name="Rectangle 2">
            <a:extLst>
              <a:ext uri="{FF2B5EF4-FFF2-40B4-BE49-F238E27FC236}">
                <a16:creationId xmlns:a16="http://schemas.microsoft.com/office/drawing/2014/main" id="{EA303F9D-D6D2-31BD-B7E5-E149893A4C9C}"/>
              </a:ext>
            </a:extLst>
          </p:cNvPr>
          <p:cNvSpPr>
            <a:spLocks noChangeArrowheads="1" noTextEdit="1"/>
          </p:cNvSpPr>
          <p:nvPr>
            <p:ph type="sldImg"/>
          </p:nvPr>
        </p:nvSpPr>
        <p:spPr>
          <a:ln/>
        </p:spPr>
      </p:sp>
      <p:sp>
        <p:nvSpPr>
          <p:cNvPr id="66563" name="Rectangle 3">
            <a:extLst>
              <a:ext uri="{FF2B5EF4-FFF2-40B4-BE49-F238E27FC236}">
                <a16:creationId xmlns:a16="http://schemas.microsoft.com/office/drawing/2014/main" id="{B10EC98C-6B4B-4154-BD89-735BCC8F9BF5}"/>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F348D09-2678-95CD-29BA-C1FD623955A5}"/>
              </a:ext>
            </a:extLst>
          </p:cNvPr>
          <p:cNvSpPr>
            <a:spLocks noGrp="1" noChangeArrowheads="1"/>
          </p:cNvSpPr>
          <p:nvPr>
            <p:ph type="sldNum" sz="quarter" idx="5"/>
          </p:nvPr>
        </p:nvSpPr>
        <p:spPr>
          <a:ln/>
        </p:spPr>
        <p:txBody>
          <a:bodyPr/>
          <a:lstStyle/>
          <a:p>
            <a:fld id="{F50E33AE-C081-487D-99F8-8443DC7CE7BE}" type="slidenum">
              <a:rPr lang="en-US" altLang="en-US"/>
              <a:pPr/>
              <a:t>4</a:t>
            </a:fld>
            <a:endParaRPr lang="en-US" altLang="en-US"/>
          </a:p>
        </p:txBody>
      </p:sp>
      <p:sp>
        <p:nvSpPr>
          <p:cNvPr id="67586" name="Rectangle 2">
            <a:extLst>
              <a:ext uri="{FF2B5EF4-FFF2-40B4-BE49-F238E27FC236}">
                <a16:creationId xmlns:a16="http://schemas.microsoft.com/office/drawing/2014/main" id="{585C3FFF-55D7-D077-7D24-E5F2E857C267}"/>
              </a:ext>
            </a:extLst>
          </p:cNvPr>
          <p:cNvSpPr>
            <a:spLocks noChangeArrowheads="1" noTextEdit="1"/>
          </p:cNvSpPr>
          <p:nvPr>
            <p:ph type="sldImg"/>
          </p:nvPr>
        </p:nvSpPr>
        <p:spPr>
          <a:ln/>
        </p:spPr>
      </p:sp>
      <p:sp>
        <p:nvSpPr>
          <p:cNvPr id="67587" name="Rectangle 3">
            <a:extLst>
              <a:ext uri="{FF2B5EF4-FFF2-40B4-BE49-F238E27FC236}">
                <a16:creationId xmlns:a16="http://schemas.microsoft.com/office/drawing/2014/main" id="{9D217309-56E3-99C6-3F66-5E5F358333C4}"/>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832FAD0-0199-3205-37A1-89EB26275071}"/>
              </a:ext>
            </a:extLst>
          </p:cNvPr>
          <p:cNvSpPr>
            <a:spLocks noGrp="1" noChangeArrowheads="1"/>
          </p:cNvSpPr>
          <p:nvPr>
            <p:ph type="sldNum" sz="quarter" idx="5"/>
          </p:nvPr>
        </p:nvSpPr>
        <p:spPr>
          <a:ln/>
        </p:spPr>
        <p:txBody>
          <a:bodyPr/>
          <a:lstStyle/>
          <a:p>
            <a:fld id="{A11EAF06-67E3-4E52-A463-9E6C3F73AB87}" type="slidenum">
              <a:rPr lang="en-US" altLang="en-US"/>
              <a:pPr/>
              <a:t>5</a:t>
            </a:fld>
            <a:endParaRPr lang="en-US" altLang="en-US"/>
          </a:p>
        </p:txBody>
      </p:sp>
      <p:sp>
        <p:nvSpPr>
          <p:cNvPr id="68610" name="Rectangle 2">
            <a:extLst>
              <a:ext uri="{FF2B5EF4-FFF2-40B4-BE49-F238E27FC236}">
                <a16:creationId xmlns:a16="http://schemas.microsoft.com/office/drawing/2014/main" id="{78513C10-9B37-6785-2D9E-EC36A9570966}"/>
              </a:ext>
            </a:extLst>
          </p:cNvPr>
          <p:cNvSpPr>
            <a:spLocks noChangeArrowheads="1" noTextEdit="1"/>
          </p:cNvSpPr>
          <p:nvPr>
            <p:ph type="sldImg"/>
          </p:nvPr>
        </p:nvSpPr>
        <p:spPr>
          <a:ln/>
        </p:spPr>
      </p:sp>
      <p:sp>
        <p:nvSpPr>
          <p:cNvPr id="68611" name="Rectangle 3">
            <a:extLst>
              <a:ext uri="{FF2B5EF4-FFF2-40B4-BE49-F238E27FC236}">
                <a16:creationId xmlns:a16="http://schemas.microsoft.com/office/drawing/2014/main" id="{0996CA79-B7F7-E400-FCAD-9C2CFF2CDEC6}"/>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7E80E75-E268-7585-A179-82EE4972F8E6}"/>
              </a:ext>
            </a:extLst>
          </p:cNvPr>
          <p:cNvSpPr>
            <a:spLocks noGrp="1" noChangeArrowheads="1"/>
          </p:cNvSpPr>
          <p:nvPr>
            <p:ph type="sldNum" sz="quarter" idx="5"/>
          </p:nvPr>
        </p:nvSpPr>
        <p:spPr>
          <a:ln/>
        </p:spPr>
        <p:txBody>
          <a:bodyPr/>
          <a:lstStyle/>
          <a:p>
            <a:fld id="{765F9F6D-D490-49E3-A20A-605920F684DA}" type="slidenum">
              <a:rPr lang="en-US" altLang="en-US"/>
              <a:pPr/>
              <a:t>6</a:t>
            </a:fld>
            <a:endParaRPr lang="en-US" altLang="en-US"/>
          </a:p>
        </p:txBody>
      </p:sp>
      <p:sp>
        <p:nvSpPr>
          <p:cNvPr id="69634" name="Rectangle 2">
            <a:extLst>
              <a:ext uri="{FF2B5EF4-FFF2-40B4-BE49-F238E27FC236}">
                <a16:creationId xmlns:a16="http://schemas.microsoft.com/office/drawing/2014/main" id="{5530F9E0-002B-9D00-2F5E-3D388E8C9655}"/>
              </a:ext>
            </a:extLst>
          </p:cNvPr>
          <p:cNvSpPr>
            <a:spLocks noChangeArrowheads="1" noTextEdit="1"/>
          </p:cNvSpPr>
          <p:nvPr>
            <p:ph type="sldImg"/>
          </p:nvPr>
        </p:nvSpPr>
        <p:spPr>
          <a:ln/>
        </p:spPr>
      </p:sp>
      <p:sp>
        <p:nvSpPr>
          <p:cNvPr id="69635" name="Rectangle 3">
            <a:extLst>
              <a:ext uri="{FF2B5EF4-FFF2-40B4-BE49-F238E27FC236}">
                <a16:creationId xmlns:a16="http://schemas.microsoft.com/office/drawing/2014/main" id="{D0B49D7A-4F8A-8676-937A-203F3C75A0F3}"/>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B2C69AB-9DFA-9F3C-CB63-71D7F8946F59}"/>
              </a:ext>
            </a:extLst>
          </p:cNvPr>
          <p:cNvSpPr>
            <a:spLocks noGrp="1" noChangeArrowheads="1"/>
          </p:cNvSpPr>
          <p:nvPr>
            <p:ph type="sldNum" sz="quarter" idx="5"/>
          </p:nvPr>
        </p:nvSpPr>
        <p:spPr>
          <a:ln/>
        </p:spPr>
        <p:txBody>
          <a:bodyPr/>
          <a:lstStyle/>
          <a:p>
            <a:fld id="{6E16B31F-3691-40E2-9E7C-C4CDA24CB9AC}" type="slidenum">
              <a:rPr lang="en-US" altLang="en-US"/>
              <a:pPr/>
              <a:t>7</a:t>
            </a:fld>
            <a:endParaRPr lang="en-US" altLang="en-US"/>
          </a:p>
        </p:txBody>
      </p:sp>
      <p:sp>
        <p:nvSpPr>
          <p:cNvPr id="70658" name="Rectangle 2">
            <a:extLst>
              <a:ext uri="{FF2B5EF4-FFF2-40B4-BE49-F238E27FC236}">
                <a16:creationId xmlns:a16="http://schemas.microsoft.com/office/drawing/2014/main" id="{4A037F4C-348C-FCFF-BF8E-65DB8E11A97F}"/>
              </a:ext>
            </a:extLst>
          </p:cNvPr>
          <p:cNvSpPr>
            <a:spLocks noChangeArrowheads="1" noTextEdit="1"/>
          </p:cNvSpPr>
          <p:nvPr>
            <p:ph type="sldImg"/>
          </p:nvPr>
        </p:nvSpPr>
        <p:spPr>
          <a:ln/>
        </p:spPr>
      </p:sp>
      <p:sp>
        <p:nvSpPr>
          <p:cNvPr id="70659" name="Rectangle 3">
            <a:extLst>
              <a:ext uri="{FF2B5EF4-FFF2-40B4-BE49-F238E27FC236}">
                <a16:creationId xmlns:a16="http://schemas.microsoft.com/office/drawing/2014/main" id="{750AB1E1-0C5A-75F2-7B64-15266066EFE0}"/>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F72DFF4-4FB9-F152-5FD7-3A3B07724924}"/>
              </a:ext>
            </a:extLst>
          </p:cNvPr>
          <p:cNvSpPr>
            <a:spLocks noGrp="1" noChangeArrowheads="1"/>
          </p:cNvSpPr>
          <p:nvPr>
            <p:ph type="sldNum" sz="quarter" idx="5"/>
          </p:nvPr>
        </p:nvSpPr>
        <p:spPr>
          <a:ln/>
        </p:spPr>
        <p:txBody>
          <a:bodyPr/>
          <a:lstStyle/>
          <a:p>
            <a:fld id="{05778157-69C3-46AF-A071-26BD177766C6}" type="slidenum">
              <a:rPr lang="en-US" altLang="en-US"/>
              <a:pPr/>
              <a:t>8</a:t>
            </a:fld>
            <a:endParaRPr lang="en-US" altLang="en-US"/>
          </a:p>
        </p:txBody>
      </p:sp>
      <p:sp>
        <p:nvSpPr>
          <p:cNvPr id="48130" name="Rectangle 2">
            <a:extLst>
              <a:ext uri="{FF2B5EF4-FFF2-40B4-BE49-F238E27FC236}">
                <a16:creationId xmlns:a16="http://schemas.microsoft.com/office/drawing/2014/main" id="{A41B2999-C9BE-9BE4-5DB9-26913D21BF45}"/>
              </a:ext>
            </a:extLst>
          </p:cNvPr>
          <p:cNvSpPr>
            <a:spLocks noChangeArrowheads="1" noTextEdit="1"/>
          </p:cNvSpPr>
          <p:nvPr>
            <p:ph type="sldImg"/>
          </p:nvPr>
        </p:nvSpPr>
        <p:spPr>
          <a:ln/>
        </p:spPr>
      </p:sp>
      <p:sp>
        <p:nvSpPr>
          <p:cNvPr id="48131" name="Rectangle 3">
            <a:extLst>
              <a:ext uri="{FF2B5EF4-FFF2-40B4-BE49-F238E27FC236}">
                <a16:creationId xmlns:a16="http://schemas.microsoft.com/office/drawing/2014/main" id="{75F81195-D16C-F227-EE09-8D42A08C930C}"/>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BAD6707-AAEB-E340-589C-17030EA9CB31}"/>
              </a:ext>
            </a:extLst>
          </p:cNvPr>
          <p:cNvSpPr>
            <a:spLocks noGrp="1" noChangeArrowheads="1"/>
          </p:cNvSpPr>
          <p:nvPr>
            <p:ph type="sldNum" sz="quarter" idx="5"/>
          </p:nvPr>
        </p:nvSpPr>
        <p:spPr>
          <a:ln/>
        </p:spPr>
        <p:txBody>
          <a:bodyPr/>
          <a:lstStyle/>
          <a:p>
            <a:fld id="{4C37D3EC-D450-4087-8D77-C7636B72FA21}" type="slidenum">
              <a:rPr lang="en-US" altLang="en-US"/>
              <a:pPr/>
              <a:t>9</a:t>
            </a:fld>
            <a:endParaRPr lang="en-US" altLang="en-US"/>
          </a:p>
        </p:txBody>
      </p:sp>
      <p:sp>
        <p:nvSpPr>
          <p:cNvPr id="49154" name="Rectangle 2">
            <a:extLst>
              <a:ext uri="{FF2B5EF4-FFF2-40B4-BE49-F238E27FC236}">
                <a16:creationId xmlns:a16="http://schemas.microsoft.com/office/drawing/2014/main" id="{E8F8B91B-7C04-555E-7480-F83A0B931710}"/>
              </a:ext>
            </a:extLst>
          </p:cNvPr>
          <p:cNvSpPr>
            <a:spLocks noChangeArrowheads="1" noTextEdit="1"/>
          </p:cNvSpPr>
          <p:nvPr>
            <p:ph type="sldImg"/>
          </p:nvPr>
        </p:nvSpPr>
        <p:spPr>
          <a:ln/>
        </p:spPr>
      </p:sp>
      <p:sp>
        <p:nvSpPr>
          <p:cNvPr id="49155" name="Rectangle 3">
            <a:extLst>
              <a:ext uri="{FF2B5EF4-FFF2-40B4-BE49-F238E27FC236}">
                <a16:creationId xmlns:a16="http://schemas.microsoft.com/office/drawing/2014/main" id="{8703C9C4-011F-A5F6-5FF6-69CF2B467E9A}"/>
              </a:ext>
            </a:extLst>
          </p:cNvPr>
          <p:cNvSpPr>
            <a:spLocks noGrp="1" noChangeArrowheads="1"/>
          </p:cNvSpPr>
          <p:nvPr>
            <p:ph type="body" idx="1"/>
          </p:nvPr>
        </p:nvSpPr>
        <p:spPr/>
        <p:txBody>
          <a:bodyPr/>
          <a:lstStyle/>
          <a:p>
            <a:r>
              <a:rPr lang="en-US" altLang="en-US"/>
              <a:t>Satisfies mutual exclusion, but not progress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60F27ED-583A-9877-AE51-7943BB9C4770}"/>
              </a:ext>
            </a:extLst>
          </p:cNvPr>
          <p:cNvSpPr>
            <a:spLocks noGrp="1" noChangeArrowheads="1"/>
          </p:cNvSpPr>
          <p:nvPr>
            <p:ph type="sldNum" sz="quarter" idx="5"/>
          </p:nvPr>
        </p:nvSpPr>
        <p:spPr>
          <a:ln/>
        </p:spPr>
        <p:txBody>
          <a:bodyPr/>
          <a:lstStyle/>
          <a:p>
            <a:fld id="{589F2908-5EFD-4388-AABB-3BBB835C4387}" type="slidenum">
              <a:rPr lang="en-US" altLang="en-US"/>
              <a:pPr/>
              <a:t>10</a:t>
            </a:fld>
            <a:endParaRPr lang="en-US" altLang="en-US"/>
          </a:p>
        </p:txBody>
      </p:sp>
      <p:sp>
        <p:nvSpPr>
          <p:cNvPr id="47106" name="Rectangle 2">
            <a:extLst>
              <a:ext uri="{FF2B5EF4-FFF2-40B4-BE49-F238E27FC236}">
                <a16:creationId xmlns:a16="http://schemas.microsoft.com/office/drawing/2014/main" id="{0EC20BAD-372E-650E-AEEC-C65E39B14502}"/>
              </a:ext>
            </a:extLst>
          </p:cNvPr>
          <p:cNvSpPr>
            <a:spLocks noChangeArrowheads="1" noTextEdit="1"/>
          </p:cNvSpPr>
          <p:nvPr>
            <p:ph type="sldImg"/>
          </p:nvPr>
        </p:nvSpPr>
        <p:spPr>
          <a:ln/>
        </p:spPr>
      </p:sp>
      <p:sp>
        <p:nvSpPr>
          <p:cNvPr id="47107" name="Rectangle 3">
            <a:extLst>
              <a:ext uri="{FF2B5EF4-FFF2-40B4-BE49-F238E27FC236}">
                <a16:creationId xmlns:a16="http://schemas.microsoft.com/office/drawing/2014/main" id="{6184EEA9-4ADA-7890-A46E-9A2BF1618B3C}"/>
              </a:ext>
            </a:extLst>
          </p:cNvPr>
          <p:cNvSpPr>
            <a:spLocks noGrp="1" noChangeArrowheads="1"/>
          </p:cNvSpPr>
          <p:nvPr>
            <p:ph type="body" idx="1"/>
          </p:nvPr>
        </p:nvSpPr>
        <p:spPr/>
        <p:txBody>
          <a:bodyPr/>
          <a:lstStyle/>
          <a:p>
            <a:r>
              <a:rPr lang="en-US" altLang="en-US"/>
              <a:t>Satisfies mutual exclusion, but not progress requirement.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DF2799F-2F1C-59E3-B6FD-6D49E00CF764}"/>
              </a:ext>
            </a:extLst>
          </p:cNvPr>
          <p:cNvSpPr>
            <a:spLocks noGrp="1" noChangeArrowheads="1"/>
          </p:cNvSpPr>
          <p:nvPr>
            <p:ph type="sldNum" sz="quarter" idx="5"/>
          </p:nvPr>
        </p:nvSpPr>
        <p:spPr>
          <a:ln/>
        </p:spPr>
        <p:txBody>
          <a:bodyPr/>
          <a:lstStyle/>
          <a:p>
            <a:fld id="{015E1CDB-F33A-416D-A423-CE1760CF081A}" type="slidenum">
              <a:rPr lang="en-US" altLang="en-US"/>
              <a:pPr/>
              <a:t>11</a:t>
            </a:fld>
            <a:endParaRPr lang="en-US" altLang="en-US"/>
          </a:p>
        </p:txBody>
      </p:sp>
      <p:sp>
        <p:nvSpPr>
          <p:cNvPr id="50178" name="Rectangle 2">
            <a:extLst>
              <a:ext uri="{FF2B5EF4-FFF2-40B4-BE49-F238E27FC236}">
                <a16:creationId xmlns:a16="http://schemas.microsoft.com/office/drawing/2014/main" id="{4BA173CA-BE4C-8BB2-C955-0A2576D3F2E2}"/>
              </a:ext>
            </a:extLst>
          </p:cNvPr>
          <p:cNvSpPr>
            <a:spLocks noChangeArrowheads="1" noTextEdit="1"/>
          </p:cNvSpPr>
          <p:nvPr>
            <p:ph type="sldImg"/>
          </p:nvPr>
        </p:nvSpPr>
        <p:spPr>
          <a:ln/>
        </p:spPr>
      </p:sp>
      <p:sp>
        <p:nvSpPr>
          <p:cNvPr id="50179" name="Rectangle 3">
            <a:extLst>
              <a:ext uri="{FF2B5EF4-FFF2-40B4-BE49-F238E27FC236}">
                <a16:creationId xmlns:a16="http://schemas.microsoft.com/office/drawing/2014/main" id="{25B99598-660B-065D-165E-DCE411B76D70}"/>
              </a:ext>
            </a:extLst>
          </p:cNvPr>
          <p:cNvSpPr>
            <a:spLocks noGrp="1" noChangeArrowheads="1"/>
          </p:cNvSpPr>
          <p:nvPr>
            <p:ph type="body" idx="1"/>
          </p:nvPr>
        </p:nvSpPr>
        <p:spPr/>
        <p:txBody>
          <a:bodyPr/>
          <a:lstStyle/>
          <a:p>
            <a:r>
              <a:rPr lang="en-US" altLang="en-US"/>
              <a:t>Meets all three requirements; solves the critical-section problem for two processes.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31F48B4-8634-035A-A338-CCADFDEE07B9}"/>
              </a:ext>
            </a:extLst>
          </p:cNvPr>
          <p:cNvSpPr>
            <a:spLocks noGrp="1" noChangeArrowheads="1"/>
          </p:cNvSpPr>
          <p:nvPr>
            <p:ph type="sldNum" sz="quarter" idx="5"/>
          </p:nvPr>
        </p:nvSpPr>
        <p:spPr>
          <a:ln/>
        </p:spPr>
        <p:txBody>
          <a:bodyPr/>
          <a:lstStyle/>
          <a:p>
            <a:fld id="{F196726E-0C3E-43BF-BF43-0CF814F49EE2}" type="slidenum">
              <a:rPr lang="en-US" altLang="en-US"/>
              <a:pPr/>
              <a:t>12</a:t>
            </a:fld>
            <a:endParaRPr lang="en-US" altLang="en-US"/>
          </a:p>
        </p:txBody>
      </p:sp>
      <p:sp>
        <p:nvSpPr>
          <p:cNvPr id="71682" name="Rectangle 2">
            <a:extLst>
              <a:ext uri="{FF2B5EF4-FFF2-40B4-BE49-F238E27FC236}">
                <a16:creationId xmlns:a16="http://schemas.microsoft.com/office/drawing/2014/main" id="{4150CF54-1590-F9D2-7799-0363C5F4F40C}"/>
              </a:ext>
            </a:extLst>
          </p:cNvPr>
          <p:cNvSpPr>
            <a:spLocks noChangeArrowheads="1" noTextEdit="1"/>
          </p:cNvSpPr>
          <p:nvPr>
            <p:ph type="sldImg"/>
          </p:nvPr>
        </p:nvSpPr>
        <p:spPr>
          <a:ln/>
        </p:spPr>
      </p:sp>
      <p:sp>
        <p:nvSpPr>
          <p:cNvPr id="71683" name="Rectangle 3">
            <a:extLst>
              <a:ext uri="{FF2B5EF4-FFF2-40B4-BE49-F238E27FC236}">
                <a16:creationId xmlns:a16="http://schemas.microsoft.com/office/drawing/2014/main" id="{8B32DE78-0826-1689-A3B5-965C413FD7DF}"/>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9D9652D-F5A0-AE84-1D2F-BB32FB29C791}"/>
              </a:ext>
            </a:extLst>
          </p:cNvPr>
          <p:cNvSpPr>
            <a:spLocks noGrp="1" noChangeArrowheads="1"/>
          </p:cNvSpPr>
          <p:nvPr>
            <p:ph type="sldNum" sz="quarter" idx="5"/>
          </p:nvPr>
        </p:nvSpPr>
        <p:spPr>
          <a:ln/>
        </p:spPr>
        <p:txBody>
          <a:bodyPr/>
          <a:lstStyle/>
          <a:p>
            <a:fld id="{C35A1CA3-F316-47C3-8AB6-06261764A764}" type="slidenum">
              <a:rPr lang="en-US" altLang="en-US"/>
              <a:pPr/>
              <a:t>13</a:t>
            </a:fld>
            <a:endParaRPr lang="en-US" altLang="en-US"/>
          </a:p>
        </p:txBody>
      </p:sp>
      <p:sp>
        <p:nvSpPr>
          <p:cNvPr id="72706" name="Rectangle 2">
            <a:extLst>
              <a:ext uri="{FF2B5EF4-FFF2-40B4-BE49-F238E27FC236}">
                <a16:creationId xmlns:a16="http://schemas.microsoft.com/office/drawing/2014/main" id="{51719136-77C1-6A6C-AEF7-9CAFCD70B7D9}"/>
              </a:ext>
            </a:extLst>
          </p:cNvPr>
          <p:cNvSpPr>
            <a:spLocks noChangeArrowheads="1" noTextEdit="1"/>
          </p:cNvSpPr>
          <p:nvPr>
            <p:ph type="sldImg"/>
          </p:nvPr>
        </p:nvSpPr>
        <p:spPr>
          <a:ln/>
        </p:spPr>
      </p:sp>
      <p:sp>
        <p:nvSpPr>
          <p:cNvPr id="72707" name="Rectangle 3">
            <a:extLst>
              <a:ext uri="{FF2B5EF4-FFF2-40B4-BE49-F238E27FC236}">
                <a16:creationId xmlns:a16="http://schemas.microsoft.com/office/drawing/2014/main" id="{46C91EEE-CBD9-7F8C-8061-B7F1E1DB2764}"/>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F2F5335-F8A4-BB4F-AE86-C9D79C63390E}"/>
              </a:ext>
            </a:extLst>
          </p:cNvPr>
          <p:cNvSpPr>
            <a:spLocks noGrp="1" noChangeArrowheads="1"/>
          </p:cNvSpPr>
          <p:nvPr>
            <p:ph type="sldNum" sz="quarter" idx="5"/>
          </p:nvPr>
        </p:nvSpPr>
        <p:spPr>
          <a:ln/>
        </p:spPr>
        <p:txBody>
          <a:bodyPr/>
          <a:lstStyle/>
          <a:p>
            <a:fld id="{D9569BDD-F630-4A40-89BF-176BF9E7F580}" type="slidenum">
              <a:rPr lang="en-US" altLang="en-US"/>
              <a:pPr/>
              <a:t>14</a:t>
            </a:fld>
            <a:endParaRPr lang="en-US" altLang="en-US"/>
          </a:p>
        </p:txBody>
      </p:sp>
      <p:sp>
        <p:nvSpPr>
          <p:cNvPr id="73730" name="Rectangle 2">
            <a:extLst>
              <a:ext uri="{FF2B5EF4-FFF2-40B4-BE49-F238E27FC236}">
                <a16:creationId xmlns:a16="http://schemas.microsoft.com/office/drawing/2014/main" id="{F47C7CE0-DB4A-247B-95A5-9718DE761E9C}"/>
              </a:ext>
            </a:extLst>
          </p:cNvPr>
          <p:cNvSpPr>
            <a:spLocks noChangeArrowheads="1" noTextEdit="1"/>
          </p:cNvSpPr>
          <p:nvPr>
            <p:ph type="sldImg"/>
          </p:nvPr>
        </p:nvSpPr>
        <p:spPr>
          <a:ln/>
        </p:spPr>
      </p:sp>
      <p:sp>
        <p:nvSpPr>
          <p:cNvPr id="73731" name="Rectangle 3">
            <a:extLst>
              <a:ext uri="{FF2B5EF4-FFF2-40B4-BE49-F238E27FC236}">
                <a16:creationId xmlns:a16="http://schemas.microsoft.com/office/drawing/2014/main" id="{F2A2E2B9-DED7-8F2A-4BED-1137ABF08032}"/>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0F9CEEA-0248-A8EA-EB7C-7926E0EFD947}"/>
              </a:ext>
            </a:extLst>
          </p:cNvPr>
          <p:cNvSpPr>
            <a:spLocks noGrp="1" noChangeArrowheads="1"/>
          </p:cNvSpPr>
          <p:nvPr>
            <p:ph type="sldNum" sz="quarter" idx="5"/>
          </p:nvPr>
        </p:nvSpPr>
        <p:spPr>
          <a:ln/>
        </p:spPr>
        <p:txBody>
          <a:bodyPr/>
          <a:lstStyle/>
          <a:p>
            <a:fld id="{80A3845A-7324-4826-A54F-BE79F544939A}" type="slidenum">
              <a:rPr lang="en-US" altLang="en-US"/>
              <a:pPr/>
              <a:t>15</a:t>
            </a:fld>
            <a:endParaRPr lang="en-US" altLang="en-US"/>
          </a:p>
        </p:txBody>
      </p:sp>
      <p:sp>
        <p:nvSpPr>
          <p:cNvPr id="74754" name="Rectangle 2">
            <a:extLst>
              <a:ext uri="{FF2B5EF4-FFF2-40B4-BE49-F238E27FC236}">
                <a16:creationId xmlns:a16="http://schemas.microsoft.com/office/drawing/2014/main" id="{CA0A03F2-84DF-6D3A-2732-A4B4E44982B8}"/>
              </a:ext>
            </a:extLst>
          </p:cNvPr>
          <p:cNvSpPr>
            <a:spLocks noChangeArrowheads="1" noTextEdit="1"/>
          </p:cNvSpPr>
          <p:nvPr>
            <p:ph type="sldImg"/>
          </p:nvPr>
        </p:nvSpPr>
        <p:spPr>
          <a:ln/>
        </p:spPr>
      </p:sp>
      <p:sp>
        <p:nvSpPr>
          <p:cNvPr id="74755" name="Rectangle 3">
            <a:extLst>
              <a:ext uri="{FF2B5EF4-FFF2-40B4-BE49-F238E27FC236}">
                <a16:creationId xmlns:a16="http://schemas.microsoft.com/office/drawing/2014/main" id="{08F003DE-B4F2-F0F9-1664-D94D94E333A5}"/>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462678A-A1BF-C6C2-686F-FAC1795E122A}"/>
              </a:ext>
            </a:extLst>
          </p:cNvPr>
          <p:cNvSpPr>
            <a:spLocks noGrp="1" noChangeArrowheads="1"/>
          </p:cNvSpPr>
          <p:nvPr>
            <p:ph type="sldNum" sz="quarter" idx="5"/>
          </p:nvPr>
        </p:nvSpPr>
        <p:spPr>
          <a:ln/>
        </p:spPr>
        <p:txBody>
          <a:bodyPr/>
          <a:lstStyle/>
          <a:p>
            <a:fld id="{3FD6FEC8-8498-40E0-97AE-F361CFC015E1}" type="slidenum">
              <a:rPr lang="en-US" altLang="en-US"/>
              <a:pPr/>
              <a:t>16</a:t>
            </a:fld>
            <a:endParaRPr lang="en-US" altLang="en-US"/>
          </a:p>
        </p:txBody>
      </p:sp>
      <p:sp>
        <p:nvSpPr>
          <p:cNvPr id="75778" name="Rectangle 2">
            <a:extLst>
              <a:ext uri="{FF2B5EF4-FFF2-40B4-BE49-F238E27FC236}">
                <a16:creationId xmlns:a16="http://schemas.microsoft.com/office/drawing/2014/main" id="{389C28AA-9B9B-9CD6-9451-FFFDF80ABA45}"/>
              </a:ext>
            </a:extLst>
          </p:cNvPr>
          <p:cNvSpPr>
            <a:spLocks noChangeArrowheads="1" noTextEdit="1"/>
          </p:cNvSpPr>
          <p:nvPr>
            <p:ph type="sldImg"/>
          </p:nvPr>
        </p:nvSpPr>
        <p:spPr>
          <a:ln/>
        </p:spPr>
      </p:sp>
      <p:sp>
        <p:nvSpPr>
          <p:cNvPr id="75779" name="Rectangle 3">
            <a:extLst>
              <a:ext uri="{FF2B5EF4-FFF2-40B4-BE49-F238E27FC236}">
                <a16:creationId xmlns:a16="http://schemas.microsoft.com/office/drawing/2014/main" id="{08BEC9A6-7BA6-8687-B6A3-5E869E78FCCC}"/>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FE3F42E-899B-3F3C-2325-559C47345573}"/>
              </a:ext>
            </a:extLst>
          </p:cNvPr>
          <p:cNvSpPr>
            <a:spLocks noGrp="1" noChangeArrowheads="1"/>
          </p:cNvSpPr>
          <p:nvPr>
            <p:ph type="sldNum" sz="quarter" idx="5"/>
          </p:nvPr>
        </p:nvSpPr>
        <p:spPr>
          <a:ln/>
        </p:spPr>
        <p:txBody>
          <a:bodyPr/>
          <a:lstStyle/>
          <a:p>
            <a:fld id="{52DFDC86-2978-424D-96B7-AF0A06357070}" type="slidenum">
              <a:rPr lang="en-US" altLang="en-US"/>
              <a:pPr/>
              <a:t>17</a:t>
            </a:fld>
            <a:endParaRPr lang="en-US" altLang="en-US"/>
          </a:p>
        </p:txBody>
      </p:sp>
      <p:sp>
        <p:nvSpPr>
          <p:cNvPr id="76802" name="Rectangle 2">
            <a:extLst>
              <a:ext uri="{FF2B5EF4-FFF2-40B4-BE49-F238E27FC236}">
                <a16:creationId xmlns:a16="http://schemas.microsoft.com/office/drawing/2014/main" id="{7777CA55-830D-FBDA-3656-59122FF1E742}"/>
              </a:ext>
            </a:extLst>
          </p:cNvPr>
          <p:cNvSpPr>
            <a:spLocks noChangeArrowheads="1" noTextEdit="1"/>
          </p:cNvSpPr>
          <p:nvPr>
            <p:ph type="sldImg"/>
          </p:nvPr>
        </p:nvSpPr>
        <p:spPr>
          <a:ln/>
        </p:spPr>
      </p:sp>
      <p:sp>
        <p:nvSpPr>
          <p:cNvPr id="76803" name="Rectangle 3">
            <a:extLst>
              <a:ext uri="{FF2B5EF4-FFF2-40B4-BE49-F238E27FC236}">
                <a16:creationId xmlns:a16="http://schemas.microsoft.com/office/drawing/2014/main" id="{D8514C20-6775-BE56-A05B-757BBD2B34D6}"/>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0182BD8-E86B-1C59-0849-C5FF8B1A78EB}"/>
              </a:ext>
            </a:extLst>
          </p:cNvPr>
          <p:cNvSpPr>
            <a:spLocks noGrp="1" noChangeArrowheads="1"/>
          </p:cNvSpPr>
          <p:nvPr>
            <p:ph type="sldNum" sz="quarter" idx="5"/>
          </p:nvPr>
        </p:nvSpPr>
        <p:spPr>
          <a:ln/>
        </p:spPr>
        <p:txBody>
          <a:bodyPr/>
          <a:lstStyle/>
          <a:p>
            <a:fld id="{90F4CAF8-2789-4ADB-88C4-F4AE96F1ABF3}" type="slidenum">
              <a:rPr lang="en-US" altLang="en-US"/>
              <a:pPr/>
              <a:t>18</a:t>
            </a:fld>
            <a:endParaRPr lang="en-US" altLang="en-US"/>
          </a:p>
        </p:txBody>
      </p:sp>
      <p:sp>
        <p:nvSpPr>
          <p:cNvPr id="77826" name="Rectangle 2">
            <a:extLst>
              <a:ext uri="{FF2B5EF4-FFF2-40B4-BE49-F238E27FC236}">
                <a16:creationId xmlns:a16="http://schemas.microsoft.com/office/drawing/2014/main" id="{09FCE0F2-9901-E23C-E7BE-0BB52768D41B}"/>
              </a:ext>
            </a:extLst>
          </p:cNvPr>
          <p:cNvSpPr>
            <a:spLocks noChangeArrowheads="1" noTextEdit="1"/>
          </p:cNvSpPr>
          <p:nvPr>
            <p:ph type="sldImg"/>
          </p:nvPr>
        </p:nvSpPr>
        <p:spPr>
          <a:ln/>
        </p:spPr>
      </p:sp>
      <p:sp>
        <p:nvSpPr>
          <p:cNvPr id="77827" name="Rectangle 3">
            <a:extLst>
              <a:ext uri="{FF2B5EF4-FFF2-40B4-BE49-F238E27FC236}">
                <a16:creationId xmlns:a16="http://schemas.microsoft.com/office/drawing/2014/main" id="{1E5F5F02-B8C9-F801-2108-88F153C8DDC1}"/>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72DE3A4-BCA9-48FE-5F0B-B1741E63AD0F}"/>
              </a:ext>
            </a:extLst>
          </p:cNvPr>
          <p:cNvSpPr>
            <a:spLocks noGrp="1" noChangeArrowheads="1"/>
          </p:cNvSpPr>
          <p:nvPr>
            <p:ph type="sldNum" sz="quarter" idx="5"/>
          </p:nvPr>
        </p:nvSpPr>
        <p:spPr>
          <a:ln/>
        </p:spPr>
        <p:txBody>
          <a:bodyPr/>
          <a:lstStyle/>
          <a:p>
            <a:fld id="{400D2B0C-F26E-4090-9B87-DCE340308810}" type="slidenum">
              <a:rPr lang="en-US" altLang="en-US"/>
              <a:pPr/>
              <a:t>19</a:t>
            </a:fld>
            <a:endParaRPr lang="en-US" altLang="en-US"/>
          </a:p>
        </p:txBody>
      </p:sp>
      <p:sp>
        <p:nvSpPr>
          <p:cNvPr id="78850" name="Rectangle 2">
            <a:extLst>
              <a:ext uri="{FF2B5EF4-FFF2-40B4-BE49-F238E27FC236}">
                <a16:creationId xmlns:a16="http://schemas.microsoft.com/office/drawing/2014/main" id="{7153EBE3-99CD-A81A-A1B7-BA9DEF365580}"/>
              </a:ext>
            </a:extLst>
          </p:cNvPr>
          <p:cNvSpPr>
            <a:spLocks noChangeArrowheads="1" noTextEdit="1"/>
          </p:cNvSpPr>
          <p:nvPr>
            <p:ph type="sldImg"/>
          </p:nvPr>
        </p:nvSpPr>
        <p:spPr>
          <a:ln/>
        </p:spPr>
      </p:sp>
      <p:sp>
        <p:nvSpPr>
          <p:cNvPr id="78851" name="Rectangle 3">
            <a:extLst>
              <a:ext uri="{FF2B5EF4-FFF2-40B4-BE49-F238E27FC236}">
                <a16:creationId xmlns:a16="http://schemas.microsoft.com/office/drawing/2014/main" id="{7CBD62D7-E661-FCBB-C975-11406EAF3A34}"/>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36830CB-5169-D782-7DFA-E7231A6812FD}"/>
              </a:ext>
            </a:extLst>
          </p:cNvPr>
          <p:cNvSpPr>
            <a:spLocks noGrp="1" noChangeArrowheads="1"/>
          </p:cNvSpPr>
          <p:nvPr>
            <p:ph type="sldNum" sz="quarter" idx="5"/>
          </p:nvPr>
        </p:nvSpPr>
        <p:spPr>
          <a:ln/>
        </p:spPr>
        <p:txBody>
          <a:bodyPr/>
          <a:lstStyle/>
          <a:p>
            <a:fld id="{E317C1B9-FB54-4812-9DB5-3F18344CC080}" type="slidenum">
              <a:rPr lang="en-US" altLang="en-US"/>
              <a:pPr/>
              <a:t>20</a:t>
            </a:fld>
            <a:endParaRPr lang="en-US" altLang="en-US"/>
          </a:p>
        </p:txBody>
      </p:sp>
      <p:sp>
        <p:nvSpPr>
          <p:cNvPr id="79874" name="Rectangle 2">
            <a:extLst>
              <a:ext uri="{FF2B5EF4-FFF2-40B4-BE49-F238E27FC236}">
                <a16:creationId xmlns:a16="http://schemas.microsoft.com/office/drawing/2014/main" id="{E4F8FFFC-0C45-3F5F-3F12-470452F5C9DE}"/>
              </a:ext>
            </a:extLst>
          </p:cNvPr>
          <p:cNvSpPr>
            <a:spLocks noChangeArrowheads="1" noTextEdit="1"/>
          </p:cNvSpPr>
          <p:nvPr>
            <p:ph type="sldImg"/>
          </p:nvPr>
        </p:nvSpPr>
        <p:spPr>
          <a:ln/>
        </p:spPr>
      </p:sp>
      <p:sp>
        <p:nvSpPr>
          <p:cNvPr id="79875" name="Rectangle 3">
            <a:extLst>
              <a:ext uri="{FF2B5EF4-FFF2-40B4-BE49-F238E27FC236}">
                <a16:creationId xmlns:a16="http://schemas.microsoft.com/office/drawing/2014/main" id="{4FFD4A15-E217-07AE-CCFB-1A8248D30660}"/>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8FEB816-83EF-BA96-BE74-D8C59B7514F0}"/>
              </a:ext>
            </a:extLst>
          </p:cNvPr>
          <p:cNvSpPr>
            <a:spLocks noGrp="1" noChangeArrowheads="1"/>
          </p:cNvSpPr>
          <p:nvPr>
            <p:ph type="sldNum" sz="quarter" idx="5"/>
          </p:nvPr>
        </p:nvSpPr>
        <p:spPr>
          <a:ln/>
        </p:spPr>
        <p:txBody>
          <a:bodyPr/>
          <a:lstStyle/>
          <a:p>
            <a:fld id="{17D05A22-55A6-4FE5-9981-FF59C0D113DC}" type="slidenum">
              <a:rPr lang="en-US" altLang="en-US"/>
              <a:pPr/>
              <a:t>21</a:t>
            </a:fld>
            <a:endParaRPr lang="en-US" altLang="en-US"/>
          </a:p>
        </p:txBody>
      </p:sp>
      <p:sp>
        <p:nvSpPr>
          <p:cNvPr id="80898" name="Rectangle 2">
            <a:extLst>
              <a:ext uri="{FF2B5EF4-FFF2-40B4-BE49-F238E27FC236}">
                <a16:creationId xmlns:a16="http://schemas.microsoft.com/office/drawing/2014/main" id="{D43D65EF-F2B8-D642-108C-C216EDD2ED74}"/>
              </a:ext>
            </a:extLst>
          </p:cNvPr>
          <p:cNvSpPr>
            <a:spLocks noChangeArrowheads="1" noTextEdit="1"/>
          </p:cNvSpPr>
          <p:nvPr>
            <p:ph type="sldImg"/>
          </p:nvPr>
        </p:nvSpPr>
        <p:spPr>
          <a:ln/>
        </p:spPr>
      </p:sp>
      <p:sp>
        <p:nvSpPr>
          <p:cNvPr id="80899" name="Rectangle 3">
            <a:extLst>
              <a:ext uri="{FF2B5EF4-FFF2-40B4-BE49-F238E27FC236}">
                <a16:creationId xmlns:a16="http://schemas.microsoft.com/office/drawing/2014/main" id="{9A1442F9-39EB-4628-6DE0-15F15973EBDA}"/>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4C3C74B-C8BD-FD65-7834-387B7E3D8E0B}"/>
              </a:ext>
            </a:extLst>
          </p:cNvPr>
          <p:cNvSpPr>
            <a:spLocks noGrp="1" noChangeArrowheads="1"/>
          </p:cNvSpPr>
          <p:nvPr>
            <p:ph type="sldNum" sz="quarter" idx="5"/>
          </p:nvPr>
        </p:nvSpPr>
        <p:spPr>
          <a:ln/>
        </p:spPr>
        <p:txBody>
          <a:bodyPr/>
          <a:lstStyle/>
          <a:p>
            <a:fld id="{094A50BD-9C8B-495E-B2F4-E3ACC53E70DF}" type="slidenum">
              <a:rPr lang="en-US" altLang="en-US"/>
              <a:pPr/>
              <a:t>22</a:t>
            </a:fld>
            <a:endParaRPr lang="en-US" altLang="en-US"/>
          </a:p>
        </p:txBody>
      </p:sp>
      <p:sp>
        <p:nvSpPr>
          <p:cNvPr id="81922" name="Rectangle 2">
            <a:extLst>
              <a:ext uri="{FF2B5EF4-FFF2-40B4-BE49-F238E27FC236}">
                <a16:creationId xmlns:a16="http://schemas.microsoft.com/office/drawing/2014/main" id="{230FCDEC-3BB2-9EFF-966D-342DF2F18000}"/>
              </a:ext>
            </a:extLst>
          </p:cNvPr>
          <p:cNvSpPr>
            <a:spLocks noChangeArrowheads="1" noTextEdit="1"/>
          </p:cNvSpPr>
          <p:nvPr>
            <p:ph type="sldImg"/>
          </p:nvPr>
        </p:nvSpPr>
        <p:spPr>
          <a:ln/>
        </p:spPr>
      </p:sp>
      <p:sp>
        <p:nvSpPr>
          <p:cNvPr id="81923" name="Rectangle 3">
            <a:extLst>
              <a:ext uri="{FF2B5EF4-FFF2-40B4-BE49-F238E27FC236}">
                <a16:creationId xmlns:a16="http://schemas.microsoft.com/office/drawing/2014/main" id="{ACC145C4-87D3-B38F-79A9-904DB2109356}"/>
              </a:ext>
            </a:extLst>
          </p:cNvPr>
          <p:cNvSpPr>
            <a:spLocks noGrp="1" noChangeArrowheads="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5197E-2540-E802-DD58-F9559D229CA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A98F526-F833-31D2-2040-5597A37267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91FAA78-BDC9-AD74-F232-BC8684CB173A}"/>
              </a:ext>
            </a:extLst>
          </p:cNvPr>
          <p:cNvSpPr>
            <a:spLocks noGrp="1"/>
          </p:cNvSpPr>
          <p:nvPr>
            <p:ph type="dt" sz="half" idx="10"/>
          </p:nvPr>
        </p:nvSpPr>
        <p:spPr/>
        <p:txBody>
          <a:bodyPr/>
          <a:lstStyle/>
          <a:p>
            <a:fld id="{6591E5C4-CD92-44AD-B274-EED42B557DFD}" type="datetimeFigureOut">
              <a:rPr lang="en-US" smtClean="0"/>
              <a:t>11/5/2025</a:t>
            </a:fld>
            <a:endParaRPr lang="en-US"/>
          </a:p>
        </p:txBody>
      </p:sp>
      <p:sp>
        <p:nvSpPr>
          <p:cNvPr id="5" name="Footer Placeholder 4">
            <a:extLst>
              <a:ext uri="{FF2B5EF4-FFF2-40B4-BE49-F238E27FC236}">
                <a16:creationId xmlns:a16="http://schemas.microsoft.com/office/drawing/2014/main" id="{BF2CA8AA-0970-17EC-0EBD-7A0D34504E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76A4C6-E77D-4D39-C98B-876EA1CE5F88}"/>
              </a:ext>
            </a:extLst>
          </p:cNvPr>
          <p:cNvSpPr>
            <a:spLocks noGrp="1"/>
          </p:cNvSpPr>
          <p:nvPr>
            <p:ph type="sldNum" sz="quarter" idx="12"/>
          </p:nvPr>
        </p:nvSpPr>
        <p:spPr/>
        <p:txBody>
          <a:bodyPr/>
          <a:lstStyle/>
          <a:p>
            <a:fld id="{EC3ADD74-08B0-45A2-A81D-ACC9499DA611}" type="slidenum">
              <a:rPr lang="en-US" smtClean="0"/>
              <a:t>‹#›</a:t>
            </a:fld>
            <a:endParaRPr lang="en-US"/>
          </a:p>
        </p:txBody>
      </p:sp>
    </p:spTree>
    <p:extLst>
      <p:ext uri="{BB962C8B-B14F-4D97-AF65-F5344CB8AC3E}">
        <p14:creationId xmlns:p14="http://schemas.microsoft.com/office/powerpoint/2010/main" val="18289521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A77D6-E273-5645-D3C6-6B3D4DC3F1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FE5A8E7-52E4-3819-CFCB-8B9265C732E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05543D-D9C9-911D-C848-77A75FDB1AC6}"/>
              </a:ext>
            </a:extLst>
          </p:cNvPr>
          <p:cNvSpPr>
            <a:spLocks noGrp="1"/>
          </p:cNvSpPr>
          <p:nvPr>
            <p:ph type="dt" sz="half" idx="10"/>
          </p:nvPr>
        </p:nvSpPr>
        <p:spPr/>
        <p:txBody>
          <a:bodyPr/>
          <a:lstStyle/>
          <a:p>
            <a:fld id="{6591E5C4-CD92-44AD-B274-EED42B557DFD}" type="datetimeFigureOut">
              <a:rPr lang="en-US" smtClean="0"/>
              <a:t>11/5/2025</a:t>
            </a:fld>
            <a:endParaRPr lang="en-US"/>
          </a:p>
        </p:txBody>
      </p:sp>
      <p:sp>
        <p:nvSpPr>
          <p:cNvPr id="5" name="Footer Placeholder 4">
            <a:extLst>
              <a:ext uri="{FF2B5EF4-FFF2-40B4-BE49-F238E27FC236}">
                <a16:creationId xmlns:a16="http://schemas.microsoft.com/office/drawing/2014/main" id="{9EE91191-3686-FAF6-70B5-C8345FBAB8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BC1BAF-76F2-2C60-4979-690AE05BFB13}"/>
              </a:ext>
            </a:extLst>
          </p:cNvPr>
          <p:cNvSpPr>
            <a:spLocks noGrp="1"/>
          </p:cNvSpPr>
          <p:nvPr>
            <p:ph type="sldNum" sz="quarter" idx="12"/>
          </p:nvPr>
        </p:nvSpPr>
        <p:spPr/>
        <p:txBody>
          <a:bodyPr/>
          <a:lstStyle/>
          <a:p>
            <a:fld id="{EC3ADD74-08B0-45A2-A81D-ACC9499DA611}" type="slidenum">
              <a:rPr lang="en-US" smtClean="0"/>
              <a:t>‹#›</a:t>
            </a:fld>
            <a:endParaRPr lang="en-US"/>
          </a:p>
        </p:txBody>
      </p:sp>
    </p:spTree>
    <p:extLst>
      <p:ext uri="{BB962C8B-B14F-4D97-AF65-F5344CB8AC3E}">
        <p14:creationId xmlns:p14="http://schemas.microsoft.com/office/powerpoint/2010/main" val="20233291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F9319-6EE7-3171-E015-54B5D1081A9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4026222-A112-51BE-C440-01E038D5FA6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81062AD-A922-9EFB-AD21-4BA980B1C843}"/>
              </a:ext>
            </a:extLst>
          </p:cNvPr>
          <p:cNvSpPr>
            <a:spLocks noGrp="1"/>
          </p:cNvSpPr>
          <p:nvPr>
            <p:ph type="dt" sz="half" idx="10"/>
          </p:nvPr>
        </p:nvSpPr>
        <p:spPr/>
        <p:txBody>
          <a:bodyPr/>
          <a:lstStyle/>
          <a:p>
            <a:fld id="{6591E5C4-CD92-44AD-B274-EED42B557DFD}" type="datetimeFigureOut">
              <a:rPr lang="en-US" smtClean="0"/>
              <a:t>11/5/2025</a:t>
            </a:fld>
            <a:endParaRPr lang="en-US"/>
          </a:p>
        </p:txBody>
      </p:sp>
      <p:sp>
        <p:nvSpPr>
          <p:cNvPr id="5" name="Footer Placeholder 4">
            <a:extLst>
              <a:ext uri="{FF2B5EF4-FFF2-40B4-BE49-F238E27FC236}">
                <a16:creationId xmlns:a16="http://schemas.microsoft.com/office/drawing/2014/main" id="{F7E024E8-560B-B9EB-1244-B52CED79B4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957013-900E-580B-16EB-2A015B863022}"/>
              </a:ext>
            </a:extLst>
          </p:cNvPr>
          <p:cNvSpPr>
            <a:spLocks noGrp="1"/>
          </p:cNvSpPr>
          <p:nvPr>
            <p:ph type="sldNum" sz="quarter" idx="12"/>
          </p:nvPr>
        </p:nvSpPr>
        <p:spPr/>
        <p:txBody>
          <a:bodyPr/>
          <a:lstStyle/>
          <a:p>
            <a:fld id="{EC3ADD74-08B0-45A2-A81D-ACC9499DA611}" type="slidenum">
              <a:rPr lang="en-US" smtClean="0"/>
              <a:t>‹#›</a:t>
            </a:fld>
            <a:endParaRPr lang="en-US"/>
          </a:p>
        </p:txBody>
      </p:sp>
    </p:spTree>
    <p:extLst>
      <p:ext uri="{BB962C8B-B14F-4D97-AF65-F5344CB8AC3E}">
        <p14:creationId xmlns:p14="http://schemas.microsoft.com/office/powerpoint/2010/main" val="3079496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01165-FB76-A996-4642-5A12D0CD96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4C6416D-FF9A-621B-335E-FE3A2073519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BFA82CC-C71C-E805-AC56-716A88A681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398FC79-9E4E-D27A-2F7C-8DD51910138A}"/>
              </a:ext>
            </a:extLst>
          </p:cNvPr>
          <p:cNvSpPr>
            <a:spLocks noGrp="1"/>
          </p:cNvSpPr>
          <p:nvPr>
            <p:ph type="dt" sz="half" idx="10"/>
          </p:nvPr>
        </p:nvSpPr>
        <p:spPr/>
        <p:txBody>
          <a:bodyPr/>
          <a:lstStyle/>
          <a:p>
            <a:fld id="{6591E5C4-CD92-44AD-B274-EED42B557DFD}" type="datetimeFigureOut">
              <a:rPr lang="en-US" smtClean="0"/>
              <a:t>11/5/2025</a:t>
            </a:fld>
            <a:endParaRPr lang="en-US"/>
          </a:p>
        </p:txBody>
      </p:sp>
      <p:sp>
        <p:nvSpPr>
          <p:cNvPr id="6" name="Footer Placeholder 5">
            <a:extLst>
              <a:ext uri="{FF2B5EF4-FFF2-40B4-BE49-F238E27FC236}">
                <a16:creationId xmlns:a16="http://schemas.microsoft.com/office/drawing/2014/main" id="{A64A40C3-1C48-B086-5699-184C85372E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2C6BFF-B1B1-B368-CD01-0E0EFB975B1B}"/>
              </a:ext>
            </a:extLst>
          </p:cNvPr>
          <p:cNvSpPr>
            <a:spLocks noGrp="1"/>
          </p:cNvSpPr>
          <p:nvPr>
            <p:ph type="sldNum" sz="quarter" idx="12"/>
          </p:nvPr>
        </p:nvSpPr>
        <p:spPr/>
        <p:txBody>
          <a:bodyPr/>
          <a:lstStyle/>
          <a:p>
            <a:fld id="{EC3ADD74-08B0-45A2-A81D-ACC9499DA611}" type="slidenum">
              <a:rPr lang="en-US" smtClean="0"/>
              <a:t>‹#›</a:t>
            </a:fld>
            <a:endParaRPr lang="en-US"/>
          </a:p>
        </p:txBody>
      </p:sp>
    </p:spTree>
    <p:extLst>
      <p:ext uri="{BB962C8B-B14F-4D97-AF65-F5344CB8AC3E}">
        <p14:creationId xmlns:p14="http://schemas.microsoft.com/office/powerpoint/2010/main" val="746011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AD1F0-8F6C-9534-10C6-657574446CD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87D3778-B4B4-D48D-6185-6BF35B409A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8480EC-948E-7EE2-9ECC-0BC756A81C6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E0CC714-73B0-BEF1-5CA6-F49E1B9998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508E5F-DA73-68D7-5C80-830F49586BF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76C49D0-4DB3-A9E6-F4D7-6B63253612C6}"/>
              </a:ext>
            </a:extLst>
          </p:cNvPr>
          <p:cNvSpPr>
            <a:spLocks noGrp="1"/>
          </p:cNvSpPr>
          <p:nvPr>
            <p:ph type="dt" sz="half" idx="10"/>
          </p:nvPr>
        </p:nvSpPr>
        <p:spPr/>
        <p:txBody>
          <a:bodyPr/>
          <a:lstStyle/>
          <a:p>
            <a:fld id="{6591E5C4-CD92-44AD-B274-EED42B557DFD}" type="datetimeFigureOut">
              <a:rPr lang="en-US" smtClean="0"/>
              <a:t>11/5/2025</a:t>
            </a:fld>
            <a:endParaRPr lang="en-US"/>
          </a:p>
        </p:txBody>
      </p:sp>
      <p:sp>
        <p:nvSpPr>
          <p:cNvPr id="8" name="Footer Placeholder 7">
            <a:extLst>
              <a:ext uri="{FF2B5EF4-FFF2-40B4-BE49-F238E27FC236}">
                <a16:creationId xmlns:a16="http://schemas.microsoft.com/office/drawing/2014/main" id="{DE0D1E3A-7B78-57A5-F391-C512F5EE43C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19A4ACA-64E1-9149-361D-5C64B9C9F58B}"/>
              </a:ext>
            </a:extLst>
          </p:cNvPr>
          <p:cNvSpPr>
            <a:spLocks noGrp="1"/>
          </p:cNvSpPr>
          <p:nvPr>
            <p:ph type="sldNum" sz="quarter" idx="12"/>
          </p:nvPr>
        </p:nvSpPr>
        <p:spPr/>
        <p:txBody>
          <a:bodyPr/>
          <a:lstStyle/>
          <a:p>
            <a:fld id="{EC3ADD74-08B0-45A2-A81D-ACC9499DA611}" type="slidenum">
              <a:rPr lang="en-US" smtClean="0"/>
              <a:t>‹#›</a:t>
            </a:fld>
            <a:endParaRPr lang="en-US"/>
          </a:p>
        </p:txBody>
      </p:sp>
    </p:spTree>
    <p:extLst>
      <p:ext uri="{BB962C8B-B14F-4D97-AF65-F5344CB8AC3E}">
        <p14:creationId xmlns:p14="http://schemas.microsoft.com/office/powerpoint/2010/main" val="305820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8139C-2A6B-7885-CB38-5F16BE6B6AA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EC1FDEA-CDF4-6138-FA40-3C215509E58B}"/>
              </a:ext>
            </a:extLst>
          </p:cNvPr>
          <p:cNvSpPr>
            <a:spLocks noGrp="1"/>
          </p:cNvSpPr>
          <p:nvPr>
            <p:ph type="dt" sz="half" idx="10"/>
          </p:nvPr>
        </p:nvSpPr>
        <p:spPr/>
        <p:txBody>
          <a:bodyPr/>
          <a:lstStyle/>
          <a:p>
            <a:fld id="{6591E5C4-CD92-44AD-B274-EED42B557DFD}" type="datetimeFigureOut">
              <a:rPr lang="en-US" smtClean="0"/>
              <a:t>11/5/2025</a:t>
            </a:fld>
            <a:endParaRPr lang="en-US"/>
          </a:p>
        </p:txBody>
      </p:sp>
      <p:sp>
        <p:nvSpPr>
          <p:cNvPr id="4" name="Footer Placeholder 3">
            <a:extLst>
              <a:ext uri="{FF2B5EF4-FFF2-40B4-BE49-F238E27FC236}">
                <a16:creationId xmlns:a16="http://schemas.microsoft.com/office/drawing/2014/main" id="{58322B59-D644-B1B4-4442-F925373BCCD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3902BFC-35D4-0977-F562-268859C860D2}"/>
              </a:ext>
            </a:extLst>
          </p:cNvPr>
          <p:cNvSpPr>
            <a:spLocks noGrp="1"/>
          </p:cNvSpPr>
          <p:nvPr>
            <p:ph type="sldNum" sz="quarter" idx="12"/>
          </p:nvPr>
        </p:nvSpPr>
        <p:spPr/>
        <p:txBody>
          <a:bodyPr/>
          <a:lstStyle/>
          <a:p>
            <a:fld id="{EC3ADD74-08B0-45A2-A81D-ACC9499DA611}" type="slidenum">
              <a:rPr lang="en-US" smtClean="0"/>
              <a:t>‹#›</a:t>
            </a:fld>
            <a:endParaRPr lang="en-US"/>
          </a:p>
        </p:txBody>
      </p:sp>
    </p:spTree>
    <p:extLst>
      <p:ext uri="{BB962C8B-B14F-4D97-AF65-F5344CB8AC3E}">
        <p14:creationId xmlns:p14="http://schemas.microsoft.com/office/powerpoint/2010/main" val="33040187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E79E41-CE91-C369-FC0F-12ADA4172E91}"/>
              </a:ext>
            </a:extLst>
          </p:cNvPr>
          <p:cNvSpPr>
            <a:spLocks noGrp="1"/>
          </p:cNvSpPr>
          <p:nvPr>
            <p:ph type="dt" sz="half" idx="10"/>
          </p:nvPr>
        </p:nvSpPr>
        <p:spPr/>
        <p:txBody>
          <a:bodyPr/>
          <a:lstStyle/>
          <a:p>
            <a:fld id="{6591E5C4-CD92-44AD-B274-EED42B557DFD}" type="datetimeFigureOut">
              <a:rPr lang="en-US" smtClean="0"/>
              <a:t>11/5/2025</a:t>
            </a:fld>
            <a:endParaRPr lang="en-US"/>
          </a:p>
        </p:txBody>
      </p:sp>
      <p:sp>
        <p:nvSpPr>
          <p:cNvPr id="3" name="Footer Placeholder 2">
            <a:extLst>
              <a:ext uri="{FF2B5EF4-FFF2-40B4-BE49-F238E27FC236}">
                <a16:creationId xmlns:a16="http://schemas.microsoft.com/office/drawing/2014/main" id="{0B0D8D03-3659-63F2-C21C-CDCD0A64FBD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A95A858-B6AB-81AD-870D-EC44F7C7176F}"/>
              </a:ext>
            </a:extLst>
          </p:cNvPr>
          <p:cNvSpPr>
            <a:spLocks noGrp="1"/>
          </p:cNvSpPr>
          <p:nvPr>
            <p:ph type="sldNum" sz="quarter" idx="12"/>
          </p:nvPr>
        </p:nvSpPr>
        <p:spPr/>
        <p:txBody>
          <a:bodyPr/>
          <a:lstStyle/>
          <a:p>
            <a:fld id="{EC3ADD74-08B0-45A2-A81D-ACC9499DA611}" type="slidenum">
              <a:rPr lang="en-US" smtClean="0"/>
              <a:t>‹#›</a:t>
            </a:fld>
            <a:endParaRPr lang="en-US"/>
          </a:p>
        </p:txBody>
      </p:sp>
    </p:spTree>
    <p:extLst>
      <p:ext uri="{BB962C8B-B14F-4D97-AF65-F5344CB8AC3E}">
        <p14:creationId xmlns:p14="http://schemas.microsoft.com/office/powerpoint/2010/main" val="1612136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B1248-4711-1709-497A-C55980ECB8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AC67951-9F11-BFE6-4DC5-74E558FF7A1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8F3FED7-81F2-5E34-5F03-AB36500D47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C67BE1-93EA-55C2-0A52-8D84E0DAC1A2}"/>
              </a:ext>
            </a:extLst>
          </p:cNvPr>
          <p:cNvSpPr>
            <a:spLocks noGrp="1"/>
          </p:cNvSpPr>
          <p:nvPr>
            <p:ph type="dt" sz="half" idx="10"/>
          </p:nvPr>
        </p:nvSpPr>
        <p:spPr/>
        <p:txBody>
          <a:bodyPr/>
          <a:lstStyle/>
          <a:p>
            <a:fld id="{6591E5C4-CD92-44AD-B274-EED42B557DFD}" type="datetimeFigureOut">
              <a:rPr lang="en-US" smtClean="0"/>
              <a:t>11/5/2025</a:t>
            </a:fld>
            <a:endParaRPr lang="en-US"/>
          </a:p>
        </p:txBody>
      </p:sp>
      <p:sp>
        <p:nvSpPr>
          <p:cNvPr id="6" name="Footer Placeholder 5">
            <a:extLst>
              <a:ext uri="{FF2B5EF4-FFF2-40B4-BE49-F238E27FC236}">
                <a16:creationId xmlns:a16="http://schemas.microsoft.com/office/drawing/2014/main" id="{F2290E7C-7381-B268-9E03-37C99B3958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D35EBB-BAB6-70E7-8E50-7F81D83B3925}"/>
              </a:ext>
            </a:extLst>
          </p:cNvPr>
          <p:cNvSpPr>
            <a:spLocks noGrp="1"/>
          </p:cNvSpPr>
          <p:nvPr>
            <p:ph type="sldNum" sz="quarter" idx="12"/>
          </p:nvPr>
        </p:nvSpPr>
        <p:spPr/>
        <p:txBody>
          <a:bodyPr/>
          <a:lstStyle/>
          <a:p>
            <a:fld id="{EC3ADD74-08B0-45A2-A81D-ACC9499DA611}" type="slidenum">
              <a:rPr lang="en-US" smtClean="0"/>
              <a:t>‹#›</a:t>
            </a:fld>
            <a:endParaRPr lang="en-US"/>
          </a:p>
        </p:txBody>
      </p:sp>
    </p:spTree>
    <p:extLst>
      <p:ext uri="{BB962C8B-B14F-4D97-AF65-F5344CB8AC3E}">
        <p14:creationId xmlns:p14="http://schemas.microsoft.com/office/powerpoint/2010/main" val="34559441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9F581-6EC2-D86D-1A54-8D282378AD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BBFAC1-DD9B-BB7E-2820-C373DE25C6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8E135BB-3FC0-3DDB-FEEF-103FE58D44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9C3443-4652-3EA7-198D-A0081E1EA2D7}"/>
              </a:ext>
            </a:extLst>
          </p:cNvPr>
          <p:cNvSpPr>
            <a:spLocks noGrp="1"/>
          </p:cNvSpPr>
          <p:nvPr>
            <p:ph type="dt" sz="half" idx="10"/>
          </p:nvPr>
        </p:nvSpPr>
        <p:spPr/>
        <p:txBody>
          <a:bodyPr/>
          <a:lstStyle/>
          <a:p>
            <a:fld id="{6591E5C4-CD92-44AD-B274-EED42B557DFD}" type="datetimeFigureOut">
              <a:rPr lang="en-US" smtClean="0"/>
              <a:t>11/5/2025</a:t>
            </a:fld>
            <a:endParaRPr lang="en-US"/>
          </a:p>
        </p:txBody>
      </p:sp>
      <p:sp>
        <p:nvSpPr>
          <p:cNvPr id="6" name="Footer Placeholder 5">
            <a:extLst>
              <a:ext uri="{FF2B5EF4-FFF2-40B4-BE49-F238E27FC236}">
                <a16:creationId xmlns:a16="http://schemas.microsoft.com/office/drawing/2014/main" id="{994AB66B-D382-C56D-748E-7C40F89E43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7E6571-0162-4E66-5834-89EF338A47C6}"/>
              </a:ext>
            </a:extLst>
          </p:cNvPr>
          <p:cNvSpPr>
            <a:spLocks noGrp="1"/>
          </p:cNvSpPr>
          <p:nvPr>
            <p:ph type="sldNum" sz="quarter" idx="12"/>
          </p:nvPr>
        </p:nvSpPr>
        <p:spPr/>
        <p:txBody>
          <a:bodyPr/>
          <a:lstStyle/>
          <a:p>
            <a:fld id="{EC3ADD74-08B0-45A2-A81D-ACC9499DA611}" type="slidenum">
              <a:rPr lang="en-US" smtClean="0"/>
              <a:t>‹#›</a:t>
            </a:fld>
            <a:endParaRPr lang="en-US"/>
          </a:p>
        </p:txBody>
      </p:sp>
    </p:spTree>
    <p:extLst>
      <p:ext uri="{BB962C8B-B14F-4D97-AF65-F5344CB8AC3E}">
        <p14:creationId xmlns:p14="http://schemas.microsoft.com/office/powerpoint/2010/main" val="38245059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45989-0B38-1C7A-B7C3-89684B5CDA3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EDB753C-115B-78F1-5BC0-00885EF6EB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944BA3-F9DB-80DC-B2A3-E16263474E73}"/>
              </a:ext>
            </a:extLst>
          </p:cNvPr>
          <p:cNvSpPr>
            <a:spLocks noGrp="1"/>
          </p:cNvSpPr>
          <p:nvPr>
            <p:ph type="dt" sz="half" idx="10"/>
          </p:nvPr>
        </p:nvSpPr>
        <p:spPr/>
        <p:txBody>
          <a:bodyPr/>
          <a:lstStyle/>
          <a:p>
            <a:fld id="{6591E5C4-CD92-44AD-B274-EED42B557DFD}" type="datetimeFigureOut">
              <a:rPr lang="en-US" smtClean="0"/>
              <a:t>11/5/2025</a:t>
            </a:fld>
            <a:endParaRPr lang="en-US"/>
          </a:p>
        </p:txBody>
      </p:sp>
      <p:sp>
        <p:nvSpPr>
          <p:cNvPr id="5" name="Footer Placeholder 4">
            <a:extLst>
              <a:ext uri="{FF2B5EF4-FFF2-40B4-BE49-F238E27FC236}">
                <a16:creationId xmlns:a16="http://schemas.microsoft.com/office/drawing/2014/main" id="{3F17BB8E-3B23-0FD8-5121-7DA6928EF4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D585BB-AAE2-A3ED-8DCA-0B4ABDCCCE91}"/>
              </a:ext>
            </a:extLst>
          </p:cNvPr>
          <p:cNvSpPr>
            <a:spLocks noGrp="1"/>
          </p:cNvSpPr>
          <p:nvPr>
            <p:ph type="sldNum" sz="quarter" idx="12"/>
          </p:nvPr>
        </p:nvSpPr>
        <p:spPr/>
        <p:txBody>
          <a:bodyPr/>
          <a:lstStyle/>
          <a:p>
            <a:fld id="{EC3ADD74-08B0-45A2-A81D-ACC9499DA611}" type="slidenum">
              <a:rPr lang="en-US" smtClean="0"/>
              <a:t>‹#›</a:t>
            </a:fld>
            <a:endParaRPr lang="en-US"/>
          </a:p>
        </p:txBody>
      </p:sp>
    </p:spTree>
    <p:extLst>
      <p:ext uri="{BB962C8B-B14F-4D97-AF65-F5344CB8AC3E}">
        <p14:creationId xmlns:p14="http://schemas.microsoft.com/office/powerpoint/2010/main" val="32920442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3C1BB8-053E-4881-99C4-86EDF29A8C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322DC08-9503-AB07-4F90-D2171C7BEF1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CA975A-44C9-5F69-8978-54E3FC03EAD5}"/>
              </a:ext>
            </a:extLst>
          </p:cNvPr>
          <p:cNvSpPr>
            <a:spLocks noGrp="1"/>
          </p:cNvSpPr>
          <p:nvPr>
            <p:ph type="dt" sz="half" idx="10"/>
          </p:nvPr>
        </p:nvSpPr>
        <p:spPr/>
        <p:txBody>
          <a:bodyPr/>
          <a:lstStyle/>
          <a:p>
            <a:fld id="{6591E5C4-CD92-44AD-B274-EED42B557DFD}" type="datetimeFigureOut">
              <a:rPr lang="en-US" smtClean="0"/>
              <a:t>11/5/2025</a:t>
            </a:fld>
            <a:endParaRPr lang="en-US"/>
          </a:p>
        </p:txBody>
      </p:sp>
      <p:sp>
        <p:nvSpPr>
          <p:cNvPr id="5" name="Footer Placeholder 4">
            <a:extLst>
              <a:ext uri="{FF2B5EF4-FFF2-40B4-BE49-F238E27FC236}">
                <a16:creationId xmlns:a16="http://schemas.microsoft.com/office/drawing/2014/main" id="{C6E25B99-D7DD-544E-3598-0EACC0FB04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4CAC1D-5B24-2689-1DF1-7B2D977F17FA}"/>
              </a:ext>
            </a:extLst>
          </p:cNvPr>
          <p:cNvSpPr>
            <a:spLocks noGrp="1"/>
          </p:cNvSpPr>
          <p:nvPr>
            <p:ph type="sldNum" sz="quarter" idx="12"/>
          </p:nvPr>
        </p:nvSpPr>
        <p:spPr/>
        <p:txBody>
          <a:bodyPr/>
          <a:lstStyle/>
          <a:p>
            <a:fld id="{EC3ADD74-08B0-45A2-A81D-ACC9499DA611}" type="slidenum">
              <a:rPr lang="en-US" smtClean="0"/>
              <a:t>‹#›</a:t>
            </a:fld>
            <a:endParaRPr lang="en-US"/>
          </a:p>
        </p:txBody>
      </p:sp>
    </p:spTree>
    <p:extLst>
      <p:ext uri="{BB962C8B-B14F-4D97-AF65-F5344CB8AC3E}">
        <p14:creationId xmlns:p14="http://schemas.microsoft.com/office/powerpoint/2010/main" val="4220736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D3311F-D36E-977C-CCD3-B3B3F1157E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67FE016-96B9-962A-D2D9-53EC972EC3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B3F3FC-FD4C-9C98-C832-D45F49EB50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591E5C4-CD92-44AD-B274-EED42B557DFD}" type="datetimeFigureOut">
              <a:rPr lang="en-US" smtClean="0"/>
              <a:t>11/5/2025</a:t>
            </a:fld>
            <a:endParaRPr lang="en-US"/>
          </a:p>
        </p:txBody>
      </p:sp>
      <p:sp>
        <p:nvSpPr>
          <p:cNvPr id="5" name="Footer Placeholder 4">
            <a:extLst>
              <a:ext uri="{FF2B5EF4-FFF2-40B4-BE49-F238E27FC236}">
                <a16:creationId xmlns:a16="http://schemas.microsoft.com/office/drawing/2014/main" id="{4DD74896-DB6A-8A86-2B9A-226D056446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8B68653-CCE8-9FC3-23A7-CB390096A6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C3ADD74-08B0-45A2-A81D-ACC9499DA611}" type="slidenum">
              <a:rPr lang="en-US" smtClean="0"/>
              <a:t>‹#›</a:t>
            </a:fld>
            <a:endParaRPr lang="en-US"/>
          </a:p>
        </p:txBody>
      </p:sp>
    </p:spTree>
    <p:extLst>
      <p:ext uri="{BB962C8B-B14F-4D97-AF65-F5344CB8AC3E}">
        <p14:creationId xmlns:p14="http://schemas.microsoft.com/office/powerpoint/2010/main" val="17885352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orn rope">
            <a:extLst>
              <a:ext uri="{FF2B5EF4-FFF2-40B4-BE49-F238E27FC236}">
                <a16:creationId xmlns:a16="http://schemas.microsoft.com/office/drawing/2014/main" id="{E39F195A-3CE9-98EC-0819-B3E7E60015CD}"/>
              </a:ext>
            </a:extLst>
          </p:cNvPr>
          <p:cNvPicPr>
            <a:picLocks noChangeAspect="1"/>
          </p:cNvPicPr>
          <p:nvPr/>
        </p:nvPicPr>
        <p:blipFill>
          <a:blip r:embed="rId2">
            <a:alphaModFix amt="50000"/>
          </a:blip>
          <a:srcRect t="9856" r="-1" b="2573"/>
          <a:stretch>
            <a:fillRect/>
          </a:stretch>
        </p:blipFill>
        <p:spPr>
          <a:xfrm>
            <a:off x="20" y="10"/>
            <a:ext cx="12188930" cy="6857990"/>
          </a:xfrm>
          <a:prstGeom prst="rect">
            <a:avLst/>
          </a:prstGeom>
        </p:spPr>
      </p:pic>
      <p:sp>
        <p:nvSpPr>
          <p:cNvPr id="2" name="Title 1">
            <a:extLst>
              <a:ext uri="{FF2B5EF4-FFF2-40B4-BE49-F238E27FC236}">
                <a16:creationId xmlns:a16="http://schemas.microsoft.com/office/drawing/2014/main" id="{0B76283A-3D36-A31D-4D90-0B3BC27C2F08}"/>
              </a:ext>
            </a:extLst>
          </p:cNvPr>
          <p:cNvSpPr>
            <a:spLocks noGrp="1"/>
          </p:cNvSpPr>
          <p:nvPr>
            <p:ph type="ctrTitle"/>
          </p:nvPr>
        </p:nvSpPr>
        <p:spPr>
          <a:xfrm>
            <a:off x="1524000" y="1122363"/>
            <a:ext cx="9144000" cy="3063240"/>
          </a:xfrm>
        </p:spPr>
        <p:txBody>
          <a:bodyPr>
            <a:normAutofit/>
          </a:bodyPr>
          <a:lstStyle/>
          <a:p>
            <a:r>
              <a:rPr lang="en-US" sz="6600">
                <a:solidFill>
                  <a:schemeClr val="bg1"/>
                </a:solidFill>
              </a:rPr>
              <a:t>Thread Synchronization</a:t>
            </a:r>
          </a:p>
        </p:txBody>
      </p:sp>
      <p:sp>
        <p:nvSpPr>
          <p:cNvPr id="3" name="Subtitle 2">
            <a:extLst>
              <a:ext uri="{FF2B5EF4-FFF2-40B4-BE49-F238E27FC236}">
                <a16:creationId xmlns:a16="http://schemas.microsoft.com/office/drawing/2014/main" id="{80BE26C6-1391-85FE-185C-2438F2AC6C00}"/>
              </a:ext>
            </a:extLst>
          </p:cNvPr>
          <p:cNvSpPr>
            <a:spLocks noGrp="1"/>
          </p:cNvSpPr>
          <p:nvPr>
            <p:ph type="subTitle" idx="1"/>
          </p:nvPr>
        </p:nvSpPr>
        <p:spPr>
          <a:xfrm>
            <a:off x="1527048" y="4599432"/>
            <a:ext cx="9144000" cy="1536192"/>
          </a:xfrm>
        </p:spPr>
        <p:txBody>
          <a:bodyPr>
            <a:normAutofit/>
          </a:bodyPr>
          <a:lstStyle/>
          <a:p>
            <a:endParaRPr lang="en-US" dirty="0">
              <a:solidFill>
                <a:schemeClr val="bg1"/>
              </a:solidFill>
            </a:endParaRPr>
          </a:p>
        </p:txBody>
      </p:sp>
      <p:sp>
        <p:nvSpPr>
          <p:cNvPr id="22"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3574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472" name="Rectangle 62471">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474" name="Rectangle 62473">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476" name="Rectangle 62475">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478" name="Rectangle 62477">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480" name="Rectangle 62479">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467" name="Rectangle 3">
            <a:extLst>
              <a:ext uri="{FF2B5EF4-FFF2-40B4-BE49-F238E27FC236}">
                <a16:creationId xmlns:a16="http://schemas.microsoft.com/office/drawing/2014/main" id="{6374F75B-CB8B-38E1-B477-B3EA9EB490D3}"/>
              </a:ext>
            </a:extLst>
          </p:cNvPr>
          <p:cNvSpPr>
            <a:spLocks noChangeArrowheads="1"/>
          </p:cNvSpPr>
          <p:nvPr/>
        </p:nvSpPr>
        <p:spPr bwMode="auto">
          <a:xfrm>
            <a:off x="1371599" y="294538"/>
            <a:ext cx="9895951" cy="103366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rtlCol="0" anchor="ctr">
            <a:normAutofit/>
          </a:bodyPr>
          <a:lstStyle>
            <a:lvl1pPr>
              <a:spcBef>
                <a:spcPct val="0"/>
              </a:spcBef>
              <a:defRPr sz="2400">
                <a:solidFill>
                  <a:schemeClr val="tx1"/>
                </a:solidFill>
                <a:latin typeface="Times New Roman" panose="02020603050405020304" pitchFamily="18" charset="0"/>
              </a:defRPr>
            </a:lvl1pPr>
            <a:lvl2pPr>
              <a:spcBef>
                <a:spcPct val="0"/>
              </a:spcBef>
              <a:defRPr sz="2400">
                <a:solidFill>
                  <a:schemeClr val="tx1"/>
                </a:solidFill>
                <a:latin typeface="Times New Roman" panose="02020603050405020304" pitchFamily="18" charset="0"/>
              </a:defRPr>
            </a:lvl2pPr>
            <a:lvl3pPr>
              <a:spcBef>
                <a:spcPct val="0"/>
              </a:spcBef>
              <a:defRPr sz="2400">
                <a:solidFill>
                  <a:schemeClr val="tx1"/>
                </a:solidFill>
                <a:latin typeface="Times New Roman" panose="02020603050405020304" pitchFamily="18" charset="0"/>
              </a:defRPr>
            </a:lvl3pPr>
            <a:lvl4pPr>
              <a:spcBef>
                <a:spcPct val="0"/>
              </a:spcBef>
              <a:defRPr sz="2400">
                <a:solidFill>
                  <a:schemeClr val="tx1"/>
                </a:solidFill>
                <a:latin typeface="Times New Roman" panose="02020603050405020304" pitchFamily="18" charset="0"/>
              </a:defRPr>
            </a:lvl4pPr>
            <a:lvl5pPr>
              <a:spcBef>
                <a:spcPct val="0"/>
              </a:spcBef>
              <a:defRPr sz="2400">
                <a:solidFill>
                  <a:schemeClr val="tx1"/>
                </a:solidFill>
                <a:latin typeface="Times New Roman" panose="02020603050405020304" pitchFamily="18" charset="0"/>
              </a:defRPr>
            </a:lvl5pPr>
            <a:lvl6pPr marL="457200" fontAlgn="base">
              <a:spcBef>
                <a:spcPct val="0"/>
              </a:spcBef>
              <a:spcAft>
                <a:spcPct val="0"/>
              </a:spcAft>
              <a:defRPr sz="2400">
                <a:solidFill>
                  <a:schemeClr val="tx1"/>
                </a:solidFill>
                <a:latin typeface="Times New Roman" panose="02020603050405020304" pitchFamily="18" charset="0"/>
              </a:defRPr>
            </a:lvl6pPr>
            <a:lvl7pPr marL="914400" fontAlgn="base">
              <a:spcBef>
                <a:spcPct val="0"/>
              </a:spcBef>
              <a:spcAft>
                <a:spcPct val="0"/>
              </a:spcAft>
              <a:defRPr sz="2400">
                <a:solidFill>
                  <a:schemeClr val="tx1"/>
                </a:solidFill>
                <a:latin typeface="Times New Roman" panose="02020603050405020304" pitchFamily="18" charset="0"/>
              </a:defRPr>
            </a:lvl7pPr>
            <a:lvl8pPr marL="1371600" fontAlgn="base">
              <a:spcBef>
                <a:spcPct val="0"/>
              </a:spcBef>
              <a:spcAft>
                <a:spcPct val="0"/>
              </a:spcAft>
              <a:defRPr sz="2400">
                <a:solidFill>
                  <a:schemeClr val="tx1"/>
                </a:solidFill>
                <a:latin typeface="Times New Roman" panose="02020603050405020304" pitchFamily="18" charset="0"/>
              </a:defRPr>
            </a:lvl8pPr>
            <a:lvl9pPr marL="1828800" fontAlgn="base">
              <a:spcBef>
                <a:spcPct val="0"/>
              </a:spcBef>
              <a:spcAft>
                <a:spcPct val="0"/>
              </a:spcAft>
              <a:defRPr sz="2400">
                <a:solidFill>
                  <a:schemeClr val="tx1"/>
                </a:solidFill>
                <a:latin typeface="Times New Roman" panose="02020603050405020304" pitchFamily="18" charset="0"/>
              </a:defRPr>
            </a:lvl9pPr>
          </a:lstStyle>
          <a:p>
            <a:pPr>
              <a:lnSpc>
                <a:spcPct val="90000"/>
              </a:lnSpc>
              <a:spcAft>
                <a:spcPts val="600"/>
              </a:spcAft>
            </a:pPr>
            <a:r>
              <a:rPr lang="en-US" altLang="en-US" sz="4000" b="1" kern="1200">
                <a:solidFill>
                  <a:srgbClr val="FFFFFF"/>
                </a:solidFill>
                <a:latin typeface="+mj-lt"/>
                <a:ea typeface="+mj-ea"/>
                <a:cs typeface="+mj-cs"/>
              </a:rPr>
              <a:t>OPERATING SYSTEM Synchronization</a:t>
            </a:r>
          </a:p>
        </p:txBody>
      </p:sp>
      <p:sp>
        <p:nvSpPr>
          <p:cNvPr id="3" name="Footer Placeholder 4">
            <a:extLst>
              <a:ext uri="{FF2B5EF4-FFF2-40B4-BE49-F238E27FC236}">
                <a16:creationId xmlns:a16="http://schemas.microsoft.com/office/drawing/2014/main" id="{AB74C923-4DF1-D4AA-7B0C-F2C667382119}"/>
              </a:ext>
            </a:extLst>
          </p:cNvPr>
          <p:cNvSpPr>
            <a:spLocks noGrp="1"/>
          </p:cNvSpPr>
          <p:nvPr>
            <p:ph type="ftr" sz="quarter" idx="11"/>
          </p:nvPr>
        </p:nvSpPr>
        <p:spPr>
          <a:xfrm rot="5400000">
            <a:off x="-1827725" y="1984248"/>
            <a:ext cx="4114800" cy="365125"/>
          </a:xfrm>
        </p:spPr>
        <p:txBody>
          <a:bodyPr vert="horz" lIns="91440" tIns="45720" rIns="91440" bIns="45720" rtlCol="0" anchor="ctr">
            <a:normAutofit/>
          </a:bodyPr>
          <a:lstStyle/>
          <a:p>
            <a:pPr algn="l">
              <a:spcAft>
                <a:spcPts val="600"/>
              </a:spcAft>
            </a:pPr>
            <a:r>
              <a:rPr lang="en-US" altLang="en-US" sz="1100" kern="1200">
                <a:solidFill>
                  <a:srgbClr val="FFFFFF"/>
                </a:solidFill>
                <a:latin typeface="+mn-lt"/>
                <a:ea typeface="+mn-ea"/>
                <a:cs typeface="+mn-cs"/>
              </a:rPr>
              <a:t>6: Process Synchronization</a:t>
            </a:r>
          </a:p>
        </p:txBody>
      </p:sp>
      <p:sp>
        <p:nvSpPr>
          <p:cNvPr id="62466" name="Rectangle 2">
            <a:extLst>
              <a:ext uri="{FF2B5EF4-FFF2-40B4-BE49-F238E27FC236}">
                <a16:creationId xmlns:a16="http://schemas.microsoft.com/office/drawing/2014/main" id="{A00099E5-C7F1-7CA0-B2AC-B440D237B4A1}"/>
              </a:ext>
            </a:extLst>
          </p:cNvPr>
          <p:cNvSpPr>
            <a:spLocks noGrp="1" noChangeArrowheads="1"/>
          </p:cNvSpPr>
          <p:nvPr>
            <p:ph type="body" idx="1"/>
          </p:nvPr>
        </p:nvSpPr>
        <p:spPr>
          <a:xfrm>
            <a:off x="1371599" y="2318197"/>
            <a:ext cx="9724031" cy="3683358"/>
          </a:xfrm>
        </p:spPr>
        <p:txBody>
          <a:bodyPr vert="horz" lIns="91440" tIns="45720" rIns="91440" bIns="45720" rtlCol="0" anchor="ctr">
            <a:normAutofit/>
          </a:bodyPr>
          <a:lstStyle/>
          <a:p>
            <a:r>
              <a:rPr lang="en-US" altLang="en-US" sz="1700" b="1" dirty="0"/>
              <a:t>Topics Covered</a:t>
            </a:r>
          </a:p>
          <a:p>
            <a:endParaRPr lang="en-US" altLang="en-US" sz="1700" b="1" dirty="0"/>
          </a:p>
          <a:p>
            <a:r>
              <a:rPr lang="en-US" altLang="en-US" sz="1700" dirty="0"/>
              <a:t>Background</a:t>
            </a:r>
          </a:p>
          <a:p>
            <a:r>
              <a:rPr lang="en-US" altLang="en-US" sz="1700" dirty="0"/>
              <a:t>The Critical-Section Problem</a:t>
            </a:r>
          </a:p>
          <a:p>
            <a:r>
              <a:rPr lang="en-US" altLang="en-US" sz="1700" dirty="0"/>
              <a:t>Peterson’s Solution</a:t>
            </a:r>
          </a:p>
          <a:p>
            <a:r>
              <a:rPr lang="en-US" altLang="en-US" sz="1700" dirty="0"/>
              <a:t>Synchronization Hardware</a:t>
            </a:r>
          </a:p>
          <a:p>
            <a:r>
              <a:rPr lang="en-US" altLang="en-US" sz="1700" dirty="0"/>
              <a:t>Semaphores</a:t>
            </a:r>
          </a:p>
          <a:p>
            <a:r>
              <a:rPr lang="en-US" altLang="en-US" sz="1700" dirty="0"/>
              <a:t>Classic Problems of Synchronization</a:t>
            </a:r>
          </a:p>
          <a:p>
            <a:r>
              <a:rPr lang="en-US" altLang="en-US" sz="1700"/>
              <a:t>Atomic </a:t>
            </a:r>
            <a:r>
              <a:rPr lang="en-US" altLang="en-US" sz="1700" dirty="0"/>
              <a:t>Transactions</a:t>
            </a:r>
          </a:p>
        </p:txBody>
      </p:sp>
      <p:sp>
        <p:nvSpPr>
          <p:cNvPr id="4" name="Slide Number Placeholder 5">
            <a:extLst>
              <a:ext uri="{FF2B5EF4-FFF2-40B4-BE49-F238E27FC236}">
                <a16:creationId xmlns:a16="http://schemas.microsoft.com/office/drawing/2014/main" id="{BFED19D1-CD59-FF30-7E9A-1E653301237D}"/>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pPr>
            <a:fld id="{4EBFD7B3-B893-4538-9C28-CC98164B73E0}" type="slidenum">
              <a:rPr lang="en-US" altLang="en-US" sz="1100">
                <a:solidFill>
                  <a:schemeClr val="tx1">
                    <a:lumMod val="50000"/>
                    <a:lumOff val="50000"/>
                  </a:schemeClr>
                </a:solidFill>
              </a:rPr>
              <a:pPr>
                <a:spcAft>
                  <a:spcPts val="600"/>
                </a:spcAft>
              </a:pPr>
              <a:t>2</a:t>
            </a:fld>
            <a:endParaRPr lang="en-US" altLang="en-US" sz="1100">
              <a:solidFill>
                <a:schemeClr val="tx1">
                  <a:lumMod val="50000"/>
                  <a:lumOff val="50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E7BCC35C-212C-2E85-07F6-87ED0B99B4AF}"/>
              </a:ext>
            </a:extLst>
          </p:cNvPr>
          <p:cNvSpPr>
            <a:spLocks noGrp="1"/>
          </p:cNvSpPr>
          <p:nvPr>
            <p:ph type="sldNum" sz="quarter" idx="12"/>
          </p:nvPr>
        </p:nvSpPr>
        <p:spPr/>
        <p:txBody>
          <a:bodyPr/>
          <a:lstStyle/>
          <a:p>
            <a:fld id="{DF62780D-0EA2-49C5-BACD-02474C21822C}" type="slidenum">
              <a:rPr lang="en-US" altLang="en-US"/>
              <a:pPr/>
              <a:t>3</a:t>
            </a:fld>
            <a:endParaRPr lang="en-US" altLang="en-US"/>
          </a:p>
        </p:txBody>
      </p:sp>
      <p:sp>
        <p:nvSpPr>
          <p:cNvPr id="26626" name="Rectangle 2">
            <a:extLst>
              <a:ext uri="{FF2B5EF4-FFF2-40B4-BE49-F238E27FC236}">
                <a16:creationId xmlns:a16="http://schemas.microsoft.com/office/drawing/2014/main" id="{2741FDFA-FE90-8665-2671-145D2D518C60}"/>
              </a:ext>
            </a:extLst>
          </p:cNvPr>
          <p:cNvSpPr>
            <a:spLocks noGrp="1" noChangeArrowheads="1"/>
          </p:cNvSpPr>
          <p:nvPr>
            <p:ph type="ctrTitle"/>
          </p:nvPr>
        </p:nvSpPr>
        <p:spPr>
          <a:xfrm>
            <a:off x="1524000" y="228600"/>
            <a:ext cx="4648200" cy="838200"/>
          </a:xfrm>
        </p:spPr>
        <p:txBody>
          <a:bodyPr anchor="ctr">
            <a:normAutofit fontScale="90000"/>
          </a:bodyPr>
          <a:lstStyle/>
          <a:p>
            <a:r>
              <a:rPr lang="en-US" altLang="en-US" sz="3600" b="1"/>
              <a:t>PROCESS SYNCHRONIZATION</a:t>
            </a:r>
          </a:p>
        </p:txBody>
      </p:sp>
      <p:sp>
        <p:nvSpPr>
          <p:cNvPr id="26627" name="Rectangle 3">
            <a:extLst>
              <a:ext uri="{FF2B5EF4-FFF2-40B4-BE49-F238E27FC236}">
                <a16:creationId xmlns:a16="http://schemas.microsoft.com/office/drawing/2014/main" id="{E234498D-2F54-7CB1-7E72-4E2290B49B05}"/>
              </a:ext>
            </a:extLst>
          </p:cNvPr>
          <p:cNvSpPr>
            <a:spLocks noGrp="1" noChangeArrowheads="1"/>
          </p:cNvSpPr>
          <p:nvPr>
            <p:ph type="subTitle" idx="1"/>
          </p:nvPr>
        </p:nvSpPr>
        <p:spPr>
          <a:xfrm>
            <a:off x="1905000" y="1295400"/>
            <a:ext cx="8534400" cy="685800"/>
          </a:xfrm>
        </p:spPr>
        <p:txBody>
          <a:bodyPr>
            <a:normAutofit fontScale="25000" lnSpcReduction="20000"/>
          </a:bodyPr>
          <a:lstStyle/>
          <a:p>
            <a:pPr algn="l"/>
            <a:r>
              <a:rPr lang="en-US" altLang="en-US" sz="4900" dirty="0">
                <a:latin typeface="Times New Roman" panose="02020603050405020304" pitchFamily="18" charset="0"/>
                <a:cs typeface="Times New Roman" panose="02020603050405020304" pitchFamily="18" charset="0"/>
              </a:rPr>
              <a:t>A </a:t>
            </a:r>
            <a:r>
              <a:rPr lang="en-US" altLang="en-US" sz="4900" b="1" dirty="0">
                <a:latin typeface="Times New Roman" panose="02020603050405020304" pitchFamily="18" charset="0"/>
                <a:cs typeface="Times New Roman" panose="02020603050405020304" pitchFamily="18" charset="0"/>
              </a:rPr>
              <a:t>producer</a:t>
            </a:r>
            <a:r>
              <a:rPr lang="en-US" altLang="en-US" sz="4900" dirty="0">
                <a:latin typeface="Times New Roman" panose="02020603050405020304" pitchFamily="18" charset="0"/>
                <a:cs typeface="Times New Roman" panose="02020603050405020304" pitchFamily="18" charset="0"/>
              </a:rPr>
              <a:t> process "produces" information "consumed" by a </a:t>
            </a:r>
            <a:r>
              <a:rPr lang="en-US" altLang="en-US" sz="4900" b="1" dirty="0">
                <a:latin typeface="Times New Roman" panose="02020603050405020304" pitchFamily="18" charset="0"/>
                <a:cs typeface="Times New Roman" panose="02020603050405020304" pitchFamily="18" charset="0"/>
              </a:rPr>
              <a:t>consumer</a:t>
            </a:r>
            <a:r>
              <a:rPr lang="en-US" altLang="en-US" sz="4900" dirty="0">
                <a:latin typeface="Times New Roman" panose="02020603050405020304" pitchFamily="18" charset="0"/>
                <a:cs typeface="Times New Roman" panose="02020603050405020304" pitchFamily="18" charset="0"/>
              </a:rPr>
              <a:t> process.</a:t>
            </a:r>
          </a:p>
          <a:p>
            <a:pPr algn="l"/>
            <a:r>
              <a:rPr lang="en-US" altLang="en-US" sz="4900" dirty="0">
                <a:latin typeface="Times New Roman" panose="02020603050405020304" pitchFamily="18" charset="0"/>
                <a:cs typeface="Times New Roman" panose="02020603050405020304" pitchFamily="18" charset="0"/>
              </a:rPr>
              <a:t>Here are the variables needed to define the problem:</a:t>
            </a:r>
          </a:p>
          <a:p>
            <a:pPr algn="just">
              <a:lnSpc>
                <a:spcPct val="60000"/>
              </a:lnSpc>
            </a:pPr>
            <a:r>
              <a:rPr lang="en-US" altLang="en-US" sz="1600" dirty="0">
                <a:cs typeface="Times New Roman" panose="02020603050405020304" pitchFamily="18" charset="0"/>
              </a:rPr>
              <a:t> </a:t>
            </a:r>
          </a:p>
        </p:txBody>
      </p:sp>
      <p:sp>
        <p:nvSpPr>
          <p:cNvPr id="26628" name="Text Box 4">
            <a:extLst>
              <a:ext uri="{FF2B5EF4-FFF2-40B4-BE49-F238E27FC236}">
                <a16:creationId xmlns:a16="http://schemas.microsoft.com/office/drawing/2014/main" id="{CBDE4C09-72A5-49FE-63B2-1D01466571AB}"/>
              </a:ext>
            </a:extLst>
          </p:cNvPr>
          <p:cNvSpPr txBox="1">
            <a:spLocks noChangeArrowheads="1"/>
          </p:cNvSpPr>
          <p:nvPr/>
        </p:nvSpPr>
        <p:spPr bwMode="auto">
          <a:xfrm>
            <a:off x="6608029" y="1"/>
            <a:ext cx="3355854"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800" b="1">
                <a:solidFill>
                  <a:srgbClr val="FF0000"/>
                </a:solidFill>
              </a:rPr>
              <a:t>The Producer</a:t>
            </a:r>
          </a:p>
          <a:p>
            <a:pPr algn="ctr"/>
            <a:r>
              <a:rPr lang="en-US" altLang="en-US" sz="2800" b="1">
                <a:solidFill>
                  <a:srgbClr val="FF0000"/>
                </a:solidFill>
              </a:rPr>
              <a:t>Consumer Problem</a:t>
            </a:r>
          </a:p>
        </p:txBody>
      </p:sp>
      <p:sp>
        <p:nvSpPr>
          <p:cNvPr id="26629" name="Text Box 5">
            <a:extLst>
              <a:ext uri="{FF2B5EF4-FFF2-40B4-BE49-F238E27FC236}">
                <a16:creationId xmlns:a16="http://schemas.microsoft.com/office/drawing/2014/main" id="{435B863A-E3E3-795F-321A-7C0D2C9B2253}"/>
              </a:ext>
            </a:extLst>
          </p:cNvPr>
          <p:cNvSpPr txBox="1">
            <a:spLocks noChangeArrowheads="1"/>
          </p:cNvSpPr>
          <p:nvPr/>
        </p:nvSpPr>
        <p:spPr bwMode="auto">
          <a:xfrm>
            <a:off x="1752600" y="2209800"/>
            <a:ext cx="8686800" cy="2862322"/>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buClr>
                <a:schemeClr val="hlink"/>
              </a:buClr>
            </a:pPr>
            <a:r>
              <a:rPr kumimoji="1" lang="en-US" altLang="en-US">
                <a:latin typeface="Courier New" panose="02070309020205020404" pitchFamily="49" charset="0"/>
              </a:rPr>
              <a:t>#define BUFFER_SIZE 10</a:t>
            </a:r>
          </a:p>
          <a:p>
            <a:pPr eaLnBrk="0" hangingPunct="0">
              <a:buClr>
                <a:schemeClr val="hlink"/>
              </a:buClr>
            </a:pPr>
            <a:r>
              <a:rPr kumimoji="1" lang="en-US" altLang="en-US">
                <a:latin typeface="Courier New" panose="02070309020205020404" pitchFamily="49" charset="0"/>
              </a:rPr>
              <a:t>typedef struct {</a:t>
            </a:r>
          </a:p>
          <a:p>
            <a:pPr eaLnBrk="0" hangingPunct="0">
              <a:buClr>
                <a:schemeClr val="hlink"/>
              </a:buClr>
            </a:pPr>
            <a:r>
              <a:rPr kumimoji="1" lang="en-US" altLang="en-US">
                <a:latin typeface="Courier New" panose="02070309020205020404" pitchFamily="49" charset="0"/>
              </a:rPr>
              <a:t>    DATA		data;</a:t>
            </a:r>
          </a:p>
          <a:p>
            <a:pPr eaLnBrk="0" hangingPunct="0">
              <a:buClr>
                <a:schemeClr val="hlink"/>
              </a:buClr>
            </a:pPr>
            <a:r>
              <a:rPr kumimoji="1" lang="en-US" altLang="en-US">
                <a:latin typeface="Courier New" panose="02070309020205020404" pitchFamily="49" charset="0"/>
              </a:rPr>
              <a:t>} item;</a:t>
            </a:r>
          </a:p>
          <a:p>
            <a:pPr eaLnBrk="0" hangingPunct="0">
              <a:buClr>
                <a:schemeClr val="hlink"/>
              </a:buClr>
            </a:pPr>
            <a:r>
              <a:rPr kumimoji="1" lang="en-US" altLang="en-US">
                <a:latin typeface="Courier New" panose="02070309020205020404" pitchFamily="49" charset="0"/>
              </a:rPr>
              <a:t>item 	buffer[BUFFER_SIZE];</a:t>
            </a:r>
          </a:p>
          <a:p>
            <a:pPr eaLnBrk="0" hangingPunct="0">
              <a:buClr>
                <a:schemeClr val="hlink"/>
              </a:buClr>
            </a:pPr>
            <a:r>
              <a:rPr kumimoji="1" lang="en-US" altLang="en-US">
                <a:latin typeface="Courier New" panose="02070309020205020404" pitchFamily="49" charset="0"/>
              </a:rPr>
              <a:t>int 	in = 0;		// Location of next input to buffer</a:t>
            </a:r>
          </a:p>
          <a:p>
            <a:pPr eaLnBrk="0" hangingPunct="0">
              <a:buClr>
                <a:schemeClr val="hlink"/>
              </a:buClr>
            </a:pPr>
            <a:r>
              <a:rPr kumimoji="1" lang="en-US" altLang="en-US">
                <a:latin typeface="Courier New" panose="02070309020205020404" pitchFamily="49" charset="0"/>
              </a:rPr>
              <a:t>int 	out = 0;		// Location of next removal from buffer</a:t>
            </a:r>
          </a:p>
          <a:p>
            <a:pPr eaLnBrk="0" hangingPunct="0">
              <a:buClr>
                <a:schemeClr val="hlink"/>
              </a:buClr>
            </a:pPr>
            <a:r>
              <a:rPr kumimoji="1" lang="en-US" altLang="en-US">
                <a:latin typeface="Courier New" panose="02070309020205020404" pitchFamily="49" charset="0"/>
              </a:rPr>
              <a:t>int    counter = 0;           // Number of buffers currently full</a:t>
            </a:r>
          </a:p>
        </p:txBody>
      </p:sp>
      <p:sp>
        <p:nvSpPr>
          <p:cNvPr id="26631" name="Text Box 7">
            <a:extLst>
              <a:ext uri="{FF2B5EF4-FFF2-40B4-BE49-F238E27FC236}">
                <a16:creationId xmlns:a16="http://schemas.microsoft.com/office/drawing/2014/main" id="{21C3195F-EE84-4D98-2527-ED712F37BD63}"/>
              </a:ext>
            </a:extLst>
          </p:cNvPr>
          <p:cNvSpPr txBox="1">
            <a:spLocks noChangeArrowheads="1"/>
          </p:cNvSpPr>
          <p:nvPr/>
        </p:nvSpPr>
        <p:spPr bwMode="auto">
          <a:xfrm>
            <a:off x="1752601" y="5141914"/>
            <a:ext cx="4772845" cy="12088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0000"/>
              </a:lnSpc>
            </a:pPr>
            <a:r>
              <a:rPr lang="en-US" altLang="en-US">
                <a:cs typeface="Times New Roman" panose="02020603050405020304" pitchFamily="18" charset="0"/>
              </a:rPr>
              <a:t>Consider the code segments on the next page:</a:t>
            </a:r>
          </a:p>
          <a:p>
            <a:pPr>
              <a:lnSpc>
                <a:spcPct val="80000"/>
              </a:lnSpc>
            </a:pPr>
            <a:endParaRPr lang="en-US" altLang="en-US" b="1">
              <a:cs typeface="Times New Roman" panose="02020603050405020304" pitchFamily="18" charset="0"/>
            </a:endParaRPr>
          </a:p>
          <a:p>
            <a:pPr lvl="1">
              <a:lnSpc>
                <a:spcPct val="80000"/>
              </a:lnSpc>
              <a:buFontTx/>
              <a:buChar char="•"/>
            </a:pPr>
            <a:r>
              <a:rPr lang="en-US" altLang="en-US">
                <a:cs typeface="Times New Roman" panose="02020603050405020304" pitchFamily="18" charset="0"/>
              </a:rPr>
              <a:t> Does it work?</a:t>
            </a:r>
          </a:p>
          <a:p>
            <a:pPr lvl="1">
              <a:lnSpc>
                <a:spcPct val="80000"/>
              </a:lnSpc>
              <a:buFontTx/>
              <a:buChar char="•"/>
            </a:pPr>
            <a:r>
              <a:rPr lang="en-US" altLang="en-US">
                <a:cs typeface="Times New Roman" panose="02020603050405020304" pitchFamily="18" charset="0"/>
              </a:rPr>
              <a:t> Are all buffers utilized?</a:t>
            </a:r>
            <a:endParaRPr lang="en-US" altLang="en-US" b="1">
              <a:cs typeface="Times New Roman" panose="02020603050405020304" pitchFamily="18" charset="0"/>
            </a:endParaRPr>
          </a:p>
          <a:p>
            <a:pPr>
              <a:lnSpc>
                <a:spcPct val="80000"/>
              </a:lnSpc>
            </a:pPr>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AAEC46DC-5B6B-45DB-AFAB-0E55F2B9B856}"/>
              </a:ext>
            </a:extLst>
          </p:cNvPr>
          <p:cNvSpPr>
            <a:spLocks noGrp="1"/>
          </p:cNvSpPr>
          <p:nvPr>
            <p:ph type="sldNum" sz="quarter" idx="12"/>
          </p:nvPr>
        </p:nvSpPr>
        <p:spPr/>
        <p:txBody>
          <a:bodyPr/>
          <a:lstStyle/>
          <a:p>
            <a:fld id="{60A43105-D6B4-4200-B43F-582127F02C20}" type="slidenum">
              <a:rPr lang="en-US" altLang="en-US"/>
              <a:pPr/>
              <a:t>4</a:t>
            </a:fld>
            <a:endParaRPr lang="en-US" altLang="en-US"/>
          </a:p>
        </p:txBody>
      </p:sp>
      <p:sp>
        <p:nvSpPr>
          <p:cNvPr id="45058" name="Rectangle 2">
            <a:extLst>
              <a:ext uri="{FF2B5EF4-FFF2-40B4-BE49-F238E27FC236}">
                <a16:creationId xmlns:a16="http://schemas.microsoft.com/office/drawing/2014/main" id="{8E113C46-E43B-0568-30B9-DDA4041653FF}"/>
              </a:ext>
            </a:extLst>
          </p:cNvPr>
          <p:cNvSpPr>
            <a:spLocks noGrp="1" noChangeArrowheads="1"/>
          </p:cNvSpPr>
          <p:nvPr>
            <p:ph type="ctrTitle"/>
          </p:nvPr>
        </p:nvSpPr>
        <p:spPr>
          <a:xfrm>
            <a:off x="1524000" y="228600"/>
            <a:ext cx="4648200" cy="838200"/>
          </a:xfrm>
        </p:spPr>
        <p:txBody>
          <a:bodyPr anchor="ctr">
            <a:normAutofit fontScale="90000"/>
          </a:bodyPr>
          <a:lstStyle/>
          <a:p>
            <a:r>
              <a:rPr lang="en-US" altLang="en-US" sz="3600" b="1"/>
              <a:t>PROCESS SYNCHRONIZATION</a:t>
            </a:r>
          </a:p>
        </p:txBody>
      </p:sp>
      <p:sp>
        <p:nvSpPr>
          <p:cNvPr id="45059" name="Rectangle 3">
            <a:extLst>
              <a:ext uri="{FF2B5EF4-FFF2-40B4-BE49-F238E27FC236}">
                <a16:creationId xmlns:a16="http://schemas.microsoft.com/office/drawing/2014/main" id="{1F98B86A-9F56-E568-9FC6-F3AE573FF791}"/>
              </a:ext>
            </a:extLst>
          </p:cNvPr>
          <p:cNvSpPr>
            <a:spLocks noGrp="1" noChangeArrowheads="1"/>
          </p:cNvSpPr>
          <p:nvPr>
            <p:ph type="subTitle" idx="1"/>
          </p:nvPr>
        </p:nvSpPr>
        <p:spPr>
          <a:xfrm>
            <a:off x="1905000" y="1295400"/>
            <a:ext cx="4419600" cy="609600"/>
          </a:xfrm>
        </p:spPr>
        <p:txBody>
          <a:bodyPr>
            <a:normAutofit fontScale="77500" lnSpcReduction="20000"/>
          </a:bodyPr>
          <a:lstStyle/>
          <a:p>
            <a:pPr algn="l"/>
            <a:r>
              <a:rPr lang="en-US" altLang="en-US" sz="1600">
                <a:cs typeface="Times New Roman" panose="02020603050405020304" pitchFamily="18" charset="0"/>
              </a:rPr>
              <a:t>A </a:t>
            </a:r>
            <a:r>
              <a:rPr lang="en-US" altLang="en-US" sz="1600" b="1">
                <a:cs typeface="Times New Roman" panose="02020603050405020304" pitchFamily="18" charset="0"/>
              </a:rPr>
              <a:t>producer</a:t>
            </a:r>
            <a:r>
              <a:rPr lang="en-US" altLang="en-US" sz="1600">
                <a:cs typeface="Times New Roman" panose="02020603050405020304" pitchFamily="18" charset="0"/>
              </a:rPr>
              <a:t> process "produces" information "consumed" by a </a:t>
            </a:r>
            <a:r>
              <a:rPr lang="en-US" altLang="en-US" sz="1600" b="1">
                <a:cs typeface="Times New Roman" panose="02020603050405020304" pitchFamily="18" charset="0"/>
              </a:rPr>
              <a:t>consumer</a:t>
            </a:r>
            <a:r>
              <a:rPr lang="en-US" altLang="en-US" sz="1600">
                <a:cs typeface="Times New Roman" panose="02020603050405020304" pitchFamily="18" charset="0"/>
              </a:rPr>
              <a:t> process.</a:t>
            </a:r>
          </a:p>
          <a:p>
            <a:pPr algn="just">
              <a:lnSpc>
                <a:spcPct val="60000"/>
              </a:lnSpc>
            </a:pPr>
            <a:r>
              <a:rPr lang="en-US" altLang="en-US" sz="1600">
                <a:cs typeface="Times New Roman" panose="02020603050405020304" pitchFamily="18" charset="0"/>
              </a:rPr>
              <a:t> </a:t>
            </a:r>
          </a:p>
        </p:txBody>
      </p:sp>
      <p:sp>
        <p:nvSpPr>
          <p:cNvPr id="45060" name="Text Box 4">
            <a:extLst>
              <a:ext uri="{FF2B5EF4-FFF2-40B4-BE49-F238E27FC236}">
                <a16:creationId xmlns:a16="http://schemas.microsoft.com/office/drawing/2014/main" id="{E4BA3E79-2B54-9275-4F52-2487B753CA86}"/>
              </a:ext>
            </a:extLst>
          </p:cNvPr>
          <p:cNvSpPr txBox="1">
            <a:spLocks noChangeArrowheads="1"/>
          </p:cNvSpPr>
          <p:nvPr/>
        </p:nvSpPr>
        <p:spPr bwMode="auto">
          <a:xfrm>
            <a:off x="6608029" y="1"/>
            <a:ext cx="3355854"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800" b="1">
                <a:solidFill>
                  <a:srgbClr val="FF0000"/>
                </a:solidFill>
              </a:rPr>
              <a:t>The Producer</a:t>
            </a:r>
          </a:p>
          <a:p>
            <a:pPr algn="ctr"/>
            <a:r>
              <a:rPr lang="en-US" altLang="en-US" sz="2800" b="1">
                <a:solidFill>
                  <a:srgbClr val="FF0000"/>
                </a:solidFill>
              </a:rPr>
              <a:t>Consumer Problem</a:t>
            </a:r>
          </a:p>
        </p:txBody>
      </p:sp>
      <p:sp>
        <p:nvSpPr>
          <p:cNvPr id="45061" name="Text Box 5">
            <a:extLst>
              <a:ext uri="{FF2B5EF4-FFF2-40B4-BE49-F238E27FC236}">
                <a16:creationId xmlns:a16="http://schemas.microsoft.com/office/drawing/2014/main" id="{1342388B-08FB-3875-8B70-1B3E962783F7}"/>
              </a:ext>
            </a:extLst>
          </p:cNvPr>
          <p:cNvSpPr txBox="1">
            <a:spLocks noChangeArrowheads="1"/>
          </p:cNvSpPr>
          <p:nvPr/>
        </p:nvSpPr>
        <p:spPr bwMode="auto">
          <a:xfrm>
            <a:off x="1752600" y="1981201"/>
            <a:ext cx="4572000" cy="2585323"/>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buClr>
                <a:schemeClr val="folHlink"/>
              </a:buClr>
              <a:buSzPct val="90000"/>
              <a:buFont typeface="Monotype Sorts" pitchFamily="2" charset="2"/>
              <a:buNone/>
            </a:pPr>
            <a:r>
              <a:rPr kumimoji="1" lang="en-US" altLang="en-US">
                <a:latin typeface="Courier New" panose="02070309020205020404" pitchFamily="49" charset="0"/>
              </a:rPr>
              <a:t>item   nextProduced;</a:t>
            </a:r>
            <a:br>
              <a:rPr kumimoji="1" lang="en-US" altLang="en-US">
                <a:latin typeface="Courier New" panose="02070309020205020404" pitchFamily="49" charset="0"/>
              </a:rPr>
            </a:br>
            <a:endParaRPr kumimoji="1" lang="en-US" altLang="en-US">
              <a:latin typeface="Courier New" panose="02070309020205020404" pitchFamily="49" charset="0"/>
            </a:endParaRPr>
          </a:p>
          <a:p>
            <a:pPr eaLnBrk="0" hangingPunct="0">
              <a:buClr>
                <a:schemeClr val="folHlink"/>
              </a:buClr>
              <a:buSzPct val="90000"/>
              <a:buFont typeface="Monotype Sorts" pitchFamily="2" charset="2"/>
              <a:buNone/>
            </a:pPr>
            <a:r>
              <a:rPr kumimoji="1" lang="en-US" altLang="en-US">
                <a:latin typeface="Courier New" panose="02070309020205020404" pitchFamily="49" charset="0"/>
              </a:rPr>
              <a:t>while (TRUE) {</a:t>
            </a:r>
          </a:p>
          <a:p>
            <a:pPr lvl="1" eaLnBrk="0" hangingPunct="0">
              <a:buClr>
                <a:schemeClr val="folHlink"/>
              </a:buClr>
              <a:buSzPct val="90000"/>
              <a:buFont typeface="Monotype Sorts" pitchFamily="2" charset="2"/>
              <a:buNone/>
            </a:pPr>
            <a:r>
              <a:rPr kumimoji="1" lang="en-US" altLang="en-US">
                <a:latin typeface="Courier New" panose="02070309020205020404" pitchFamily="49" charset="0"/>
              </a:rPr>
              <a:t>while (counter == BUFFER_SIZE);</a:t>
            </a:r>
          </a:p>
          <a:p>
            <a:pPr lvl="1" eaLnBrk="0" hangingPunct="0">
              <a:buClr>
                <a:schemeClr val="folHlink"/>
              </a:buClr>
              <a:buSzPct val="90000"/>
              <a:buFont typeface="Monotype Sorts" pitchFamily="2" charset="2"/>
              <a:buNone/>
            </a:pPr>
            <a:r>
              <a:rPr kumimoji="1" lang="en-US" altLang="en-US">
                <a:latin typeface="Courier New" panose="02070309020205020404" pitchFamily="49" charset="0"/>
              </a:rPr>
              <a:t>buffer[in] = nextProduced;</a:t>
            </a:r>
          </a:p>
          <a:p>
            <a:pPr lvl="1" eaLnBrk="0" hangingPunct="0">
              <a:buClr>
                <a:schemeClr val="folHlink"/>
              </a:buClr>
              <a:buSzPct val="90000"/>
              <a:buFont typeface="Monotype Sorts" pitchFamily="2" charset="2"/>
              <a:buNone/>
            </a:pPr>
            <a:r>
              <a:rPr kumimoji="1" lang="en-US" altLang="en-US">
                <a:latin typeface="Courier New" panose="02070309020205020404" pitchFamily="49" charset="0"/>
              </a:rPr>
              <a:t>in = (in + 1) % BUFFER_SIZE;</a:t>
            </a:r>
          </a:p>
          <a:p>
            <a:pPr lvl="1" eaLnBrk="0" hangingPunct="0">
              <a:buClr>
                <a:schemeClr val="folHlink"/>
              </a:buClr>
              <a:buSzPct val="90000"/>
              <a:buFont typeface="Monotype Sorts" pitchFamily="2" charset="2"/>
              <a:buNone/>
            </a:pPr>
            <a:r>
              <a:rPr kumimoji="1" lang="en-US" altLang="en-US">
                <a:latin typeface="Courier New" panose="02070309020205020404" pitchFamily="49" charset="0"/>
              </a:rPr>
              <a:t>counter++;</a:t>
            </a:r>
          </a:p>
          <a:p>
            <a:pPr eaLnBrk="0" hangingPunct="0">
              <a:buClr>
                <a:schemeClr val="folHlink"/>
              </a:buClr>
              <a:buSzPct val="90000"/>
              <a:buFont typeface="Monotype Sorts" pitchFamily="2" charset="2"/>
              <a:buNone/>
            </a:pPr>
            <a:r>
              <a:rPr kumimoji="1" lang="en-US" altLang="en-US">
                <a:latin typeface="Courier New" panose="02070309020205020404" pitchFamily="49" charset="0"/>
              </a:rPr>
              <a:t>}</a:t>
            </a:r>
          </a:p>
        </p:txBody>
      </p:sp>
      <p:sp>
        <p:nvSpPr>
          <p:cNvPr id="45062" name="Text Box 6">
            <a:extLst>
              <a:ext uri="{FF2B5EF4-FFF2-40B4-BE49-F238E27FC236}">
                <a16:creationId xmlns:a16="http://schemas.microsoft.com/office/drawing/2014/main" id="{55E00339-48FE-71E2-88A6-1DD547D09101}"/>
              </a:ext>
            </a:extLst>
          </p:cNvPr>
          <p:cNvSpPr txBox="1">
            <a:spLocks noChangeArrowheads="1"/>
          </p:cNvSpPr>
          <p:nvPr/>
        </p:nvSpPr>
        <p:spPr bwMode="auto">
          <a:xfrm>
            <a:off x="6477000" y="3575050"/>
            <a:ext cx="4038600" cy="2592248"/>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90000"/>
              </a:lnSpc>
              <a:buClr>
                <a:schemeClr val="folHlink"/>
              </a:buClr>
              <a:buSzPct val="90000"/>
              <a:buFont typeface="Monotype Sorts" pitchFamily="2" charset="2"/>
              <a:buNone/>
            </a:pPr>
            <a:r>
              <a:rPr kumimoji="1" lang="en-US" altLang="en-US">
                <a:latin typeface="Courier New" panose="02070309020205020404" pitchFamily="49" charset="0"/>
              </a:rPr>
              <a:t>item  nextConsumed;</a:t>
            </a:r>
            <a:br>
              <a:rPr kumimoji="1" lang="en-US" altLang="en-US">
                <a:latin typeface="Courier New" panose="02070309020205020404" pitchFamily="49" charset="0"/>
              </a:rPr>
            </a:br>
            <a:endParaRPr kumimoji="1" lang="en-US" altLang="en-US">
              <a:latin typeface="Courier New" panose="02070309020205020404" pitchFamily="49" charset="0"/>
            </a:endParaRPr>
          </a:p>
          <a:p>
            <a:pPr eaLnBrk="0" hangingPunct="0">
              <a:lnSpc>
                <a:spcPct val="90000"/>
              </a:lnSpc>
              <a:buClr>
                <a:schemeClr val="folHlink"/>
              </a:buClr>
              <a:buSzPct val="90000"/>
              <a:buFont typeface="Monotype Sorts" pitchFamily="2" charset="2"/>
              <a:buNone/>
            </a:pPr>
            <a:r>
              <a:rPr kumimoji="1" lang="en-US" altLang="en-US">
                <a:latin typeface="Courier New" panose="02070309020205020404" pitchFamily="49" charset="0"/>
              </a:rPr>
              <a:t>while (TRUE) {</a:t>
            </a:r>
          </a:p>
          <a:p>
            <a:pPr lvl="1" eaLnBrk="0" hangingPunct="0">
              <a:lnSpc>
                <a:spcPct val="90000"/>
              </a:lnSpc>
              <a:buClr>
                <a:schemeClr val="folHlink"/>
              </a:buClr>
              <a:buSzPct val="90000"/>
              <a:buFont typeface="Monotype Sorts" pitchFamily="2" charset="2"/>
              <a:buNone/>
            </a:pPr>
            <a:r>
              <a:rPr kumimoji="1" lang="en-US" altLang="en-US">
                <a:latin typeface="Courier New" panose="02070309020205020404" pitchFamily="49" charset="0"/>
              </a:rPr>
              <a:t>while (counter == 0);</a:t>
            </a:r>
          </a:p>
          <a:p>
            <a:pPr lvl="1" eaLnBrk="0" hangingPunct="0">
              <a:lnSpc>
                <a:spcPct val="90000"/>
              </a:lnSpc>
              <a:buClr>
                <a:schemeClr val="folHlink"/>
              </a:buClr>
              <a:buSzPct val="90000"/>
              <a:buFont typeface="Monotype Sorts" pitchFamily="2" charset="2"/>
              <a:buNone/>
            </a:pPr>
            <a:r>
              <a:rPr kumimoji="1" lang="en-US" altLang="en-US">
                <a:latin typeface="Courier New" panose="02070309020205020404" pitchFamily="49" charset="0"/>
              </a:rPr>
              <a:t>nextConsumed = buffer[out];</a:t>
            </a:r>
          </a:p>
          <a:p>
            <a:pPr lvl="1" eaLnBrk="0" hangingPunct="0">
              <a:lnSpc>
                <a:spcPct val="90000"/>
              </a:lnSpc>
              <a:buClr>
                <a:schemeClr val="folHlink"/>
              </a:buClr>
              <a:buSzPct val="90000"/>
              <a:buFont typeface="Monotype Sorts" pitchFamily="2" charset="2"/>
              <a:buNone/>
            </a:pPr>
            <a:r>
              <a:rPr kumimoji="1" lang="en-US" altLang="en-US">
                <a:latin typeface="Courier New" panose="02070309020205020404" pitchFamily="49" charset="0"/>
              </a:rPr>
              <a:t>out = (out + 1) % BUFFER_SIZE;</a:t>
            </a:r>
          </a:p>
          <a:p>
            <a:pPr lvl="1" eaLnBrk="0" hangingPunct="0">
              <a:lnSpc>
                <a:spcPct val="90000"/>
              </a:lnSpc>
              <a:buClr>
                <a:schemeClr val="folHlink"/>
              </a:buClr>
              <a:buSzPct val="90000"/>
              <a:buFont typeface="Monotype Sorts" pitchFamily="2" charset="2"/>
              <a:buNone/>
            </a:pPr>
            <a:r>
              <a:rPr kumimoji="1" lang="en-US" altLang="en-US">
                <a:latin typeface="Courier New" panose="02070309020205020404" pitchFamily="49" charset="0"/>
              </a:rPr>
              <a:t>counter--;</a:t>
            </a:r>
          </a:p>
          <a:p>
            <a:pPr eaLnBrk="0" hangingPunct="0">
              <a:lnSpc>
                <a:spcPct val="90000"/>
              </a:lnSpc>
              <a:buClr>
                <a:schemeClr val="folHlink"/>
              </a:buClr>
              <a:buSzPct val="90000"/>
              <a:buFont typeface="Monotype Sorts" pitchFamily="2" charset="2"/>
              <a:buNone/>
            </a:pPr>
            <a:r>
              <a:rPr kumimoji="1" lang="en-US" altLang="en-US">
                <a:latin typeface="Courier New" panose="02070309020205020404" pitchFamily="49" charset="0"/>
              </a:rPr>
              <a:t>}</a:t>
            </a:r>
          </a:p>
        </p:txBody>
      </p:sp>
      <p:sp>
        <p:nvSpPr>
          <p:cNvPr id="45063" name="Text Box 7">
            <a:extLst>
              <a:ext uri="{FF2B5EF4-FFF2-40B4-BE49-F238E27FC236}">
                <a16:creationId xmlns:a16="http://schemas.microsoft.com/office/drawing/2014/main" id="{BC0E7F13-98BF-8B73-1E7F-1A21F2A5F2DA}"/>
              </a:ext>
            </a:extLst>
          </p:cNvPr>
          <p:cNvSpPr txBox="1">
            <a:spLocks noChangeArrowheads="1"/>
          </p:cNvSpPr>
          <p:nvPr/>
        </p:nvSpPr>
        <p:spPr bwMode="auto">
          <a:xfrm>
            <a:off x="6629400" y="1066800"/>
            <a:ext cx="4038600" cy="1878976"/>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80000"/>
              </a:lnSpc>
              <a:buClr>
                <a:schemeClr val="hlink"/>
              </a:buClr>
            </a:pPr>
            <a:r>
              <a:rPr kumimoji="1" lang="en-US" altLang="en-US">
                <a:latin typeface="Courier New" panose="02070309020205020404" pitchFamily="49" charset="0"/>
              </a:rPr>
              <a:t>#define BUFFER_SIZE 10</a:t>
            </a:r>
          </a:p>
          <a:p>
            <a:pPr eaLnBrk="0" hangingPunct="0">
              <a:lnSpc>
                <a:spcPct val="80000"/>
              </a:lnSpc>
              <a:buClr>
                <a:schemeClr val="hlink"/>
              </a:buClr>
            </a:pPr>
            <a:r>
              <a:rPr kumimoji="1" lang="en-US" altLang="en-US">
                <a:latin typeface="Courier New" panose="02070309020205020404" pitchFamily="49" charset="0"/>
              </a:rPr>
              <a:t>typedef struct {</a:t>
            </a:r>
          </a:p>
          <a:p>
            <a:pPr eaLnBrk="0" hangingPunct="0">
              <a:lnSpc>
                <a:spcPct val="80000"/>
              </a:lnSpc>
              <a:buClr>
                <a:schemeClr val="hlink"/>
              </a:buClr>
            </a:pPr>
            <a:r>
              <a:rPr kumimoji="1" lang="en-US" altLang="en-US">
                <a:latin typeface="Courier New" panose="02070309020205020404" pitchFamily="49" charset="0"/>
              </a:rPr>
              <a:t>    DATA	data;</a:t>
            </a:r>
          </a:p>
          <a:p>
            <a:pPr eaLnBrk="0" hangingPunct="0">
              <a:lnSpc>
                <a:spcPct val="80000"/>
              </a:lnSpc>
              <a:buClr>
                <a:schemeClr val="hlink"/>
              </a:buClr>
            </a:pPr>
            <a:r>
              <a:rPr kumimoji="1" lang="en-US" altLang="en-US">
                <a:latin typeface="Courier New" panose="02070309020205020404" pitchFamily="49" charset="0"/>
              </a:rPr>
              <a:t>} item;</a:t>
            </a:r>
          </a:p>
          <a:p>
            <a:pPr eaLnBrk="0" hangingPunct="0">
              <a:lnSpc>
                <a:spcPct val="80000"/>
              </a:lnSpc>
              <a:buClr>
                <a:schemeClr val="hlink"/>
              </a:buClr>
            </a:pPr>
            <a:r>
              <a:rPr kumimoji="1" lang="en-US" altLang="en-US">
                <a:latin typeface="Courier New" panose="02070309020205020404" pitchFamily="49" charset="0"/>
              </a:rPr>
              <a:t>item 	buffer[BUFFER_SIZE];</a:t>
            </a:r>
          </a:p>
          <a:p>
            <a:pPr eaLnBrk="0" hangingPunct="0">
              <a:lnSpc>
                <a:spcPct val="80000"/>
              </a:lnSpc>
              <a:buClr>
                <a:schemeClr val="hlink"/>
              </a:buClr>
            </a:pPr>
            <a:r>
              <a:rPr kumimoji="1" lang="en-US" altLang="en-US">
                <a:latin typeface="Courier New" panose="02070309020205020404" pitchFamily="49" charset="0"/>
              </a:rPr>
              <a:t>int 	in = 0;		</a:t>
            </a:r>
          </a:p>
          <a:p>
            <a:pPr eaLnBrk="0" hangingPunct="0">
              <a:lnSpc>
                <a:spcPct val="80000"/>
              </a:lnSpc>
              <a:buClr>
                <a:schemeClr val="hlink"/>
              </a:buClr>
            </a:pPr>
            <a:r>
              <a:rPr kumimoji="1" lang="en-US" altLang="en-US">
                <a:latin typeface="Courier New" panose="02070309020205020404" pitchFamily="49" charset="0"/>
              </a:rPr>
              <a:t>int 	out = 0;</a:t>
            </a:r>
          </a:p>
          <a:p>
            <a:pPr eaLnBrk="0" hangingPunct="0">
              <a:lnSpc>
                <a:spcPct val="80000"/>
              </a:lnSpc>
              <a:buClr>
                <a:schemeClr val="hlink"/>
              </a:buClr>
            </a:pPr>
            <a:r>
              <a:rPr kumimoji="1" lang="en-US" altLang="en-US">
                <a:latin typeface="Courier New" panose="02070309020205020404" pitchFamily="49" charset="0"/>
              </a:rPr>
              <a:t>int     counter = 0;</a:t>
            </a:r>
          </a:p>
        </p:txBody>
      </p:sp>
      <p:sp>
        <p:nvSpPr>
          <p:cNvPr id="45064" name="Text Box 8">
            <a:extLst>
              <a:ext uri="{FF2B5EF4-FFF2-40B4-BE49-F238E27FC236}">
                <a16:creationId xmlns:a16="http://schemas.microsoft.com/office/drawing/2014/main" id="{527EBCA3-9C92-3D9A-D200-F96900DA5C67}"/>
              </a:ext>
            </a:extLst>
          </p:cNvPr>
          <p:cNvSpPr txBox="1">
            <a:spLocks noChangeArrowheads="1"/>
          </p:cNvSpPr>
          <p:nvPr/>
        </p:nvSpPr>
        <p:spPr bwMode="auto">
          <a:xfrm>
            <a:off x="4724401" y="2057400"/>
            <a:ext cx="140217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PRODUCER</a:t>
            </a:r>
          </a:p>
        </p:txBody>
      </p:sp>
      <p:sp>
        <p:nvSpPr>
          <p:cNvPr id="45065" name="Text Box 9">
            <a:extLst>
              <a:ext uri="{FF2B5EF4-FFF2-40B4-BE49-F238E27FC236}">
                <a16:creationId xmlns:a16="http://schemas.microsoft.com/office/drawing/2014/main" id="{17A22ECC-CD78-9688-AEAD-95DE1851D178}"/>
              </a:ext>
            </a:extLst>
          </p:cNvPr>
          <p:cNvSpPr txBox="1">
            <a:spLocks noChangeArrowheads="1"/>
          </p:cNvSpPr>
          <p:nvPr/>
        </p:nvSpPr>
        <p:spPr bwMode="auto">
          <a:xfrm>
            <a:off x="8915400" y="3733800"/>
            <a:ext cx="144988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CONSUMER</a:t>
            </a:r>
          </a:p>
        </p:txBody>
      </p:sp>
      <p:sp>
        <p:nvSpPr>
          <p:cNvPr id="45067" name="Rectangle 11">
            <a:extLst>
              <a:ext uri="{FF2B5EF4-FFF2-40B4-BE49-F238E27FC236}">
                <a16:creationId xmlns:a16="http://schemas.microsoft.com/office/drawing/2014/main" id="{BBE6E148-978C-1319-BAD3-F869D78D9472}"/>
              </a:ext>
            </a:extLst>
          </p:cNvPr>
          <p:cNvSpPr>
            <a:spLocks noChangeArrowheads="1"/>
          </p:cNvSpPr>
          <p:nvPr/>
        </p:nvSpPr>
        <p:spPr bwMode="auto">
          <a:xfrm>
            <a:off x="1828801" y="4495801"/>
            <a:ext cx="955675" cy="16049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68" name="Rectangle 12">
            <a:extLst>
              <a:ext uri="{FF2B5EF4-FFF2-40B4-BE49-F238E27FC236}">
                <a16:creationId xmlns:a16="http://schemas.microsoft.com/office/drawing/2014/main" id="{DB4DF794-28EC-4380-EC7D-F88C41A9E150}"/>
              </a:ext>
            </a:extLst>
          </p:cNvPr>
          <p:cNvSpPr>
            <a:spLocks noChangeArrowheads="1"/>
          </p:cNvSpPr>
          <p:nvPr/>
        </p:nvSpPr>
        <p:spPr bwMode="auto">
          <a:xfrm>
            <a:off x="5041900" y="4495801"/>
            <a:ext cx="1054100" cy="16049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69" name="Rectangle 13">
            <a:extLst>
              <a:ext uri="{FF2B5EF4-FFF2-40B4-BE49-F238E27FC236}">
                <a16:creationId xmlns:a16="http://schemas.microsoft.com/office/drawing/2014/main" id="{E000E479-86CD-151F-C02A-DFD91F1AB37B}"/>
              </a:ext>
            </a:extLst>
          </p:cNvPr>
          <p:cNvSpPr>
            <a:spLocks noChangeArrowheads="1"/>
          </p:cNvSpPr>
          <p:nvPr/>
        </p:nvSpPr>
        <p:spPr bwMode="auto">
          <a:xfrm>
            <a:off x="3314700" y="5092700"/>
            <a:ext cx="1282700" cy="4587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70" name="Rectangle 14">
            <a:extLst>
              <a:ext uri="{FF2B5EF4-FFF2-40B4-BE49-F238E27FC236}">
                <a16:creationId xmlns:a16="http://schemas.microsoft.com/office/drawing/2014/main" id="{4F14D5BA-5BCE-A8BF-5A4D-56C94BA50517}"/>
              </a:ext>
            </a:extLst>
          </p:cNvPr>
          <p:cNvSpPr>
            <a:spLocks noChangeArrowheads="1"/>
          </p:cNvSpPr>
          <p:nvPr/>
        </p:nvSpPr>
        <p:spPr bwMode="auto">
          <a:xfrm>
            <a:off x="3392489" y="5092700"/>
            <a:ext cx="85725" cy="4587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71" name="Rectangle 15">
            <a:extLst>
              <a:ext uri="{FF2B5EF4-FFF2-40B4-BE49-F238E27FC236}">
                <a16:creationId xmlns:a16="http://schemas.microsoft.com/office/drawing/2014/main" id="{BECFA1D9-5251-C401-6CD3-9980FB69834B}"/>
              </a:ext>
            </a:extLst>
          </p:cNvPr>
          <p:cNvSpPr>
            <a:spLocks noChangeArrowheads="1"/>
          </p:cNvSpPr>
          <p:nvPr/>
        </p:nvSpPr>
        <p:spPr bwMode="auto">
          <a:xfrm>
            <a:off x="4030664" y="5092700"/>
            <a:ext cx="85725" cy="4587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72" name="Rectangle 16">
            <a:extLst>
              <a:ext uri="{FF2B5EF4-FFF2-40B4-BE49-F238E27FC236}">
                <a16:creationId xmlns:a16="http://schemas.microsoft.com/office/drawing/2014/main" id="{4E6F1D15-699E-355D-78C6-C063E1CA920E}"/>
              </a:ext>
            </a:extLst>
          </p:cNvPr>
          <p:cNvSpPr>
            <a:spLocks noChangeArrowheads="1"/>
          </p:cNvSpPr>
          <p:nvPr/>
        </p:nvSpPr>
        <p:spPr bwMode="auto">
          <a:xfrm>
            <a:off x="3706814" y="5092700"/>
            <a:ext cx="85725" cy="4587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73" name="Rectangle 17">
            <a:extLst>
              <a:ext uri="{FF2B5EF4-FFF2-40B4-BE49-F238E27FC236}">
                <a16:creationId xmlns:a16="http://schemas.microsoft.com/office/drawing/2014/main" id="{BF47B17B-0FF9-76EF-9DF9-F8D543C737F9}"/>
              </a:ext>
            </a:extLst>
          </p:cNvPr>
          <p:cNvSpPr>
            <a:spLocks noChangeArrowheads="1"/>
          </p:cNvSpPr>
          <p:nvPr/>
        </p:nvSpPr>
        <p:spPr bwMode="auto">
          <a:xfrm>
            <a:off x="3863976" y="5092700"/>
            <a:ext cx="85725" cy="4587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74" name="Rectangle 18">
            <a:extLst>
              <a:ext uri="{FF2B5EF4-FFF2-40B4-BE49-F238E27FC236}">
                <a16:creationId xmlns:a16="http://schemas.microsoft.com/office/drawing/2014/main" id="{CD0F0085-FE77-57E6-6B58-D4A42018EE0C}"/>
              </a:ext>
            </a:extLst>
          </p:cNvPr>
          <p:cNvSpPr>
            <a:spLocks noChangeArrowheads="1"/>
          </p:cNvSpPr>
          <p:nvPr/>
        </p:nvSpPr>
        <p:spPr bwMode="auto">
          <a:xfrm>
            <a:off x="3549651" y="5092700"/>
            <a:ext cx="85725" cy="4587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75" name="Rectangle 19">
            <a:extLst>
              <a:ext uri="{FF2B5EF4-FFF2-40B4-BE49-F238E27FC236}">
                <a16:creationId xmlns:a16="http://schemas.microsoft.com/office/drawing/2014/main" id="{4044BC90-BE5E-F48B-2B0B-8796063C4B42}"/>
              </a:ext>
            </a:extLst>
          </p:cNvPr>
          <p:cNvSpPr>
            <a:spLocks noChangeArrowheads="1"/>
          </p:cNvSpPr>
          <p:nvPr/>
        </p:nvSpPr>
        <p:spPr bwMode="auto">
          <a:xfrm>
            <a:off x="4178301" y="5092700"/>
            <a:ext cx="85725" cy="4587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76" name="Rectangle 20">
            <a:extLst>
              <a:ext uri="{FF2B5EF4-FFF2-40B4-BE49-F238E27FC236}">
                <a16:creationId xmlns:a16="http://schemas.microsoft.com/office/drawing/2014/main" id="{5996BB59-5AD3-968F-3208-032138325F23}"/>
              </a:ext>
            </a:extLst>
          </p:cNvPr>
          <p:cNvSpPr>
            <a:spLocks noChangeArrowheads="1"/>
          </p:cNvSpPr>
          <p:nvPr/>
        </p:nvSpPr>
        <p:spPr bwMode="auto">
          <a:xfrm>
            <a:off x="4335464" y="5092700"/>
            <a:ext cx="85725" cy="4587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77" name="Line 21">
            <a:extLst>
              <a:ext uri="{FF2B5EF4-FFF2-40B4-BE49-F238E27FC236}">
                <a16:creationId xmlns:a16="http://schemas.microsoft.com/office/drawing/2014/main" id="{861C556C-CD93-4B13-C8B7-CF8A65981F46}"/>
              </a:ext>
            </a:extLst>
          </p:cNvPr>
          <p:cNvSpPr>
            <a:spLocks noChangeShapeType="1"/>
          </p:cNvSpPr>
          <p:nvPr/>
        </p:nvSpPr>
        <p:spPr bwMode="auto">
          <a:xfrm>
            <a:off x="2725739" y="4679950"/>
            <a:ext cx="1292225" cy="15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78" name="Line 22">
            <a:extLst>
              <a:ext uri="{FF2B5EF4-FFF2-40B4-BE49-F238E27FC236}">
                <a16:creationId xmlns:a16="http://schemas.microsoft.com/office/drawing/2014/main" id="{5B8A97B5-C46A-0D19-8B05-8DF962DF5C5A}"/>
              </a:ext>
            </a:extLst>
          </p:cNvPr>
          <p:cNvSpPr>
            <a:spLocks noChangeShapeType="1"/>
          </p:cNvSpPr>
          <p:nvPr/>
        </p:nvSpPr>
        <p:spPr bwMode="auto">
          <a:xfrm flipH="1">
            <a:off x="3913189" y="5964239"/>
            <a:ext cx="1228725" cy="15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79" name="Line 23">
            <a:extLst>
              <a:ext uri="{FF2B5EF4-FFF2-40B4-BE49-F238E27FC236}">
                <a16:creationId xmlns:a16="http://schemas.microsoft.com/office/drawing/2014/main" id="{D48C4B0A-F2E3-9237-BB98-C45D1611A13D}"/>
              </a:ext>
            </a:extLst>
          </p:cNvPr>
          <p:cNvSpPr>
            <a:spLocks noChangeShapeType="1"/>
          </p:cNvSpPr>
          <p:nvPr/>
        </p:nvSpPr>
        <p:spPr bwMode="auto">
          <a:xfrm>
            <a:off x="3913188" y="4679950"/>
            <a:ext cx="374650" cy="4127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80" name="Line 24">
            <a:extLst>
              <a:ext uri="{FF2B5EF4-FFF2-40B4-BE49-F238E27FC236}">
                <a16:creationId xmlns:a16="http://schemas.microsoft.com/office/drawing/2014/main" id="{E61039DA-3D6B-7277-E4FB-7F62D4EE75D1}"/>
              </a:ext>
            </a:extLst>
          </p:cNvPr>
          <p:cNvSpPr>
            <a:spLocks noChangeShapeType="1"/>
          </p:cNvSpPr>
          <p:nvPr/>
        </p:nvSpPr>
        <p:spPr bwMode="auto">
          <a:xfrm flipH="1" flipV="1">
            <a:off x="3471863" y="5551488"/>
            <a:ext cx="481012" cy="4127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81" name="Text Box 25">
            <a:extLst>
              <a:ext uri="{FF2B5EF4-FFF2-40B4-BE49-F238E27FC236}">
                <a16:creationId xmlns:a16="http://schemas.microsoft.com/office/drawing/2014/main" id="{BAB660B3-0B07-8C18-F085-F88BA71BC65A}"/>
              </a:ext>
            </a:extLst>
          </p:cNvPr>
          <p:cNvSpPr txBox="1">
            <a:spLocks noChangeArrowheads="1"/>
          </p:cNvSpPr>
          <p:nvPr/>
        </p:nvSpPr>
        <p:spPr bwMode="auto">
          <a:xfrm>
            <a:off x="1828801" y="5715000"/>
            <a:ext cx="12176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400">
                <a:latin typeface="Helvetica" panose="020B0604020202020204" pitchFamily="34" charset="0"/>
              </a:rPr>
              <a:t>producer</a:t>
            </a:r>
            <a:endParaRPr lang="en-US" altLang="en-US" sz="1400">
              <a:latin typeface="Times New Roman" panose="02020603050405020304" pitchFamily="18" charset="0"/>
            </a:endParaRPr>
          </a:p>
        </p:txBody>
      </p:sp>
      <p:sp>
        <p:nvSpPr>
          <p:cNvPr id="45082" name="Text Box 26">
            <a:extLst>
              <a:ext uri="{FF2B5EF4-FFF2-40B4-BE49-F238E27FC236}">
                <a16:creationId xmlns:a16="http://schemas.microsoft.com/office/drawing/2014/main" id="{FBB49261-EEE3-AD30-CEFF-C094A6192694}"/>
              </a:ext>
            </a:extLst>
          </p:cNvPr>
          <p:cNvSpPr txBox="1">
            <a:spLocks noChangeArrowheads="1"/>
          </p:cNvSpPr>
          <p:nvPr/>
        </p:nvSpPr>
        <p:spPr bwMode="auto">
          <a:xfrm>
            <a:off x="5029201" y="5715000"/>
            <a:ext cx="12430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400">
                <a:latin typeface="Helvetica" panose="020B0604020202020204" pitchFamily="34" charset="0"/>
              </a:rPr>
              <a:t>consumer</a:t>
            </a:r>
            <a:endParaRPr lang="en-US" altLang="en-US" sz="1400">
              <a:latin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5B2CD7BF-263C-4D0D-E091-D2E5ACD7AC5C}"/>
              </a:ext>
            </a:extLst>
          </p:cNvPr>
          <p:cNvSpPr>
            <a:spLocks noGrp="1"/>
          </p:cNvSpPr>
          <p:nvPr>
            <p:ph type="sldNum" sz="quarter" idx="12"/>
          </p:nvPr>
        </p:nvSpPr>
        <p:spPr/>
        <p:txBody>
          <a:bodyPr/>
          <a:lstStyle/>
          <a:p>
            <a:fld id="{A8427590-D353-48F5-B476-D9EC178EA531}" type="slidenum">
              <a:rPr lang="en-US" altLang="en-US"/>
              <a:pPr/>
              <a:t>5</a:t>
            </a:fld>
            <a:endParaRPr lang="en-US" altLang="en-US"/>
          </a:p>
        </p:txBody>
      </p:sp>
      <p:sp>
        <p:nvSpPr>
          <p:cNvPr id="7171" name="Rectangle 3">
            <a:extLst>
              <a:ext uri="{FF2B5EF4-FFF2-40B4-BE49-F238E27FC236}">
                <a16:creationId xmlns:a16="http://schemas.microsoft.com/office/drawing/2014/main" id="{D56CCDEB-CC34-D4D0-CC8B-A93C78F9BAAD}"/>
              </a:ext>
            </a:extLst>
          </p:cNvPr>
          <p:cNvSpPr>
            <a:spLocks noGrp="1" noChangeArrowheads="1"/>
          </p:cNvSpPr>
          <p:nvPr>
            <p:ph type="subTitle" idx="1"/>
          </p:nvPr>
        </p:nvSpPr>
        <p:spPr>
          <a:xfrm>
            <a:off x="1752600" y="1447800"/>
            <a:ext cx="8915400" cy="2057400"/>
          </a:xfrm>
        </p:spPr>
        <p:txBody>
          <a:bodyPr>
            <a:normAutofit fontScale="92500" lnSpcReduction="20000"/>
          </a:bodyPr>
          <a:lstStyle/>
          <a:p>
            <a:pPr algn="l"/>
            <a:r>
              <a:rPr lang="en-US" altLang="en-US" sz="1600">
                <a:cs typeface="Times New Roman" panose="02020603050405020304" pitchFamily="18" charset="0"/>
              </a:rPr>
              <a:t> Note that 	</a:t>
            </a:r>
            <a:r>
              <a:rPr lang="en-US" altLang="en-US" sz="1600" b="1">
                <a:cs typeface="Times New Roman" panose="02020603050405020304" pitchFamily="18" charset="0"/>
              </a:rPr>
              <a:t>counter++;     </a:t>
            </a:r>
            <a:r>
              <a:rPr lang="en-US" altLang="en-US" sz="1600" b="1">
                <a:cs typeface="Times New Roman" panose="02020603050405020304" pitchFamily="18" charset="0"/>
                <a:sym typeface="Wingdings" panose="05000000000000000000" pitchFamily="2" charset="2"/>
              </a:rPr>
              <a:t></a:t>
            </a:r>
            <a:r>
              <a:rPr lang="en-US" altLang="en-US" sz="1600" b="1">
                <a:cs typeface="Times New Roman" panose="02020603050405020304" pitchFamily="18" charset="0"/>
              </a:rPr>
              <a:t> this line is NOT what it seems!!</a:t>
            </a:r>
            <a:endParaRPr lang="en-US" altLang="en-US" sz="1600">
              <a:cs typeface="Times New Roman" panose="02020603050405020304" pitchFamily="18" charset="0"/>
            </a:endParaRPr>
          </a:p>
          <a:p>
            <a:pPr algn="l">
              <a:lnSpc>
                <a:spcPct val="90000"/>
              </a:lnSpc>
            </a:pPr>
            <a:r>
              <a:rPr lang="en-US" altLang="en-US" sz="1600">
                <a:cs typeface="Times New Roman" panose="02020603050405020304" pitchFamily="18" charset="0"/>
              </a:rPr>
              <a:t> </a:t>
            </a:r>
          </a:p>
          <a:p>
            <a:pPr algn="l">
              <a:lnSpc>
                <a:spcPct val="90000"/>
              </a:lnSpc>
            </a:pPr>
            <a:r>
              <a:rPr lang="en-US" altLang="en-US" sz="1600">
                <a:cs typeface="Times New Roman" panose="02020603050405020304" pitchFamily="18" charset="0"/>
              </a:rPr>
              <a:t> is really --&gt; 	register = counter</a:t>
            </a:r>
          </a:p>
          <a:p>
            <a:pPr algn="l">
              <a:lnSpc>
                <a:spcPct val="90000"/>
              </a:lnSpc>
            </a:pPr>
            <a:r>
              <a:rPr lang="en-US" altLang="en-US" sz="1600">
                <a:cs typeface="Times New Roman" panose="02020603050405020304" pitchFamily="18" charset="0"/>
              </a:rPr>
              <a:t>    		register = register + 1</a:t>
            </a:r>
          </a:p>
          <a:p>
            <a:pPr algn="l">
              <a:lnSpc>
                <a:spcPct val="90000"/>
              </a:lnSpc>
            </a:pPr>
            <a:r>
              <a:rPr lang="en-US" altLang="en-US" sz="1600">
                <a:cs typeface="Times New Roman" panose="02020603050405020304" pitchFamily="18" charset="0"/>
              </a:rPr>
              <a:t>  		counter = register</a:t>
            </a:r>
          </a:p>
          <a:p>
            <a:pPr algn="l">
              <a:lnSpc>
                <a:spcPct val="90000"/>
              </a:lnSpc>
            </a:pPr>
            <a:r>
              <a:rPr lang="en-US" altLang="en-US" sz="1600">
                <a:cs typeface="Times New Roman" panose="02020603050405020304" pitchFamily="18" charset="0"/>
              </a:rPr>
              <a:t> </a:t>
            </a:r>
          </a:p>
          <a:p>
            <a:pPr algn="l"/>
            <a:r>
              <a:rPr lang="en-US" altLang="en-US" sz="1600">
                <a:cs typeface="Times New Roman" panose="02020603050405020304" pitchFamily="18" charset="0"/>
              </a:rPr>
              <a:t>At a micro level, the following scenario could occur using this code:</a:t>
            </a:r>
            <a:endParaRPr lang="en-US" altLang="en-US" sz="1600"/>
          </a:p>
        </p:txBody>
      </p:sp>
      <p:sp>
        <p:nvSpPr>
          <p:cNvPr id="7174" name="Rectangle 6">
            <a:extLst>
              <a:ext uri="{FF2B5EF4-FFF2-40B4-BE49-F238E27FC236}">
                <a16:creationId xmlns:a16="http://schemas.microsoft.com/office/drawing/2014/main" id="{739BF028-E55F-4B86-1ED1-0B3CBD4FB2C4}"/>
              </a:ext>
            </a:extLst>
          </p:cNvPr>
          <p:cNvSpPr>
            <a:spLocks noGrp="1" noChangeArrowheads="1"/>
          </p:cNvSpPr>
          <p:nvPr>
            <p:ph type="ctrTitle"/>
          </p:nvPr>
        </p:nvSpPr>
        <p:spPr>
          <a:xfrm>
            <a:off x="1524000" y="228600"/>
            <a:ext cx="4648200" cy="838200"/>
          </a:xfrm>
          <a:noFill/>
          <a:ln/>
        </p:spPr>
        <p:txBody>
          <a:bodyPr anchor="ctr">
            <a:normAutofit fontScale="90000"/>
          </a:bodyPr>
          <a:lstStyle/>
          <a:p>
            <a:r>
              <a:rPr lang="en-US" altLang="en-US" sz="3600" b="1"/>
              <a:t>PROCESS SYNCHRONIZATION</a:t>
            </a:r>
          </a:p>
        </p:txBody>
      </p:sp>
      <p:sp>
        <p:nvSpPr>
          <p:cNvPr id="7175" name="Text Box 7">
            <a:extLst>
              <a:ext uri="{FF2B5EF4-FFF2-40B4-BE49-F238E27FC236}">
                <a16:creationId xmlns:a16="http://schemas.microsoft.com/office/drawing/2014/main" id="{2C1981B7-66F1-783A-7DC7-7650385EBB65}"/>
              </a:ext>
            </a:extLst>
          </p:cNvPr>
          <p:cNvSpPr txBox="1">
            <a:spLocks noChangeArrowheads="1"/>
          </p:cNvSpPr>
          <p:nvPr/>
        </p:nvSpPr>
        <p:spPr bwMode="auto">
          <a:xfrm>
            <a:off x="6608029" y="1"/>
            <a:ext cx="3355854"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800" b="1">
                <a:solidFill>
                  <a:srgbClr val="FF0000"/>
                </a:solidFill>
              </a:rPr>
              <a:t>The Producer</a:t>
            </a:r>
          </a:p>
          <a:p>
            <a:pPr algn="ctr"/>
            <a:r>
              <a:rPr lang="en-US" altLang="en-US" sz="2800" b="1">
                <a:solidFill>
                  <a:srgbClr val="FF0000"/>
                </a:solidFill>
              </a:rPr>
              <a:t>Consumer Problem</a:t>
            </a:r>
          </a:p>
        </p:txBody>
      </p:sp>
      <p:sp>
        <p:nvSpPr>
          <p:cNvPr id="7176" name="Rectangle 8">
            <a:extLst>
              <a:ext uri="{FF2B5EF4-FFF2-40B4-BE49-F238E27FC236}">
                <a16:creationId xmlns:a16="http://schemas.microsoft.com/office/drawing/2014/main" id="{67512EAC-69B2-FCB9-5AB4-0BC3790BCC4F}"/>
              </a:ext>
            </a:extLst>
          </p:cNvPr>
          <p:cNvSpPr>
            <a:spLocks noChangeArrowheads="1"/>
          </p:cNvSpPr>
          <p:nvPr/>
        </p:nvSpPr>
        <p:spPr bwMode="auto">
          <a:xfrm>
            <a:off x="1752600" y="3733800"/>
            <a:ext cx="8686800" cy="190500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defRPr sz="3200">
                <a:solidFill>
                  <a:schemeClr val="tx1"/>
                </a:solidFill>
                <a:latin typeface="Arial" panose="020B0604020202020204" pitchFamily="34" charset="0"/>
              </a:defRPr>
            </a:lvl1pPr>
            <a:lvl2pPr algn="ctr">
              <a:defRPr sz="2800">
                <a:solidFill>
                  <a:schemeClr val="tx1"/>
                </a:solidFill>
                <a:latin typeface="Arial" panose="020B0604020202020204" pitchFamily="34" charset="0"/>
              </a:defRPr>
            </a:lvl2pPr>
            <a:lvl3pPr algn="ctr">
              <a:defRPr sz="2400">
                <a:solidFill>
                  <a:schemeClr val="tx1"/>
                </a:solidFill>
                <a:latin typeface="Arial" panose="020B0604020202020204" pitchFamily="34" charset="0"/>
              </a:defRPr>
            </a:lvl3pPr>
            <a:lvl4pPr algn="ctr">
              <a:defRPr sz="2000">
                <a:solidFill>
                  <a:schemeClr val="tx1"/>
                </a:solidFill>
                <a:latin typeface="Arial" panose="020B0604020202020204" pitchFamily="34" charset="0"/>
              </a:defRPr>
            </a:lvl4pPr>
            <a:lvl5pPr algn="ctr">
              <a:defRPr sz="2000">
                <a:solidFill>
                  <a:schemeClr val="tx1"/>
                </a:solidFill>
                <a:latin typeface="Arial" panose="020B0604020202020204" pitchFamily="34" charset="0"/>
              </a:defRPr>
            </a:lvl5pPr>
            <a:lvl6pPr algn="ctr" fontAlgn="base">
              <a:spcBef>
                <a:spcPct val="20000"/>
              </a:spcBef>
              <a:spcAft>
                <a:spcPct val="0"/>
              </a:spcAft>
              <a:defRPr sz="2000">
                <a:solidFill>
                  <a:schemeClr val="tx1"/>
                </a:solidFill>
                <a:latin typeface="Arial" panose="020B0604020202020204" pitchFamily="34" charset="0"/>
              </a:defRPr>
            </a:lvl6pPr>
            <a:lvl7pPr algn="ctr" fontAlgn="base">
              <a:spcBef>
                <a:spcPct val="20000"/>
              </a:spcBef>
              <a:spcAft>
                <a:spcPct val="0"/>
              </a:spcAft>
              <a:defRPr sz="2000">
                <a:solidFill>
                  <a:schemeClr val="tx1"/>
                </a:solidFill>
                <a:latin typeface="Arial" panose="020B0604020202020204" pitchFamily="34" charset="0"/>
              </a:defRPr>
            </a:lvl7pPr>
            <a:lvl8pPr algn="ctr" fontAlgn="base">
              <a:spcBef>
                <a:spcPct val="20000"/>
              </a:spcBef>
              <a:spcAft>
                <a:spcPct val="0"/>
              </a:spcAft>
              <a:defRPr sz="2000">
                <a:solidFill>
                  <a:schemeClr val="tx1"/>
                </a:solidFill>
                <a:latin typeface="Arial" panose="020B0604020202020204" pitchFamily="34" charset="0"/>
              </a:defRPr>
            </a:lvl8pPr>
            <a:lvl9pPr algn="ctr" fontAlgn="base">
              <a:spcBef>
                <a:spcPct val="20000"/>
              </a:spcBef>
              <a:spcAft>
                <a:spcPct val="0"/>
              </a:spcAft>
              <a:defRPr sz="2000">
                <a:solidFill>
                  <a:schemeClr val="tx1"/>
                </a:solidFill>
                <a:latin typeface="Arial" panose="020B0604020202020204" pitchFamily="34" charset="0"/>
              </a:defRPr>
            </a:lvl9pPr>
          </a:lstStyle>
          <a:p>
            <a:pPr algn="l"/>
            <a:r>
              <a:rPr lang="en-US" altLang="en-US" sz="1600" b="1">
                <a:cs typeface="Times New Roman" panose="02020603050405020304" pitchFamily="18" charset="0"/>
              </a:rPr>
              <a:t>TO;	Producer 	Execute	register1 = counter     	      register1 = 5</a:t>
            </a:r>
            <a:endParaRPr lang="en-US" altLang="en-US" sz="1600">
              <a:cs typeface="Times New Roman" panose="02020603050405020304" pitchFamily="18" charset="0"/>
            </a:endParaRPr>
          </a:p>
          <a:p>
            <a:pPr algn="l"/>
            <a:r>
              <a:rPr lang="en-US" altLang="en-US" sz="1600" b="1">
                <a:cs typeface="Times New Roman" panose="02020603050405020304" pitchFamily="18" charset="0"/>
              </a:rPr>
              <a:t>T1;	Producer 	Execute	register1 = register1 + 1    	      register1 = 6</a:t>
            </a:r>
            <a:endParaRPr lang="en-US" altLang="en-US" sz="1600">
              <a:cs typeface="Times New Roman" panose="02020603050405020304" pitchFamily="18" charset="0"/>
            </a:endParaRPr>
          </a:p>
          <a:p>
            <a:pPr algn="l"/>
            <a:r>
              <a:rPr lang="en-US" altLang="en-US" sz="1600" b="1">
                <a:cs typeface="Times New Roman" panose="02020603050405020304" pitchFamily="18" charset="0"/>
              </a:rPr>
              <a:t>T2;	Consumer 	Execute	register2 = counter     	      register2 = 5</a:t>
            </a:r>
            <a:endParaRPr lang="en-US" altLang="en-US" sz="1600">
              <a:cs typeface="Times New Roman" panose="02020603050405020304" pitchFamily="18" charset="0"/>
            </a:endParaRPr>
          </a:p>
          <a:p>
            <a:pPr algn="l"/>
            <a:r>
              <a:rPr lang="en-US" altLang="en-US" sz="1600" b="1">
                <a:cs typeface="Times New Roman" panose="02020603050405020304" pitchFamily="18" charset="0"/>
              </a:rPr>
              <a:t>T3;	Consumer 	Execute	register2 = register2 - 1   	      register2 = 4</a:t>
            </a:r>
            <a:endParaRPr lang="en-US" altLang="en-US" sz="1600">
              <a:cs typeface="Times New Roman" panose="02020603050405020304" pitchFamily="18" charset="0"/>
            </a:endParaRPr>
          </a:p>
          <a:p>
            <a:pPr algn="l"/>
            <a:r>
              <a:rPr lang="en-US" altLang="en-US" sz="1600" b="1">
                <a:cs typeface="Times New Roman" panose="02020603050405020304" pitchFamily="18" charset="0"/>
              </a:rPr>
              <a:t>T4;	Producer 	Execute	counter   = register1  	      counter   = 6</a:t>
            </a:r>
            <a:endParaRPr lang="en-US" altLang="en-US" sz="1600">
              <a:cs typeface="Times New Roman" panose="02020603050405020304" pitchFamily="18" charset="0"/>
            </a:endParaRPr>
          </a:p>
          <a:p>
            <a:pPr algn="l"/>
            <a:r>
              <a:rPr lang="en-US" altLang="en-US" sz="1600" b="1"/>
              <a:t>T5;	Consumer 	Execute	counter   = register2         	      counter   = 4</a:t>
            </a:r>
            <a:endParaRPr lang="en-US" altLang="en-US" sz="1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37D325EC-84BC-5BF5-DFEA-0FCAB432AB85}"/>
              </a:ext>
            </a:extLst>
          </p:cNvPr>
          <p:cNvSpPr>
            <a:spLocks noGrp="1"/>
          </p:cNvSpPr>
          <p:nvPr>
            <p:ph type="sldNum" sz="quarter" idx="12"/>
          </p:nvPr>
        </p:nvSpPr>
        <p:spPr/>
        <p:txBody>
          <a:bodyPr/>
          <a:lstStyle/>
          <a:p>
            <a:fld id="{78AA3558-C460-4053-96B9-F8ADDDC984CA}" type="slidenum">
              <a:rPr lang="en-US" altLang="en-US"/>
              <a:pPr/>
              <a:t>6</a:t>
            </a:fld>
            <a:endParaRPr lang="en-US" altLang="en-US"/>
          </a:p>
        </p:txBody>
      </p:sp>
      <p:sp>
        <p:nvSpPr>
          <p:cNvPr id="6147" name="Rectangle 3">
            <a:extLst>
              <a:ext uri="{FF2B5EF4-FFF2-40B4-BE49-F238E27FC236}">
                <a16:creationId xmlns:a16="http://schemas.microsoft.com/office/drawing/2014/main" id="{7B3C5678-AD75-ED87-9D6E-F85283525541}"/>
              </a:ext>
            </a:extLst>
          </p:cNvPr>
          <p:cNvSpPr>
            <a:spLocks noGrp="1" noChangeArrowheads="1"/>
          </p:cNvSpPr>
          <p:nvPr>
            <p:ph type="subTitle" idx="1"/>
          </p:nvPr>
        </p:nvSpPr>
        <p:spPr>
          <a:xfrm>
            <a:off x="1905000" y="1752600"/>
            <a:ext cx="8534400" cy="3733800"/>
          </a:xfrm>
        </p:spPr>
        <p:txBody>
          <a:bodyPr>
            <a:normAutofit fontScale="92500" lnSpcReduction="10000"/>
          </a:bodyPr>
          <a:lstStyle/>
          <a:p>
            <a:pPr marL="2747963" indent="-2747963" algn="l"/>
            <a:r>
              <a:rPr lang="en-US" altLang="en-US" sz="1800" b="1">
                <a:solidFill>
                  <a:srgbClr val="FF0000"/>
                </a:solidFill>
                <a:cs typeface="Times New Roman" panose="02020603050405020304" pitchFamily="18" charset="0"/>
              </a:rPr>
              <a:t>A section of code, common to n cooperating processes, in which the processes may be accessing common variables.</a:t>
            </a:r>
          </a:p>
          <a:p>
            <a:pPr marL="2747963" indent="-2747963" algn="l"/>
            <a:r>
              <a:rPr lang="en-US" altLang="en-US" sz="1600">
                <a:cs typeface="Times New Roman" panose="02020603050405020304" pitchFamily="18" charset="0"/>
              </a:rPr>
              <a:t> </a:t>
            </a:r>
          </a:p>
          <a:p>
            <a:pPr marL="2747963" indent="-2747963" algn="l"/>
            <a:r>
              <a:rPr lang="en-US" altLang="en-US" sz="1600">
                <a:cs typeface="Times New Roman" panose="02020603050405020304" pitchFamily="18" charset="0"/>
              </a:rPr>
              <a:t>A Critical Section Environment contains:</a:t>
            </a:r>
          </a:p>
          <a:p>
            <a:pPr marL="2747963" indent="-2747963" algn="l"/>
            <a:endParaRPr lang="en-US" altLang="en-US" sz="1600">
              <a:cs typeface="Times New Roman" panose="02020603050405020304" pitchFamily="18" charset="0"/>
            </a:endParaRPr>
          </a:p>
          <a:p>
            <a:pPr marL="2747963" indent="-2747963" algn="l"/>
            <a:r>
              <a:rPr lang="en-US" altLang="en-US" sz="1600" b="1">
                <a:cs typeface="Times New Roman" panose="02020603050405020304" pitchFamily="18" charset="0"/>
              </a:rPr>
              <a:t>Entry Section</a:t>
            </a:r>
            <a:r>
              <a:rPr lang="en-US" altLang="en-US" sz="1600">
                <a:cs typeface="Times New Roman" panose="02020603050405020304" pitchFamily="18" charset="0"/>
              </a:rPr>
              <a:t>	Code requesting entry into the critical section.</a:t>
            </a:r>
          </a:p>
          <a:p>
            <a:pPr marL="2747963" indent="-2747963" algn="l"/>
            <a:endParaRPr lang="en-US" altLang="en-US" sz="1600">
              <a:cs typeface="Times New Roman" panose="02020603050405020304" pitchFamily="18" charset="0"/>
            </a:endParaRPr>
          </a:p>
          <a:p>
            <a:pPr marL="2747963" indent="-2747963" algn="l"/>
            <a:r>
              <a:rPr lang="en-US" altLang="en-US" sz="1600" b="1">
                <a:cs typeface="Times New Roman" panose="02020603050405020304" pitchFamily="18" charset="0"/>
              </a:rPr>
              <a:t>Critical Section</a:t>
            </a:r>
            <a:r>
              <a:rPr lang="en-US" altLang="en-US" sz="1600">
                <a:cs typeface="Times New Roman" panose="02020603050405020304" pitchFamily="18" charset="0"/>
              </a:rPr>
              <a:t>	Code in which only one process can execute at any one time.</a:t>
            </a:r>
          </a:p>
          <a:p>
            <a:pPr marL="2747963" indent="-2747963" algn="l"/>
            <a:endParaRPr lang="en-US" altLang="en-US" sz="1600">
              <a:cs typeface="Times New Roman" panose="02020603050405020304" pitchFamily="18" charset="0"/>
            </a:endParaRPr>
          </a:p>
          <a:p>
            <a:pPr marL="2747963" indent="-2747963" algn="l"/>
            <a:r>
              <a:rPr lang="en-US" altLang="en-US" sz="1600" b="1">
                <a:cs typeface="Times New Roman" panose="02020603050405020304" pitchFamily="18" charset="0"/>
              </a:rPr>
              <a:t>Exit Section</a:t>
            </a:r>
            <a:r>
              <a:rPr lang="en-US" altLang="en-US" sz="1600">
                <a:cs typeface="Times New Roman" panose="02020603050405020304" pitchFamily="18" charset="0"/>
              </a:rPr>
              <a:t>	The end of the critical section, releasing or allowing others in.</a:t>
            </a:r>
          </a:p>
          <a:p>
            <a:pPr marL="2747963" indent="-2747963" algn="l"/>
            <a:endParaRPr lang="en-US" altLang="en-US" sz="1600">
              <a:cs typeface="Times New Roman" panose="02020603050405020304" pitchFamily="18" charset="0"/>
            </a:endParaRPr>
          </a:p>
          <a:p>
            <a:pPr marL="2747963" indent="-2747963" algn="l"/>
            <a:r>
              <a:rPr lang="en-US" altLang="en-US" sz="1600" b="1">
                <a:cs typeface="Times New Roman" panose="02020603050405020304" pitchFamily="18" charset="0"/>
              </a:rPr>
              <a:t>Remainder Section</a:t>
            </a:r>
            <a:r>
              <a:rPr lang="en-US" altLang="en-US" sz="1600">
                <a:cs typeface="Times New Roman" panose="02020603050405020304" pitchFamily="18" charset="0"/>
              </a:rPr>
              <a:t>	Rest of the code AFTER the critical section.</a:t>
            </a:r>
          </a:p>
          <a:p>
            <a:pPr marL="2747963" indent="-2747963" algn="l"/>
            <a:endParaRPr lang="en-US" altLang="en-US" sz="1600">
              <a:cs typeface="Times New Roman" panose="02020603050405020304" pitchFamily="18" charset="0"/>
            </a:endParaRPr>
          </a:p>
        </p:txBody>
      </p:sp>
      <p:sp>
        <p:nvSpPr>
          <p:cNvPr id="6151" name="Rectangle 7">
            <a:extLst>
              <a:ext uri="{FF2B5EF4-FFF2-40B4-BE49-F238E27FC236}">
                <a16:creationId xmlns:a16="http://schemas.microsoft.com/office/drawing/2014/main" id="{EF697961-93D1-00CF-62B4-C4A2BB2E5F82}"/>
              </a:ext>
            </a:extLst>
          </p:cNvPr>
          <p:cNvSpPr>
            <a:spLocks noGrp="1" noChangeArrowheads="1"/>
          </p:cNvSpPr>
          <p:nvPr>
            <p:ph type="ctrTitle"/>
          </p:nvPr>
        </p:nvSpPr>
        <p:spPr>
          <a:xfrm>
            <a:off x="1524000" y="228600"/>
            <a:ext cx="4648200" cy="838200"/>
          </a:xfrm>
          <a:noFill/>
          <a:ln/>
        </p:spPr>
        <p:txBody>
          <a:bodyPr anchor="ctr">
            <a:normAutofit fontScale="90000"/>
          </a:bodyPr>
          <a:lstStyle/>
          <a:p>
            <a:r>
              <a:rPr lang="en-US" altLang="en-US" sz="3600" b="1"/>
              <a:t>PROCESS SYNCHRONIZATION</a:t>
            </a:r>
          </a:p>
        </p:txBody>
      </p:sp>
      <p:sp>
        <p:nvSpPr>
          <p:cNvPr id="6152" name="Text Box 8">
            <a:extLst>
              <a:ext uri="{FF2B5EF4-FFF2-40B4-BE49-F238E27FC236}">
                <a16:creationId xmlns:a16="http://schemas.microsoft.com/office/drawing/2014/main" id="{4A2A70E7-BA85-1120-4BB7-248D58E151CD}"/>
              </a:ext>
            </a:extLst>
          </p:cNvPr>
          <p:cNvSpPr txBox="1">
            <a:spLocks noChangeArrowheads="1"/>
          </p:cNvSpPr>
          <p:nvPr/>
        </p:nvSpPr>
        <p:spPr bwMode="auto">
          <a:xfrm>
            <a:off x="6781800" y="381001"/>
            <a:ext cx="29733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800" b="1">
                <a:solidFill>
                  <a:srgbClr val="FF0000"/>
                </a:solidFill>
              </a:rPr>
              <a:t>Critical Sections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7BE37F3-A5A8-9F01-4966-E38000BAF5C1}"/>
              </a:ext>
            </a:extLst>
          </p:cNvPr>
          <p:cNvSpPr>
            <a:spLocks noGrp="1"/>
          </p:cNvSpPr>
          <p:nvPr>
            <p:ph type="sldNum" sz="quarter" idx="12"/>
          </p:nvPr>
        </p:nvSpPr>
        <p:spPr/>
        <p:txBody>
          <a:bodyPr/>
          <a:lstStyle/>
          <a:p>
            <a:fld id="{85424522-414A-41CE-B2D2-A873050A0AE4}" type="slidenum">
              <a:rPr lang="en-US" altLang="en-US"/>
              <a:pPr/>
              <a:t>7</a:t>
            </a:fld>
            <a:endParaRPr lang="en-US" altLang="en-US"/>
          </a:p>
        </p:txBody>
      </p:sp>
      <p:sp>
        <p:nvSpPr>
          <p:cNvPr id="28675" name="Text Box 3">
            <a:extLst>
              <a:ext uri="{FF2B5EF4-FFF2-40B4-BE49-F238E27FC236}">
                <a16:creationId xmlns:a16="http://schemas.microsoft.com/office/drawing/2014/main" id="{C4506CF8-420E-79A3-D3FA-0487E79E94F5}"/>
              </a:ext>
            </a:extLst>
          </p:cNvPr>
          <p:cNvSpPr txBox="1">
            <a:spLocks noChangeArrowheads="1"/>
          </p:cNvSpPr>
          <p:nvPr/>
        </p:nvSpPr>
        <p:spPr bwMode="auto">
          <a:xfrm>
            <a:off x="1905000" y="1981200"/>
            <a:ext cx="8305800" cy="339725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114550" indent="-2114550">
              <a:spcBef>
                <a:spcPct val="0"/>
              </a:spcBef>
              <a:defRPr sz="2400">
                <a:solidFill>
                  <a:schemeClr val="tx1"/>
                </a:solidFill>
                <a:latin typeface="Times New Roman" panose="02020603050405020304" pitchFamily="18" charset="0"/>
              </a:defRPr>
            </a:lvl1pPr>
            <a:lvl2pPr marL="2686050" indent="-457200">
              <a:spcBef>
                <a:spcPct val="0"/>
              </a:spcBef>
              <a:defRPr sz="2400">
                <a:solidFill>
                  <a:schemeClr val="tx1"/>
                </a:solidFill>
                <a:latin typeface="Times New Roman" panose="02020603050405020304" pitchFamily="18" charset="0"/>
              </a:defRPr>
            </a:lvl2pPr>
            <a:lvl3pPr marL="3257550" indent="-457200">
              <a:spcBef>
                <a:spcPct val="0"/>
              </a:spcBef>
              <a:defRPr sz="2400">
                <a:solidFill>
                  <a:schemeClr val="tx1"/>
                </a:solidFill>
                <a:latin typeface="Times New Roman" panose="02020603050405020304" pitchFamily="18" charset="0"/>
              </a:defRPr>
            </a:lvl3pPr>
            <a:lvl4pPr marL="3829050" indent="-457200">
              <a:spcBef>
                <a:spcPct val="0"/>
              </a:spcBef>
              <a:defRPr sz="2400">
                <a:solidFill>
                  <a:schemeClr val="tx1"/>
                </a:solidFill>
                <a:latin typeface="Times New Roman" panose="02020603050405020304" pitchFamily="18" charset="0"/>
              </a:defRPr>
            </a:lvl4pPr>
            <a:lvl5pPr marL="4400550" indent="-457200">
              <a:spcBef>
                <a:spcPct val="0"/>
              </a:spcBef>
              <a:defRPr sz="2400">
                <a:solidFill>
                  <a:schemeClr val="tx1"/>
                </a:solidFill>
                <a:latin typeface="Times New Roman" panose="02020603050405020304" pitchFamily="18" charset="0"/>
              </a:defRPr>
            </a:lvl5pPr>
            <a:lvl6pPr marL="4857750" indent="-457200" fontAlgn="base">
              <a:spcBef>
                <a:spcPct val="0"/>
              </a:spcBef>
              <a:spcAft>
                <a:spcPct val="0"/>
              </a:spcAft>
              <a:defRPr sz="2400">
                <a:solidFill>
                  <a:schemeClr val="tx1"/>
                </a:solidFill>
                <a:latin typeface="Times New Roman" panose="02020603050405020304" pitchFamily="18" charset="0"/>
              </a:defRPr>
            </a:lvl6pPr>
            <a:lvl7pPr marL="5314950" indent="-457200" fontAlgn="base">
              <a:spcBef>
                <a:spcPct val="0"/>
              </a:spcBef>
              <a:spcAft>
                <a:spcPct val="0"/>
              </a:spcAft>
              <a:defRPr sz="2400">
                <a:solidFill>
                  <a:schemeClr val="tx1"/>
                </a:solidFill>
                <a:latin typeface="Times New Roman" panose="02020603050405020304" pitchFamily="18" charset="0"/>
              </a:defRPr>
            </a:lvl7pPr>
            <a:lvl8pPr marL="5772150" indent="-457200" fontAlgn="base">
              <a:spcBef>
                <a:spcPct val="0"/>
              </a:spcBef>
              <a:spcAft>
                <a:spcPct val="0"/>
              </a:spcAft>
              <a:defRPr sz="2400">
                <a:solidFill>
                  <a:schemeClr val="tx1"/>
                </a:solidFill>
                <a:latin typeface="Times New Roman" panose="02020603050405020304" pitchFamily="18" charset="0"/>
              </a:defRPr>
            </a:lvl8pPr>
            <a:lvl9pPr marL="6229350" indent="-457200" fontAlgn="base">
              <a:spcBef>
                <a:spcPct val="0"/>
              </a:spcBef>
              <a:spcAft>
                <a:spcPct val="0"/>
              </a:spcAft>
              <a:defRPr sz="2400">
                <a:solidFill>
                  <a:schemeClr val="tx1"/>
                </a:solidFill>
                <a:latin typeface="Times New Roman" panose="02020603050405020304" pitchFamily="18" charset="0"/>
              </a:defRPr>
            </a:lvl9pPr>
          </a:lstStyle>
          <a:p>
            <a:pPr>
              <a:spcBef>
                <a:spcPct val="20000"/>
              </a:spcBef>
            </a:pPr>
            <a:r>
              <a:rPr lang="en-US" altLang="en-US" sz="1800" b="1">
                <a:latin typeface="Arial" panose="020B0604020202020204" pitchFamily="34" charset="0"/>
                <a:cs typeface="Times New Roman" panose="02020603050405020304" pitchFamily="18" charset="0"/>
              </a:rPr>
              <a:t>The critical section must ENFORCE ALL THREE of the following rules:</a:t>
            </a:r>
            <a:endParaRPr lang="en-US" altLang="en-US" sz="1800">
              <a:latin typeface="Arial" panose="020B0604020202020204" pitchFamily="34" charset="0"/>
            </a:endParaRPr>
          </a:p>
          <a:p>
            <a:endParaRPr lang="en-US" altLang="en-US" sz="1800">
              <a:latin typeface="Arial" panose="020B0604020202020204" pitchFamily="34" charset="0"/>
            </a:endParaRPr>
          </a:p>
          <a:p>
            <a:r>
              <a:rPr lang="en-US" altLang="en-US" sz="1800" b="1">
                <a:solidFill>
                  <a:schemeClr val="accent2"/>
                </a:solidFill>
                <a:latin typeface="Arial" panose="020B0604020202020204" pitchFamily="34" charset="0"/>
              </a:rPr>
              <a:t>Mutual Exclusion:</a:t>
            </a:r>
            <a:r>
              <a:rPr lang="en-US" altLang="en-US" sz="1800">
                <a:latin typeface="Arial" panose="020B0604020202020204" pitchFamily="34" charset="0"/>
              </a:rPr>
              <a:t>  No more than one </a:t>
            </a:r>
            <a:r>
              <a:rPr lang="en-US" altLang="en-US" sz="1800">
                <a:latin typeface="Arial" panose="020B0604020202020204" pitchFamily="34" charset="0"/>
                <a:cs typeface="Times New Roman" panose="02020603050405020304" pitchFamily="18" charset="0"/>
              </a:rPr>
              <a:t>process can execute in its critical section at one time.</a:t>
            </a:r>
          </a:p>
          <a:p>
            <a:pPr>
              <a:buFontTx/>
              <a:buChar char="•"/>
            </a:pPr>
            <a:endParaRPr lang="en-US" altLang="en-US" sz="1800">
              <a:latin typeface="Arial" panose="020B0604020202020204" pitchFamily="34" charset="0"/>
              <a:cs typeface="Times New Roman" panose="02020603050405020304" pitchFamily="18" charset="0"/>
            </a:endParaRPr>
          </a:p>
          <a:p>
            <a:r>
              <a:rPr lang="en-US" altLang="en-US" sz="1800" b="1">
                <a:solidFill>
                  <a:schemeClr val="accent2"/>
                </a:solidFill>
                <a:latin typeface="Arial" panose="020B0604020202020204" pitchFamily="34" charset="0"/>
                <a:cs typeface="Times New Roman" panose="02020603050405020304" pitchFamily="18" charset="0"/>
              </a:rPr>
              <a:t>Progress:</a:t>
            </a:r>
            <a:r>
              <a:rPr lang="en-US" altLang="en-US" sz="1800">
                <a:latin typeface="Arial" panose="020B0604020202020204" pitchFamily="34" charset="0"/>
                <a:cs typeface="Times New Roman" panose="02020603050405020304" pitchFamily="18" charset="0"/>
              </a:rPr>
              <a:t>  	If no one is in the critical section and someone wants in, then those processes not in their remainder section must be able to decide in a finite time who should go in.</a:t>
            </a:r>
          </a:p>
          <a:p>
            <a:pPr>
              <a:buFontTx/>
              <a:buChar char="•"/>
            </a:pPr>
            <a:endParaRPr lang="en-US" altLang="en-US" sz="1800">
              <a:latin typeface="Arial" panose="020B0604020202020204" pitchFamily="34" charset="0"/>
              <a:cs typeface="Times New Roman" panose="02020603050405020304" pitchFamily="18" charset="0"/>
            </a:endParaRPr>
          </a:p>
          <a:p>
            <a:r>
              <a:rPr lang="en-US" altLang="en-US" sz="1800" b="1">
                <a:solidFill>
                  <a:schemeClr val="accent2"/>
                </a:solidFill>
                <a:latin typeface="Arial" panose="020B0604020202020204" pitchFamily="34" charset="0"/>
                <a:cs typeface="Times New Roman" panose="02020603050405020304" pitchFamily="18" charset="0"/>
              </a:rPr>
              <a:t>Bounded Wait:</a:t>
            </a:r>
            <a:r>
              <a:rPr lang="en-US" altLang="en-US" sz="1800">
                <a:latin typeface="Arial" panose="020B0604020202020204" pitchFamily="34" charset="0"/>
                <a:cs typeface="Times New Roman" panose="02020603050405020304" pitchFamily="18" charset="0"/>
              </a:rPr>
              <a:t> 	All requesters must eventually be let into the critical section.</a:t>
            </a:r>
          </a:p>
          <a:p>
            <a:endParaRPr lang="en-US" altLang="en-US" sz="1800">
              <a:latin typeface="Arial" panose="020B0604020202020204" pitchFamily="34" charset="0"/>
              <a:cs typeface="Times New Roman" panose="02020603050405020304" pitchFamily="18" charset="0"/>
            </a:endParaRPr>
          </a:p>
        </p:txBody>
      </p:sp>
      <p:sp>
        <p:nvSpPr>
          <p:cNvPr id="28676" name="Rectangle 4">
            <a:extLst>
              <a:ext uri="{FF2B5EF4-FFF2-40B4-BE49-F238E27FC236}">
                <a16:creationId xmlns:a16="http://schemas.microsoft.com/office/drawing/2014/main" id="{022D3851-DEC1-DFCB-CB8B-045D868D38E7}"/>
              </a:ext>
            </a:extLst>
          </p:cNvPr>
          <p:cNvSpPr>
            <a:spLocks noGrp="1" noChangeArrowheads="1"/>
          </p:cNvSpPr>
          <p:nvPr>
            <p:ph type="ctrTitle"/>
          </p:nvPr>
        </p:nvSpPr>
        <p:spPr>
          <a:xfrm>
            <a:off x="1524000" y="228600"/>
            <a:ext cx="4648200" cy="838200"/>
          </a:xfrm>
          <a:noFill/>
          <a:ln/>
        </p:spPr>
        <p:txBody>
          <a:bodyPr anchor="ctr">
            <a:normAutofit fontScale="90000"/>
          </a:bodyPr>
          <a:lstStyle/>
          <a:p>
            <a:r>
              <a:rPr lang="en-US" altLang="en-US" sz="3600" b="1"/>
              <a:t>PROCESS SYNCHRONIZATION</a:t>
            </a:r>
          </a:p>
        </p:txBody>
      </p:sp>
      <p:sp>
        <p:nvSpPr>
          <p:cNvPr id="28677" name="Text Box 5">
            <a:extLst>
              <a:ext uri="{FF2B5EF4-FFF2-40B4-BE49-F238E27FC236}">
                <a16:creationId xmlns:a16="http://schemas.microsoft.com/office/drawing/2014/main" id="{A4BFD06B-82E1-7192-69C1-CBEDE9854CCE}"/>
              </a:ext>
            </a:extLst>
          </p:cNvPr>
          <p:cNvSpPr txBox="1">
            <a:spLocks noChangeArrowheads="1"/>
          </p:cNvSpPr>
          <p:nvPr/>
        </p:nvSpPr>
        <p:spPr bwMode="auto">
          <a:xfrm>
            <a:off x="6781800" y="381001"/>
            <a:ext cx="29733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800" b="1">
                <a:solidFill>
                  <a:srgbClr val="FF0000"/>
                </a:solidFill>
              </a:rPr>
              <a:t>Critical Sections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EF3DD973-2C6D-2F08-9205-3B225B3140DE}"/>
              </a:ext>
            </a:extLst>
          </p:cNvPr>
          <p:cNvSpPr>
            <a:spLocks noGrp="1"/>
          </p:cNvSpPr>
          <p:nvPr>
            <p:ph type="sldNum" sz="quarter" idx="12"/>
          </p:nvPr>
        </p:nvSpPr>
        <p:spPr/>
        <p:txBody>
          <a:bodyPr/>
          <a:lstStyle/>
          <a:p>
            <a:fld id="{F9E48617-14DF-4BE9-B6C6-8B5328E6EE25}" type="slidenum">
              <a:rPr lang="en-US" altLang="en-US"/>
              <a:pPr/>
              <a:t>8</a:t>
            </a:fld>
            <a:endParaRPr lang="en-US" altLang="en-US"/>
          </a:p>
        </p:txBody>
      </p:sp>
      <p:sp>
        <p:nvSpPr>
          <p:cNvPr id="8198" name="Text Box 6">
            <a:extLst>
              <a:ext uri="{FF2B5EF4-FFF2-40B4-BE49-F238E27FC236}">
                <a16:creationId xmlns:a16="http://schemas.microsoft.com/office/drawing/2014/main" id="{E6EAD993-4453-37F8-072D-6218D73987E7}"/>
              </a:ext>
            </a:extLst>
          </p:cNvPr>
          <p:cNvSpPr txBox="1">
            <a:spLocks noChangeArrowheads="1"/>
          </p:cNvSpPr>
          <p:nvPr/>
        </p:nvSpPr>
        <p:spPr bwMode="auto">
          <a:xfrm>
            <a:off x="1828800" y="2667000"/>
            <a:ext cx="4267200" cy="1938992"/>
          </a:xfrm>
          <a:prstGeom prst="rect">
            <a:avLst/>
          </a:prstGeom>
          <a:noFill/>
          <a:ln w="38100">
            <a:solidFill>
              <a:srgbClr val="FFCC99"/>
            </a:solidFill>
            <a:miter lim="800000"/>
            <a:headEnd/>
            <a:tailEnd/>
          </a:ln>
          <a:effectLst/>
          <a:extLst>
            <a:ext uri="{909E8E84-426E-40DD-AFC4-6F175D3DCCD1}">
              <a14:hiddenFill xmlns:a14="http://schemas.microsoft.com/office/drawing/2010/main">
                <a:solidFill>
                  <a:srgbClr val="FFCC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b="1">
                <a:cs typeface="Times New Roman" panose="02020603050405020304" pitchFamily="18" charset="0"/>
              </a:rPr>
              <a:t>do {</a:t>
            </a:r>
          </a:p>
          <a:p>
            <a:r>
              <a:rPr lang="en-US" altLang="en-US" sz="2000" b="1">
                <a:cs typeface="Times New Roman" panose="02020603050405020304" pitchFamily="18" charset="0"/>
              </a:rPr>
              <a:t>	while  ( turn  ^=  i );</a:t>
            </a:r>
          </a:p>
          <a:p>
            <a:r>
              <a:rPr lang="en-US" altLang="en-US" sz="2000" b="1">
                <a:cs typeface="Times New Roman" panose="02020603050405020304" pitchFamily="18" charset="0"/>
              </a:rPr>
              <a:t>	/* critical section  */</a:t>
            </a:r>
          </a:p>
          <a:p>
            <a:r>
              <a:rPr lang="en-US" altLang="en-US" sz="2000" b="1">
                <a:cs typeface="Times New Roman" panose="02020603050405020304" pitchFamily="18" charset="0"/>
              </a:rPr>
              <a:t>	turn  =  j;</a:t>
            </a:r>
          </a:p>
          <a:p>
            <a:r>
              <a:rPr lang="en-US" altLang="en-US" sz="2000" b="1">
                <a:cs typeface="Times New Roman" panose="02020603050405020304" pitchFamily="18" charset="0"/>
              </a:rPr>
              <a:t>	/* remainder section */</a:t>
            </a:r>
          </a:p>
          <a:p>
            <a:r>
              <a:rPr lang="en-US" altLang="en-US" sz="2000" b="1">
                <a:cs typeface="Times New Roman" panose="02020603050405020304" pitchFamily="18" charset="0"/>
              </a:rPr>
              <a:t> } while(TRUE);</a:t>
            </a:r>
            <a:endParaRPr lang="en-US" altLang="en-US" sz="2000" b="1"/>
          </a:p>
        </p:txBody>
      </p:sp>
      <p:sp>
        <p:nvSpPr>
          <p:cNvPr id="8201" name="Rectangle 9">
            <a:extLst>
              <a:ext uri="{FF2B5EF4-FFF2-40B4-BE49-F238E27FC236}">
                <a16:creationId xmlns:a16="http://schemas.microsoft.com/office/drawing/2014/main" id="{1E83FDCB-B736-8A56-7CD8-F12CA4A074D4}"/>
              </a:ext>
            </a:extLst>
          </p:cNvPr>
          <p:cNvSpPr>
            <a:spLocks noGrp="1" noChangeArrowheads="1"/>
          </p:cNvSpPr>
          <p:nvPr>
            <p:ph type="ctrTitle"/>
          </p:nvPr>
        </p:nvSpPr>
        <p:spPr>
          <a:xfrm>
            <a:off x="1524000" y="228600"/>
            <a:ext cx="4648200" cy="838200"/>
          </a:xfrm>
          <a:noFill/>
          <a:ln/>
        </p:spPr>
        <p:txBody>
          <a:bodyPr anchor="ctr">
            <a:normAutofit fontScale="90000"/>
          </a:bodyPr>
          <a:lstStyle/>
          <a:p>
            <a:r>
              <a:rPr lang="en-US" altLang="en-US" sz="3600" b="1"/>
              <a:t>PROCESS SYNCHRONIZATION</a:t>
            </a:r>
          </a:p>
        </p:txBody>
      </p:sp>
      <p:sp>
        <p:nvSpPr>
          <p:cNvPr id="8202" name="Text Box 10">
            <a:extLst>
              <a:ext uri="{FF2B5EF4-FFF2-40B4-BE49-F238E27FC236}">
                <a16:creationId xmlns:a16="http://schemas.microsoft.com/office/drawing/2014/main" id="{EAF0818E-A96F-8C56-29AC-F02457ED448B}"/>
              </a:ext>
            </a:extLst>
          </p:cNvPr>
          <p:cNvSpPr txBox="1">
            <a:spLocks noChangeArrowheads="1"/>
          </p:cNvSpPr>
          <p:nvPr/>
        </p:nvSpPr>
        <p:spPr bwMode="auto">
          <a:xfrm>
            <a:off x="6971282" y="381001"/>
            <a:ext cx="2607124"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800" b="1">
                <a:solidFill>
                  <a:srgbClr val="FF0000"/>
                </a:solidFill>
              </a:rPr>
              <a:t>Two Processes</a:t>
            </a:r>
          </a:p>
          <a:p>
            <a:pPr algn="ctr"/>
            <a:r>
              <a:rPr lang="en-US" altLang="en-US" sz="2800" b="1">
                <a:solidFill>
                  <a:srgbClr val="FF0000"/>
                </a:solidFill>
              </a:rPr>
              <a:t>Software </a:t>
            </a:r>
          </a:p>
        </p:txBody>
      </p:sp>
      <p:sp>
        <p:nvSpPr>
          <p:cNvPr id="8204" name="Oval 12">
            <a:extLst>
              <a:ext uri="{FF2B5EF4-FFF2-40B4-BE49-F238E27FC236}">
                <a16:creationId xmlns:a16="http://schemas.microsoft.com/office/drawing/2014/main" id="{3A12AE9B-232E-3EC0-6E83-8211F6590F27}"/>
              </a:ext>
            </a:extLst>
          </p:cNvPr>
          <p:cNvSpPr>
            <a:spLocks noChangeArrowheads="1"/>
          </p:cNvSpPr>
          <p:nvPr/>
        </p:nvSpPr>
        <p:spPr bwMode="auto">
          <a:xfrm>
            <a:off x="7086600" y="3581400"/>
            <a:ext cx="2286000" cy="914400"/>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07" name="Rectangle 15">
            <a:extLst>
              <a:ext uri="{FF2B5EF4-FFF2-40B4-BE49-F238E27FC236}">
                <a16:creationId xmlns:a16="http://schemas.microsoft.com/office/drawing/2014/main" id="{67E3B015-76EF-622D-9A2B-D0870B9F03F7}"/>
              </a:ext>
            </a:extLst>
          </p:cNvPr>
          <p:cNvSpPr>
            <a:spLocks noGrp="1" noChangeArrowheads="1"/>
          </p:cNvSpPr>
          <p:nvPr>
            <p:ph type="subTitle" idx="1"/>
          </p:nvPr>
        </p:nvSpPr>
        <p:spPr>
          <a:xfrm>
            <a:off x="1905000" y="1524000"/>
            <a:ext cx="8382000" cy="762000"/>
          </a:xfrm>
        </p:spPr>
        <p:txBody>
          <a:bodyPr/>
          <a:lstStyle/>
          <a:p>
            <a:r>
              <a:rPr lang="en-US" altLang="en-US" sz="2000">
                <a:solidFill>
                  <a:srgbClr val="FF66FF"/>
                </a:solidFill>
              </a:rPr>
              <a:t>Here’s an example of a simple piece of code containing the components required in a critical section.</a:t>
            </a:r>
          </a:p>
        </p:txBody>
      </p:sp>
      <p:sp>
        <p:nvSpPr>
          <p:cNvPr id="8208" name="Text Box 16">
            <a:extLst>
              <a:ext uri="{FF2B5EF4-FFF2-40B4-BE49-F238E27FC236}">
                <a16:creationId xmlns:a16="http://schemas.microsoft.com/office/drawing/2014/main" id="{23863CBB-D896-B1BA-E3AA-8ADEC2159392}"/>
              </a:ext>
            </a:extLst>
          </p:cNvPr>
          <p:cNvSpPr txBox="1">
            <a:spLocks noChangeArrowheads="1"/>
          </p:cNvSpPr>
          <p:nvPr/>
        </p:nvSpPr>
        <p:spPr bwMode="auto">
          <a:xfrm>
            <a:off x="7467601" y="2895600"/>
            <a:ext cx="174509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1">
                <a:solidFill>
                  <a:srgbClr val="FF66FF"/>
                </a:solidFill>
              </a:rPr>
              <a:t>Entry Section</a:t>
            </a:r>
          </a:p>
        </p:txBody>
      </p:sp>
      <p:sp>
        <p:nvSpPr>
          <p:cNvPr id="8209" name="Text Box 17">
            <a:extLst>
              <a:ext uri="{FF2B5EF4-FFF2-40B4-BE49-F238E27FC236}">
                <a16:creationId xmlns:a16="http://schemas.microsoft.com/office/drawing/2014/main" id="{C93B4A0C-2EAE-60CE-4ECA-BCE4D72CF09B}"/>
              </a:ext>
            </a:extLst>
          </p:cNvPr>
          <p:cNvSpPr txBox="1">
            <a:spLocks noChangeArrowheads="1"/>
          </p:cNvSpPr>
          <p:nvPr/>
        </p:nvSpPr>
        <p:spPr bwMode="auto">
          <a:xfrm>
            <a:off x="7391401" y="3505201"/>
            <a:ext cx="20304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1">
                <a:solidFill>
                  <a:srgbClr val="FF66FF"/>
                </a:solidFill>
              </a:rPr>
              <a:t>Critical Section</a:t>
            </a:r>
          </a:p>
        </p:txBody>
      </p:sp>
      <p:sp>
        <p:nvSpPr>
          <p:cNvPr id="8210" name="Text Box 18">
            <a:extLst>
              <a:ext uri="{FF2B5EF4-FFF2-40B4-BE49-F238E27FC236}">
                <a16:creationId xmlns:a16="http://schemas.microsoft.com/office/drawing/2014/main" id="{E134C511-8979-8777-AE02-EEBC1AFF3D98}"/>
              </a:ext>
            </a:extLst>
          </p:cNvPr>
          <p:cNvSpPr txBox="1">
            <a:spLocks noChangeArrowheads="1"/>
          </p:cNvSpPr>
          <p:nvPr/>
        </p:nvSpPr>
        <p:spPr bwMode="auto">
          <a:xfrm>
            <a:off x="7391400" y="4191000"/>
            <a:ext cx="156645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1">
                <a:solidFill>
                  <a:srgbClr val="FF66FF"/>
                </a:solidFill>
              </a:rPr>
              <a:t>Exit Section</a:t>
            </a:r>
          </a:p>
        </p:txBody>
      </p:sp>
      <p:sp>
        <p:nvSpPr>
          <p:cNvPr id="8211" name="Text Box 19">
            <a:extLst>
              <a:ext uri="{FF2B5EF4-FFF2-40B4-BE49-F238E27FC236}">
                <a16:creationId xmlns:a16="http://schemas.microsoft.com/office/drawing/2014/main" id="{850D2301-0300-4DD8-C5FC-6258D16D6C5B}"/>
              </a:ext>
            </a:extLst>
          </p:cNvPr>
          <p:cNvSpPr txBox="1">
            <a:spLocks noChangeArrowheads="1"/>
          </p:cNvSpPr>
          <p:nvPr/>
        </p:nvSpPr>
        <p:spPr bwMode="auto">
          <a:xfrm>
            <a:off x="7391400" y="4876801"/>
            <a:ext cx="2484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1">
                <a:solidFill>
                  <a:srgbClr val="FF66FF"/>
                </a:solidFill>
              </a:rPr>
              <a:t>Remainder Section</a:t>
            </a:r>
          </a:p>
        </p:txBody>
      </p:sp>
      <p:sp>
        <p:nvSpPr>
          <p:cNvPr id="8212" name="Line 20">
            <a:extLst>
              <a:ext uri="{FF2B5EF4-FFF2-40B4-BE49-F238E27FC236}">
                <a16:creationId xmlns:a16="http://schemas.microsoft.com/office/drawing/2014/main" id="{8433F7EA-518E-2AA3-3F63-35EE92408418}"/>
              </a:ext>
            </a:extLst>
          </p:cNvPr>
          <p:cNvSpPr>
            <a:spLocks noChangeShapeType="1"/>
          </p:cNvSpPr>
          <p:nvPr/>
        </p:nvSpPr>
        <p:spPr bwMode="auto">
          <a:xfrm flipH="1">
            <a:off x="5486400" y="3124200"/>
            <a:ext cx="1828800" cy="152400"/>
          </a:xfrm>
          <a:prstGeom prst="line">
            <a:avLst/>
          </a:prstGeom>
          <a:noFill/>
          <a:ln w="57150">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13" name="Line 21">
            <a:extLst>
              <a:ext uri="{FF2B5EF4-FFF2-40B4-BE49-F238E27FC236}">
                <a16:creationId xmlns:a16="http://schemas.microsoft.com/office/drawing/2014/main" id="{BF833257-FE79-6EB2-C645-68C8001D0859}"/>
              </a:ext>
            </a:extLst>
          </p:cNvPr>
          <p:cNvSpPr>
            <a:spLocks noChangeShapeType="1"/>
          </p:cNvSpPr>
          <p:nvPr/>
        </p:nvSpPr>
        <p:spPr bwMode="auto">
          <a:xfrm flipH="1" flipV="1">
            <a:off x="5410200" y="3581400"/>
            <a:ext cx="1905000" cy="76200"/>
          </a:xfrm>
          <a:prstGeom prst="line">
            <a:avLst/>
          </a:prstGeom>
          <a:noFill/>
          <a:ln w="57150">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14" name="Line 22">
            <a:extLst>
              <a:ext uri="{FF2B5EF4-FFF2-40B4-BE49-F238E27FC236}">
                <a16:creationId xmlns:a16="http://schemas.microsoft.com/office/drawing/2014/main" id="{86DAF131-1D5F-CDEE-42D0-333FBD89783D}"/>
              </a:ext>
            </a:extLst>
          </p:cNvPr>
          <p:cNvSpPr>
            <a:spLocks noChangeShapeType="1"/>
          </p:cNvSpPr>
          <p:nvPr/>
        </p:nvSpPr>
        <p:spPr bwMode="auto">
          <a:xfrm flipH="1" flipV="1">
            <a:off x="5029200" y="3962400"/>
            <a:ext cx="2286000" cy="381000"/>
          </a:xfrm>
          <a:prstGeom prst="line">
            <a:avLst/>
          </a:prstGeom>
          <a:noFill/>
          <a:ln w="57150">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15" name="Line 23">
            <a:extLst>
              <a:ext uri="{FF2B5EF4-FFF2-40B4-BE49-F238E27FC236}">
                <a16:creationId xmlns:a16="http://schemas.microsoft.com/office/drawing/2014/main" id="{FC08C23C-44BD-804E-DA40-06ADB952D0A8}"/>
              </a:ext>
            </a:extLst>
          </p:cNvPr>
          <p:cNvSpPr>
            <a:spLocks noChangeShapeType="1"/>
          </p:cNvSpPr>
          <p:nvPr/>
        </p:nvSpPr>
        <p:spPr bwMode="auto">
          <a:xfrm flipH="1" flipV="1">
            <a:off x="5638800" y="4419600"/>
            <a:ext cx="1752600" cy="533400"/>
          </a:xfrm>
          <a:prstGeom prst="line">
            <a:avLst/>
          </a:prstGeom>
          <a:noFill/>
          <a:ln w="57150">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46256863-F539-5C31-7BE4-CE3864F15BA7}"/>
              </a:ext>
            </a:extLst>
          </p:cNvPr>
          <p:cNvSpPr>
            <a:spLocks noGrp="1"/>
          </p:cNvSpPr>
          <p:nvPr>
            <p:ph type="sldNum" sz="quarter" idx="12"/>
          </p:nvPr>
        </p:nvSpPr>
        <p:spPr/>
        <p:txBody>
          <a:bodyPr/>
          <a:lstStyle/>
          <a:p>
            <a:fld id="{8D182E41-8199-4F26-8FC2-AA814E6B2146}" type="slidenum">
              <a:rPr lang="en-US" altLang="en-US"/>
              <a:pPr/>
              <a:t>9</a:t>
            </a:fld>
            <a:endParaRPr lang="en-US" altLang="en-US"/>
          </a:p>
        </p:txBody>
      </p:sp>
      <p:sp>
        <p:nvSpPr>
          <p:cNvPr id="46082" name="Rectangle 2">
            <a:extLst>
              <a:ext uri="{FF2B5EF4-FFF2-40B4-BE49-F238E27FC236}">
                <a16:creationId xmlns:a16="http://schemas.microsoft.com/office/drawing/2014/main" id="{66704CF9-F081-8326-C034-5CD79BA49250}"/>
              </a:ext>
            </a:extLst>
          </p:cNvPr>
          <p:cNvSpPr>
            <a:spLocks noGrp="1" noChangeArrowheads="1"/>
          </p:cNvSpPr>
          <p:nvPr>
            <p:ph type="subTitle" idx="1"/>
          </p:nvPr>
        </p:nvSpPr>
        <p:spPr>
          <a:xfrm>
            <a:off x="1905000" y="1524000"/>
            <a:ext cx="8534400" cy="1600200"/>
          </a:xfrm>
        </p:spPr>
        <p:txBody>
          <a:bodyPr>
            <a:normAutofit fontScale="62500" lnSpcReduction="20000"/>
          </a:bodyPr>
          <a:lstStyle/>
          <a:p>
            <a:pPr algn="just"/>
            <a:r>
              <a:rPr lang="en-US" altLang="en-US" sz="1800">
                <a:cs typeface="Times New Roman" panose="02020603050405020304" pitchFamily="18" charset="0"/>
              </a:rPr>
              <a:t> Here we try a succession of increasingly complicated solutions to the problem of creating valid entry sections.</a:t>
            </a:r>
          </a:p>
          <a:p>
            <a:pPr algn="just"/>
            <a:r>
              <a:rPr lang="en-US" altLang="en-US" sz="1800">
                <a:cs typeface="Times New Roman" panose="02020603050405020304" pitchFamily="18" charset="0"/>
              </a:rPr>
              <a:t> </a:t>
            </a:r>
          </a:p>
          <a:p>
            <a:pPr algn="just"/>
            <a:r>
              <a:rPr lang="en-US" altLang="en-US" sz="1800">
                <a:cs typeface="Times New Roman" panose="02020603050405020304" pitchFamily="18" charset="0"/>
              </a:rPr>
              <a:t>NOTE: In all examples,   </a:t>
            </a:r>
            <a:r>
              <a:rPr lang="en-US" altLang="en-US" sz="1800" b="1">
                <a:cs typeface="Times New Roman" panose="02020603050405020304" pitchFamily="18" charset="0"/>
              </a:rPr>
              <a:t>i</a:t>
            </a:r>
            <a:r>
              <a:rPr lang="en-US" altLang="en-US" sz="1800">
                <a:cs typeface="Times New Roman" panose="02020603050405020304" pitchFamily="18" charset="0"/>
              </a:rPr>
              <a:t>   is the current process,   </a:t>
            </a:r>
            <a:r>
              <a:rPr lang="en-US" altLang="en-US" sz="1800" b="1">
                <a:cs typeface="Times New Roman" panose="02020603050405020304" pitchFamily="18" charset="0"/>
              </a:rPr>
              <a:t>j  </a:t>
            </a:r>
            <a:r>
              <a:rPr lang="en-US" altLang="en-US" sz="1800">
                <a:cs typeface="Times New Roman" panose="02020603050405020304" pitchFamily="18" charset="0"/>
              </a:rPr>
              <a:t> the "other" process.   In these examples, envision the same code running on two processors at the same time.</a:t>
            </a:r>
          </a:p>
          <a:p>
            <a:pPr algn="just"/>
            <a:r>
              <a:rPr lang="en-US" altLang="en-US" sz="1800">
                <a:cs typeface="Times New Roman" panose="02020603050405020304" pitchFamily="18" charset="0"/>
              </a:rPr>
              <a:t> </a:t>
            </a:r>
          </a:p>
          <a:p>
            <a:pPr algn="just"/>
            <a:r>
              <a:rPr lang="en-US" altLang="en-US" sz="1800" b="1">
                <a:solidFill>
                  <a:schemeClr val="accent2"/>
                </a:solidFill>
                <a:cs typeface="Times New Roman" panose="02020603050405020304" pitchFamily="18" charset="0"/>
              </a:rPr>
              <a:t>TOGGLED ACCESS:</a:t>
            </a:r>
            <a:endParaRPr lang="en-US" altLang="en-US" sz="1800">
              <a:cs typeface="Times New Roman" panose="02020603050405020304" pitchFamily="18" charset="0"/>
            </a:endParaRPr>
          </a:p>
          <a:p>
            <a:pPr algn="just"/>
            <a:r>
              <a:rPr lang="en-US" altLang="en-US" sz="1800">
                <a:cs typeface="Times New Roman" panose="02020603050405020304" pitchFamily="18" charset="0"/>
              </a:rPr>
              <a:t>	</a:t>
            </a:r>
          </a:p>
        </p:txBody>
      </p:sp>
      <p:sp>
        <p:nvSpPr>
          <p:cNvPr id="46083" name="Text Box 3">
            <a:extLst>
              <a:ext uri="{FF2B5EF4-FFF2-40B4-BE49-F238E27FC236}">
                <a16:creationId xmlns:a16="http://schemas.microsoft.com/office/drawing/2014/main" id="{B85E6BF7-35E1-65D0-A43E-8DF6687F9F6A}"/>
              </a:ext>
            </a:extLst>
          </p:cNvPr>
          <p:cNvSpPr txBox="1">
            <a:spLocks noChangeArrowheads="1"/>
          </p:cNvSpPr>
          <p:nvPr/>
        </p:nvSpPr>
        <p:spPr bwMode="auto">
          <a:xfrm>
            <a:off x="1905000" y="3962401"/>
            <a:ext cx="3429000" cy="2031325"/>
          </a:xfrm>
          <a:prstGeom prst="rect">
            <a:avLst/>
          </a:prstGeom>
          <a:noFill/>
          <a:ln w="38100">
            <a:solidFill>
              <a:srgbClr val="FFCC99"/>
            </a:solidFill>
            <a:miter lim="800000"/>
            <a:headEnd/>
            <a:tailEnd/>
          </a:ln>
          <a:effectLst/>
          <a:extLst>
            <a:ext uri="{909E8E84-426E-40DD-AFC4-6F175D3DCCD1}">
              <a14:hiddenFill xmlns:a14="http://schemas.microsoft.com/office/drawing/2010/main">
                <a:solidFill>
                  <a:srgbClr val="FFCC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b="1">
                <a:cs typeface="Times New Roman" panose="02020603050405020304" pitchFamily="18" charset="0"/>
              </a:rPr>
              <a:t>do {</a:t>
            </a:r>
          </a:p>
          <a:p>
            <a:r>
              <a:rPr lang="en-US" altLang="en-US" b="1">
                <a:cs typeface="Times New Roman" panose="02020603050405020304" pitchFamily="18" charset="0"/>
              </a:rPr>
              <a:t>	while  ( turn  ^=  i );</a:t>
            </a:r>
          </a:p>
          <a:p>
            <a:r>
              <a:rPr lang="en-US" altLang="en-US" b="1">
                <a:cs typeface="Times New Roman" panose="02020603050405020304" pitchFamily="18" charset="0"/>
              </a:rPr>
              <a:t>	/* critical section  */</a:t>
            </a:r>
          </a:p>
          <a:p>
            <a:r>
              <a:rPr lang="en-US" altLang="en-US" b="1">
                <a:cs typeface="Times New Roman" panose="02020603050405020304" pitchFamily="18" charset="0"/>
              </a:rPr>
              <a:t>	turn  =  j;</a:t>
            </a:r>
          </a:p>
          <a:p>
            <a:r>
              <a:rPr lang="en-US" altLang="en-US" b="1">
                <a:cs typeface="Times New Roman" panose="02020603050405020304" pitchFamily="18" charset="0"/>
              </a:rPr>
              <a:t>	/* remainder section */</a:t>
            </a:r>
          </a:p>
          <a:p>
            <a:r>
              <a:rPr lang="en-US" altLang="en-US" b="1">
                <a:cs typeface="Times New Roman" panose="02020603050405020304" pitchFamily="18" charset="0"/>
              </a:rPr>
              <a:t> } while(TRUE);</a:t>
            </a:r>
            <a:endParaRPr lang="en-US" altLang="en-US" b="1"/>
          </a:p>
        </p:txBody>
      </p:sp>
      <p:sp>
        <p:nvSpPr>
          <p:cNvPr id="46084" name="Rectangle 4">
            <a:extLst>
              <a:ext uri="{FF2B5EF4-FFF2-40B4-BE49-F238E27FC236}">
                <a16:creationId xmlns:a16="http://schemas.microsoft.com/office/drawing/2014/main" id="{3BE081DD-39F6-AF9C-6CFB-7DC4F9EB0832}"/>
              </a:ext>
            </a:extLst>
          </p:cNvPr>
          <p:cNvSpPr>
            <a:spLocks noGrp="1" noChangeArrowheads="1"/>
          </p:cNvSpPr>
          <p:nvPr>
            <p:ph type="ctrTitle"/>
          </p:nvPr>
        </p:nvSpPr>
        <p:spPr>
          <a:xfrm>
            <a:off x="1524000" y="228600"/>
            <a:ext cx="4648200" cy="838200"/>
          </a:xfrm>
          <a:noFill/>
          <a:ln/>
        </p:spPr>
        <p:txBody>
          <a:bodyPr anchor="ctr">
            <a:normAutofit fontScale="90000"/>
          </a:bodyPr>
          <a:lstStyle/>
          <a:p>
            <a:r>
              <a:rPr lang="en-US" altLang="en-US" sz="3600" b="1"/>
              <a:t>PROCESS SYNCHRONIZATION</a:t>
            </a:r>
          </a:p>
        </p:txBody>
      </p:sp>
      <p:sp>
        <p:nvSpPr>
          <p:cNvPr id="46085" name="Text Box 5">
            <a:extLst>
              <a:ext uri="{FF2B5EF4-FFF2-40B4-BE49-F238E27FC236}">
                <a16:creationId xmlns:a16="http://schemas.microsoft.com/office/drawing/2014/main" id="{8B4305B0-E087-0D92-F72D-CFB33993AE77}"/>
              </a:ext>
            </a:extLst>
          </p:cNvPr>
          <p:cNvSpPr txBox="1">
            <a:spLocks noChangeArrowheads="1"/>
          </p:cNvSpPr>
          <p:nvPr/>
        </p:nvSpPr>
        <p:spPr bwMode="auto">
          <a:xfrm>
            <a:off x="6971282" y="381001"/>
            <a:ext cx="2607124"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800" b="1">
                <a:solidFill>
                  <a:srgbClr val="FF0000"/>
                </a:solidFill>
              </a:rPr>
              <a:t>Two Processes</a:t>
            </a:r>
          </a:p>
          <a:p>
            <a:pPr algn="ctr"/>
            <a:r>
              <a:rPr lang="en-US" altLang="en-US" sz="2800" b="1">
                <a:solidFill>
                  <a:srgbClr val="FF0000"/>
                </a:solidFill>
              </a:rPr>
              <a:t>Software </a:t>
            </a:r>
          </a:p>
        </p:txBody>
      </p:sp>
      <p:sp>
        <p:nvSpPr>
          <p:cNvPr id="46086" name="Text Box 6">
            <a:extLst>
              <a:ext uri="{FF2B5EF4-FFF2-40B4-BE49-F238E27FC236}">
                <a16:creationId xmlns:a16="http://schemas.microsoft.com/office/drawing/2014/main" id="{71390B3E-F4A5-8F9F-34CD-46C998DDA83C}"/>
              </a:ext>
            </a:extLst>
          </p:cNvPr>
          <p:cNvSpPr txBox="1">
            <a:spLocks noChangeArrowheads="1"/>
          </p:cNvSpPr>
          <p:nvPr/>
        </p:nvSpPr>
        <p:spPr bwMode="auto">
          <a:xfrm>
            <a:off x="7086600" y="5181601"/>
            <a:ext cx="33528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b="1">
                <a:solidFill>
                  <a:srgbClr val="FF0000"/>
                </a:solidFill>
                <a:cs typeface="Times New Roman" panose="02020603050405020304" pitchFamily="18" charset="0"/>
              </a:rPr>
              <a:t>Are the three Critical Section Requirements Met?</a:t>
            </a:r>
            <a:endParaRPr lang="en-US" altLang="en-US" b="1">
              <a:solidFill>
                <a:srgbClr val="FF0000"/>
              </a:solidFill>
            </a:endParaRPr>
          </a:p>
        </p:txBody>
      </p:sp>
      <p:sp>
        <p:nvSpPr>
          <p:cNvPr id="46087" name="Oval 7">
            <a:extLst>
              <a:ext uri="{FF2B5EF4-FFF2-40B4-BE49-F238E27FC236}">
                <a16:creationId xmlns:a16="http://schemas.microsoft.com/office/drawing/2014/main" id="{EB009F49-6C73-DF98-EC99-56E2FE1A0E1C}"/>
              </a:ext>
            </a:extLst>
          </p:cNvPr>
          <p:cNvSpPr>
            <a:spLocks noChangeArrowheads="1"/>
          </p:cNvSpPr>
          <p:nvPr/>
        </p:nvSpPr>
        <p:spPr bwMode="auto">
          <a:xfrm>
            <a:off x="7086600" y="3581400"/>
            <a:ext cx="2286000" cy="914400"/>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088" name="Oval 8">
            <a:extLst>
              <a:ext uri="{FF2B5EF4-FFF2-40B4-BE49-F238E27FC236}">
                <a16:creationId xmlns:a16="http://schemas.microsoft.com/office/drawing/2014/main" id="{2E261F96-FF21-B59A-0617-F4E96A9A251B}"/>
              </a:ext>
            </a:extLst>
          </p:cNvPr>
          <p:cNvSpPr>
            <a:spLocks noChangeArrowheads="1"/>
          </p:cNvSpPr>
          <p:nvPr/>
        </p:nvSpPr>
        <p:spPr bwMode="auto">
          <a:xfrm>
            <a:off x="7848600" y="4114800"/>
            <a:ext cx="2667000" cy="1066800"/>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089" name="Oval 9">
            <a:extLst>
              <a:ext uri="{FF2B5EF4-FFF2-40B4-BE49-F238E27FC236}">
                <a16:creationId xmlns:a16="http://schemas.microsoft.com/office/drawing/2014/main" id="{A69D5BB5-2892-7991-B9A6-24D1B6CD7475}"/>
              </a:ext>
            </a:extLst>
          </p:cNvPr>
          <p:cNvSpPr>
            <a:spLocks noChangeArrowheads="1"/>
          </p:cNvSpPr>
          <p:nvPr/>
        </p:nvSpPr>
        <p:spPr bwMode="auto">
          <a:xfrm>
            <a:off x="8610600" y="4114800"/>
            <a:ext cx="1752600" cy="914400"/>
          </a:xfrm>
          <a:prstGeom prst="ellipse">
            <a:avLst/>
          </a:prstGeom>
          <a:noFill/>
          <a:ln w="38100">
            <a:solidFill>
              <a:srgbClr val="FF66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solidFill>
                  <a:srgbClr val="FF66FF"/>
                </a:solidFill>
              </a:rPr>
              <a:t>Algorithm 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04F1C2B5-4786-FA16-F646-198DEE36936C}"/>
              </a:ext>
            </a:extLst>
          </p:cNvPr>
          <p:cNvSpPr>
            <a:spLocks noGrp="1"/>
          </p:cNvSpPr>
          <p:nvPr>
            <p:ph type="sldNum" sz="quarter" idx="12"/>
          </p:nvPr>
        </p:nvSpPr>
        <p:spPr/>
        <p:txBody>
          <a:bodyPr/>
          <a:lstStyle/>
          <a:p>
            <a:fld id="{3001FE71-BEDF-40B4-93C5-901D558FFB8C}" type="slidenum">
              <a:rPr lang="en-US" altLang="en-US"/>
              <a:pPr/>
              <a:t>10</a:t>
            </a:fld>
            <a:endParaRPr lang="en-US" altLang="en-US"/>
          </a:p>
        </p:txBody>
      </p:sp>
      <p:sp>
        <p:nvSpPr>
          <p:cNvPr id="12291" name="Rectangle 3">
            <a:extLst>
              <a:ext uri="{FF2B5EF4-FFF2-40B4-BE49-F238E27FC236}">
                <a16:creationId xmlns:a16="http://schemas.microsoft.com/office/drawing/2014/main" id="{4DD87F8B-F92D-CEA9-D1CB-ABA9B62FF585}"/>
              </a:ext>
            </a:extLst>
          </p:cNvPr>
          <p:cNvSpPr>
            <a:spLocks noGrp="1" noChangeArrowheads="1"/>
          </p:cNvSpPr>
          <p:nvPr>
            <p:ph type="subTitle" idx="1"/>
          </p:nvPr>
        </p:nvSpPr>
        <p:spPr>
          <a:xfrm>
            <a:off x="1524000" y="1447800"/>
            <a:ext cx="9144000" cy="990600"/>
          </a:xfrm>
        </p:spPr>
        <p:txBody>
          <a:bodyPr>
            <a:normAutofit fontScale="92500" lnSpcReduction="20000"/>
          </a:bodyPr>
          <a:lstStyle/>
          <a:p>
            <a:pPr algn="just"/>
            <a:r>
              <a:rPr lang="en-US" altLang="en-US" sz="1800" b="1">
                <a:solidFill>
                  <a:schemeClr val="accent2"/>
                </a:solidFill>
                <a:cs typeface="Times New Roman" panose="02020603050405020304" pitchFamily="18" charset="0"/>
              </a:rPr>
              <a:t>FLAG FOR EACH PROCESS GIVES STATE:</a:t>
            </a:r>
            <a:endParaRPr lang="en-US" altLang="en-US" sz="1800">
              <a:cs typeface="Times New Roman" panose="02020603050405020304" pitchFamily="18" charset="0"/>
            </a:endParaRPr>
          </a:p>
          <a:p>
            <a:pPr algn="just"/>
            <a:r>
              <a:rPr lang="en-US" altLang="en-US" sz="1800">
                <a:cs typeface="Times New Roman" panose="02020603050405020304" pitchFamily="18" charset="0"/>
              </a:rPr>
              <a:t>Each process maintains a flag indicating that it wants to get into the critical section.  It checks the flag of the other process and doesn’t enter the critical section if that other process wants to get in.</a:t>
            </a:r>
          </a:p>
        </p:txBody>
      </p:sp>
      <p:sp>
        <p:nvSpPr>
          <p:cNvPr id="12294" name="Text Box 6">
            <a:extLst>
              <a:ext uri="{FF2B5EF4-FFF2-40B4-BE49-F238E27FC236}">
                <a16:creationId xmlns:a16="http://schemas.microsoft.com/office/drawing/2014/main" id="{18B1A185-B5C0-EE7A-FD1E-A2A134AE2681}"/>
              </a:ext>
            </a:extLst>
          </p:cNvPr>
          <p:cNvSpPr txBox="1">
            <a:spLocks noChangeArrowheads="1"/>
          </p:cNvSpPr>
          <p:nvPr/>
        </p:nvSpPr>
        <p:spPr bwMode="auto">
          <a:xfrm>
            <a:off x="7543800" y="4495800"/>
            <a:ext cx="29718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b="1">
                <a:solidFill>
                  <a:srgbClr val="FF0000"/>
                </a:solidFill>
                <a:cs typeface="Times New Roman" panose="02020603050405020304" pitchFamily="18" charset="0"/>
              </a:rPr>
              <a:t>Are the three Critical Section Requirements Met?</a:t>
            </a:r>
            <a:endParaRPr lang="en-US" altLang="en-US" b="1">
              <a:solidFill>
                <a:srgbClr val="FF0000"/>
              </a:solidFill>
            </a:endParaRPr>
          </a:p>
        </p:txBody>
      </p:sp>
      <p:sp>
        <p:nvSpPr>
          <p:cNvPr id="12296" name="Rectangle 8">
            <a:extLst>
              <a:ext uri="{FF2B5EF4-FFF2-40B4-BE49-F238E27FC236}">
                <a16:creationId xmlns:a16="http://schemas.microsoft.com/office/drawing/2014/main" id="{A4631664-3CB1-1E32-973A-484F4CD42BE6}"/>
              </a:ext>
            </a:extLst>
          </p:cNvPr>
          <p:cNvSpPr>
            <a:spLocks noGrp="1" noChangeArrowheads="1"/>
          </p:cNvSpPr>
          <p:nvPr>
            <p:ph type="ctrTitle"/>
          </p:nvPr>
        </p:nvSpPr>
        <p:spPr>
          <a:xfrm>
            <a:off x="1828800" y="304800"/>
            <a:ext cx="4648200" cy="838200"/>
          </a:xfrm>
          <a:noFill/>
          <a:ln/>
        </p:spPr>
        <p:txBody>
          <a:bodyPr anchor="ctr">
            <a:normAutofit fontScale="90000"/>
          </a:bodyPr>
          <a:lstStyle/>
          <a:p>
            <a:r>
              <a:rPr lang="en-US" altLang="en-US" sz="3600" b="1"/>
              <a:t>PROCESS SYNCHRONIZATION</a:t>
            </a:r>
          </a:p>
        </p:txBody>
      </p:sp>
      <p:sp>
        <p:nvSpPr>
          <p:cNvPr id="12297" name="Text Box 9">
            <a:extLst>
              <a:ext uri="{FF2B5EF4-FFF2-40B4-BE49-F238E27FC236}">
                <a16:creationId xmlns:a16="http://schemas.microsoft.com/office/drawing/2014/main" id="{C8F3C275-F6F2-092A-BB8F-A792C0D6565D}"/>
              </a:ext>
            </a:extLst>
          </p:cNvPr>
          <p:cNvSpPr txBox="1">
            <a:spLocks noChangeArrowheads="1"/>
          </p:cNvSpPr>
          <p:nvPr/>
        </p:nvSpPr>
        <p:spPr bwMode="auto">
          <a:xfrm>
            <a:off x="7276082" y="457201"/>
            <a:ext cx="2607124"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800" b="1">
                <a:solidFill>
                  <a:srgbClr val="FF0000"/>
                </a:solidFill>
              </a:rPr>
              <a:t>Two Processes</a:t>
            </a:r>
          </a:p>
          <a:p>
            <a:pPr algn="ctr"/>
            <a:r>
              <a:rPr lang="en-US" altLang="en-US" sz="2800" b="1">
                <a:solidFill>
                  <a:srgbClr val="FF0000"/>
                </a:solidFill>
              </a:rPr>
              <a:t>Software </a:t>
            </a:r>
          </a:p>
        </p:txBody>
      </p:sp>
      <p:sp>
        <p:nvSpPr>
          <p:cNvPr id="12299" name="Text Box 11">
            <a:extLst>
              <a:ext uri="{FF2B5EF4-FFF2-40B4-BE49-F238E27FC236}">
                <a16:creationId xmlns:a16="http://schemas.microsoft.com/office/drawing/2014/main" id="{71522905-046D-ED62-C653-6584AEF25A2A}"/>
              </a:ext>
            </a:extLst>
          </p:cNvPr>
          <p:cNvSpPr txBox="1">
            <a:spLocks noChangeArrowheads="1"/>
          </p:cNvSpPr>
          <p:nvPr/>
        </p:nvSpPr>
        <p:spPr bwMode="auto">
          <a:xfrm>
            <a:off x="1828800" y="4191000"/>
            <a:ext cx="5257800" cy="1837426"/>
          </a:xfrm>
          <a:prstGeom prst="rect">
            <a:avLst/>
          </a:prstGeom>
          <a:noFill/>
          <a:ln w="38100">
            <a:solidFill>
              <a:srgbClr val="FFCC99"/>
            </a:solidFill>
            <a:miter lim="800000"/>
            <a:headEnd/>
            <a:tailEnd/>
          </a:ln>
          <a:effectLst/>
          <a:extLst>
            <a:ext uri="{909E8E84-426E-40DD-AFC4-6F175D3DCCD1}">
              <a14:hiddenFill xmlns:a14="http://schemas.microsoft.com/office/drawing/2010/main">
                <a:solidFill>
                  <a:srgbClr val="FFCC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90000"/>
              </a:lnSpc>
              <a:buClr>
                <a:schemeClr val="folHlink"/>
              </a:buClr>
              <a:buSzPct val="90000"/>
              <a:buFont typeface="Monotype Sorts" pitchFamily="2" charset="2"/>
              <a:buNone/>
            </a:pPr>
            <a:r>
              <a:rPr kumimoji="1" lang="en-US" altLang="en-US" b="1">
                <a:latin typeface="Helvetica" panose="020B0604020202020204" pitchFamily="34" charset="0"/>
              </a:rPr>
              <a:t>do {</a:t>
            </a:r>
          </a:p>
          <a:p>
            <a:pPr eaLnBrk="0" hangingPunct="0">
              <a:lnSpc>
                <a:spcPct val="90000"/>
              </a:lnSpc>
              <a:buClr>
                <a:schemeClr val="folHlink"/>
              </a:buClr>
              <a:buSzPct val="90000"/>
              <a:buFont typeface="Monotype Sorts" pitchFamily="2" charset="2"/>
              <a:buNone/>
            </a:pPr>
            <a:r>
              <a:rPr kumimoji="1" lang="en-US" altLang="en-US" b="1">
                <a:latin typeface="Helvetica" panose="020B0604020202020204" pitchFamily="34" charset="0"/>
              </a:rPr>
              <a:t>	flag[i] := true;</a:t>
            </a:r>
            <a:br>
              <a:rPr kumimoji="1" lang="en-US" altLang="en-US" b="1">
                <a:latin typeface="Helvetica" panose="020B0604020202020204" pitchFamily="34" charset="0"/>
              </a:rPr>
            </a:br>
            <a:r>
              <a:rPr kumimoji="1" lang="en-US" altLang="en-US" b="1">
                <a:latin typeface="Helvetica" panose="020B0604020202020204" pitchFamily="34" charset="0"/>
              </a:rPr>
              <a:t>	while (flag[j]) ;				</a:t>
            </a:r>
            <a:r>
              <a:rPr kumimoji="1" lang="en-US" altLang="en-US">
                <a:latin typeface="Helvetica" panose="020B0604020202020204" pitchFamily="34" charset="0"/>
              </a:rPr>
              <a:t>critical section</a:t>
            </a:r>
          </a:p>
          <a:p>
            <a:pPr eaLnBrk="0" hangingPunct="0">
              <a:lnSpc>
                <a:spcPct val="90000"/>
              </a:lnSpc>
              <a:buClr>
                <a:schemeClr val="folHlink"/>
              </a:buClr>
              <a:buSzPct val="90000"/>
              <a:buFont typeface="Monotype Sorts" pitchFamily="2" charset="2"/>
              <a:buNone/>
            </a:pPr>
            <a:r>
              <a:rPr kumimoji="1" lang="en-US" altLang="en-US" b="1">
                <a:latin typeface="Helvetica" panose="020B0604020202020204" pitchFamily="34" charset="0"/>
              </a:rPr>
              <a:t>	flag [i] = false;</a:t>
            </a:r>
          </a:p>
          <a:p>
            <a:pPr eaLnBrk="0" hangingPunct="0">
              <a:lnSpc>
                <a:spcPct val="90000"/>
              </a:lnSpc>
              <a:buClr>
                <a:schemeClr val="folHlink"/>
              </a:buClr>
              <a:buSzPct val="90000"/>
              <a:buFont typeface="Monotype Sorts" pitchFamily="2" charset="2"/>
              <a:buNone/>
            </a:pPr>
            <a:r>
              <a:rPr kumimoji="1" lang="en-US" altLang="en-US" b="1">
                <a:latin typeface="Helvetica" panose="020B0604020202020204" pitchFamily="34" charset="0"/>
              </a:rPr>
              <a:t>	</a:t>
            </a:r>
            <a:r>
              <a:rPr kumimoji="1" lang="en-US" altLang="en-US">
                <a:latin typeface="Helvetica" panose="020B0604020202020204" pitchFamily="34" charset="0"/>
              </a:rPr>
              <a:t>remainder section</a:t>
            </a:r>
          </a:p>
          <a:p>
            <a:pPr eaLnBrk="0" hangingPunct="0">
              <a:lnSpc>
                <a:spcPct val="90000"/>
              </a:lnSpc>
              <a:buClr>
                <a:schemeClr val="folHlink"/>
              </a:buClr>
              <a:buSzPct val="90000"/>
              <a:buFont typeface="Monotype Sorts" pitchFamily="2" charset="2"/>
              <a:buNone/>
            </a:pPr>
            <a:r>
              <a:rPr kumimoji="1" lang="en-US" altLang="en-US" b="1">
                <a:latin typeface="Helvetica" panose="020B0604020202020204" pitchFamily="34" charset="0"/>
              </a:rPr>
              <a:t>} while (1);</a:t>
            </a:r>
            <a:endParaRPr lang="en-US" altLang="en-US" b="1">
              <a:cs typeface="Times New Roman" panose="02020603050405020304" pitchFamily="18" charset="0"/>
            </a:endParaRPr>
          </a:p>
        </p:txBody>
      </p:sp>
      <p:sp>
        <p:nvSpPr>
          <p:cNvPr id="12300" name="Oval 12">
            <a:extLst>
              <a:ext uri="{FF2B5EF4-FFF2-40B4-BE49-F238E27FC236}">
                <a16:creationId xmlns:a16="http://schemas.microsoft.com/office/drawing/2014/main" id="{74FE78DF-0FE0-39A3-0A91-111DDFBF7780}"/>
              </a:ext>
            </a:extLst>
          </p:cNvPr>
          <p:cNvSpPr>
            <a:spLocks noChangeArrowheads="1"/>
          </p:cNvSpPr>
          <p:nvPr/>
        </p:nvSpPr>
        <p:spPr bwMode="auto">
          <a:xfrm>
            <a:off x="8458200" y="3048000"/>
            <a:ext cx="1752600" cy="914400"/>
          </a:xfrm>
          <a:prstGeom prst="ellipse">
            <a:avLst/>
          </a:prstGeom>
          <a:noFill/>
          <a:ln w="38100">
            <a:solidFill>
              <a:srgbClr val="FF66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solidFill>
                  <a:srgbClr val="FF66FF"/>
                </a:solidFill>
              </a:rPr>
              <a:t>Algorithm 2</a:t>
            </a:r>
          </a:p>
        </p:txBody>
      </p:sp>
      <p:sp>
        <p:nvSpPr>
          <p:cNvPr id="12301" name="Text Box 13">
            <a:extLst>
              <a:ext uri="{FF2B5EF4-FFF2-40B4-BE49-F238E27FC236}">
                <a16:creationId xmlns:a16="http://schemas.microsoft.com/office/drawing/2014/main" id="{80220A8D-37B1-F52D-47FE-629223CB58E7}"/>
              </a:ext>
            </a:extLst>
          </p:cNvPr>
          <p:cNvSpPr txBox="1">
            <a:spLocks noChangeArrowheads="1"/>
          </p:cNvSpPr>
          <p:nvPr/>
        </p:nvSpPr>
        <p:spPr bwMode="auto">
          <a:xfrm>
            <a:off x="1752600" y="2819401"/>
            <a:ext cx="5638800" cy="1117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90000"/>
              </a:lnSpc>
              <a:buClr>
                <a:schemeClr val="folHlink"/>
              </a:buClr>
              <a:buSzPct val="90000"/>
              <a:buFont typeface="Monotype Sorts" pitchFamily="2" charset="2"/>
              <a:buNone/>
            </a:pPr>
            <a:r>
              <a:rPr kumimoji="1" lang="en-US" altLang="en-US" sz="2000" b="1">
                <a:latin typeface="Helvetica" panose="020B0604020202020204" pitchFamily="34" charset="0"/>
              </a:rPr>
              <a:t>Shared variables</a:t>
            </a:r>
          </a:p>
          <a:p>
            <a:pPr eaLnBrk="0" hangingPunct="0">
              <a:lnSpc>
                <a:spcPct val="90000"/>
              </a:lnSpc>
              <a:buClr>
                <a:schemeClr val="accent2"/>
              </a:buClr>
              <a:buSzPct val="90000"/>
              <a:buFont typeface="Monotype Sorts" pitchFamily="2" charset="2"/>
              <a:buChar char="F"/>
            </a:pPr>
            <a:r>
              <a:rPr kumimoji="1" lang="en-US" altLang="en-US" b="1">
                <a:latin typeface="Helvetica" panose="020B0604020202020204" pitchFamily="34" charset="0"/>
              </a:rPr>
              <a:t>boolean flag[2]</a:t>
            </a:r>
            <a:r>
              <a:rPr kumimoji="1" lang="en-US" altLang="en-US">
                <a:latin typeface="Helvetica" panose="020B0604020202020204" pitchFamily="34" charset="0"/>
              </a:rPr>
              <a:t>;</a:t>
            </a:r>
            <a:br>
              <a:rPr kumimoji="1" lang="en-US" altLang="en-US">
                <a:latin typeface="Helvetica" panose="020B0604020202020204" pitchFamily="34" charset="0"/>
              </a:rPr>
            </a:br>
            <a:r>
              <a:rPr kumimoji="1" lang="en-US" altLang="en-US">
                <a:latin typeface="Helvetica" panose="020B0604020202020204" pitchFamily="34" charset="0"/>
              </a:rPr>
              <a:t>	initially </a:t>
            </a:r>
            <a:r>
              <a:rPr kumimoji="1" lang="en-US" altLang="en-US" b="1">
                <a:latin typeface="Helvetica" panose="020B0604020202020204" pitchFamily="34" charset="0"/>
              </a:rPr>
              <a:t>flag [0] = flag [1] = false.</a:t>
            </a:r>
          </a:p>
          <a:p>
            <a:pPr eaLnBrk="0" hangingPunct="0">
              <a:lnSpc>
                <a:spcPct val="90000"/>
              </a:lnSpc>
              <a:buClr>
                <a:schemeClr val="accent2"/>
              </a:buClr>
              <a:buSzPct val="90000"/>
              <a:buFont typeface="Monotype Sorts" pitchFamily="2" charset="2"/>
              <a:buChar char="F"/>
            </a:pPr>
            <a:r>
              <a:rPr kumimoji="1" lang="en-US" altLang="en-US" b="1">
                <a:latin typeface="Helvetica" panose="020B0604020202020204" pitchFamily="34" charset="0"/>
              </a:rPr>
              <a:t>flag [i] = true</a:t>
            </a:r>
            <a:r>
              <a:rPr kumimoji="1" lang="en-US" altLang="en-US">
                <a:latin typeface="Helvetica" panose="020B0604020202020204" pitchFamily="34" charset="0"/>
              </a:rPr>
              <a:t> </a:t>
            </a:r>
            <a:r>
              <a:rPr kumimoji="1" lang="en-US" altLang="en-US">
                <a:latin typeface="Helvetica" panose="020B0604020202020204" pitchFamily="34" charset="0"/>
                <a:sym typeface="Symbol" panose="05050102010706020507" pitchFamily="18" charset="2"/>
              </a:rPr>
              <a:t> </a:t>
            </a:r>
            <a:r>
              <a:rPr kumimoji="1" lang="en-US" altLang="en-US" i="1">
                <a:latin typeface="Helvetica" panose="020B0604020202020204" pitchFamily="34" charset="0"/>
                <a:sym typeface="Symbol" panose="05050102010706020507" pitchFamily="18" charset="2"/>
              </a:rPr>
              <a:t>P</a:t>
            </a:r>
            <a:r>
              <a:rPr kumimoji="1" lang="en-US" altLang="en-US" i="1" baseline="-25000">
                <a:latin typeface="Helvetica" panose="020B0604020202020204" pitchFamily="34" charset="0"/>
                <a:sym typeface="Symbol" panose="05050102010706020507" pitchFamily="18" charset="2"/>
              </a:rPr>
              <a:t>i</a:t>
            </a:r>
            <a:r>
              <a:rPr kumimoji="1" lang="en-US" altLang="en-US">
                <a:latin typeface="Helvetica" panose="020B0604020202020204" pitchFamily="34" charset="0"/>
                <a:sym typeface="Symbol" panose="05050102010706020507" pitchFamily="18" charset="2"/>
              </a:rPr>
              <a:t> ready to enter its critical section</a:t>
            </a:r>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54918C2A-4D04-E5FF-4529-2C6887B42BEA}"/>
              </a:ext>
            </a:extLst>
          </p:cNvPr>
          <p:cNvSpPr>
            <a:spLocks noGrp="1"/>
          </p:cNvSpPr>
          <p:nvPr>
            <p:ph type="sldNum" sz="quarter" idx="12"/>
          </p:nvPr>
        </p:nvSpPr>
        <p:spPr/>
        <p:txBody>
          <a:bodyPr/>
          <a:lstStyle/>
          <a:p>
            <a:fld id="{6EE4E13E-8C09-4307-9539-931741D7EF27}" type="slidenum">
              <a:rPr lang="en-US" altLang="en-US"/>
              <a:pPr/>
              <a:t>11</a:t>
            </a:fld>
            <a:endParaRPr lang="en-US" altLang="en-US"/>
          </a:p>
        </p:txBody>
      </p:sp>
      <p:sp>
        <p:nvSpPr>
          <p:cNvPr id="14339" name="Rectangle 3">
            <a:extLst>
              <a:ext uri="{FF2B5EF4-FFF2-40B4-BE49-F238E27FC236}">
                <a16:creationId xmlns:a16="http://schemas.microsoft.com/office/drawing/2014/main" id="{D873ABDD-2CCF-1F0E-1EDE-35542DEFCDCA}"/>
              </a:ext>
            </a:extLst>
          </p:cNvPr>
          <p:cNvSpPr>
            <a:spLocks noGrp="1" noChangeArrowheads="1"/>
          </p:cNvSpPr>
          <p:nvPr>
            <p:ph type="subTitle" idx="1"/>
          </p:nvPr>
        </p:nvSpPr>
        <p:spPr>
          <a:xfrm>
            <a:off x="1752600" y="1371600"/>
            <a:ext cx="8686800" cy="1371600"/>
          </a:xfrm>
        </p:spPr>
        <p:txBody>
          <a:bodyPr/>
          <a:lstStyle/>
          <a:p>
            <a:pPr marL="227013" indent="-227013" algn="l"/>
            <a:r>
              <a:rPr lang="en-US" altLang="en-US" sz="1800" b="1">
                <a:solidFill>
                  <a:schemeClr val="accent2"/>
                </a:solidFill>
                <a:cs typeface="Times New Roman" panose="02020603050405020304" pitchFamily="18" charset="0"/>
              </a:rPr>
              <a:t>FLAG TO REQUEST ENTRY:</a:t>
            </a:r>
            <a:endParaRPr lang="en-US" altLang="en-US" sz="1800">
              <a:cs typeface="Times New Roman" panose="02020603050405020304" pitchFamily="18" charset="0"/>
            </a:endParaRPr>
          </a:p>
          <a:p>
            <a:pPr marL="227013" indent="-227013" algn="l">
              <a:buFontTx/>
              <a:buChar char="•"/>
            </a:pPr>
            <a:r>
              <a:rPr lang="en-US" altLang="en-US" sz="1800">
                <a:cs typeface="Times New Roman" panose="02020603050405020304" pitchFamily="18" charset="0"/>
              </a:rPr>
              <a:t>Each processes sets a flag to request entry.  Then each process toggles a bit to allow the other in first.</a:t>
            </a:r>
          </a:p>
          <a:p>
            <a:pPr marL="227013" indent="-227013" algn="l">
              <a:buFontTx/>
              <a:buChar char="•"/>
            </a:pPr>
            <a:r>
              <a:rPr lang="en-US" altLang="en-US" sz="1800">
                <a:cs typeface="Times New Roman" panose="02020603050405020304" pitchFamily="18" charset="0"/>
              </a:rPr>
              <a:t>This code is executed for each process i.</a:t>
            </a:r>
          </a:p>
        </p:txBody>
      </p:sp>
      <p:sp>
        <p:nvSpPr>
          <p:cNvPr id="14341" name="Text Box 5">
            <a:extLst>
              <a:ext uri="{FF2B5EF4-FFF2-40B4-BE49-F238E27FC236}">
                <a16:creationId xmlns:a16="http://schemas.microsoft.com/office/drawing/2014/main" id="{7238314B-0A86-70E3-4CAC-2C3817536A33}"/>
              </a:ext>
            </a:extLst>
          </p:cNvPr>
          <p:cNvSpPr txBox="1">
            <a:spLocks noChangeArrowheads="1"/>
          </p:cNvSpPr>
          <p:nvPr/>
        </p:nvSpPr>
        <p:spPr bwMode="auto">
          <a:xfrm>
            <a:off x="7467600" y="3733801"/>
            <a:ext cx="32004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b="1">
                <a:solidFill>
                  <a:srgbClr val="FF0000"/>
                </a:solidFill>
                <a:cs typeface="Times New Roman" panose="02020603050405020304" pitchFamily="18" charset="0"/>
              </a:rPr>
              <a:t>Are the three Critical Section Requirements Met?</a:t>
            </a:r>
            <a:endParaRPr lang="en-US" altLang="en-US" b="1">
              <a:solidFill>
                <a:srgbClr val="FF0000"/>
              </a:solidFill>
            </a:endParaRPr>
          </a:p>
        </p:txBody>
      </p:sp>
      <p:sp>
        <p:nvSpPr>
          <p:cNvPr id="14343" name="Rectangle 7">
            <a:extLst>
              <a:ext uri="{FF2B5EF4-FFF2-40B4-BE49-F238E27FC236}">
                <a16:creationId xmlns:a16="http://schemas.microsoft.com/office/drawing/2014/main" id="{3D3E4BDD-2FE7-287C-5F9B-BA5AD44EF0DA}"/>
              </a:ext>
            </a:extLst>
          </p:cNvPr>
          <p:cNvSpPr>
            <a:spLocks noGrp="1" noChangeArrowheads="1"/>
          </p:cNvSpPr>
          <p:nvPr>
            <p:ph type="ctrTitle"/>
          </p:nvPr>
        </p:nvSpPr>
        <p:spPr>
          <a:xfrm>
            <a:off x="1828800" y="304800"/>
            <a:ext cx="4648200" cy="838200"/>
          </a:xfrm>
          <a:noFill/>
          <a:ln/>
        </p:spPr>
        <p:txBody>
          <a:bodyPr anchor="ctr">
            <a:normAutofit fontScale="90000"/>
          </a:bodyPr>
          <a:lstStyle/>
          <a:p>
            <a:r>
              <a:rPr lang="en-US" altLang="en-US" sz="3600" b="1"/>
              <a:t>PROCESS SYNCHRONIZATION</a:t>
            </a:r>
          </a:p>
        </p:txBody>
      </p:sp>
      <p:sp>
        <p:nvSpPr>
          <p:cNvPr id="14344" name="Text Box 8">
            <a:extLst>
              <a:ext uri="{FF2B5EF4-FFF2-40B4-BE49-F238E27FC236}">
                <a16:creationId xmlns:a16="http://schemas.microsoft.com/office/drawing/2014/main" id="{42C7F322-EE9F-9148-6B6E-F11732DD8363}"/>
              </a:ext>
            </a:extLst>
          </p:cNvPr>
          <p:cNvSpPr txBox="1">
            <a:spLocks noChangeArrowheads="1"/>
          </p:cNvSpPr>
          <p:nvPr/>
        </p:nvSpPr>
        <p:spPr bwMode="auto">
          <a:xfrm>
            <a:off x="7276082" y="457201"/>
            <a:ext cx="2607124"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800" b="1">
                <a:solidFill>
                  <a:srgbClr val="FF0000"/>
                </a:solidFill>
              </a:rPr>
              <a:t>Two Processes</a:t>
            </a:r>
          </a:p>
          <a:p>
            <a:pPr algn="ctr"/>
            <a:r>
              <a:rPr lang="en-US" altLang="en-US" sz="2800" b="1">
                <a:solidFill>
                  <a:srgbClr val="FF0000"/>
                </a:solidFill>
              </a:rPr>
              <a:t>Software </a:t>
            </a:r>
          </a:p>
        </p:txBody>
      </p:sp>
      <p:sp>
        <p:nvSpPr>
          <p:cNvPr id="14345" name="Text Box 9">
            <a:extLst>
              <a:ext uri="{FF2B5EF4-FFF2-40B4-BE49-F238E27FC236}">
                <a16:creationId xmlns:a16="http://schemas.microsoft.com/office/drawing/2014/main" id="{318FE44F-4908-11A0-C3F8-78E64DF0B924}"/>
              </a:ext>
            </a:extLst>
          </p:cNvPr>
          <p:cNvSpPr txBox="1">
            <a:spLocks noChangeArrowheads="1"/>
          </p:cNvSpPr>
          <p:nvPr/>
        </p:nvSpPr>
        <p:spPr bwMode="auto">
          <a:xfrm>
            <a:off x="2057400" y="4191001"/>
            <a:ext cx="5257800" cy="2114425"/>
          </a:xfrm>
          <a:prstGeom prst="rect">
            <a:avLst/>
          </a:prstGeom>
          <a:solidFill>
            <a:schemeClr val="bg1"/>
          </a:solidFill>
          <a:ln w="38100">
            <a:solidFill>
              <a:srgbClr val="FFCC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cs typeface="Times New Roman" panose="02020603050405020304" pitchFamily="18" charset="0"/>
              </a:rPr>
              <a:t> </a:t>
            </a:r>
            <a:r>
              <a:rPr kumimoji="1" lang="en-US" altLang="en-US" b="1">
                <a:latin typeface="Helvetica" panose="020B0604020202020204" pitchFamily="34" charset="0"/>
              </a:rPr>
              <a:t>do</a:t>
            </a:r>
            <a:r>
              <a:rPr kumimoji="1" lang="en-US" altLang="en-US">
                <a:latin typeface="Helvetica" panose="020B0604020202020204" pitchFamily="34" charset="0"/>
              </a:rPr>
              <a:t> {</a:t>
            </a:r>
          </a:p>
          <a:p>
            <a:pPr eaLnBrk="0" hangingPunct="0">
              <a:lnSpc>
                <a:spcPct val="90000"/>
              </a:lnSpc>
              <a:buClr>
                <a:schemeClr val="folHlink"/>
              </a:buClr>
              <a:buSzPct val="90000"/>
              <a:buFont typeface="Monotype Sorts" pitchFamily="2" charset="2"/>
              <a:buNone/>
            </a:pPr>
            <a:r>
              <a:rPr kumimoji="1" lang="en-US" altLang="en-US">
                <a:latin typeface="Helvetica" panose="020B0604020202020204" pitchFamily="34" charset="0"/>
              </a:rPr>
              <a:t>	</a:t>
            </a:r>
            <a:r>
              <a:rPr kumimoji="1" lang="en-US" altLang="en-US" b="1">
                <a:latin typeface="Helvetica" panose="020B0604020202020204" pitchFamily="34" charset="0"/>
              </a:rPr>
              <a:t>flag [i]:= true;</a:t>
            </a:r>
            <a:br>
              <a:rPr kumimoji="1" lang="en-US" altLang="en-US" b="1">
                <a:latin typeface="Helvetica" panose="020B0604020202020204" pitchFamily="34" charset="0"/>
              </a:rPr>
            </a:br>
            <a:r>
              <a:rPr kumimoji="1" lang="en-US" altLang="en-US" b="1">
                <a:latin typeface="Helvetica" panose="020B0604020202020204" pitchFamily="34" charset="0"/>
              </a:rPr>
              <a:t>	turn = j;</a:t>
            </a:r>
            <a:br>
              <a:rPr kumimoji="1" lang="en-US" altLang="en-US" b="1">
                <a:latin typeface="Helvetica" panose="020B0604020202020204" pitchFamily="34" charset="0"/>
              </a:rPr>
            </a:br>
            <a:r>
              <a:rPr kumimoji="1" lang="en-US" altLang="en-US" b="1">
                <a:latin typeface="Helvetica" panose="020B0604020202020204" pitchFamily="34" charset="0"/>
              </a:rPr>
              <a:t>	while (flag [j] and turn == j) ;</a:t>
            </a:r>
          </a:p>
          <a:p>
            <a:pPr eaLnBrk="0" hangingPunct="0">
              <a:lnSpc>
                <a:spcPct val="90000"/>
              </a:lnSpc>
              <a:buClr>
                <a:schemeClr val="folHlink"/>
              </a:buClr>
              <a:buSzPct val="90000"/>
              <a:buFont typeface="Monotype Sorts" pitchFamily="2" charset="2"/>
              <a:buNone/>
            </a:pPr>
            <a:r>
              <a:rPr kumimoji="1" lang="en-US" altLang="en-US">
                <a:latin typeface="Helvetica" panose="020B0604020202020204" pitchFamily="34" charset="0"/>
              </a:rPr>
              <a:t>	critical section</a:t>
            </a:r>
          </a:p>
          <a:p>
            <a:pPr eaLnBrk="0" hangingPunct="0">
              <a:lnSpc>
                <a:spcPct val="90000"/>
              </a:lnSpc>
              <a:buClr>
                <a:schemeClr val="folHlink"/>
              </a:buClr>
              <a:buSzPct val="90000"/>
              <a:buFont typeface="Monotype Sorts" pitchFamily="2" charset="2"/>
              <a:buNone/>
            </a:pPr>
            <a:r>
              <a:rPr kumimoji="1" lang="en-US" altLang="en-US">
                <a:latin typeface="Helvetica" panose="020B0604020202020204" pitchFamily="34" charset="0"/>
              </a:rPr>
              <a:t>	</a:t>
            </a:r>
            <a:r>
              <a:rPr kumimoji="1" lang="en-US" altLang="en-US" b="1">
                <a:latin typeface="Helvetica" panose="020B0604020202020204" pitchFamily="34" charset="0"/>
              </a:rPr>
              <a:t>flag [i] = false;</a:t>
            </a:r>
          </a:p>
          <a:p>
            <a:pPr eaLnBrk="0" hangingPunct="0">
              <a:lnSpc>
                <a:spcPct val="90000"/>
              </a:lnSpc>
              <a:buClr>
                <a:schemeClr val="folHlink"/>
              </a:buClr>
              <a:buSzPct val="90000"/>
              <a:buFont typeface="Monotype Sorts" pitchFamily="2" charset="2"/>
              <a:buNone/>
            </a:pPr>
            <a:r>
              <a:rPr kumimoji="1" lang="en-US" altLang="en-US">
                <a:latin typeface="Helvetica" panose="020B0604020202020204" pitchFamily="34" charset="0"/>
              </a:rPr>
              <a:t>	remainder section</a:t>
            </a:r>
          </a:p>
          <a:p>
            <a:pPr eaLnBrk="0" hangingPunct="0">
              <a:lnSpc>
                <a:spcPct val="90000"/>
              </a:lnSpc>
              <a:buClr>
                <a:schemeClr val="folHlink"/>
              </a:buClr>
              <a:buSzPct val="90000"/>
              <a:buFont typeface="Monotype Sorts" pitchFamily="2" charset="2"/>
              <a:buNone/>
            </a:pPr>
            <a:r>
              <a:rPr kumimoji="1" lang="en-US" altLang="en-US">
                <a:latin typeface="Helvetica" panose="020B0604020202020204" pitchFamily="34" charset="0"/>
              </a:rPr>
              <a:t>} </a:t>
            </a:r>
            <a:r>
              <a:rPr kumimoji="1" lang="en-US" altLang="en-US" b="1">
                <a:latin typeface="Helvetica" panose="020B0604020202020204" pitchFamily="34" charset="0"/>
              </a:rPr>
              <a:t>while (1);</a:t>
            </a:r>
          </a:p>
        </p:txBody>
      </p:sp>
      <p:sp>
        <p:nvSpPr>
          <p:cNvPr id="14346" name="Oval 10">
            <a:extLst>
              <a:ext uri="{FF2B5EF4-FFF2-40B4-BE49-F238E27FC236}">
                <a16:creationId xmlns:a16="http://schemas.microsoft.com/office/drawing/2014/main" id="{157F6A2B-0C31-DF06-EDC4-38F751820984}"/>
              </a:ext>
            </a:extLst>
          </p:cNvPr>
          <p:cNvSpPr>
            <a:spLocks noChangeArrowheads="1"/>
          </p:cNvSpPr>
          <p:nvPr/>
        </p:nvSpPr>
        <p:spPr bwMode="auto">
          <a:xfrm>
            <a:off x="8229600" y="2362200"/>
            <a:ext cx="1752600" cy="914400"/>
          </a:xfrm>
          <a:prstGeom prst="ellipse">
            <a:avLst/>
          </a:prstGeom>
          <a:noFill/>
          <a:ln w="38100">
            <a:solidFill>
              <a:srgbClr val="FF66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solidFill>
                  <a:srgbClr val="FF66FF"/>
                </a:solidFill>
              </a:rPr>
              <a:t>Algorithm 3</a:t>
            </a:r>
          </a:p>
        </p:txBody>
      </p:sp>
      <p:sp>
        <p:nvSpPr>
          <p:cNvPr id="14347" name="Text Box 11">
            <a:extLst>
              <a:ext uri="{FF2B5EF4-FFF2-40B4-BE49-F238E27FC236}">
                <a16:creationId xmlns:a16="http://schemas.microsoft.com/office/drawing/2014/main" id="{C5EF91A0-8AF5-1A67-5F9D-6F7A6320983E}"/>
              </a:ext>
            </a:extLst>
          </p:cNvPr>
          <p:cNvSpPr txBox="1">
            <a:spLocks noChangeArrowheads="1"/>
          </p:cNvSpPr>
          <p:nvPr/>
        </p:nvSpPr>
        <p:spPr bwMode="auto">
          <a:xfrm>
            <a:off x="1905000" y="2819401"/>
            <a:ext cx="5638800" cy="1117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90000"/>
              </a:lnSpc>
              <a:buClr>
                <a:schemeClr val="folHlink"/>
              </a:buClr>
              <a:buSzPct val="90000"/>
              <a:buFont typeface="Monotype Sorts" pitchFamily="2" charset="2"/>
              <a:buNone/>
            </a:pPr>
            <a:r>
              <a:rPr kumimoji="1" lang="en-US" altLang="en-US" sz="2000" b="1">
                <a:latin typeface="Helvetica" panose="020B0604020202020204" pitchFamily="34" charset="0"/>
              </a:rPr>
              <a:t>Shared variables</a:t>
            </a:r>
          </a:p>
          <a:p>
            <a:pPr eaLnBrk="0" hangingPunct="0">
              <a:lnSpc>
                <a:spcPct val="90000"/>
              </a:lnSpc>
              <a:buClr>
                <a:schemeClr val="accent2"/>
              </a:buClr>
              <a:buSzPct val="90000"/>
              <a:buFont typeface="Monotype Sorts" pitchFamily="2" charset="2"/>
              <a:buChar char="F"/>
            </a:pPr>
            <a:r>
              <a:rPr kumimoji="1" lang="en-US" altLang="en-US" b="1">
                <a:latin typeface="Helvetica" panose="020B0604020202020204" pitchFamily="34" charset="0"/>
              </a:rPr>
              <a:t>boolean flag[2]</a:t>
            </a:r>
            <a:r>
              <a:rPr kumimoji="1" lang="en-US" altLang="en-US">
                <a:latin typeface="Helvetica" panose="020B0604020202020204" pitchFamily="34" charset="0"/>
              </a:rPr>
              <a:t>;</a:t>
            </a:r>
            <a:br>
              <a:rPr kumimoji="1" lang="en-US" altLang="en-US">
                <a:latin typeface="Helvetica" panose="020B0604020202020204" pitchFamily="34" charset="0"/>
              </a:rPr>
            </a:br>
            <a:r>
              <a:rPr kumimoji="1" lang="en-US" altLang="en-US">
                <a:latin typeface="Helvetica" panose="020B0604020202020204" pitchFamily="34" charset="0"/>
              </a:rPr>
              <a:t>	initially </a:t>
            </a:r>
            <a:r>
              <a:rPr kumimoji="1" lang="en-US" altLang="en-US" b="1">
                <a:latin typeface="Helvetica" panose="020B0604020202020204" pitchFamily="34" charset="0"/>
              </a:rPr>
              <a:t>flag [0] = flag [1] = false.</a:t>
            </a:r>
          </a:p>
          <a:p>
            <a:pPr eaLnBrk="0" hangingPunct="0">
              <a:lnSpc>
                <a:spcPct val="90000"/>
              </a:lnSpc>
              <a:buClr>
                <a:schemeClr val="accent2"/>
              </a:buClr>
              <a:buSzPct val="90000"/>
              <a:buFont typeface="Monotype Sorts" pitchFamily="2" charset="2"/>
              <a:buChar char="F"/>
            </a:pPr>
            <a:r>
              <a:rPr kumimoji="1" lang="en-US" altLang="en-US" b="1">
                <a:latin typeface="Helvetica" panose="020B0604020202020204" pitchFamily="34" charset="0"/>
              </a:rPr>
              <a:t>flag [i] = true</a:t>
            </a:r>
            <a:r>
              <a:rPr kumimoji="1" lang="en-US" altLang="en-US">
                <a:latin typeface="Helvetica" panose="020B0604020202020204" pitchFamily="34" charset="0"/>
              </a:rPr>
              <a:t> </a:t>
            </a:r>
            <a:r>
              <a:rPr kumimoji="1" lang="en-US" altLang="en-US">
                <a:latin typeface="Helvetica" panose="020B0604020202020204" pitchFamily="34" charset="0"/>
                <a:sym typeface="Symbol" panose="05050102010706020507" pitchFamily="18" charset="2"/>
              </a:rPr>
              <a:t> </a:t>
            </a:r>
            <a:r>
              <a:rPr kumimoji="1" lang="en-US" altLang="en-US" i="1">
                <a:latin typeface="Helvetica" panose="020B0604020202020204" pitchFamily="34" charset="0"/>
                <a:sym typeface="Symbol" panose="05050102010706020507" pitchFamily="18" charset="2"/>
              </a:rPr>
              <a:t>P</a:t>
            </a:r>
            <a:r>
              <a:rPr kumimoji="1" lang="en-US" altLang="en-US" i="1" baseline="-25000">
                <a:latin typeface="Helvetica" panose="020B0604020202020204" pitchFamily="34" charset="0"/>
                <a:sym typeface="Symbol" panose="05050102010706020507" pitchFamily="18" charset="2"/>
              </a:rPr>
              <a:t>i</a:t>
            </a:r>
            <a:r>
              <a:rPr kumimoji="1" lang="en-US" altLang="en-US">
                <a:latin typeface="Helvetica" panose="020B0604020202020204" pitchFamily="34" charset="0"/>
                <a:sym typeface="Symbol" panose="05050102010706020507" pitchFamily="18" charset="2"/>
              </a:rPr>
              <a:t> ready to enter its critical section</a:t>
            </a:r>
            <a:endParaRPr lang="en-US" altLang="en-US"/>
          </a:p>
        </p:txBody>
      </p:sp>
      <p:sp>
        <p:nvSpPr>
          <p:cNvPr id="14348" name="Oval 12">
            <a:extLst>
              <a:ext uri="{FF2B5EF4-FFF2-40B4-BE49-F238E27FC236}">
                <a16:creationId xmlns:a16="http://schemas.microsoft.com/office/drawing/2014/main" id="{56658BD8-8560-1C78-AB04-4AE9D2F5AB10}"/>
              </a:ext>
            </a:extLst>
          </p:cNvPr>
          <p:cNvSpPr>
            <a:spLocks noChangeArrowheads="1"/>
          </p:cNvSpPr>
          <p:nvPr/>
        </p:nvSpPr>
        <p:spPr bwMode="auto">
          <a:xfrm>
            <a:off x="7620000" y="4495800"/>
            <a:ext cx="2590800" cy="1600200"/>
          </a:xfrm>
          <a:prstGeom prst="ellipse">
            <a:avLst/>
          </a:prstGeom>
          <a:noFill/>
          <a:ln w="38100">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solidFill>
                  <a:schemeClr val="accent1"/>
                </a:solidFill>
              </a:rPr>
              <a:t>This is Peterson’s</a:t>
            </a:r>
          </a:p>
          <a:p>
            <a:pPr algn="ctr"/>
            <a:r>
              <a:rPr lang="en-US" altLang="en-US" b="1">
                <a:solidFill>
                  <a:schemeClr val="accent1"/>
                </a:solidFill>
              </a:rPr>
              <a:t>Solution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0A52B64A-07B0-C19F-F3BD-576FF1E44A9E}"/>
              </a:ext>
            </a:extLst>
          </p:cNvPr>
          <p:cNvSpPr>
            <a:spLocks noGrp="1"/>
          </p:cNvSpPr>
          <p:nvPr>
            <p:ph type="sldNum" sz="quarter" idx="12"/>
          </p:nvPr>
        </p:nvSpPr>
        <p:spPr/>
        <p:txBody>
          <a:bodyPr/>
          <a:lstStyle/>
          <a:p>
            <a:fld id="{325B6003-B567-4A0E-B9F0-5436A4A31B14}" type="slidenum">
              <a:rPr lang="en-US" altLang="en-US"/>
              <a:pPr/>
              <a:t>12</a:t>
            </a:fld>
            <a:endParaRPr lang="en-US" altLang="en-US"/>
          </a:p>
        </p:txBody>
      </p:sp>
      <p:sp>
        <p:nvSpPr>
          <p:cNvPr id="10243" name="Rectangle 3">
            <a:extLst>
              <a:ext uri="{FF2B5EF4-FFF2-40B4-BE49-F238E27FC236}">
                <a16:creationId xmlns:a16="http://schemas.microsoft.com/office/drawing/2014/main" id="{8ADDE07F-2CAB-974C-5583-366CE670590E}"/>
              </a:ext>
            </a:extLst>
          </p:cNvPr>
          <p:cNvSpPr>
            <a:spLocks noGrp="1" noChangeArrowheads="1"/>
          </p:cNvSpPr>
          <p:nvPr>
            <p:ph type="subTitle" idx="1"/>
          </p:nvPr>
        </p:nvSpPr>
        <p:spPr>
          <a:xfrm>
            <a:off x="1905000" y="1981200"/>
            <a:ext cx="8534400" cy="3733800"/>
          </a:xfrm>
        </p:spPr>
        <p:txBody>
          <a:bodyPr/>
          <a:lstStyle/>
          <a:p>
            <a:pPr algn="l"/>
            <a:r>
              <a:rPr lang="en-US" altLang="en-US" sz="2000">
                <a:cs typeface="Times New Roman" panose="02020603050405020304" pitchFamily="18" charset="0"/>
              </a:rPr>
              <a:t> </a:t>
            </a:r>
            <a:r>
              <a:rPr lang="en-US" altLang="en-US" sz="2000" b="1">
                <a:solidFill>
                  <a:srgbClr val="FF0000"/>
                </a:solidFill>
                <a:cs typeface="Times New Roman" panose="02020603050405020304" pitchFamily="18" charset="0"/>
              </a:rPr>
              <a:t>The hardware required to support critical sections must have (minimally):</a:t>
            </a:r>
            <a:endParaRPr lang="en-US" altLang="en-US" sz="2000">
              <a:solidFill>
                <a:srgbClr val="FF0000"/>
              </a:solidFill>
              <a:cs typeface="Times New Roman" panose="02020603050405020304" pitchFamily="18" charset="0"/>
            </a:endParaRPr>
          </a:p>
          <a:p>
            <a:pPr algn="l"/>
            <a:r>
              <a:rPr lang="en-US" altLang="en-US" sz="2000">
                <a:cs typeface="Times New Roman" panose="02020603050405020304" pitchFamily="18" charset="0"/>
              </a:rPr>
              <a:t> </a:t>
            </a:r>
          </a:p>
          <a:p>
            <a:pPr marL="971550" lvl="1" indent="-346075" algn="l">
              <a:buFont typeface="Symbol" panose="05050102010706020507" pitchFamily="18" charset="2"/>
              <a:buChar char="·"/>
            </a:pPr>
            <a:r>
              <a:rPr lang="en-US" altLang="en-US">
                <a:cs typeface="Times New Roman" panose="02020603050405020304" pitchFamily="18" charset="0"/>
              </a:rPr>
              <a:t>Indivisible instructions (what are they?)</a:t>
            </a:r>
          </a:p>
          <a:p>
            <a:pPr marL="971550" lvl="1" indent="-346075" algn="l">
              <a:buFont typeface="Symbol" panose="05050102010706020507" pitchFamily="18" charset="2"/>
              <a:buChar char="·"/>
            </a:pPr>
            <a:endParaRPr lang="en-US" altLang="en-US">
              <a:cs typeface="Times New Roman" panose="02020603050405020304" pitchFamily="18" charset="0"/>
            </a:endParaRPr>
          </a:p>
          <a:p>
            <a:pPr marL="971550" lvl="1" indent="-346075" algn="l">
              <a:buFont typeface="Symbol" panose="05050102010706020507" pitchFamily="18" charset="2"/>
              <a:buChar char="·"/>
            </a:pPr>
            <a:r>
              <a:rPr lang="en-US" altLang="en-US">
                <a:cs typeface="Times New Roman" panose="02020603050405020304" pitchFamily="18" charset="0"/>
              </a:rPr>
              <a:t>Atomic load, store, test instruction. For instance, if a store and test occur simultaneously, the test gets EITHER the old or the new, but not some combination.</a:t>
            </a:r>
          </a:p>
          <a:p>
            <a:pPr marL="971550" lvl="1" indent="-346075" algn="l">
              <a:buFont typeface="Symbol" panose="05050102010706020507" pitchFamily="18" charset="2"/>
              <a:buChar char="·"/>
            </a:pPr>
            <a:endParaRPr lang="en-US" altLang="en-US">
              <a:cs typeface="Times New Roman" panose="02020603050405020304" pitchFamily="18" charset="0"/>
            </a:endParaRPr>
          </a:p>
          <a:p>
            <a:pPr marL="971550" lvl="1" indent="-346075" algn="l">
              <a:buFont typeface="Symbol" panose="05050102010706020507" pitchFamily="18" charset="2"/>
              <a:buChar char="·"/>
            </a:pPr>
            <a:r>
              <a:rPr lang="en-US" altLang="en-US">
                <a:cs typeface="Times New Roman" panose="02020603050405020304" pitchFamily="18" charset="0"/>
              </a:rPr>
              <a:t>Two atomic instructions, if executed simultaneously, behave as if executed sequentially.</a:t>
            </a:r>
          </a:p>
        </p:txBody>
      </p:sp>
      <p:sp>
        <p:nvSpPr>
          <p:cNvPr id="10246" name="Rectangle 6">
            <a:extLst>
              <a:ext uri="{FF2B5EF4-FFF2-40B4-BE49-F238E27FC236}">
                <a16:creationId xmlns:a16="http://schemas.microsoft.com/office/drawing/2014/main" id="{9CD79A24-5240-7874-FF4F-565ECB90C86E}"/>
              </a:ext>
            </a:extLst>
          </p:cNvPr>
          <p:cNvSpPr>
            <a:spLocks noGrp="1" noChangeArrowheads="1"/>
          </p:cNvSpPr>
          <p:nvPr>
            <p:ph type="ctrTitle"/>
          </p:nvPr>
        </p:nvSpPr>
        <p:spPr>
          <a:xfrm>
            <a:off x="1752600" y="228600"/>
            <a:ext cx="4648200" cy="1143000"/>
          </a:xfrm>
          <a:noFill/>
          <a:ln/>
        </p:spPr>
        <p:txBody>
          <a:bodyPr anchor="ctr"/>
          <a:lstStyle/>
          <a:p>
            <a:r>
              <a:rPr lang="en-US" altLang="en-US" sz="3600" b="1"/>
              <a:t>PROCESS SYNCHRONIZATION</a:t>
            </a:r>
          </a:p>
        </p:txBody>
      </p:sp>
      <p:sp>
        <p:nvSpPr>
          <p:cNvPr id="10247" name="Text Box 7">
            <a:extLst>
              <a:ext uri="{FF2B5EF4-FFF2-40B4-BE49-F238E27FC236}">
                <a16:creationId xmlns:a16="http://schemas.microsoft.com/office/drawing/2014/main" id="{48A31292-23AA-C7CA-3C49-1231C57A9E3F}"/>
              </a:ext>
            </a:extLst>
          </p:cNvPr>
          <p:cNvSpPr txBox="1">
            <a:spLocks noChangeArrowheads="1"/>
          </p:cNvSpPr>
          <p:nvPr/>
        </p:nvSpPr>
        <p:spPr bwMode="auto">
          <a:xfrm>
            <a:off x="6781800" y="381001"/>
            <a:ext cx="29733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800" b="1">
                <a:solidFill>
                  <a:srgbClr val="FF0000"/>
                </a:solidFill>
              </a:rPr>
              <a:t>Critical Sections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9B2B4F0-ECD5-C88E-CD49-04D8436E6A10}"/>
              </a:ext>
            </a:extLst>
          </p:cNvPr>
          <p:cNvSpPr>
            <a:spLocks noGrp="1"/>
          </p:cNvSpPr>
          <p:nvPr>
            <p:ph type="sldNum" sz="quarter" idx="12"/>
          </p:nvPr>
        </p:nvSpPr>
        <p:spPr/>
        <p:txBody>
          <a:bodyPr/>
          <a:lstStyle/>
          <a:p>
            <a:fld id="{2F30D22A-B043-4725-AC0D-3F8533F18A72}" type="slidenum">
              <a:rPr lang="en-US" altLang="en-US"/>
              <a:pPr/>
              <a:t>13</a:t>
            </a:fld>
            <a:endParaRPr lang="en-US" altLang="en-US"/>
          </a:p>
        </p:txBody>
      </p:sp>
      <p:sp>
        <p:nvSpPr>
          <p:cNvPr id="15363" name="Rectangle 3">
            <a:extLst>
              <a:ext uri="{FF2B5EF4-FFF2-40B4-BE49-F238E27FC236}">
                <a16:creationId xmlns:a16="http://schemas.microsoft.com/office/drawing/2014/main" id="{2C50BB44-2676-B3FF-1028-B9C1317ACD49}"/>
              </a:ext>
            </a:extLst>
          </p:cNvPr>
          <p:cNvSpPr>
            <a:spLocks noGrp="1" noChangeArrowheads="1"/>
          </p:cNvSpPr>
          <p:nvPr>
            <p:ph type="subTitle" idx="1"/>
          </p:nvPr>
        </p:nvSpPr>
        <p:spPr>
          <a:xfrm>
            <a:off x="1752600" y="1371600"/>
            <a:ext cx="8763000" cy="4800600"/>
          </a:xfrm>
        </p:spPr>
        <p:txBody>
          <a:bodyPr>
            <a:normAutofit fontScale="92500" lnSpcReduction="20000"/>
          </a:bodyPr>
          <a:lstStyle/>
          <a:p>
            <a:pPr algn="l">
              <a:lnSpc>
                <a:spcPct val="80000"/>
              </a:lnSpc>
            </a:pPr>
            <a:r>
              <a:rPr lang="en-US" altLang="en-US" sz="1800" b="1">
                <a:cs typeface="Times New Roman" panose="02020603050405020304" pitchFamily="18" charset="0"/>
              </a:rPr>
              <a:t>Disabling Interrupts</a:t>
            </a:r>
            <a:r>
              <a:rPr lang="en-US" altLang="en-US" sz="1800">
                <a:cs typeface="Times New Roman" panose="02020603050405020304" pitchFamily="18" charset="0"/>
              </a:rPr>
              <a:t>:	Works for the Uni Processor case only.  WHY?</a:t>
            </a:r>
          </a:p>
          <a:p>
            <a:pPr algn="l">
              <a:lnSpc>
                <a:spcPct val="80000"/>
              </a:lnSpc>
            </a:pPr>
            <a:r>
              <a:rPr lang="en-US" altLang="en-US" sz="1800">
                <a:cs typeface="Times New Roman" panose="02020603050405020304" pitchFamily="18" charset="0"/>
              </a:rPr>
              <a:t> </a:t>
            </a:r>
          </a:p>
          <a:p>
            <a:pPr algn="l">
              <a:lnSpc>
                <a:spcPct val="80000"/>
              </a:lnSpc>
            </a:pPr>
            <a:r>
              <a:rPr lang="en-US" altLang="en-US" sz="1800" b="1">
                <a:cs typeface="Times New Roman" panose="02020603050405020304" pitchFamily="18" charset="0"/>
              </a:rPr>
              <a:t>Atomic test and set</a:t>
            </a:r>
            <a:r>
              <a:rPr lang="en-US" altLang="en-US" sz="1800">
                <a:cs typeface="Times New Roman" panose="02020603050405020304" pitchFamily="18" charset="0"/>
              </a:rPr>
              <a:t>: 	Returns parameter and sets parameter to true atomically.</a:t>
            </a:r>
          </a:p>
          <a:p>
            <a:pPr algn="l">
              <a:lnSpc>
                <a:spcPct val="90000"/>
              </a:lnSpc>
            </a:pPr>
            <a:r>
              <a:rPr lang="en-US" altLang="en-US" sz="1800">
                <a:cs typeface="Times New Roman" panose="02020603050405020304" pitchFamily="18" charset="0"/>
              </a:rPr>
              <a:t> </a:t>
            </a:r>
          </a:p>
          <a:p>
            <a:pPr algn="l">
              <a:lnSpc>
                <a:spcPct val="90000"/>
              </a:lnSpc>
            </a:pPr>
            <a:r>
              <a:rPr lang="en-US" altLang="en-US" sz="1800">
                <a:cs typeface="Times New Roman" panose="02020603050405020304" pitchFamily="18" charset="0"/>
              </a:rPr>
              <a:t> </a:t>
            </a:r>
            <a:r>
              <a:rPr lang="en-US" altLang="en-US" sz="1800">
                <a:solidFill>
                  <a:schemeClr val="accent2"/>
                </a:solidFill>
                <a:cs typeface="Times New Roman" panose="02020603050405020304" pitchFamily="18" charset="0"/>
              </a:rPr>
              <a:t>		</a:t>
            </a:r>
            <a:r>
              <a:rPr lang="en-US" altLang="en-US" sz="1800" b="1">
                <a:solidFill>
                  <a:schemeClr val="accent2"/>
                </a:solidFill>
                <a:cs typeface="Times New Roman" panose="02020603050405020304" pitchFamily="18" charset="0"/>
              </a:rPr>
              <a:t>while ( test_and_set ( lock ) );</a:t>
            </a:r>
            <a:endParaRPr lang="en-US" altLang="en-US" sz="1800">
              <a:solidFill>
                <a:schemeClr val="accent2"/>
              </a:solidFill>
              <a:cs typeface="Times New Roman" panose="02020603050405020304" pitchFamily="18" charset="0"/>
            </a:endParaRPr>
          </a:p>
          <a:p>
            <a:pPr algn="l">
              <a:lnSpc>
                <a:spcPct val="90000"/>
              </a:lnSpc>
            </a:pPr>
            <a:r>
              <a:rPr lang="en-US" altLang="en-US" sz="1800" b="1">
                <a:solidFill>
                  <a:schemeClr val="accent2"/>
                </a:solidFill>
                <a:cs typeface="Times New Roman" panose="02020603050405020304" pitchFamily="18" charset="0"/>
              </a:rPr>
              <a:t> 		/* critical section */</a:t>
            </a:r>
            <a:endParaRPr lang="en-US" altLang="en-US" sz="1800">
              <a:solidFill>
                <a:schemeClr val="accent2"/>
              </a:solidFill>
              <a:cs typeface="Times New Roman" panose="02020603050405020304" pitchFamily="18" charset="0"/>
            </a:endParaRPr>
          </a:p>
          <a:p>
            <a:pPr algn="l">
              <a:lnSpc>
                <a:spcPct val="90000"/>
              </a:lnSpc>
            </a:pPr>
            <a:r>
              <a:rPr lang="en-US" altLang="en-US" sz="1800" b="1">
                <a:solidFill>
                  <a:schemeClr val="accent2"/>
                </a:solidFill>
                <a:cs typeface="Times New Roman" panose="02020603050405020304" pitchFamily="18" charset="0"/>
              </a:rPr>
              <a:t> 		lock = false;</a:t>
            </a:r>
            <a:endParaRPr lang="en-US" altLang="en-US" sz="1800">
              <a:solidFill>
                <a:schemeClr val="accent2"/>
              </a:solidFill>
              <a:cs typeface="Times New Roman" panose="02020603050405020304" pitchFamily="18" charset="0"/>
            </a:endParaRPr>
          </a:p>
          <a:p>
            <a:pPr algn="l">
              <a:lnSpc>
                <a:spcPct val="90000"/>
              </a:lnSpc>
            </a:pPr>
            <a:r>
              <a:rPr lang="en-US" altLang="en-US" sz="1800">
                <a:cs typeface="Times New Roman" panose="02020603050405020304" pitchFamily="18" charset="0"/>
              </a:rPr>
              <a:t> </a:t>
            </a:r>
          </a:p>
          <a:p>
            <a:pPr algn="l">
              <a:lnSpc>
                <a:spcPct val="90000"/>
              </a:lnSpc>
            </a:pPr>
            <a:r>
              <a:rPr lang="en-US" altLang="en-US" sz="1800">
                <a:cs typeface="Times New Roman" panose="02020603050405020304" pitchFamily="18" charset="0"/>
              </a:rPr>
              <a:t>Example of Assembler code:</a:t>
            </a:r>
          </a:p>
          <a:p>
            <a:pPr algn="l">
              <a:lnSpc>
                <a:spcPct val="90000"/>
              </a:lnSpc>
            </a:pPr>
            <a:r>
              <a:rPr lang="en-US" altLang="en-US" sz="1800">
                <a:cs typeface="Times New Roman" panose="02020603050405020304" pitchFamily="18" charset="0"/>
              </a:rPr>
              <a:t> </a:t>
            </a:r>
          </a:p>
          <a:p>
            <a:pPr algn="l">
              <a:lnSpc>
                <a:spcPct val="90000"/>
              </a:lnSpc>
            </a:pPr>
            <a:r>
              <a:rPr lang="en-US" altLang="en-US" sz="1800">
                <a:cs typeface="Times New Roman" panose="02020603050405020304" pitchFamily="18" charset="0"/>
              </a:rPr>
              <a:t> GET_LOCK:     IF_CLEAR_THEN_SET_BIT_AND_SKIP &lt;bit_address&gt;</a:t>
            </a:r>
          </a:p>
          <a:p>
            <a:pPr algn="l">
              <a:lnSpc>
                <a:spcPct val="90000"/>
              </a:lnSpc>
            </a:pPr>
            <a:r>
              <a:rPr lang="en-US" altLang="en-US" sz="1800">
                <a:cs typeface="Times New Roman" panose="02020603050405020304" pitchFamily="18" charset="0"/>
              </a:rPr>
              <a:t>  	            BRANCH    GET_LOCK 	                                /* set failed */</a:t>
            </a:r>
          </a:p>
          <a:p>
            <a:pPr algn="l">
              <a:lnSpc>
                <a:spcPct val="90000"/>
              </a:lnSpc>
            </a:pPr>
            <a:r>
              <a:rPr lang="en-US" altLang="en-US" sz="1800">
                <a:cs typeface="Times New Roman" panose="02020603050405020304" pitchFamily="18" charset="0"/>
              </a:rPr>
              <a:t>  			------- 		                                /* set succeeded */</a:t>
            </a:r>
          </a:p>
          <a:p>
            <a:pPr algn="l">
              <a:lnSpc>
                <a:spcPct val="90000"/>
              </a:lnSpc>
            </a:pPr>
            <a:r>
              <a:rPr lang="en-US" altLang="en-US" sz="1800">
                <a:cs typeface="Times New Roman" panose="02020603050405020304" pitchFamily="18" charset="0"/>
              </a:rPr>
              <a:t> </a:t>
            </a:r>
          </a:p>
          <a:p>
            <a:pPr algn="l">
              <a:lnSpc>
                <a:spcPct val="90000"/>
              </a:lnSpc>
            </a:pPr>
            <a:r>
              <a:rPr lang="en-US" altLang="en-US" sz="1800">
                <a:cs typeface="Times New Roman" panose="02020603050405020304" pitchFamily="18" charset="0"/>
              </a:rPr>
              <a:t>Must be careful if these approaches are to satisfy a bounded wait condition - must use round robin - requires code built around the lock instructions.</a:t>
            </a:r>
          </a:p>
        </p:txBody>
      </p:sp>
      <p:sp>
        <p:nvSpPr>
          <p:cNvPr id="15366" name="Rectangle 6">
            <a:extLst>
              <a:ext uri="{FF2B5EF4-FFF2-40B4-BE49-F238E27FC236}">
                <a16:creationId xmlns:a16="http://schemas.microsoft.com/office/drawing/2014/main" id="{7F618AD2-CF66-F8DB-0CC6-1B9987CE0BD3}"/>
              </a:ext>
            </a:extLst>
          </p:cNvPr>
          <p:cNvSpPr>
            <a:spLocks noGrp="1" noChangeArrowheads="1"/>
          </p:cNvSpPr>
          <p:nvPr>
            <p:ph type="ctrTitle"/>
          </p:nvPr>
        </p:nvSpPr>
        <p:spPr>
          <a:xfrm>
            <a:off x="1828800" y="304800"/>
            <a:ext cx="4648200" cy="838200"/>
          </a:xfrm>
          <a:noFill/>
          <a:ln/>
        </p:spPr>
        <p:txBody>
          <a:bodyPr anchor="ctr">
            <a:normAutofit fontScale="90000"/>
          </a:bodyPr>
          <a:lstStyle/>
          <a:p>
            <a:r>
              <a:rPr lang="en-US" altLang="en-US" sz="3600" b="1"/>
              <a:t>PROCESS SYNCHRONIZATION</a:t>
            </a:r>
          </a:p>
        </p:txBody>
      </p:sp>
      <p:sp>
        <p:nvSpPr>
          <p:cNvPr id="15367" name="Text Box 7">
            <a:extLst>
              <a:ext uri="{FF2B5EF4-FFF2-40B4-BE49-F238E27FC236}">
                <a16:creationId xmlns:a16="http://schemas.microsoft.com/office/drawing/2014/main" id="{FF13FB9B-664E-0615-0899-F4A19FA6804A}"/>
              </a:ext>
            </a:extLst>
          </p:cNvPr>
          <p:cNvSpPr txBox="1">
            <a:spLocks noChangeArrowheads="1"/>
          </p:cNvSpPr>
          <p:nvPr/>
        </p:nvSpPr>
        <p:spPr bwMode="auto">
          <a:xfrm>
            <a:off x="7663446" y="304801"/>
            <a:ext cx="1816523"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800" b="1">
                <a:solidFill>
                  <a:srgbClr val="FF0000"/>
                </a:solidFill>
              </a:rPr>
              <a:t>Hardware</a:t>
            </a:r>
          </a:p>
          <a:p>
            <a:pPr algn="ctr"/>
            <a:r>
              <a:rPr lang="en-US" altLang="en-US" sz="2800" b="1">
                <a:solidFill>
                  <a:srgbClr val="FF0000"/>
                </a:solidFill>
              </a:rPr>
              <a:t>Solutions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AB492DC4-0712-6E36-2A08-99668D582576}"/>
              </a:ext>
            </a:extLst>
          </p:cNvPr>
          <p:cNvSpPr>
            <a:spLocks noGrp="1"/>
          </p:cNvSpPr>
          <p:nvPr>
            <p:ph type="sldNum" sz="quarter" idx="12"/>
          </p:nvPr>
        </p:nvSpPr>
        <p:spPr/>
        <p:txBody>
          <a:bodyPr/>
          <a:lstStyle/>
          <a:p>
            <a:fld id="{3DD754AF-447B-4ABE-970C-BC7221BD9CD1}" type="slidenum">
              <a:rPr lang="en-US" altLang="en-US"/>
              <a:pPr/>
              <a:t>14</a:t>
            </a:fld>
            <a:endParaRPr lang="en-US" altLang="en-US"/>
          </a:p>
        </p:txBody>
      </p:sp>
      <p:sp>
        <p:nvSpPr>
          <p:cNvPr id="16387" name="Rectangle 3">
            <a:extLst>
              <a:ext uri="{FF2B5EF4-FFF2-40B4-BE49-F238E27FC236}">
                <a16:creationId xmlns:a16="http://schemas.microsoft.com/office/drawing/2014/main" id="{B64F2920-2A66-BEDF-0ED4-9519DC24D656}"/>
              </a:ext>
            </a:extLst>
          </p:cNvPr>
          <p:cNvSpPr>
            <a:spLocks noGrp="1" noChangeArrowheads="1"/>
          </p:cNvSpPr>
          <p:nvPr>
            <p:ph type="subTitle" idx="1"/>
          </p:nvPr>
        </p:nvSpPr>
        <p:spPr>
          <a:xfrm>
            <a:off x="1981200" y="1295400"/>
            <a:ext cx="7924800" cy="5181600"/>
          </a:xfrm>
        </p:spPr>
        <p:txBody>
          <a:bodyPr>
            <a:normAutofit fontScale="77500" lnSpcReduction="20000"/>
          </a:bodyPr>
          <a:lstStyle/>
          <a:p>
            <a:pPr algn="l">
              <a:lnSpc>
                <a:spcPct val="90000"/>
              </a:lnSpc>
            </a:pPr>
            <a:r>
              <a:rPr lang="en-US" altLang="en-US" sz="1600" b="1">
                <a:cs typeface="Times New Roman" panose="02020603050405020304" pitchFamily="18" charset="0"/>
              </a:rPr>
              <a:t>Boolean		waiting[N];</a:t>
            </a:r>
          </a:p>
          <a:p>
            <a:pPr algn="l">
              <a:lnSpc>
                <a:spcPct val="90000"/>
              </a:lnSpc>
            </a:pPr>
            <a:r>
              <a:rPr lang="en-US" altLang="en-US" sz="1600" b="1">
                <a:cs typeface="Times New Roman" panose="02020603050405020304" pitchFamily="18" charset="0"/>
              </a:rPr>
              <a:t>int		j;		/* Takes on values from  0   to   N - 1	*/</a:t>
            </a:r>
          </a:p>
          <a:p>
            <a:pPr algn="l">
              <a:lnSpc>
                <a:spcPct val="90000"/>
              </a:lnSpc>
            </a:pPr>
            <a:r>
              <a:rPr lang="en-US" altLang="en-US" sz="1600" b="1">
                <a:cs typeface="Times New Roman" panose="02020603050405020304" pitchFamily="18" charset="0"/>
              </a:rPr>
              <a:t>Boolean		key;</a:t>
            </a:r>
          </a:p>
          <a:p>
            <a:pPr algn="l">
              <a:lnSpc>
                <a:spcPct val="90000"/>
              </a:lnSpc>
            </a:pPr>
            <a:r>
              <a:rPr lang="en-US" altLang="en-US" sz="1600" b="1">
                <a:cs typeface="Times New Roman" panose="02020603050405020304" pitchFamily="18" charset="0"/>
              </a:rPr>
              <a:t>do   {</a:t>
            </a:r>
          </a:p>
          <a:p>
            <a:pPr algn="l">
              <a:lnSpc>
                <a:spcPct val="90000"/>
              </a:lnSpc>
            </a:pPr>
            <a:r>
              <a:rPr lang="en-US" altLang="en-US" sz="1600" b="1">
                <a:cs typeface="Times New Roman" panose="02020603050405020304" pitchFamily="18" charset="0"/>
              </a:rPr>
              <a:t>	waiting[i]       = TRUE;</a:t>
            </a:r>
          </a:p>
          <a:p>
            <a:pPr algn="l">
              <a:lnSpc>
                <a:spcPct val="90000"/>
              </a:lnSpc>
            </a:pPr>
            <a:r>
              <a:rPr lang="en-US" altLang="en-US" sz="1600" b="1">
                <a:cs typeface="Times New Roman" panose="02020603050405020304" pitchFamily="18" charset="0"/>
              </a:rPr>
              <a:t>	key	    = TRUE;</a:t>
            </a:r>
          </a:p>
          <a:p>
            <a:pPr algn="l">
              <a:lnSpc>
                <a:spcPct val="90000"/>
              </a:lnSpc>
            </a:pPr>
            <a:r>
              <a:rPr lang="en-US" altLang="en-US" sz="1600" b="1">
                <a:cs typeface="Times New Roman" panose="02020603050405020304" pitchFamily="18" charset="0"/>
              </a:rPr>
              <a:t>	while(  waiting[i]  &amp;&amp;  key   )</a:t>
            </a:r>
          </a:p>
          <a:p>
            <a:pPr algn="l">
              <a:lnSpc>
                <a:spcPct val="90000"/>
              </a:lnSpc>
            </a:pPr>
            <a:r>
              <a:rPr lang="en-US" altLang="en-US" sz="1600" b="1">
                <a:cs typeface="Times New Roman" panose="02020603050405020304" pitchFamily="18" charset="0"/>
              </a:rPr>
              <a:t>		key  =  test_and_set( lock );	  /*  Spin lock	*/</a:t>
            </a:r>
          </a:p>
          <a:p>
            <a:pPr algn="l">
              <a:lnSpc>
                <a:spcPct val="90000"/>
              </a:lnSpc>
            </a:pPr>
            <a:r>
              <a:rPr lang="en-US" altLang="en-US" sz="1600" b="1">
                <a:cs typeface="Times New Roman" panose="02020603050405020304" pitchFamily="18" charset="0"/>
              </a:rPr>
              <a:t>	waiting[ i ] = FALSE;</a:t>
            </a:r>
          </a:p>
          <a:p>
            <a:pPr algn="l">
              <a:lnSpc>
                <a:spcPct val="90000"/>
              </a:lnSpc>
            </a:pPr>
            <a:r>
              <a:rPr lang="en-US" altLang="en-US" sz="1600" b="1">
                <a:cs typeface="Times New Roman" panose="02020603050405020304" pitchFamily="18" charset="0"/>
              </a:rPr>
              <a:t>		/******   CRITICAL SECTION   ********/</a:t>
            </a:r>
          </a:p>
          <a:p>
            <a:pPr algn="l">
              <a:lnSpc>
                <a:spcPct val="90000"/>
              </a:lnSpc>
            </a:pPr>
            <a:r>
              <a:rPr lang="en-US" altLang="en-US" sz="1600" b="1">
                <a:cs typeface="Times New Roman" panose="02020603050405020304" pitchFamily="18" charset="0"/>
              </a:rPr>
              <a:t>	j  =  (  i + 1 ) mod  N;</a:t>
            </a:r>
          </a:p>
          <a:p>
            <a:pPr algn="l">
              <a:lnSpc>
                <a:spcPct val="90000"/>
              </a:lnSpc>
            </a:pPr>
            <a:r>
              <a:rPr lang="en-US" altLang="en-US" sz="1600" b="1">
                <a:cs typeface="Times New Roman" panose="02020603050405020304" pitchFamily="18" charset="0"/>
              </a:rPr>
              <a:t>	while (   (  j !=  i )  &amp;&amp;   (  ! waiting[ j ] )  )</a:t>
            </a:r>
          </a:p>
          <a:p>
            <a:pPr algn="l">
              <a:lnSpc>
                <a:spcPct val="90000"/>
              </a:lnSpc>
            </a:pPr>
            <a:r>
              <a:rPr lang="en-US" altLang="en-US" sz="1600" b="1">
                <a:cs typeface="Times New Roman" panose="02020603050405020304" pitchFamily="18" charset="0"/>
              </a:rPr>
              <a:t>		j  =  ( j + 1 ) % N;</a:t>
            </a:r>
          </a:p>
          <a:p>
            <a:pPr algn="l">
              <a:lnSpc>
                <a:spcPct val="90000"/>
              </a:lnSpc>
            </a:pPr>
            <a:r>
              <a:rPr lang="en-US" altLang="en-US" sz="1600" b="1">
                <a:cs typeface="Times New Roman" panose="02020603050405020304" pitchFamily="18" charset="0"/>
              </a:rPr>
              <a:t>	if  (  j  ==  i )</a:t>
            </a:r>
          </a:p>
          <a:p>
            <a:pPr algn="l">
              <a:lnSpc>
                <a:spcPct val="90000"/>
              </a:lnSpc>
            </a:pPr>
            <a:r>
              <a:rPr lang="en-US" altLang="en-US" sz="1600" b="1">
                <a:cs typeface="Times New Roman" panose="02020603050405020304" pitchFamily="18" charset="0"/>
              </a:rPr>
              <a:t>		lock = FALSE;</a:t>
            </a:r>
          </a:p>
          <a:p>
            <a:pPr algn="l">
              <a:lnSpc>
                <a:spcPct val="90000"/>
              </a:lnSpc>
            </a:pPr>
            <a:r>
              <a:rPr lang="en-US" altLang="en-US" sz="1600" b="1">
                <a:cs typeface="Times New Roman" panose="02020603050405020304" pitchFamily="18" charset="0"/>
              </a:rPr>
              <a:t>	else</a:t>
            </a:r>
          </a:p>
          <a:p>
            <a:pPr algn="l">
              <a:lnSpc>
                <a:spcPct val="90000"/>
              </a:lnSpc>
            </a:pPr>
            <a:r>
              <a:rPr lang="en-US" altLang="en-US" sz="1600" b="1">
                <a:cs typeface="Times New Roman" panose="02020603050405020304" pitchFamily="18" charset="0"/>
              </a:rPr>
              <a:t>		waiting[ j ] = FALSE;</a:t>
            </a:r>
          </a:p>
          <a:p>
            <a:pPr algn="l">
              <a:lnSpc>
                <a:spcPct val="90000"/>
              </a:lnSpc>
            </a:pPr>
            <a:r>
              <a:rPr lang="en-US" altLang="en-US" sz="1600" b="1">
                <a:cs typeface="Times New Roman" panose="02020603050405020304" pitchFamily="18" charset="0"/>
              </a:rPr>
              <a:t>		/******* REMAINDER SECTION *******/</a:t>
            </a:r>
          </a:p>
          <a:p>
            <a:pPr algn="l">
              <a:lnSpc>
                <a:spcPct val="90000"/>
              </a:lnSpc>
            </a:pPr>
            <a:r>
              <a:rPr lang="en-US" altLang="en-US" sz="1600" b="1">
                <a:cs typeface="Times New Roman" panose="02020603050405020304" pitchFamily="18" charset="0"/>
              </a:rPr>
              <a:t>} while (TRUE);</a:t>
            </a:r>
            <a:endParaRPr lang="en-US" altLang="en-US" sz="1600" b="1"/>
          </a:p>
        </p:txBody>
      </p:sp>
      <p:sp>
        <p:nvSpPr>
          <p:cNvPr id="16389" name="Text Box 5">
            <a:extLst>
              <a:ext uri="{FF2B5EF4-FFF2-40B4-BE49-F238E27FC236}">
                <a16:creationId xmlns:a16="http://schemas.microsoft.com/office/drawing/2014/main" id="{E22BEDC6-34A2-D7B8-71FC-CFE0FB49C8A5}"/>
              </a:ext>
            </a:extLst>
          </p:cNvPr>
          <p:cNvSpPr txBox="1">
            <a:spLocks noChangeArrowheads="1"/>
          </p:cNvSpPr>
          <p:nvPr/>
        </p:nvSpPr>
        <p:spPr bwMode="auto">
          <a:xfrm>
            <a:off x="7981560" y="4860926"/>
            <a:ext cx="189308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0"/>
              </a:spcBef>
            </a:pPr>
            <a:r>
              <a:rPr lang="en-US" altLang="en-US" b="1">
                <a:solidFill>
                  <a:srgbClr val="FF0000"/>
                </a:solidFill>
              </a:rPr>
              <a:t>Using Hardware </a:t>
            </a:r>
          </a:p>
          <a:p>
            <a:pPr algn="ctr">
              <a:spcBef>
                <a:spcPct val="0"/>
              </a:spcBef>
            </a:pPr>
            <a:r>
              <a:rPr lang="en-US" altLang="en-US" b="1">
                <a:solidFill>
                  <a:srgbClr val="FF0000"/>
                </a:solidFill>
              </a:rPr>
              <a:t>Test_and_set.</a:t>
            </a:r>
          </a:p>
        </p:txBody>
      </p:sp>
      <p:sp>
        <p:nvSpPr>
          <p:cNvPr id="16391" name="Rectangle 7">
            <a:extLst>
              <a:ext uri="{FF2B5EF4-FFF2-40B4-BE49-F238E27FC236}">
                <a16:creationId xmlns:a16="http://schemas.microsoft.com/office/drawing/2014/main" id="{BDD6004B-6C7C-CFE8-5D97-8D80D9CC9EE1}"/>
              </a:ext>
            </a:extLst>
          </p:cNvPr>
          <p:cNvSpPr>
            <a:spLocks noGrp="1" noChangeArrowheads="1"/>
          </p:cNvSpPr>
          <p:nvPr>
            <p:ph type="ctrTitle"/>
          </p:nvPr>
        </p:nvSpPr>
        <p:spPr>
          <a:xfrm>
            <a:off x="1752600" y="228600"/>
            <a:ext cx="4648200" cy="838200"/>
          </a:xfrm>
          <a:noFill/>
          <a:ln/>
        </p:spPr>
        <p:txBody>
          <a:bodyPr anchor="ctr">
            <a:normAutofit fontScale="90000"/>
          </a:bodyPr>
          <a:lstStyle/>
          <a:p>
            <a:r>
              <a:rPr lang="en-US" altLang="en-US" sz="3600" b="1"/>
              <a:t>PROCESS SYNCHRONIZATION</a:t>
            </a:r>
          </a:p>
        </p:txBody>
      </p:sp>
      <p:sp>
        <p:nvSpPr>
          <p:cNvPr id="16392" name="Text Box 8">
            <a:extLst>
              <a:ext uri="{FF2B5EF4-FFF2-40B4-BE49-F238E27FC236}">
                <a16:creationId xmlns:a16="http://schemas.microsoft.com/office/drawing/2014/main" id="{4260DF8A-C1A6-0550-F434-FE9720803C3B}"/>
              </a:ext>
            </a:extLst>
          </p:cNvPr>
          <p:cNvSpPr txBox="1">
            <a:spLocks noChangeArrowheads="1"/>
          </p:cNvSpPr>
          <p:nvPr/>
        </p:nvSpPr>
        <p:spPr bwMode="auto">
          <a:xfrm>
            <a:off x="7663446" y="304801"/>
            <a:ext cx="1816523"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800" b="1">
                <a:solidFill>
                  <a:srgbClr val="FF0000"/>
                </a:solidFill>
              </a:rPr>
              <a:t>Hardware</a:t>
            </a:r>
          </a:p>
          <a:p>
            <a:pPr algn="ctr"/>
            <a:r>
              <a:rPr lang="en-US" altLang="en-US" sz="2800" b="1">
                <a:solidFill>
                  <a:srgbClr val="FF0000"/>
                </a:solidFill>
              </a:rPr>
              <a:t>Solutions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AE84F5CB-3BB3-713B-F26C-F2B009979D1A}"/>
              </a:ext>
            </a:extLst>
          </p:cNvPr>
          <p:cNvSpPr>
            <a:spLocks noGrp="1"/>
          </p:cNvSpPr>
          <p:nvPr>
            <p:ph type="sldNum" sz="quarter" idx="12"/>
          </p:nvPr>
        </p:nvSpPr>
        <p:spPr/>
        <p:txBody>
          <a:bodyPr/>
          <a:lstStyle/>
          <a:p>
            <a:fld id="{D0D6F7AD-D312-4FE1-A478-B94966C17323}" type="slidenum">
              <a:rPr lang="en-US" altLang="en-US"/>
              <a:pPr/>
              <a:t>15</a:t>
            </a:fld>
            <a:endParaRPr lang="en-US" altLang="en-US"/>
          </a:p>
        </p:txBody>
      </p:sp>
      <p:sp>
        <p:nvSpPr>
          <p:cNvPr id="17411" name="Rectangle 3">
            <a:extLst>
              <a:ext uri="{FF2B5EF4-FFF2-40B4-BE49-F238E27FC236}">
                <a16:creationId xmlns:a16="http://schemas.microsoft.com/office/drawing/2014/main" id="{F96AB1F5-0EB7-2C58-3D63-D95640E9777B}"/>
              </a:ext>
            </a:extLst>
          </p:cNvPr>
          <p:cNvSpPr>
            <a:spLocks noGrp="1" noChangeArrowheads="1"/>
          </p:cNvSpPr>
          <p:nvPr>
            <p:ph type="subTitle" idx="1"/>
          </p:nvPr>
        </p:nvSpPr>
        <p:spPr>
          <a:xfrm>
            <a:off x="1905000" y="1676400"/>
            <a:ext cx="8305800" cy="3810000"/>
          </a:xfrm>
        </p:spPr>
        <p:txBody>
          <a:bodyPr vert="horz" lIns="365760" tIns="45720" rIns="91440" bIns="45720" rtlCol="0">
            <a:normAutofit lnSpcReduction="10000"/>
          </a:bodyPr>
          <a:lstStyle/>
          <a:p>
            <a:pPr algn="just"/>
            <a:r>
              <a:rPr lang="en-US" altLang="en-US" sz="1800">
                <a:cs typeface="Times New Roman" panose="02020603050405020304" pitchFamily="18" charset="0"/>
              </a:rPr>
              <a:t>We first need to define, for multiprocessors: </a:t>
            </a:r>
          </a:p>
          <a:p>
            <a:pPr algn="just"/>
            <a:endParaRPr lang="en-US" altLang="en-US" sz="1800">
              <a:cs typeface="Times New Roman" panose="02020603050405020304" pitchFamily="18" charset="0"/>
            </a:endParaRPr>
          </a:p>
          <a:p>
            <a:pPr lvl="1" algn="just"/>
            <a:r>
              <a:rPr lang="en-US" altLang="en-US" sz="1800" b="1">
                <a:solidFill>
                  <a:schemeClr val="accent2"/>
                </a:solidFill>
                <a:cs typeface="Times New Roman" panose="02020603050405020304" pitchFamily="18" charset="0"/>
              </a:rPr>
              <a:t>caches, </a:t>
            </a:r>
          </a:p>
          <a:p>
            <a:pPr lvl="1" algn="just"/>
            <a:r>
              <a:rPr lang="en-US" altLang="en-US" sz="1800" b="1">
                <a:solidFill>
                  <a:schemeClr val="accent2"/>
                </a:solidFill>
                <a:cs typeface="Times New Roman" panose="02020603050405020304" pitchFamily="18" charset="0"/>
              </a:rPr>
              <a:t>shared memory (for storage of lock variables), </a:t>
            </a:r>
          </a:p>
          <a:p>
            <a:pPr lvl="1" algn="just"/>
            <a:r>
              <a:rPr lang="en-US" altLang="en-US" sz="1800" b="1">
                <a:solidFill>
                  <a:schemeClr val="accent2"/>
                </a:solidFill>
                <a:cs typeface="Times New Roman" panose="02020603050405020304" pitchFamily="18" charset="0"/>
              </a:rPr>
              <a:t>write through cache, </a:t>
            </a:r>
          </a:p>
          <a:p>
            <a:pPr lvl="1" algn="just"/>
            <a:r>
              <a:rPr lang="en-US" altLang="en-US" sz="1800" b="1">
                <a:solidFill>
                  <a:schemeClr val="accent2"/>
                </a:solidFill>
                <a:cs typeface="Times New Roman" panose="02020603050405020304" pitchFamily="18" charset="0"/>
              </a:rPr>
              <a:t>write pipes.</a:t>
            </a:r>
          </a:p>
          <a:p>
            <a:pPr algn="just"/>
            <a:r>
              <a:rPr lang="en-US" altLang="en-US" sz="1800">
                <a:cs typeface="Times New Roman" panose="02020603050405020304" pitchFamily="18" charset="0"/>
              </a:rPr>
              <a:t> </a:t>
            </a:r>
          </a:p>
          <a:p>
            <a:pPr algn="just"/>
            <a:r>
              <a:rPr lang="en-US" altLang="en-US" sz="1800">
                <a:cs typeface="Times New Roman" panose="02020603050405020304" pitchFamily="18" charset="0"/>
              </a:rPr>
              <a:t>The last software solution we did ( the one we thought was correct ) may not work on a cached multiprocessor.    Why? { Hint, is the write by one processor visible immediately to all other processors?}</a:t>
            </a:r>
          </a:p>
          <a:p>
            <a:pPr algn="just">
              <a:lnSpc>
                <a:spcPct val="70000"/>
              </a:lnSpc>
            </a:pPr>
            <a:r>
              <a:rPr lang="en-US" altLang="en-US" sz="1800">
                <a:cs typeface="Times New Roman" panose="02020603050405020304" pitchFamily="18" charset="0"/>
              </a:rPr>
              <a:t> </a:t>
            </a:r>
          </a:p>
          <a:p>
            <a:pPr algn="just">
              <a:lnSpc>
                <a:spcPct val="70000"/>
              </a:lnSpc>
            </a:pPr>
            <a:r>
              <a:rPr lang="en-US" altLang="en-US" sz="1800">
                <a:cs typeface="Times New Roman" panose="02020603050405020304" pitchFamily="18" charset="0"/>
              </a:rPr>
              <a:t>What changes must be made to the hardware for this program to work?</a:t>
            </a:r>
            <a:endParaRPr lang="en-US" altLang="en-US" sz="1800"/>
          </a:p>
        </p:txBody>
      </p:sp>
      <p:sp>
        <p:nvSpPr>
          <p:cNvPr id="17414" name="Rectangle 6">
            <a:extLst>
              <a:ext uri="{FF2B5EF4-FFF2-40B4-BE49-F238E27FC236}">
                <a16:creationId xmlns:a16="http://schemas.microsoft.com/office/drawing/2014/main" id="{4E1FB426-C179-0CF4-AA0F-187C41A9C919}"/>
              </a:ext>
            </a:extLst>
          </p:cNvPr>
          <p:cNvSpPr>
            <a:spLocks noGrp="1" noChangeArrowheads="1"/>
          </p:cNvSpPr>
          <p:nvPr>
            <p:ph type="ctrTitle"/>
          </p:nvPr>
        </p:nvSpPr>
        <p:spPr>
          <a:xfrm>
            <a:off x="1828800" y="304800"/>
            <a:ext cx="4648200" cy="838200"/>
          </a:xfrm>
          <a:noFill/>
          <a:ln/>
        </p:spPr>
        <p:txBody>
          <a:bodyPr anchor="ctr">
            <a:normAutofit fontScale="90000"/>
          </a:bodyPr>
          <a:lstStyle/>
          <a:p>
            <a:r>
              <a:rPr lang="en-US" altLang="en-US" sz="3600" b="1"/>
              <a:t>PROCESS SYNCHRONIZATION</a:t>
            </a:r>
          </a:p>
        </p:txBody>
      </p:sp>
      <p:sp>
        <p:nvSpPr>
          <p:cNvPr id="17415" name="Text Box 7">
            <a:extLst>
              <a:ext uri="{FF2B5EF4-FFF2-40B4-BE49-F238E27FC236}">
                <a16:creationId xmlns:a16="http://schemas.microsoft.com/office/drawing/2014/main" id="{07B304E8-C9FF-F9D6-CF05-8E4ACE389171}"/>
              </a:ext>
            </a:extLst>
          </p:cNvPr>
          <p:cNvSpPr txBox="1">
            <a:spLocks noChangeArrowheads="1"/>
          </p:cNvSpPr>
          <p:nvPr/>
        </p:nvSpPr>
        <p:spPr bwMode="auto">
          <a:xfrm>
            <a:off x="7018951" y="304801"/>
            <a:ext cx="3116622"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800" b="1">
                <a:solidFill>
                  <a:srgbClr val="FF0000"/>
                </a:solidFill>
              </a:rPr>
              <a:t>Current Hardware</a:t>
            </a:r>
          </a:p>
          <a:p>
            <a:pPr algn="ctr"/>
            <a:r>
              <a:rPr lang="en-US" altLang="en-US" sz="2800" b="1">
                <a:solidFill>
                  <a:srgbClr val="FF0000"/>
                </a:solidFill>
              </a:rPr>
              <a:t>Dilemmas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91D4DB03-43A6-1BBD-1504-99F5B7A81F18}"/>
              </a:ext>
            </a:extLst>
          </p:cNvPr>
          <p:cNvSpPr>
            <a:spLocks noGrp="1"/>
          </p:cNvSpPr>
          <p:nvPr>
            <p:ph type="sldNum" sz="quarter" idx="12"/>
          </p:nvPr>
        </p:nvSpPr>
        <p:spPr/>
        <p:txBody>
          <a:bodyPr/>
          <a:lstStyle/>
          <a:p>
            <a:fld id="{027D4578-AD76-4B54-A6A9-EF799059D341}" type="slidenum">
              <a:rPr lang="en-US" altLang="en-US"/>
              <a:pPr/>
              <a:t>16</a:t>
            </a:fld>
            <a:endParaRPr lang="en-US" altLang="en-US"/>
          </a:p>
        </p:txBody>
      </p:sp>
      <p:sp>
        <p:nvSpPr>
          <p:cNvPr id="29698" name="Rectangle 2">
            <a:extLst>
              <a:ext uri="{FF2B5EF4-FFF2-40B4-BE49-F238E27FC236}">
                <a16:creationId xmlns:a16="http://schemas.microsoft.com/office/drawing/2014/main" id="{4BD597FC-1E0D-4714-AF71-067E8CE17777}"/>
              </a:ext>
            </a:extLst>
          </p:cNvPr>
          <p:cNvSpPr>
            <a:spLocks noGrp="1" noChangeArrowheads="1"/>
          </p:cNvSpPr>
          <p:nvPr>
            <p:ph type="subTitle" idx="1"/>
          </p:nvPr>
        </p:nvSpPr>
        <p:spPr>
          <a:xfrm>
            <a:off x="1828800" y="1371600"/>
            <a:ext cx="8305800" cy="3962400"/>
          </a:xfrm>
        </p:spPr>
        <p:txBody>
          <a:bodyPr vert="horz" lIns="365760" tIns="45720" rIns="91440" bIns="45720" rtlCol="0">
            <a:normAutofit fontScale="92500" lnSpcReduction="10000"/>
          </a:bodyPr>
          <a:lstStyle/>
          <a:p>
            <a:pPr algn="l">
              <a:lnSpc>
                <a:spcPct val="70000"/>
              </a:lnSpc>
            </a:pPr>
            <a:r>
              <a:rPr lang="en-US" altLang="en-US" sz="1800">
                <a:cs typeface="Times New Roman" panose="02020603050405020304" pitchFamily="18" charset="0"/>
              </a:rPr>
              <a:t>Does the sequence below work on a cached multiprocessor?</a:t>
            </a:r>
          </a:p>
          <a:p>
            <a:pPr algn="l">
              <a:lnSpc>
                <a:spcPct val="70000"/>
              </a:lnSpc>
            </a:pPr>
            <a:r>
              <a:rPr lang="en-US" altLang="en-US" sz="1800">
                <a:cs typeface="Times New Roman" panose="02020603050405020304" pitchFamily="18" charset="0"/>
              </a:rPr>
              <a:t> </a:t>
            </a:r>
          </a:p>
          <a:p>
            <a:pPr algn="l">
              <a:lnSpc>
                <a:spcPct val="90000"/>
              </a:lnSpc>
            </a:pPr>
            <a:r>
              <a:rPr lang="en-US" altLang="en-US" sz="1800">
                <a:cs typeface="Times New Roman" panose="02020603050405020304" pitchFamily="18" charset="0"/>
              </a:rPr>
              <a:t>Initially, location </a:t>
            </a:r>
            <a:r>
              <a:rPr lang="en-US" altLang="en-US" sz="1800" b="1">
                <a:cs typeface="Times New Roman" panose="02020603050405020304" pitchFamily="18" charset="0"/>
              </a:rPr>
              <a:t>a</a:t>
            </a:r>
            <a:r>
              <a:rPr lang="en-US" altLang="en-US" sz="1800">
                <a:cs typeface="Times New Roman" panose="02020603050405020304" pitchFamily="18" charset="0"/>
              </a:rPr>
              <a:t> contains A0 and location </a:t>
            </a:r>
            <a:r>
              <a:rPr lang="en-US" altLang="en-US" sz="1800" b="1">
                <a:cs typeface="Times New Roman" panose="02020603050405020304" pitchFamily="18" charset="0"/>
              </a:rPr>
              <a:t>b</a:t>
            </a:r>
            <a:r>
              <a:rPr lang="en-US" altLang="en-US" sz="1800">
                <a:cs typeface="Times New Roman" panose="02020603050405020304" pitchFamily="18" charset="0"/>
              </a:rPr>
              <a:t> contains B0.</a:t>
            </a:r>
          </a:p>
          <a:p>
            <a:pPr algn="l">
              <a:lnSpc>
                <a:spcPct val="90000"/>
              </a:lnSpc>
            </a:pPr>
            <a:endParaRPr lang="en-US" altLang="en-US" sz="1800">
              <a:cs typeface="Times New Roman" panose="02020603050405020304" pitchFamily="18" charset="0"/>
            </a:endParaRPr>
          </a:p>
          <a:p>
            <a:pPr lvl="1" algn="l">
              <a:lnSpc>
                <a:spcPct val="90000"/>
              </a:lnSpc>
            </a:pPr>
            <a:r>
              <a:rPr lang="en-US" altLang="en-US" sz="1800">
                <a:cs typeface="Times New Roman" panose="02020603050405020304" pitchFamily="18" charset="0"/>
              </a:rPr>
              <a:t>a) Processor 1 writes data A1 to location </a:t>
            </a:r>
            <a:r>
              <a:rPr lang="en-US" altLang="en-US" sz="1800" b="1">
                <a:cs typeface="Times New Roman" panose="02020603050405020304" pitchFamily="18" charset="0"/>
              </a:rPr>
              <a:t>a</a:t>
            </a:r>
            <a:r>
              <a:rPr lang="en-US" altLang="en-US" sz="1800">
                <a:cs typeface="Times New Roman" panose="02020603050405020304" pitchFamily="18" charset="0"/>
              </a:rPr>
              <a:t>.</a:t>
            </a:r>
          </a:p>
          <a:p>
            <a:pPr lvl="1" algn="l">
              <a:lnSpc>
                <a:spcPct val="90000"/>
              </a:lnSpc>
            </a:pPr>
            <a:r>
              <a:rPr lang="en-US" altLang="en-US" sz="1800">
                <a:cs typeface="Times New Roman" panose="02020603050405020304" pitchFamily="18" charset="0"/>
              </a:rPr>
              <a:t>b) Processor 1 sets </a:t>
            </a:r>
            <a:r>
              <a:rPr lang="en-US" altLang="en-US" sz="1800" b="1">
                <a:cs typeface="Times New Roman" panose="02020603050405020304" pitchFamily="18" charset="0"/>
              </a:rPr>
              <a:t>b</a:t>
            </a:r>
            <a:r>
              <a:rPr lang="en-US" altLang="en-US" sz="1800">
                <a:cs typeface="Times New Roman" panose="02020603050405020304" pitchFamily="18" charset="0"/>
              </a:rPr>
              <a:t> to B1 indicating data at </a:t>
            </a:r>
            <a:r>
              <a:rPr lang="en-US" altLang="en-US" sz="1800" b="1">
                <a:cs typeface="Times New Roman" panose="02020603050405020304" pitchFamily="18" charset="0"/>
              </a:rPr>
              <a:t>a</a:t>
            </a:r>
            <a:r>
              <a:rPr lang="en-US" altLang="en-US" sz="1800">
                <a:cs typeface="Times New Roman" panose="02020603050405020304" pitchFamily="18" charset="0"/>
              </a:rPr>
              <a:t> is valid.</a:t>
            </a:r>
          </a:p>
          <a:p>
            <a:pPr lvl="1" algn="l">
              <a:lnSpc>
                <a:spcPct val="90000"/>
              </a:lnSpc>
            </a:pPr>
            <a:r>
              <a:rPr lang="en-US" altLang="en-US" sz="1800">
                <a:cs typeface="Times New Roman" panose="02020603050405020304" pitchFamily="18" charset="0"/>
              </a:rPr>
              <a:t>c) Processor 2 waits for </a:t>
            </a:r>
            <a:r>
              <a:rPr lang="en-US" altLang="en-US" sz="1800" b="1">
                <a:cs typeface="Times New Roman" panose="02020603050405020304" pitchFamily="18" charset="0"/>
              </a:rPr>
              <a:t>b</a:t>
            </a:r>
            <a:r>
              <a:rPr lang="en-US" altLang="en-US" sz="1800">
                <a:cs typeface="Times New Roman" panose="02020603050405020304" pitchFamily="18" charset="0"/>
              </a:rPr>
              <a:t> to take on value B1 and loops until that change occurs.</a:t>
            </a:r>
          </a:p>
          <a:p>
            <a:pPr lvl="1" algn="l">
              <a:lnSpc>
                <a:spcPct val="90000"/>
              </a:lnSpc>
            </a:pPr>
            <a:r>
              <a:rPr lang="en-US" altLang="en-US" sz="1800">
                <a:cs typeface="Times New Roman" panose="02020603050405020304" pitchFamily="18" charset="0"/>
              </a:rPr>
              <a:t>d) Processor 2 reads the value from </a:t>
            </a:r>
            <a:r>
              <a:rPr lang="en-US" altLang="en-US" sz="1800" b="1">
                <a:cs typeface="Times New Roman" panose="02020603050405020304" pitchFamily="18" charset="0"/>
              </a:rPr>
              <a:t>a</a:t>
            </a:r>
            <a:r>
              <a:rPr lang="en-US" altLang="en-US" sz="1800">
                <a:cs typeface="Times New Roman" panose="02020603050405020304" pitchFamily="18" charset="0"/>
              </a:rPr>
              <a:t>.</a:t>
            </a:r>
          </a:p>
          <a:p>
            <a:pPr algn="l"/>
            <a:r>
              <a:rPr lang="en-US" altLang="en-US" sz="1800">
                <a:cs typeface="Times New Roman" panose="02020603050405020304" pitchFamily="18" charset="0"/>
              </a:rPr>
              <a:t> </a:t>
            </a:r>
          </a:p>
          <a:p>
            <a:pPr algn="l"/>
            <a:r>
              <a:rPr lang="en-US" altLang="en-US" sz="1800">
                <a:cs typeface="Times New Roman" panose="02020603050405020304" pitchFamily="18" charset="0"/>
              </a:rPr>
              <a:t>What value is seen by Processor 2 when it reads </a:t>
            </a:r>
            <a:r>
              <a:rPr lang="en-US" altLang="en-US" sz="1800" b="1">
                <a:cs typeface="Times New Roman" panose="02020603050405020304" pitchFamily="18" charset="0"/>
              </a:rPr>
              <a:t>a</a:t>
            </a:r>
            <a:r>
              <a:rPr lang="en-US" altLang="en-US" sz="1800">
                <a:cs typeface="Times New Roman" panose="02020603050405020304" pitchFamily="18" charset="0"/>
              </a:rPr>
              <a:t>?</a:t>
            </a:r>
          </a:p>
          <a:p>
            <a:pPr algn="l"/>
            <a:r>
              <a:rPr lang="en-US" altLang="en-US" sz="1800">
                <a:cs typeface="Times New Roman" panose="02020603050405020304" pitchFamily="18" charset="0"/>
              </a:rPr>
              <a:t> </a:t>
            </a:r>
          </a:p>
          <a:p>
            <a:pPr algn="l"/>
            <a:r>
              <a:rPr lang="en-US" altLang="en-US" sz="1800">
                <a:cs typeface="Times New Roman" panose="02020603050405020304" pitchFamily="18" charset="0"/>
              </a:rPr>
              <a:t>How  must hardware be specified to guarantee the value seen?</a:t>
            </a:r>
            <a:endParaRPr lang="en-US" altLang="en-US" sz="1800"/>
          </a:p>
        </p:txBody>
      </p:sp>
      <p:sp>
        <p:nvSpPr>
          <p:cNvPr id="29699" name="Rectangle 3">
            <a:extLst>
              <a:ext uri="{FF2B5EF4-FFF2-40B4-BE49-F238E27FC236}">
                <a16:creationId xmlns:a16="http://schemas.microsoft.com/office/drawing/2014/main" id="{99FA8E74-90A3-486A-BD31-A1246774EA47}"/>
              </a:ext>
            </a:extLst>
          </p:cNvPr>
          <p:cNvSpPr>
            <a:spLocks noGrp="1" noChangeArrowheads="1"/>
          </p:cNvSpPr>
          <p:nvPr>
            <p:ph type="ctrTitle"/>
          </p:nvPr>
        </p:nvSpPr>
        <p:spPr>
          <a:xfrm>
            <a:off x="1828800" y="304800"/>
            <a:ext cx="4648200" cy="838200"/>
          </a:xfrm>
          <a:noFill/>
          <a:ln/>
        </p:spPr>
        <p:txBody>
          <a:bodyPr anchor="ctr">
            <a:normAutofit fontScale="90000"/>
          </a:bodyPr>
          <a:lstStyle/>
          <a:p>
            <a:r>
              <a:rPr lang="en-US" altLang="en-US" sz="3600" b="1"/>
              <a:t>PROCESS SYNCHRONIZATION</a:t>
            </a:r>
          </a:p>
        </p:txBody>
      </p:sp>
      <p:sp>
        <p:nvSpPr>
          <p:cNvPr id="29700" name="Text Box 4">
            <a:extLst>
              <a:ext uri="{FF2B5EF4-FFF2-40B4-BE49-F238E27FC236}">
                <a16:creationId xmlns:a16="http://schemas.microsoft.com/office/drawing/2014/main" id="{2E292511-5341-6F41-7270-4FA5147D224B}"/>
              </a:ext>
            </a:extLst>
          </p:cNvPr>
          <p:cNvSpPr txBox="1">
            <a:spLocks noChangeArrowheads="1"/>
          </p:cNvSpPr>
          <p:nvPr/>
        </p:nvSpPr>
        <p:spPr bwMode="auto">
          <a:xfrm>
            <a:off x="7018951" y="304801"/>
            <a:ext cx="3116622"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800" b="1">
                <a:solidFill>
                  <a:srgbClr val="FF0000"/>
                </a:solidFill>
              </a:rPr>
              <a:t>Current Hardware</a:t>
            </a:r>
          </a:p>
          <a:p>
            <a:pPr algn="ctr"/>
            <a:r>
              <a:rPr lang="en-US" altLang="en-US" sz="2800" b="1">
                <a:solidFill>
                  <a:srgbClr val="FF0000"/>
                </a:solidFill>
              </a:rPr>
              <a:t>Dilemmas</a:t>
            </a:r>
          </a:p>
        </p:txBody>
      </p:sp>
      <p:sp>
        <p:nvSpPr>
          <p:cNvPr id="29701" name="Text Box 5">
            <a:extLst>
              <a:ext uri="{FF2B5EF4-FFF2-40B4-BE49-F238E27FC236}">
                <a16:creationId xmlns:a16="http://schemas.microsoft.com/office/drawing/2014/main" id="{E082B406-C4BD-25EC-C09B-0DE89B66AD6F}"/>
              </a:ext>
            </a:extLst>
          </p:cNvPr>
          <p:cNvSpPr txBox="1">
            <a:spLocks noChangeArrowheads="1"/>
          </p:cNvSpPr>
          <p:nvPr/>
        </p:nvSpPr>
        <p:spPr bwMode="auto">
          <a:xfrm>
            <a:off x="6553200" y="5410201"/>
            <a:ext cx="914400" cy="366713"/>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b="1"/>
              <a:t>a:   A0</a:t>
            </a:r>
          </a:p>
        </p:txBody>
      </p:sp>
      <p:sp>
        <p:nvSpPr>
          <p:cNvPr id="29702" name="Text Box 6">
            <a:extLst>
              <a:ext uri="{FF2B5EF4-FFF2-40B4-BE49-F238E27FC236}">
                <a16:creationId xmlns:a16="http://schemas.microsoft.com/office/drawing/2014/main" id="{CA7949A1-3C33-A2CC-A290-1CC7356918DD}"/>
              </a:ext>
            </a:extLst>
          </p:cNvPr>
          <p:cNvSpPr txBox="1">
            <a:spLocks noChangeArrowheads="1"/>
          </p:cNvSpPr>
          <p:nvPr/>
        </p:nvSpPr>
        <p:spPr bwMode="auto">
          <a:xfrm>
            <a:off x="8001000" y="5410201"/>
            <a:ext cx="914400" cy="366713"/>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b="1"/>
              <a:t>b:   B0</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EC7D966F-3B50-7441-1B6A-7CEFE52ED98F}"/>
              </a:ext>
            </a:extLst>
          </p:cNvPr>
          <p:cNvSpPr>
            <a:spLocks noGrp="1"/>
          </p:cNvSpPr>
          <p:nvPr>
            <p:ph type="sldNum" sz="quarter" idx="12"/>
          </p:nvPr>
        </p:nvSpPr>
        <p:spPr/>
        <p:txBody>
          <a:bodyPr/>
          <a:lstStyle/>
          <a:p>
            <a:fld id="{2F1EBE0B-E714-4443-AF03-C753EBEA2F1C}" type="slidenum">
              <a:rPr lang="en-US" altLang="en-US"/>
              <a:pPr/>
              <a:t>17</a:t>
            </a:fld>
            <a:endParaRPr lang="en-US" altLang="en-US"/>
          </a:p>
        </p:txBody>
      </p:sp>
      <p:sp>
        <p:nvSpPr>
          <p:cNvPr id="18435" name="Rectangle 3">
            <a:extLst>
              <a:ext uri="{FF2B5EF4-FFF2-40B4-BE49-F238E27FC236}">
                <a16:creationId xmlns:a16="http://schemas.microsoft.com/office/drawing/2014/main" id="{931EA154-6370-DA9A-0944-A9DB302E38DB}"/>
              </a:ext>
            </a:extLst>
          </p:cNvPr>
          <p:cNvSpPr>
            <a:spLocks noGrp="1" noChangeArrowheads="1"/>
          </p:cNvSpPr>
          <p:nvPr>
            <p:ph type="subTitle" idx="1"/>
          </p:nvPr>
        </p:nvSpPr>
        <p:spPr>
          <a:xfrm>
            <a:off x="1981200" y="1752600"/>
            <a:ext cx="8305800" cy="3581400"/>
          </a:xfrm>
        </p:spPr>
        <p:txBody>
          <a:bodyPr/>
          <a:lstStyle/>
          <a:p>
            <a:pPr algn="just"/>
            <a:r>
              <a:rPr lang="en-US" altLang="en-US" sz="1800">
                <a:cs typeface="Times New Roman" panose="02020603050405020304" pitchFamily="18" charset="0"/>
              </a:rPr>
              <a:t>We need to discuss:</a:t>
            </a:r>
          </a:p>
          <a:p>
            <a:pPr algn="just"/>
            <a:endParaRPr lang="en-US" altLang="en-US" sz="1800">
              <a:cs typeface="Times New Roman" panose="02020603050405020304" pitchFamily="18" charset="0"/>
            </a:endParaRPr>
          </a:p>
          <a:p>
            <a:pPr lvl="1" algn="just"/>
            <a:r>
              <a:rPr lang="en-US" altLang="en-US" sz="1800" b="1">
                <a:cs typeface="Times New Roman" panose="02020603050405020304" pitchFamily="18" charset="0"/>
              </a:rPr>
              <a:t>Write Ordering</a:t>
            </a:r>
            <a:r>
              <a:rPr lang="en-US" altLang="en-US" sz="1800">
                <a:cs typeface="Times New Roman" panose="02020603050405020304" pitchFamily="18" charset="0"/>
              </a:rPr>
              <a:t>: The first write by a processor will be visible before the second write is visible. This requires a write through cache.</a:t>
            </a:r>
          </a:p>
          <a:p>
            <a:pPr lvl="1" algn="just"/>
            <a:endParaRPr lang="en-US" altLang="en-US" sz="1800">
              <a:cs typeface="Times New Roman" panose="02020603050405020304" pitchFamily="18" charset="0"/>
            </a:endParaRPr>
          </a:p>
          <a:p>
            <a:pPr lvl="1" algn="just"/>
            <a:r>
              <a:rPr lang="en-US" altLang="en-US" sz="1800" b="1">
                <a:cs typeface="Times New Roman" panose="02020603050405020304" pitchFamily="18" charset="0"/>
              </a:rPr>
              <a:t>Sequential Consistency</a:t>
            </a:r>
            <a:r>
              <a:rPr lang="en-US" altLang="en-US" sz="1800">
                <a:cs typeface="Times New Roman" panose="02020603050405020304" pitchFamily="18" charset="0"/>
              </a:rPr>
              <a:t>: If Processor 1 writes to Location a "before" Processor 2 writes to Location b, then a is visible to ALL processors before b is. To do this requires NOT caching shared data.</a:t>
            </a:r>
          </a:p>
          <a:p>
            <a:pPr algn="just"/>
            <a:endParaRPr lang="en-US" altLang="en-US" sz="1800">
              <a:cs typeface="Times New Roman" panose="02020603050405020304" pitchFamily="18" charset="0"/>
            </a:endParaRPr>
          </a:p>
          <a:p>
            <a:pPr algn="just">
              <a:lnSpc>
                <a:spcPct val="90000"/>
              </a:lnSpc>
            </a:pPr>
            <a:r>
              <a:rPr lang="en-US" altLang="en-US" sz="1800">
                <a:cs typeface="Times New Roman" panose="02020603050405020304" pitchFamily="18" charset="0"/>
              </a:rPr>
              <a:t>The software solutions discussed earlier should be avoided since they require write ordering and/or sequential consistency.</a:t>
            </a:r>
          </a:p>
        </p:txBody>
      </p:sp>
      <p:sp>
        <p:nvSpPr>
          <p:cNvPr id="18438" name="Rectangle 6">
            <a:extLst>
              <a:ext uri="{FF2B5EF4-FFF2-40B4-BE49-F238E27FC236}">
                <a16:creationId xmlns:a16="http://schemas.microsoft.com/office/drawing/2014/main" id="{E1A3D039-CD82-DEA0-4DDA-9DC1D7DB33FA}"/>
              </a:ext>
            </a:extLst>
          </p:cNvPr>
          <p:cNvSpPr>
            <a:spLocks noGrp="1" noChangeArrowheads="1"/>
          </p:cNvSpPr>
          <p:nvPr>
            <p:ph type="ctrTitle"/>
          </p:nvPr>
        </p:nvSpPr>
        <p:spPr>
          <a:xfrm>
            <a:off x="1828800" y="304800"/>
            <a:ext cx="4648200" cy="838200"/>
          </a:xfrm>
          <a:noFill/>
          <a:ln/>
        </p:spPr>
        <p:txBody>
          <a:bodyPr anchor="ctr">
            <a:normAutofit fontScale="90000"/>
          </a:bodyPr>
          <a:lstStyle/>
          <a:p>
            <a:r>
              <a:rPr lang="en-US" altLang="en-US" sz="3600" b="1"/>
              <a:t>PROCESS SYNCHRONIZATION</a:t>
            </a:r>
          </a:p>
        </p:txBody>
      </p:sp>
      <p:sp>
        <p:nvSpPr>
          <p:cNvPr id="18439" name="Text Box 7">
            <a:extLst>
              <a:ext uri="{FF2B5EF4-FFF2-40B4-BE49-F238E27FC236}">
                <a16:creationId xmlns:a16="http://schemas.microsoft.com/office/drawing/2014/main" id="{3A18AD7C-AB45-B2DF-64A1-2D7F0C6475AE}"/>
              </a:ext>
            </a:extLst>
          </p:cNvPr>
          <p:cNvSpPr txBox="1">
            <a:spLocks noChangeArrowheads="1"/>
          </p:cNvSpPr>
          <p:nvPr/>
        </p:nvSpPr>
        <p:spPr bwMode="auto">
          <a:xfrm>
            <a:off x="7018951" y="304801"/>
            <a:ext cx="3116622"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800" b="1">
                <a:solidFill>
                  <a:srgbClr val="FF0000"/>
                </a:solidFill>
              </a:rPr>
              <a:t>Current Hardware</a:t>
            </a:r>
          </a:p>
          <a:p>
            <a:pPr algn="ctr"/>
            <a:r>
              <a:rPr lang="en-US" altLang="en-US" sz="2800" b="1">
                <a:solidFill>
                  <a:srgbClr val="FF0000"/>
                </a:solidFill>
              </a:rPr>
              <a:t>Dilemmas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89169159-926D-F402-9ECB-DB6B82C4F65E}"/>
              </a:ext>
            </a:extLst>
          </p:cNvPr>
          <p:cNvSpPr>
            <a:spLocks noGrp="1"/>
          </p:cNvSpPr>
          <p:nvPr>
            <p:ph type="sldNum" sz="quarter" idx="12"/>
          </p:nvPr>
        </p:nvSpPr>
        <p:spPr/>
        <p:txBody>
          <a:bodyPr/>
          <a:lstStyle/>
          <a:p>
            <a:fld id="{AC6FE2ED-FE62-472F-BB17-061194FAAA6A}" type="slidenum">
              <a:rPr lang="en-US" altLang="en-US"/>
              <a:pPr/>
              <a:t>18</a:t>
            </a:fld>
            <a:endParaRPr lang="en-US" altLang="en-US"/>
          </a:p>
        </p:txBody>
      </p:sp>
      <p:sp>
        <p:nvSpPr>
          <p:cNvPr id="30722" name="Rectangle 2">
            <a:extLst>
              <a:ext uri="{FF2B5EF4-FFF2-40B4-BE49-F238E27FC236}">
                <a16:creationId xmlns:a16="http://schemas.microsoft.com/office/drawing/2014/main" id="{37838FB2-EF99-5421-CAB2-1755C81DAF81}"/>
              </a:ext>
            </a:extLst>
          </p:cNvPr>
          <p:cNvSpPr>
            <a:spLocks noGrp="1" noChangeArrowheads="1"/>
          </p:cNvSpPr>
          <p:nvPr>
            <p:ph type="subTitle" idx="1"/>
          </p:nvPr>
        </p:nvSpPr>
        <p:spPr>
          <a:xfrm>
            <a:off x="1981200" y="2057400"/>
            <a:ext cx="8305800" cy="2971800"/>
          </a:xfrm>
        </p:spPr>
        <p:txBody>
          <a:bodyPr>
            <a:normAutofit fontScale="85000" lnSpcReduction="20000"/>
          </a:bodyPr>
          <a:lstStyle/>
          <a:p>
            <a:pPr algn="just">
              <a:lnSpc>
                <a:spcPct val="90000"/>
              </a:lnSpc>
            </a:pPr>
            <a:r>
              <a:rPr lang="en-US" altLang="en-US" sz="1800">
                <a:cs typeface="Times New Roman" panose="02020603050405020304" pitchFamily="18" charset="0"/>
              </a:rPr>
              <a:t>Hardware test and set on a multiprocessor causes </a:t>
            </a:r>
          </a:p>
          <a:p>
            <a:pPr algn="just">
              <a:lnSpc>
                <a:spcPct val="90000"/>
              </a:lnSpc>
            </a:pPr>
            <a:endParaRPr lang="en-US" altLang="en-US" sz="1800">
              <a:cs typeface="Times New Roman" panose="02020603050405020304" pitchFamily="18" charset="0"/>
            </a:endParaRPr>
          </a:p>
          <a:p>
            <a:pPr lvl="1" algn="just">
              <a:lnSpc>
                <a:spcPct val="90000"/>
              </a:lnSpc>
              <a:buFont typeface="Symbol" panose="05050102010706020507" pitchFamily="18" charset="2"/>
              <a:buChar char="·"/>
            </a:pPr>
            <a:r>
              <a:rPr lang="en-US" altLang="en-US" sz="1800">
                <a:cs typeface="Times New Roman" panose="02020603050405020304" pitchFamily="18" charset="0"/>
              </a:rPr>
              <a:t>an explicit flush of the write to main memory and </a:t>
            </a:r>
          </a:p>
          <a:p>
            <a:pPr lvl="1" algn="just">
              <a:lnSpc>
                <a:spcPct val="90000"/>
              </a:lnSpc>
              <a:buFont typeface="Symbol" panose="05050102010706020507" pitchFamily="18" charset="2"/>
              <a:buChar char="·"/>
            </a:pPr>
            <a:r>
              <a:rPr lang="en-US" altLang="en-US" sz="1800">
                <a:cs typeface="Times New Roman" panose="02020603050405020304" pitchFamily="18" charset="0"/>
              </a:rPr>
              <a:t>the update of all other processor's caches. </a:t>
            </a:r>
          </a:p>
          <a:p>
            <a:pPr algn="just">
              <a:lnSpc>
                <a:spcPct val="90000"/>
              </a:lnSpc>
            </a:pPr>
            <a:endParaRPr lang="en-US" altLang="en-US" sz="1800">
              <a:cs typeface="Times New Roman" panose="02020603050405020304" pitchFamily="18" charset="0"/>
            </a:endParaRPr>
          </a:p>
          <a:p>
            <a:pPr algn="just">
              <a:lnSpc>
                <a:spcPct val="90000"/>
              </a:lnSpc>
            </a:pPr>
            <a:r>
              <a:rPr lang="en-US" altLang="en-US" sz="1800">
                <a:cs typeface="Times New Roman" panose="02020603050405020304" pitchFamily="18" charset="0"/>
              </a:rPr>
              <a:t>Imagine needing to write </a:t>
            </a:r>
            <a:r>
              <a:rPr lang="en-US" altLang="en-US" sz="1800" b="1">
                <a:cs typeface="Times New Roman" panose="02020603050405020304" pitchFamily="18" charset="0"/>
              </a:rPr>
              <a:t>all</a:t>
            </a:r>
            <a:r>
              <a:rPr lang="en-US" altLang="en-US" sz="1800">
                <a:cs typeface="Times New Roman" panose="02020603050405020304" pitchFamily="18" charset="0"/>
              </a:rPr>
              <a:t> shared data straight through the cache.  </a:t>
            </a:r>
          </a:p>
          <a:p>
            <a:pPr algn="just">
              <a:lnSpc>
                <a:spcPct val="90000"/>
              </a:lnSpc>
            </a:pPr>
            <a:endParaRPr lang="en-US" altLang="en-US" sz="1800">
              <a:cs typeface="Times New Roman" panose="02020603050405020304" pitchFamily="18" charset="0"/>
            </a:endParaRPr>
          </a:p>
          <a:p>
            <a:pPr algn="just">
              <a:lnSpc>
                <a:spcPct val="90000"/>
              </a:lnSpc>
            </a:pPr>
            <a:r>
              <a:rPr lang="en-US" altLang="en-US" sz="1800">
                <a:cs typeface="Times New Roman" panose="02020603050405020304" pitchFamily="18" charset="0"/>
              </a:rPr>
              <a:t>With test and set, </a:t>
            </a:r>
            <a:r>
              <a:rPr lang="en-US" altLang="en-US" sz="1800" b="1">
                <a:cs typeface="Times New Roman" panose="02020603050405020304" pitchFamily="18" charset="0"/>
              </a:rPr>
              <a:t>only</a:t>
            </a:r>
            <a:r>
              <a:rPr lang="en-US" altLang="en-US" sz="1800">
                <a:cs typeface="Times New Roman" panose="02020603050405020304" pitchFamily="18" charset="0"/>
              </a:rPr>
              <a:t> lock locations are written out explicitly.</a:t>
            </a:r>
          </a:p>
          <a:p>
            <a:pPr algn="just">
              <a:lnSpc>
                <a:spcPct val="90000"/>
              </a:lnSpc>
            </a:pPr>
            <a:endParaRPr lang="en-US" altLang="en-US" sz="1800">
              <a:cs typeface="Times New Roman" panose="02020603050405020304" pitchFamily="18" charset="0"/>
            </a:endParaRPr>
          </a:p>
          <a:p>
            <a:pPr algn="just">
              <a:lnSpc>
                <a:spcPct val="90000"/>
              </a:lnSpc>
            </a:pPr>
            <a:r>
              <a:rPr lang="en-US" altLang="en-US" sz="1800">
                <a:cs typeface="Times New Roman" panose="02020603050405020304" pitchFamily="18" charset="0"/>
              </a:rPr>
              <a:t>In not too many years, hardware will no longer support software solutions because of the performance impact of doing so.</a:t>
            </a:r>
          </a:p>
        </p:txBody>
      </p:sp>
      <p:sp>
        <p:nvSpPr>
          <p:cNvPr id="30723" name="Rectangle 3">
            <a:extLst>
              <a:ext uri="{FF2B5EF4-FFF2-40B4-BE49-F238E27FC236}">
                <a16:creationId xmlns:a16="http://schemas.microsoft.com/office/drawing/2014/main" id="{D383BC5A-F2BB-A62A-A984-6EB1D6C48DEB}"/>
              </a:ext>
            </a:extLst>
          </p:cNvPr>
          <p:cNvSpPr>
            <a:spLocks noGrp="1" noChangeArrowheads="1"/>
          </p:cNvSpPr>
          <p:nvPr>
            <p:ph type="ctrTitle"/>
          </p:nvPr>
        </p:nvSpPr>
        <p:spPr>
          <a:xfrm>
            <a:off x="1828800" y="304800"/>
            <a:ext cx="4648200" cy="838200"/>
          </a:xfrm>
          <a:noFill/>
          <a:ln/>
        </p:spPr>
        <p:txBody>
          <a:bodyPr anchor="ctr">
            <a:normAutofit fontScale="90000"/>
          </a:bodyPr>
          <a:lstStyle/>
          <a:p>
            <a:r>
              <a:rPr lang="en-US" altLang="en-US" sz="3600" b="1"/>
              <a:t>PROCESS SYNCHRONIZATION</a:t>
            </a:r>
          </a:p>
        </p:txBody>
      </p:sp>
      <p:sp>
        <p:nvSpPr>
          <p:cNvPr id="30724" name="Text Box 4">
            <a:extLst>
              <a:ext uri="{FF2B5EF4-FFF2-40B4-BE49-F238E27FC236}">
                <a16:creationId xmlns:a16="http://schemas.microsoft.com/office/drawing/2014/main" id="{FF494DFE-90A3-5DCE-033A-E71590E2EDC1}"/>
              </a:ext>
            </a:extLst>
          </p:cNvPr>
          <p:cNvSpPr txBox="1">
            <a:spLocks noChangeArrowheads="1"/>
          </p:cNvSpPr>
          <p:nvPr/>
        </p:nvSpPr>
        <p:spPr bwMode="auto">
          <a:xfrm>
            <a:off x="7018951" y="304801"/>
            <a:ext cx="3116622"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800" b="1">
                <a:solidFill>
                  <a:srgbClr val="FF0000"/>
                </a:solidFill>
              </a:rPr>
              <a:t>Current Hardware</a:t>
            </a:r>
          </a:p>
          <a:p>
            <a:pPr algn="ctr"/>
            <a:r>
              <a:rPr lang="en-US" altLang="en-US" sz="2800" b="1">
                <a:solidFill>
                  <a:srgbClr val="FF0000"/>
                </a:solidFill>
              </a:rPr>
              <a:t>Dilemmas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DDE1DA6A-D475-0486-6DFF-4820EF82BA30}"/>
              </a:ext>
            </a:extLst>
          </p:cNvPr>
          <p:cNvSpPr>
            <a:spLocks noGrp="1"/>
          </p:cNvSpPr>
          <p:nvPr>
            <p:ph type="sldNum" sz="quarter" idx="12"/>
          </p:nvPr>
        </p:nvSpPr>
        <p:spPr/>
        <p:txBody>
          <a:bodyPr/>
          <a:lstStyle/>
          <a:p>
            <a:fld id="{83845E47-6039-4554-B096-C94FCFBFE98D}" type="slidenum">
              <a:rPr lang="en-US" altLang="en-US"/>
              <a:pPr/>
              <a:t>19</a:t>
            </a:fld>
            <a:endParaRPr lang="en-US" altLang="en-US"/>
          </a:p>
        </p:txBody>
      </p:sp>
      <p:sp>
        <p:nvSpPr>
          <p:cNvPr id="3075" name="Rectangle 3">
            <a:extLst>
              <a:ext uri="{FF2B5EF4-FFF2-40B4-BE49-F238E27FC236}">
                <a16:creationId xmlns:a16="http://schemas.microsoft.com/office/drawing/2014/main" id="{EA94B837-C784-45E8-79BE-934DCDB50E35}"/>
              </a:ext>
            </a:extLst>
          </p:cNvPr>
          <p:cNvSpPr>
            <a:spLocks noGrp="1" noChangeArrowheads="1"/>
          </p:cNvSpPr>
          <p:nvPr>
            <p:ph type="subTitle" idx="1"/>
          </p:nvPr>
        </p:nvSpPr>
        <p:spPr>
          <a:xfrm>
            <a:off x="1676400" y="1219200"/>
            <a:ext cx="8763000" cy="4876800"/>
          </a:xfrm>
        </p:spPr>
        <p:txBody>
          <a:bodyPr>
            <a:normAutofit fontScale="92500" lnSpcReduction="10000"/>
          </a:bodyPr>
          <a:lstStyle/>
          <a:p>
            <a:pPr algn="just"/>
            <a:r>
              <a:rPr lang="en-US" altLang="en-US" sz="1800" b="1">
                <a:cs typeface="Times New Roman" panose="02020603050405020304" pitchFamily="18" charset="0"/>
              </a:rPr>
              <a:t>PURPOSE:</a:t>
            </a:r>
          </a:p>
          <a:p>
            <a:pPr algn="just"/>
            <a:r>
              <a:rPr lang="en-US" altLang="en-US" sz="1800">
                <a:cs typeface="Times New Roman" panose="02020603050405020304" pitchFamily="18" charset="0"/>
              </a:rPr>
              <a:t>We want to be able to write more complex constructs and so need a language to do so.  We thus define semaphores which we assume are atomic operations:</a:t>
            </a:r>
          </a:p>
          <a:p>
            <a:pPr algn="just"/>
            <a:r>
              <a:rPr lang="en-US" altLang="en-US" sz="1800">
                <a:cs typeface="Times New Roman" panose="02020603050405020304" pitchFamily="18" charset="0"/>
              </a:rPr>
              <a:t> </a:t>
            </a:r>
          </a:p>
          <a:p>
            <a:pPr algn="just"/>
            <a:r>
              <a:rPr lang="en-US" altLang="en-US" sz="1800">
                <a:cs typeface="Times New Roman" panose="02020603050405020304" pitchFamily="18" charset="0"/>
              </a:rPr>
              <a:t> </a:t>
            </a:r>
            <a:r>
              <a:rPr lang="en-US" altLang="en-US" sz="1600">
                <a:cs typeface="Times New Roman" panose="02020603050405020304" pitchFamily="18" charset="0"/>
              </a:rPr>
              <a:t>		</a:t>
            </a:r>
          </a:p>
          <a:p>
            <a:pPr algn="just"/>
            <a:endParaRPr lang="en-US" altLang="en-US" sz="1800">
              <a:cs typeface="Times New Roman" panose="02020603050405020304" pitchFamily="18" charset="0"/>
            </a:endParaRPr>
          </a:p>
          <a:p>
            <a:pPr algn="just"/>
            <a:endParaRPr lang="en-US" altLang="en-US" sz="1800">
              <a:cs typeface="Times New Roman" panose="02020603050405020304" pitchFamily="18" charset="0"/>
            </a:endParaRPr>
          </a:p>
          <a:p>
            <a:pPr algn="just"/>
            <a:r>
              <a:rPr lang="en-US" altLang="en-US" sz="1800">
                <a:cs typeface="Times New Roman" panose="02020603050405020304" pitchFamily="18" charset="0"/>
              </a:rPr>
              <a:t>As given here, these are not atomic as written in "macro code". We define these operations, however, to be atomic (Protected by a hardware  lock.)</a:t>
            </a:r>
          </a:p>
          <a:p>
            <a:pPr algn="just"/>
            <a:r>
              <a:rPr lang="en-US" altLang="en-US" sz="1800">
                <a:cs typeface="Times New Roman" panose="02020603050405020304" pitchFamily="18" charset="0"/>
              </a:rPr>
              <a:t> </a:t>
            </a:r>
          </a:p>
          <a:p>
            <a:pPr algn="just"/>
            <a:r>
              <a:rPr lang="en-US" altLang="en-US" sz="1800" b="1">
                <a:cs typeface="Times New Roman" panose="02020603050405020304" pitchFamily="18" charset="0"/>
              </a:rPr>
              <a:t>FORMAT:</a:t>
            </a:r>
            <a:endParaRPr lang="en-US" altLang="en-US" sz="1800">
              <a:cs typeface="Times New Roman" panose="02020603050405020304" pitchFamily="18" charset="0"/>
            </a:endParaRPr>
          </a:p>
          <a:p>
            <a:pPr algn="just"/>
            <a:r>
              <a:rPr lang="en-US" altLang="en-US" sz="1800">
                <a:cs typeface="Times New Roman" panose="02020603050405020304" pitchFamily="18" charset="0"/>
              </a:rPr>
              <a:t> 	</a:t>
            </a:r>
            <a:r>
              <a:rPr lang="en-US" altLang="en-US" sz="1800" b="1">
                <a:cs typeface="Times New Roman" panose="02020603050405020304" pitchFamily="18" charset="0"/>
              </a:rPr>
              <a:t>wait ( mutex ); 	</a:t>
            </a:r>
            <a:r>
              <a:rPr lang="en-US" altLang="en-US" sz="1800">
                <a:cs typeface="Times New Roman" panose="02020603050405020304" pitchFamily="18" charset="0"/>
              </a:rPr>
              <a:t>	&lt;-- Mutual exclusion: mutex init to 1.</a:t>
            </a:r>
          </a:p>
          <a:p>
            <a:pPr algn="just"/>
            <a:r>
              <a:rPr lang="en-US" altLang="en-US" sz="1800">
                <a:cs typeface="Times New Roman" panose="02020603050405020304" pitchFamily="18" charset="0"/>
              </a:rPr>
              <a:t> 	 </a:t>
            </a:r>
            <a:r>
              <a:rPr lang="en-US" altLang="en-US" sz="1800" b="1">
                <a:cs typeface="Times New Roman" panose="02020603050405020304" pitchFamily="18" charset="0"/>
              </a:rPr>
              <a:t>CRITICAL SECTION</a:t>
            </a:r>
            <a:endParaRPr lang="en-US" altLang="en-US" sz="1800">
              <a:cs typeface="Times New Roman" panose="02020603050405020304" pitchFamily="18" charset="0"/>
            </a:endParaRPr>
          </a:p>
          <a:p>
            <a:pPr algn="just"/>
            <a:r>
              <a:rPr lang="en-US" altLang="en-US" sz="1800" b="1">
                <a:cs typeface="Times New Roman" panose="02020603050405020304" pitchFamily="18" charset="0"/>
              </a:rPr>
              <a:t> 	signal( mutex ); </a:t>
            </a:r>
            <a:endParaRPr lang="en-US" altLang="en-US" sz="1800">
              <a:cs typeface="Times New Roman" panose="02020603050405020304" pitchFamily="18" charset="0"/>
            </a:endParaRPr>
          </a:p>
          <a:p>
            <a:pPr algn="just"/>
            <a:r>
              <a:rPr lang="en-US" altLang="en-US" sz="1800" b="1">
                <a:cs typeface="Times New Roman" panose="02020603050405020304" pitchFamily="18" charset="0"/>
              </a:rPr>
              <a:t>  	REMAINDER</a:t>
            </a:r>
            <a:endParaRPr lang="en-US" altLang="en-US" sz="1800">
              <a:cs typeface="Times New Roman" panose="02020603050405020304" pitchFamily="18" charset="0"/>
            </a:endParaRPr>
          </a:p>
        </p:txBody>
      </p:sp>
      <p:sp>
        <p:nvSpPr>
          <p:cNvPr id="3077" name="Text Box 5">
            <a:extLst>
              <a:ext uri="{FF2B5EF4-FFF2-40B4-BE49-F238E27FC236}">
                <a16:creationId xmlns:a16="http://schemas.microsoft.com/office/drawing/2014/main" id="{B60A6748-9C20-C464-78E6-01DB20E6E207}"/>
              </a:ext>
            </a:extLst>
          </p:cNvPr>
          <p:cNvSpPr txBox="1">
            <a:spLocks noChangeArrowheads="1"/>
          </p:cNvSpPr>
          <p:nvPr/>
        </p:nvSpPr>
        <p:spPr bwMode="auto">
          <a:xfrm>
            <a:off x="2438400" y="2438400"/>
            <a:ext cx="2547938" cy="933450"/>
          </a:xfrm>
          <a:prstGeom prst="rect">
            <a:avLst/>
          </a:prstGeom>
          <a:noFill/>
          <a:ln w="9525">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b="1">
                <a:cs typeface="Times New Roman" panose="02020603050405020304" pitchFamily="18" charset="0"/>
              </a:rPr>
              <a:t>WAIT ( S ): </a:t>
            </a:r>
          </a:p>
          <a:p>
            <a:r>
              <a:rPr lang="en-US" altLang="en-US" b="1">
                <a:cs typeface="Times New Roman" panose="02020603050405020304" pitchFamily="18" charset="0"/>
              </a:rPr>
              <a:t>      while    ( S  &lt;=  0 ); </a:t>
            </a:r>
          </a:p>
          <a:p>
            <a:r>
              <a:rPr lang="en-US" altLang="en-US" b="1">
                <a:cs typeface="Times New Roman" panose="02020603050405020304" pitchFamily="18" charset="0"/>
              </a:rPr>
              <a:t>      S  =  S  -  1;</a:t>
            </a:r>
            <a:endParaRPr lang="en-US" altLang="en-US" b="1"/>
          </a:p>
        </p:txBody>
      </p:sp>
      <p:sp>
        <p:nvSpPr>
          <p:cNvPr id="3078" name="Text Box 6">
            <a:extLst>
              <a:ext uri="{FF2B5EF4-FFF2-40B4-BE49-F238E27FC236}">
                <a16:creationId xmlns:a16="http://schemas.microsoft.com/office/drawing/2014/main" id="{C051E8D5-279F-F80B-086D-8A56290D42A5}"/>
              </a:ext>
            </a:extLst>
          </p:cNvPr>
          <p:cNvSpPr txBox="1">
            <a:spLocks noChangeArrowheads="1"/>
          </p:cNvSpPr>
          <p:nvPr/>
        </p:nvSpPr>
        <p:spPr bwMode="auto">
          <a:xfrm>
            <a:off x="6553200" y="2514601"/>
            <a:ext cx="2362200" cy="646331"/>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b="1">
                <a:cs typeface="Times New Roman" panose="02020603050405020304" pitchFamily="18" charset="0"/>
              </a:rPr>
              <a:t>SIGNAL ( S ): </a:t>
            </a:r>
          </a:p>
          <a:p>
            <a:r>
              <a:rPr lang="en-US" altLang="en-US" b="1">
                <a:cs typeface="Times New Roman" panose="02020603050405020304" pitchFamily="18" charset="0"/>
              </a:rPr>
              <a:t>      S  =  S  +  1;</a:t>
            </a:r>
            <a:endParaRPr lang="en-US" altLang="en-US" b="1"/>
          </a:p>
        </p:txBody>
      </p:sp>
      <p:sp>
        <p:nvSpPr>
          <p:cNvPr id="3079" name="Rectangle 7">
            <a:extLst>
              <a:ext uri="{FF2B5EF4-FFF2-40B4-BE49-F238E27FC236}">
                <a16:creationId xmlns:a16="http://schemas.microsoft.com/office/drawing/2014/main" id="{6808F3F5-EC4A-D2BA-3882-A81C30FEF59F}"/>
              </a:ext>
            </a:extLst>
          </p:cNvPr>
          <p:cNvSpPr>
            <a:spLocks noChangeArrowheads="1"/>
          </p:cNvSpPr>
          <p:nvPr/>
        </p:nvSpPr>
        <p:spPr bwMode="auto">
          <a:xfrm>
            <a:off x="1828800" y="304800"/>
            <a:ext cx="4648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spcBef>
                <a:spcPct val="0"/>
              </a:spcBef>
              <a:defRPr sz="4400">
                <a:solidFill>
                  <a:schemeClr val="tx2"/>
                </a:solidFill>
                <a:latin typeface="Arial" panose="020B0604020202020204" pitchFamily="34" charset="0"/>
              </a:defRPr>
            </a:lvl1pPr>
            <a:lvl2pPr algn="ctr">
              <a:spcBef>
                <a:spcPct val="0"/>
              </a:spcBef>
              <a:defRPr sz="4400">
                <a:solidFill>
                  <a:schemeClr val="tx2"/>
                </a:solidFill>
                <a:latin typeface="Arial" panose="020B0604020202020204" pitchFamily="34" charset="0"/>
              </a:defRPr>
            </a:lvl2pPr>
            <a:lvl3pPr algn="ctr">
              <a:spcBef>
                <a:spcPct val="0"/>
              </a:spcBef>
              <a:defRPr sz="4400">
                <a:solidFill>
                  <a:schemeClr val="tx2"/>
                </a:solidFill>
                <a:latin typeface="Arial" panose="020B0604020202020204" pitchFamily="34" charset="0"/>
              </a:defRPr>
            </a:lvl3pPr>
            <a:lvl4pPr algn="ctr">
              <a:spcBef>
                <a:spcPct val="0"/>
              </a:spcBef>
              <a:defRPr sz="4400">
                <a:solidFill>
                  <a:schemeClr val="tx2"/>
                </a:solidFill>
                <a:latin typeface="Arial" panose="020B0604020202020204" pitchFamily="34" charset="0"/>
              </a:defRPr>
            </a:lvl4pPr>
            <a:lvl5pPr algn="ctr">
              <a:spcBef>
                <a:spcPct val="0"/>
              </a:spcBef>
              <a:defRPr sz="4400">
                <a:solidFill>
                  <a:schemeClr val="tx2"/>
                </a:solidFill>
                <a:latin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defRPr>
            </a:lvl9pPr>
          </a:lstStyle>
          <a:p>
            <a:r>
              <a:rPr lang="en-US" altLang="en-US" sz="3600" b="1"/>
              <a:t>PROCESS SYNCHRONIZATION</a:t>
            </a:r>
          </a:p>
        </p:txBody>
      </p:sp>
      <p:sp>
        <p:nvSpPr>
          <p:cNvPr id="3080" name="Text Box 8">
            <a:extLst>
              <a:ext uri="{FF2B5EF4-FFF2-40B4-BE49-F238E27FC236}">
                <a16:creationId xmlns:a16="http://schemas.microsoft.com/office/drawing/2014/main" id="{647CFC79-A606-92A7-4C25-489E03F187C4}"/>
              </a:ext>
            </a:extLst>
          </p:cNvPr>
          <p:cNvSpPr txBox="1">
            <a:spLocks noChangeArrowheads="1"/>
          </p:cNvSpPr>
          <p:nvPr/>
        </p:nvSpPr>
        <p:spPr bwMode="auto">
          <a:xfrm>
            <a:off x="7423151" y="304801"/>
            <a:ext cx="23209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800" b="1">
                <a:solidFill>
                  <a:srgbClr val="FF0000"/>
                </a:solidFill>
              </a:rPr>
              <a:t>Semaphores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318E5B29-DC1A-A810-99AB-65FB4FBE7CBC}"/>
              </a:ext>
            </a:extLst>
          </p:cNvPr>
          <p:cNvSpPr>
            <a:spLocks noGrp="1"/>
          </p:cNvSpPr>
          <p:nvPr>
            <p:ph type="sldNum" sz="quarter" idx="12"/>
          </p:nvPr>
        </p:nvSpPr>
        <p:spPr/>
        <p:txBody>
          <a:bodyPr/>
          <a:lstStyle/>
          <a:p>
            <a:fld id="{56434BC8-3249-4DCB-B985-4715437A0054}" type="slidenum">
              <a:rPr lang="en-US" altLang="en-US"/>
              <a:pPr/>
              <a:t>20</a:t>
            </a:fld>
            <a:endParaRPr lang="en-US" altLang="en-US"/>
          </a:p>
        </p:txBody>
      </p:sp>
      <p:sp>
        <p:nvSpPr>
          <p:cNvPr id="19459" name="Rectangle 3">
            <a:extLst>
              <a:ext uri="{FF2B5EF4-FFF2-40B4-BE49-F238E27FC236}">
                <a16:creationId xmlns:a16="http://schemas.microsoft.com/office/drawing/2014/main" id="{8251097A-90E7-E0BD-4ED1-3DCB631A15C0}"/>
              </a:ext>
            </a:extLst>
          </p:cNvPr>
          <p:cNvSpPr>
            <a:spLocks noGrp="1" noChangeArrowheads="1"/>
          </p:cNvSpPr>
          <p:nvPr>
            <p:ph type="subTitle" idx="1"/>
          </p:nvPr>
        </p:nvSpPr>
        <p:spPr>
          <a:xfrm>
            <a:off x="2133600" y="1905000"/>
            <a:ext cx="7848600" cy="2895600"/>
          </a:xfrm>
        </p:spPr>
        <p:txBody>
          <a:bodyPr/>
          <a:lstStyle/>
          <a:p>
            <a:pPr marL="57150" algn="just"/>
            <a:r>
              <a:rPr lang="en-US" altLang="en-US" sz="1800">
                <a:cs typeface="Times New Roman" panose="02020603050405020304" pitchFamily="18" charset="0"/>
              </a:rPr>
              <a:t>Semaphores can be used to force synchronization ( precedence ) if the </a:t>
            </a:r>
            <a:r>
              <a:rPr lang="en-US" altLang="en-US" sz="1800" b="1">
                <a:cs typeface="Times New Roman" panose="02020603050405020304" pitchFamily="18" charset="0"/>
              </a:rPr>
              <a:t>preceeder</a:t>
            </a:r>
            <a:r>
              <a:rPr lang="en-US" altLang="en-US" sz="1800">
                <a:cs typeface="Times New Roman" panose="02020603050405020304" pitchFamily="18" charset="0"/>
              </a:rPr>
              <a:t> does a signal at the end, and the </a:t>
            </a:r>
            <a:r>
              <a:rPr lang="en-US" altLang="en-US" sz="1800" b="1">
                <a:cs typeface="Times New Roman" panose="02020603050405020304" pitchFamily="18" charset="0"/>
              </a:rPr>
              <a:t>follower</a:t>
            </a:r>
            <a:r>
              <a:rPr lang="en-US" altLang="en-US" sz="1800">
                <a:cs typeface="Times New Roman" panose="02020603050405020304" pitchFamily="18" charset="0"/>
              </a:rPr>
              <a:t> does wait at beginning. For example, here we want P1 to execute before P2.</a:t>
            </a:r>
          </a:p>
          <a:p>
            <a:pPr marL="57150" algn="just"/>
            <a:r>
              <a:rPr lang="en-US" altLang="en-US" sz="1800">
                <a:cs typeface="Times New Roman" panose="02020603050405020304" pitchFamily="18" charset="0"/>
              </a:rPr>
              <a:t> </a:t>
            </a:r>
          </a:p>
          <a:p>
            <a:pPr marL="57150" algn="just"/>
            <a:r>
              <a:rPr lang="en-US" altLang="en-US" sz="1800">
                <a:cs typeface="Times New Roman" panose="02020603050405020304" pitchFamily="18" charset="0"/>
              </a:rPr>
              <a:t>  		</a:t>
            </a:r>
            <a:r>
              <a:rPr lang="en-US" altLang="en-US" sz="1800" b="1">
                <a:cs typeface="Times New Roman" panose="02020603050405020304" pitchFamily="18" charset="0"/>
              </a:rPr>
              <a:t>P1</a:t>
            </a:r>
            <a:r>
              <a:rPr lang="en-US" altLang="en-US" sz="1800">
                <a:cs typeface="Times New Roman" panose="02020603050405020304" pitchFamily="18" charset="0"/>
              </a:rPr>
              <a:t>: 				</a:t>
            </a:r>
            <a:r>
              <a:rPr lang="en-US" altLang="en-US" sz="1800" b="1">
                <a:cs typeface="Times New Roman" panose="02020603050405020304" pitchFamily="18" charset="0"/>
              </a:rPr>
              <a:t>P2:</a:t>
            </a:r>
            <a:r>
              <a:rPr lang="en-US" altLang="en-US" sz="1800">
                <a:cs typeface="Times New Roman" panose="02020603050405020304" pitchFamily="18" charset="0"/>
              </a:rPr>
              <a:t> </a:t>
            </a:r>
          </a:p>
          <a:p>
            <a:pPr marL="57150" algn="just"/>
            <a:r>
              <a:rPr lang="en-US" altLang="en-US" sz="1800">
                <a:cs typeface="Times New Roman" panose="02020603050405020304" pitchFamily="18" charset="0"/>
              </a:rPr>
              <a:t>  		    statement 1; 			    wait ( synch );</a:t>
            </a:r>
          </a:p>
          <a:p>
            <a:pPr marL="57150" algn="just"/>
            <a:r>
              <a:rPr lang="en-US" altLang="en-US" sz="1800">
                <a:cs typeface="Times New Roman" panose="02020603050405020304" pitchFamily="18" charset="0"/>
              </a:rPr>
              <a:t>  		    signal ( synch ); 		    statement 2;</a:t>
            </a:r>
          </a:p>
          <a:p>
            <a:pPr marL="57150" algn="just"/>
            <a:endParaRPr lang="en-US" altLang="en-US" sz="1800">
              <a:cs typeface="Times New Roman" panose="02020603050405020304" pitchFamily="18" charset="0"/>
            </a:endParaRPr>
          </a:p>
        </p:txBody>
      </p:sp>
      <p:sp>
        <p:nvSpPr>
          <p:cNvPr id="19462" name="Rectangle 6">
            <a:extLst>
              <a:ext uri="{FF2B5EF4-FFF2-40B4-BE49-F238E27FC236}">
                <a16:creationId xmlns:a16="http://schemas.microsoft.com/office/drawing/2014/main" id="{15F5127C-FD74-99E4-BB16-126643B7BF06}"/>
              </a:ext>
            </a:extLst>
          </p:cNvPr>
          <p:cNvSpPr>
            <a:spLocks noChangeArrowheads="1"/>
          </p:cNvSpPr>
          <p:nvPr/>
        </p:nvSpPr>
        <p:spPr bwMode="auto">
          <a:xfrm>
            <a:off x="1828800" y="304800"/>
            <a:ext cx="4648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spcBef>
                <a:spcPct val="0"/>
              </a:spcBef>
              <a:defRPr sz="4400">
                <a:solidFill>
                  <a:schemeClr val="tx2"/>
                </a:solidFill>
                <a:latin typeface="Arial" panose="020B0604020202020204" pitchFamily="34" charset="0"/>
              </a:defRPr>
            </a:lvl1pPr>
            <a:lvl2pPr algn="ctr">
              <a:spcBef>
                <a:spcPct val="0"/>
              </a:spcBef>
              <a:defRPr sz="4400">
                <a:solidFill>
                  <a:schemeClr val="tx2"/>
                </a:solidFill>
                <a:latin typeface="Arial" panose="020B0604020202020204" pitchFamily="34" charset="0"/>
              </a:defRPr>
            </a:lvl2pPr>
            <a:lvl3pPr algn="ctr">
              <a:spcBef>
                <a:spcPct val="0"/>
              </a:spcBef>
              <a:defRPr sz="4400">
                <a:solidFill>
                  <a:schemeClr val="tx2"/>
                </a:solidFill>
                <a:latin typeface="Arial" panose="020B0604020202020204" pitchFamily="34" charset="0"/>
              </a:defRPr>
            </a:lvl3pPr>
            <a:lvl4pPr algn="ctr">
              <a:spcBef>
                <a:spcPct val="0"/>
              </a:spcBef>
              <a:defRPr sz="4400">
                <a:solidFill>
                  <a:schemeClr val="tx2"/>
                </a:solidFill>
                <a:latin typeface="Arial" panose="020B0604020202020204" pitchFamily="34" charset="0"/>
              </a:defRPr>
            </a:lvl4pPr>
            <a:lvl5pPr algn="ctr">
              <a:spcBef>
                <a:spcPct val="0"/>
              </a:spcBef>
              <a:defRPr sz="4400">
                <a:solidFill>
                  <a:schemeClr val="tx2"/>
                </a:solidFill>
                <a:latin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defRPr>
            </a:lvl9pPr>
          </a:lstStyle>
          <a:p>
            <a:r>
              <a:rPr lang="en-US" altLang="en-US" sz="3600" b="1"/>
              <a:t>PROCESS SYNCHRONIZATION</a:t>
            </a:r>
          </a:p>
        </p:txBody>
      </p:sp>
      <p:sp>
        <p:nvSpPr>
          <p:cNvPr id="19463" name="Text Box 7">
            <a:extLst>
              <a:ext uri="{FF2B5EF4-FFF2-40B4-BE49-F238E27FC236}">
                <a16:creationId xmlns:a16="http://schemas.microsoft.com/office/drawing/2014/main" id="{AE3AB9F3-A777-8206-6136-28C3DBD021FF}"/>
              </a:ext>
            </a:extLst>
          </p:cNvPr>
          <p:cNvSpPr txBox="1">
            <a:spLocks noChangeArrowheads="1"/>
          </p:cNvSpPr>
          <p:nvPr/>
        </p:nvSpPr>
        <p:spPr bwMode="auto">
          <a:xfrm>
            <a:off x="7423151" y="304801"/>
            <a:ext cx="23209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800" b="1">
                <a:solidFill>
                  <a:srgbClr val="FF0000"/>
                </a:solidFill>
              </a:rPr>
              <a:t>Semaphores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28C8126-75B3-4359-92DE-41966F04C4C7}"/>
              </a:ext>
            </a:extLst>
          </p:cNvPr>
          <p:cNvSpPr>
            <a:spLocks noGrp="1"/>
          </p:cNvSpPr>
          <p:nvPr>
            <p:ph type="sldNum" sz="quarter" idx="12"/>
          </p:nvPr>
        </p:nvSpPr>
        <p:spPr/>
        <p:txBody>
          <a:bodyPr/>
          <a:lstStyle/>
          <a:p>
            <a:fld id="{AECD632A-1CC4-47E6-B2B5-0FB9A608D6B3}" type="slidenum">
              <a:rPr lang="en-US" altLang="en-US"/>
              <a:pPr/>
              <a:t>21</a:t>
            </a:fld>
            <a:endParaRPr lang="en-US" altLang="en-US"/>
          </a:p>
        </p:txBody>
      </p:sp>
      <p:sp>
        <p:nvSpPr>
          <p:cNvPr id="31746" name="Rectangle 2">
            <a:extLst>
              <a:ext uri="{FF2B5EF4-FFF2-40B4-BE49-F238E27FC236}">
                <a16:creationId xmlns:a16="http://schemas.microsoft.com/office/drawing/2014/main" id="{D9B14A76-A3C7-3747-A560-0E4864B52DDF}"/>
              </a:ext>
            </a:extLst>
          </p:cNvPr>
          <p:cNvSpPr>
            <a:spLocks noGrp="1" noChangeArrowheads="1"/>
          </p:cNvSpPr>
          <p:nvPr>
            <p:ph type="subTitle" idx="1"/>
          </p:nvPr>
        </p:nvSpPr>
        <p:spPr>
          <a:xfrm>
            <a:off x="1752600" y="1447800"/>
            <a:ext cx="8686800" cy="4800600"/>
          </a:xfrm>
        </p:spPr>
        <p:txBody>
          <a:bodyPr>
            <a:normAutofit fontScale="92500" lnSpcReduction="10000"/>
          </a:bodyPr>
          <a:lstStyle/>
          <a:p>
            <a:pPr marL="457200" indent="-457200" algn="just"/>
            <a:r>
              <a:rPr lang="en-US" altLang="en-US" sz="1800" dirty="0">
                <a:cs typeface="Times New Roman" panose="02020603050405020304" pitchFamily="18" charset="0"/>
              </a:rPr>
              <a:t>We don't want to loop on busy, so will suspend instead:</a:t>
            </a:r>
          </a:p>
          <a:p>
            <a:pPr marL="457200" indent="-457200" algn="just"/>
            <a:endParaRPr lang="en-US" altLang="en-US" sz="1800" dirty="0">
              <a:cs typeface="Times New Roman" panose="02020603050405020304" pitchFamily="18" charset="0"/>
            </a:endParaRPr>
          </a:p>
          <a:p>
            <a:pPr marL="457200" indent="-457200" algn="just">
              <a:buFontTx/>
              <a:buChar char="•"/>
            </a:pPr>
            <a:r>
              <a:rPr lang="en-US" altLang="en-US" sz="1800" dirty="0">
                <a:cs typeface="Times New Roman" panose="02020603050405020304" pitchFamily="18" charset="0"/>
              </a:rPr>
              <a:t>Block on semaphore == False,</a:t>
            </a:r>
          </a:p>
          <a:p>
            <a:pPr marL="457200" indent="-457200" algn="just">
              <a:buFontTx/>
              <a:buChar char="•"/>
            </a:pPr>
            <a:r>
              <a:rPr lang="en-US" altLang="en-US" sz="1800" dirty="0">
                <a:cs typeface="Times New Roman" panose="02020603050405020304" pitchFamily="18" charset="0"/>
              </a:rPr>
              <a:t>Wakeup on signal  ( semaphore becomes True),</a:t>
            </a:r>
          </a:p>
          <a:p>
            <a:pPr marL="457200" indent="-457200" algn="just">
              <a:buFontTx/>
              <a:buChar char="•"/>
            </a:pPr>
            <a:r>
              <a:rPr lang="en-US" altLang="en-US" sz="1800" dirty="0">
                <a:cs typeface="Times New Roman" panose="02020603050405020304" pitchFamily="18" charset="0"/>
              </a:rPr>
              <a:t>There may be numerous processes waiting for the semaphore, so keep a list of blocked processes,</a:t>
            </a:r>
          </a:p>
          <a:p>
            <a:pPr marL="457200" indent="-457200" algn="just">
              <a:buFontTx/>
              <a:buChar char="•"/>
            </a:pPr>
            <a:r>
              <a:rPr lang="en-US" altLang="en-US" sz="1800" dirty="0">
                <a:cs typeface="Times New Roman" panose="02020603050405020304" pitchFamily="18" charset="0"/>
              </a:rPr>
              <a:t>Wakeup one of the blocked processes upon getting a signal ( choice of who depends on strategy ).</a:t>
            </a:r>
          </a:p>
          <a:p>
            <a:pPr marL="457200" indent="-457200" algn="just">
              <a:buFontTx/>
              <a:buChar char="•"/>
            </a:pPr>
            <a:endParaRPr lang="en-US" altLang="en-US" sz="1800" dirty="0"/>
          </a:p>
          <a:p>
            <a:pPr marL="457200" indent="-457200" algn="just"/>
            <a:r>
              <a:rPr lang="en-US" altLang="en-US" sz="1800" dirty="0">
                <a:cs typeface="Times New Roman" panose="02020603050405020304" pitchFamily="18" charset="0"/>
              </a:rPr>
              <a:t>To PREVENT looping, we redefine the semaphore structure as:</a:t>
            </a:r>
          </a:p>
          <a:p>
            <a:pPr marL="457200" indent="-457200" algn="just"/>
            <a:endParaRPr lang="en-US" altLang="en-US" sz="1800" dirty="0">
              <a:cs typeface="Times New Roman" panose="02020603050405020304" pitchFamily="18" charset="0"/>
            </a:endParaRPr>
          </a:p>
          <a:p>
            <a:pPr marL="457200" indent="-457200" algn="just"/>
            <a:r>
              <a:rPr lang="en-US" altLang="en-US" sz="1800" b="1" dirty="0">
                <a:solidFill>
                  <a:schemeClr val="accent2"/>
                </a:solidFill>
                <a:cs typeface="Times New Roman" panose="02020603050405020304" pitchFamily="18" charset="0"/>
              </a:rPr>
              <a:t>typedef struct {</a:t>
            </a:r>
            <a:endParaRPr lang="en-US" altLang="en-US" sz="1800" dirty="0">
              <a:solidFill>
                <a:schemeClr val="accent2"/>
              </a:solidFill>
              <a:cs typeface="Times New Roman" panose="02020603050405020304" pitchFamily="18" charset="0"/>
            </a:endParaRPr>
          </a:p>
          <a:p>
            <a:pPr marL="457200" indent="-457200" algn="just"/>
            <a:r>
              <a:rPr lang="en-US" altLang="en-US" sz="1800" dirty="0">
                <a:solidFill>
                  <a:schemeClr val="accent2"/>
                </a:solidFill>
                <a:cs typeface="Times New Roman" panose="02020603050405020304" pitchFamily="18" charset="0"/>
              </a:rPr>
              <a:t>    </a:t>
            </a:r>
            <a:r>
              <a:rPr lang="en-US" altLang="en-US" sz="1800" b="1" dirty="0">
                <a:solidFill>
                  <a:schemeClr val="accent2"/>
                </a:solidFill>
                <a:cs typeface="Times New Roman" panose="02020603050405020304" pitchFamily="18" charset="0"/>
              </a:rPr>
              <a:t>int		              value;</a:t>
            </a:r>
            <a:endParaRPr lang="en-US" altLang="en-US" sz="1800" dirty="0">
              <a:solidFill>
                <a:schemeClr val="accent2"/>
              </a:solidFill>
              <a:cs typeface="Times New Roman" panose="02020603050405020304" pitchFamily="18" charset="0"/>
            </a:endParaRPr>
          </a:p>
          <a:p>
            <a:pPr marL="457200" indent="-457200" algn="just"/>
            <a:r>
              <a:rPr lang="en-US" altLang="en-US" sz="1800" dirty="0">
                <a:solidFill>
                  <a:schemeClr val="accent2"/>
                </a:solidFill>
                <a:cs typeface="Times New Roman" panose="02020603050405020304" pitchFamily="18" charset="0"/>
              </a:rPr>
              <a:t>    </a:t>
            </a:r>
            <a:r>
              <a:rPr lang="en-US" altLang="en-US" sz="1800" b="1" dirty="0">
                <a:solidFill>
                  <a:schemeClr val="accent2"/>
                </a:solidFill>
                <a:cs typeface="Times New Roman" panose="02020603050405020304" pitchFamily="18" charset="0"/>
              </a:rPr>
              <a:t>struct process	*list;       /*  linked list of PTBL waiting on  S  */</a:t>
            </a:r>
            <a:endParaRPr lang="en-US" altLang="en-US" sz="1800" dirty="0">
              <a:solidFill>
                <a:schemeClr val="accent2"/>
              </a:solidFill>
              <a:cs typeface="Times New Roman" panose="02020603050405020304" pitchFamily="18" charset="0"/>
            </a:endParaRPr>
          </a:p>
          <a:p>
            <a:pPr marL="457200" indent="-457200" algn="just"/>
            <a:r>
              <a:rPr lang="en-US" altLang="en-US" sz="1800" b="1" dirty="0">
                <a:solidFill>
                  <a:schemeClr val="accent2"/>
                </a:solidFill>
                <a:cs typeface="Times New Roman" panose="02020603050405020304" pitchFamily="18" charset="0"/>
              </a:rPr>
              <a:t>} SEMAPHORE;</a:t>
            </a:r>
          </a:p>
          <a:p>
            <a:pPr marL="457200" indent="-457200" algn="just">
              <a:buFontTx/>
              <a:buChar char="•"/>
            </a:pPr>
            <a:endParaRPr lang="en-US" altLang="en-US" sz="1800" dirty="0"/>
          </a:p>
        </p:txBody>
      </p:sp>
      <p:sp>
        <p:nvSpPr>
          <p:cNvPr id="31747" name="Rectangle 3">
            <a:extLst>
              <a:ext uri="{FF2B5EF4-FFF2-40B4-BE49-F238E27FC236}">
                <a16:creationId xmlns:a16="http://schemas.microsoft.com/office/drawing/2014/main" id="{2C7E27A0-2F86-3CF7-AB05-E6861B752B35}"/>
              </a:ext>
            </a:extLst>
          </p:cNvPr>
          <p:cNvSpPr>
            <a:spLocks noChangeArrowheads="1"/>
          </p:cNvSpPr>
          <p:nvPr/>
        </p:nvSpPr>
        <p:spPr bwMode="auto">
          <a:xfrm>
            <a:off x="1828800" y="304800"/>
            <a:ext cx="4648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spcBef>
                <a:spcPct val="0"/>
              </a:spcBef>
              <a:defRPr sz="4400">
                <a:solidFill>
                  <a:schemeClr val="tx2"/>
                </a:solidFill>
                <a:latin typeface="Arial" panose="020B0604020202020204" pitchFamily="34" charset="0"/>
              </a:defRPr>
            </a:lvl1pPr>
            <a:lvl2pPr algn="ctr">
              <a:spcBef>
                <a:spcPct val="0"/>
              </a:spcBef>
              <a:defRPr sz="4400">
                <a:solidFill>
                  <a:schemeClr val="tx2"/>
                </a:solidFill>
                <a:latin typeface="Arial" panose="020B0604020202020204" pitchFamily="34" charset="0"/>
              </a:defRPr>
            </a:lvl2pPr>
            <a:lvl3pPr algn="ctr">
              <a:spcBef>
                <a:spcPct val="0"/>
              </a:spcBef>
              <a:defRPr sz="4400">
                <a:solidFill>
                  <a:schemeClr val="tx2"/>
                </a:solidFill>
                <a:latin typeface="Arial" panose="020B0604020202020204" pitchFamily="34" charset="0"/>
              </a:defRPr>
            </a:lvl3pPr>
            <a:lvl4pPr algn="ctr">
              <a:spcBef>
                <a:spcPct val="0"/>
              </a:spcBef>
              <a:defRPr sz="4400">
                <a:solidFill>
                  <a:schemeClr val="tx2"/>
                </a:solidFill>
                <a:latin typeface="Arial" panose="020B0604020202020204" pitchFamily="34" charset="0"/>
              </a:defRPr>
            </a:lvl4pPr>
            <a:lvl5pPr algn="ctr">
              <a:spcBef>
                <a:spcPct val="0"/>
              </a:spcBef>
              <a:defRPr sz="4400">
                <a:solidFill>
                  <a:schemeClr val="tx2"/>
                </a:solidFill>
                <a:latin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defRPr>
            </a:lvl9pPr>
          </a:lstStyle>
          <a:p>
            <a:r>
              <a:rPr lang="en-US" altLang="en-US" sz="3600" b="1"/>
              <a:t>PROCESS SYNCHRONIZATION</a:t>
            </a:r>
          </a:p>
        </p:txBody>
      </p:sp>
      <p:sp>
        <p:nvSpPr>
          <p:cNvPr id="31748" name="Text Box 4">
            <a:extLst>
              <a:ext uri="{FF2B5EF4-FFF2-40B4-BE49-F238E27FC236}">
                <a16:creationId xmlns:a16="http://schemas.microsoft.com/office/drawing/2014/main" id="{5D2FCD4F-B52A-A71E-F4C1-9444CC043F92}"/>
              </a:ext>
            </a:extLst>
          </p:cNvPr>
          <p:cNvSpPr txBox="1">
            <a:spLocks noChangeArrowheads="1"/>
          </p:cNvSpPr>
          <p:nvPr/>
        </p:nvSpPr>
        <p:spPr bwMode="auto">
          <a:xfrm>
            <a:off x="7423151" y="304801"/>
            <a:ext cx="23209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800" b="1">
                <a:solidFill>
                  <a:srgbClr val="FF0000"/>
                </a:solidFill>
              </a:rPr>
              <a:t>Semaphores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5D666CD-5284-4C17-CCF7-228A7160B585}"/>
              </a:ext>
            </a:extLst>
          </p:cNvPr>
          <p:cNvSpPr>
            <a:spLocks noGrp="1"/>
          </p:cNvSpPr>
          <p:nvPr>
            <p:ph type="sldNum" sz="quarter" idx="12"/>
          </p:nvPr>
        </p:nvSpPr>
        <p:spPr/>
        <p:txBody>
          <a:bodyPr/>
          <a:lstStyle/>
          <a:p>
            <a:fld id="{5266049D-A4C9-45EB-8EA0-A1FC9817AB6C}" type="slidenum">
              <a:rPr lang="en-US" altLang="en-US"/>
              <a:pPr/>
              <a:t>22</a:t>
            </a:fld>
            <a:endParaRPr lang="en-US" altLang="en-US"/>
          </a:p>
        </p:txBody>
      </p:sp>
      <p:sp>
        <p:nvSpPr>
          <p:cNvPr id="21507" name="Rectangle 3">
            <a:extLst>
              <a:ext uri="{FF2B5EF4-FFF2-40B4-BE49-F238E27FC236}">
                <a16:creationId xmlns:a16="http://schemas.microsoft.com/office/drawing/2014/main" id="{75E084F0-8586-B105-7A69-A049B24E14AD}"/>
              </a:ext>
            </a:extLst>
          </p:cNvPr>
          <p:cNvSpPr>
            <a:spLocks noGrp="1" noChangeArrowheads="1"/>
          </p:cNvSpPr>
          <p:nvPr>
            <p:ph type="subTitle" idx="1"/>
          </p:nvPr>
        </p:nvSpPr>
        <p:spPr>
          <a:xfrm>
            <a:off x="1828800" y="1219200"/>
            <a:ext cx="8382000" cy="4800600"/>
          </a:xfrm>
        </p:spPr>
        <p:txBody>
          <a:bodyPr>
            <a:normAutofit fontScale="92500" lnSpcReduction="20000"/>
          </a:bodyPr>
          <a:lstStyle/>
          <a:p>
            <a:pPr marL="227013" indent="-227013" algn="just"/>
            <a:r>
              <a:rPr lang="en-US" altLang="en-US" sz="1600" b="1">
                <a:solidFill>
                  <a:schemeClr val="accent2"/>
                </a:solidFill>
                <a:cs typeface="Times New Roman" panose="02020603050405020304" pitchFamily="18" charset="0"/>
              </a:rPr>
              <a:t>typedef struct {</a:t>
            </a:r>
            <a:endParaRPr lang="en-US" altLang="en-US" sz="1600">
              <a:solidFill>
                <a:schemeClr val="accent2"/>
              </a:solidFill>
              <a:cs typeface="Times New Roman" panose="02020603050405020304" pitchFamily="18" charset="0"/>
            </a:endParaRPr>
          </a:p>
          <a:p>
            <a:pPr marL="227013" indent="-227013" algn="just"/>
            <a:r>
              <a:rPr lang="en-US" altLang="en-US" sz="1600">
                <a:solidFill>
                  <a:schemeClr val="accent2"/>
                </a:solidFill>
                <a:cs typeface="Times New Roman" panose="02020603050405020304" pitchFamily="18" charset="0"/>
              </a:rPr>
              <a:t>    </a:t>
            </a:r>
            <a:r>
              <a:rPr lang="en-US" altLang="en-US" sz="1600" b="1">
                <a:solidFill>
                  <a:schemeClr val="accent2"/>
                </a:solidFill>
                <a:cs typeface="Times New Roman" panose="02020603050405020304" pitchFamily="18" charset="0"/>
              </a:rPr>
              <a:t>int		value;</a:t>
            </a:r>
            <a:endParaRPr lang="en-US" altLang="en-US" sz="1600">
              <a:solidFill>
                <a:schemeClr val="accent2"/>
              </a:solidFill>
              <a:cs typeface="Times New Roman" panose="02020603050405020304" pitchFamily="18" charset="0"/>
            </a:endParaRPr>
          </a:p>
          <a:p>
            <a:pPr marL="227013" indent="-227013" algn="just"/>
            <a:r>
              <a:rPr lang="en-US" altLang="en-US" sz="1600">
                <a:solidFill>
                  <a:schemeClr val="accent2"/>
                </a:solidFill>
                <a:cs typeface="Times New Roman" panose="02020603050405020304" pitchFamily="18" charset="0"/>
              </a:rPr>
              <a:t>    </a:t>
            </a:r>
            <a:r>
              <a:rPr lang="en-US" altLang="en-US" sz="1600" b="1">
                <a:solidFill>
                  <a:schemeClr val="accent2"/>
                </a:solidFill>
                <a:cs typeface="Times New Roman" panose="02020603050405020304" pitchFamily="18" charset="0"/>
              </a:rPr>
              <a:t>struct process	*list;       /*  linked list of PTBL waiting on  S  */</a:t>
            </a:r>
            <a:endParaRPr lang="en-US" altLang="en-US" sz="1600">
              <a:solidFill>
                <a:schemeClr val="accent2"/>
              </a:solidFill>
              <a:cs typeface="Times New Roman" panose="02020603050405020304" pitchFamily="18" charset="0"/>
            </a:endParaRPr>
          </a:p>
          <a:p>
            <a:pPr marL="227013" indent="-227013" algn="just"/>
            <a:r>
              <a:rPr lang="en-US" altLang="en-US" sz="1600" b="1">
                <a:solidFill>
                  <a:schemeClr val="accent2"/>
                </a:solidFill>
                <a:cs typeface="Times New Roman" panose="02020603050405020304" pitchFamily="18" charset="0"/>
              </a:rPr>
              <a:t>} SEMAPHORE;</a:t>
            </a:r>
          </a:p>
          <a:p>
            <a:pPr marL="227013" indent="-227013" algn="just"/>
            <a:r>
              <a:rPr lang="en-US" altLang="en-US" sz="1600" b="1">
                <a:cs typeface="Times New Roman" panose="02020603050405020304" pitchFamily="18" charset="0"/>
              </a:rPr>
              <a:t> </a:t>
            </a:r>
          </a:p>
          <a:p>
            <a:pPr marL="227013" indent="-227013" algn="just"/>
            <a:endParaRPr lang="en-US" altLang="en-US" sz="1600" b="1">
              <a:cs typeface="Times New Roman" panose="02020603050405020304" pitchFamily="18" charset="0"/>
            </a:endParaRPr>
          </a:p>
          <a:p>
            <a:pPr marL="227013" indent="-227013" algn="just"/>
            <a:endParaRPr lang="en-US" altLang="en-US" sz="1600" b="1">
              <a:cs typeface="Times New Roman" panose="02020603050405020304" pitchFamily="18" charset="0"/>
            </a:endParaRPr>
          </a:p>
          <a:p>
            <a:pPr marL="227013" indent="-227013" algn="just"/>
            <a:endParaRPr lang="en-US" altLang="en-US" sz="1600" b="1">
              <a:cs typeface="Times New Roman" panose="02020603050405020304" pitchFamily="18" charset="0"/>
            </a:endParaRPr>
          </a:p>
          <a:p>
            <a:pPr marL="227013" indent="-227013" algn="just"/>
            <a:endParaRPr lang="en-US" altLang="en-US" sz="1600" b="1">
              <a:cs typeface="Times New Roman" panose="02020603050405020304" pitchFamily="18" charset="0"/>
            </a:endParaRPr>
          </a:p>
          <a:p>
            <a:pPr marL="227013" indent="-227013" algn="just"/>
            <a:endParaRPr lang="en-US" altLang="en-US" sz="1600" b="1">
              <a:cs typeface="Times New Roman" panose="02020603050405020304" pitchFamily="18" charset="0"/>
            </a:endParaRPr>
          </a:p>
          <a:p>
            <a:pPr marL="227013" indent="-227013" algn="just"/>
            <a:endParaRPr lang="en-US" altLang="en-US" sz="1600" b="1">
              <a:cs typeface="Times New Roman" panose="02020603050405020304" pitchFamily="18" charset="0"/>
            </a:endParaRPr>
          </a:p>
          <a:p>
            <a:pPr marL="227013" indent="-227013" algn="just"/>
            <a:endParaRPr lang="en-US" altLang="en-US" sz="1600" b="1">
              <a:cs typeface="Times New Roman" panose="02020603050405020304" pitchFamily="18" charset="0"/>
            </a:endParaRPr>
          </a:p>
          <a:p>
            <a:pPr marL="227013" indent="-227013" algn="just"/>
            <a:endParaRPr lang="en-US" altLang="en-US" sz="1600" b="1">
              <a:cs typeface="Times New Roman" panose="02020603050405020304" pitchFamily="18" charset="0"/>
            </a:endParaRPr>
          </a:p>
          <a:p>
            <a:pPr marL="227013" indent="-227013" algn="just">
              <a:buFontTx/>
              <a:buChar char="•"/>
            </a:pPr>
            <a:r>
              <a:rPr lang="en-US" altLang="en-US" sz="1600">
                <a:cs typeface="Times New Roman" panose="02020603050405020304" pitchFamily="18" charset="0"/>
              </a:rPr>
              <a:t> </a:t>
            </a:r>
            <a:r>
              <a:rPr lang="en-US" altLang="en-US" sz="1800">
                <a:cs typeface="Times New Roman" panose="02020603050405020304" pitchFamily="18" charset="0"/>
              </a:rPr>
              <a:t>It's critical that these be atomic - in uniprocessors we can disable interrupts, but in multiprocessors other mechanisms for atomicity are needed.</a:t>
            </a:r>
          </a:p>
          <a:p>
            <a:pPr marL="227013" indent="-227013" algn="just">
              <a:buFontTx/>
              <a:buChar char="•"/>
            </a:pPr>
            <a:r>
              <a:rPr lang="en-US" altLang="en-US" sz="1800">
                <a:cs typeface="Times New Roman" panose="02020603050405020304" pitchFamily="18" charset="0"/>
              </a:rPr>
              <a:t>  Popular incarnations of semaphores are as "event counts" and "lock managers". (We'll talk about these in the next chapter.)</a:t>
            </a:r>
          </a:p>
        </p:txBody>
      </p:sp>
      <p:sp>
        <p:nvSpPr>
          <p:cNvPr id="21509" name="Text Box 5">
            <a:extLst>
              <a:ext uri="{FF2B5EF4-FFF2-40B4-BE49-F238E27FC236}">
                <a16:creationId xmlns:a16="http://schemas.microsoft.com/office/drawing/2014/main" id="{7445852A-B4A3-3C98-7735-DA8B55BAAC48}"/>
              </a:ext>
            </a:extLst>
          </p:cNvPr>
          <p:cNvSpPr txBox="1">
            <a:spLocks noChangeArrowheads="1"/>
          </p:cNvSpPr>
          <p:nvPr/>
        </p:nvSpPr>
        <p:spPr bwMode="auto">
          <a:xfrm>
            <a:off x="2057400" y="2590800"/>
            <a:ext cx="3560718" cy="2308324"/>
          </a:xfrm>
          <a:prstGeom prst="rect">
            <a:avLst/>
          </a:prstGeom>
          <a:solidFill>
            <a:srgbClr val="FFFF99">
              <a:alpha val="50000"/>
            </a:srgbClr>
          </a:soli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cs typeface="Times New Roman" panose="02020603050405020304" pitchFamily="18" charset="0"/>
              </a:rPr>
              <a:t>SEMAPHORE s;</a:t>
            </a:r>
          </a:p>
          <a:p>
            <a:r>
              <a:rPr lang="en-US" altLang="en-US" b="1">
                <a:cs typeface="Times New Roman" panose="02020603050405020304" pitchFamily="18" charset="0"/>
              </a:rPr>
              <a:t>wait(s) {</a:t>
            </a:r>
            <a:endParaRPr lang="en-US" altLang="en-US">
              <a:cs typeface="Times New Roman" panose="02020603050405020304" pitchFamily="18" charset="0"/>
            </a:endParaRPr>
          </a:p>
          <a:p>
            <a:r>
              <a:rPr lang="en-US" altLang="en-US" b="1">
                <a:cs typeface="Times New Roman" panose="02020603050405020304" pitchFamily="18" charset="0"/>
              </a:rPr>
              <a:t>      s.value  =  s.value  -  1;</a:t>
            </a:r>
            <a:endParaRPr lang="en-US" altLang="en-US">
              <a:cs typeface="Times New Roman" panose="02020603050405020304" pitchFamily="18" charset="0"/>
            </a:endParaRPr>
          </a:p>
          <a:p>
            <a:r>
              <a:rPr lang="en-US" altLang="en-US" b="1">
                <a:cs typeface="Times New Roman" panose="02020603050405020304" pitchFamily="18" charset="0"/>
              </a:rPr>
              <a:t>      if (  s.value  &lt;  0 ) {</a:t>
            </a:r>
            <a:endParaRPr lang="en-US" altLang="en-US">
              <a:cs typeface="Times New Roman" panose="02020603050405020304" pitchFamily="18" charset="0"/>
            </a:endParaRPr>
          </a:p>
          <a:p>
            <a:r>
              <a:rPr lang="en-US" altLang="en-US" b="1">
                <a:cs typeface="Times New Roman" panose="02020603050405020304" pitchFamily="18" charset="0"/>
              </a:rPr>
              <a:t>      	add this process to s.L; </a:t>
            </a:r>
          </a:p>
          <a:p>
            <a:r>
              <a:rPr lang="en-US" altLang="en-US" b="1">
                <a:cs typeface="Times New Roman" panose="02020603050405020304" pitchFamily="18" charset="0"/>
              </a:rPr>
              <a:t>	block;</a:t>
            </a:r>
          </a:p>
          <a:p>
            <a:r>
              <a:rPr lang="en-US" altLang="en-US" b="1">
                <a:cs typeface="Times New Roman" panose="02020603050405020304" pitchFamily="18" charset="0"/>
              </a:rPr>
              <a:t>      }</a:t>
            </a:r>
            <a:endParaRPr lang="en-US" altLang="en-US">
              <a:cs typeface="Times New Roman" panose="02020603050405020304" pitchFamily="18" charset="0"/>
            </a:endParaRPr>
          </a:p>
          <a:p>
            <a:r>
              <a:rPr lang="en-US" altLang="en-US" b="1">
                <a:cs typeface="Times New Roman" panose="02020603050405020304" pitchFamily="18" charset="0"/>
              </a:rPr>
              <a:t>}</a:t>
            </a:r>
            <a:endParaRPr lang="en-US" altLang="en-US"/>
          </a:p>
        </p:txBody>
      </p:sp>
      <p:sp>
        <p:nvSpPr>
          <p:cNvPr id="21510" name="Text Box 6">
            <a:extLst>
              <a:ext uri="{FF2B5EF4-FFF2-40B4-BE49-F238E27FC236}">
                <a16:creationId xmlns:a16="http://schemas.microsoft.com/office/drawing/2014/main" id="{72CAEB67-7893-5242-DD50-46515E864575}"/>
              </a:ext>
            </a:extLst>
          </p:cNvPr>
          <p:cNvSpPr txBox="1">
            <a:spLocks noChangeArrowheads="1"/>
          </p:cNvSpPr>
          <p:nvPr/>
        </p:nvSpPr>
        <p:spPr bwMode="auto">
          <a:xfrm>
            <a:off x="5867400" y="2590800"/>
            <a:ext cx="4114800" cy="2308324"/>
          </a:xfrm>
          <a:prstGeom prst="rect">
            <a:avLst/>
          </a:prstGeom>
          <a:solidFill>
            <a:srgbClr val="FFFF99">
              <a:alpha val="50000"/>
            </a:srgbClr>
          </a:soli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b="1">
                <a:cs typeface="Times New Roman" panose="02020603050405020304" pitchFamily="18" charset="0"/>
              </a:rPr>
              <a:t>SEMAPHORE s;</a:t>
            </a:r>
          </a:p>
          <a:p>
            <a:r>
              <a:rPr lang="en-US" altLang="en-US" b="1">
                <a:cs typeface="Times New Roman" panose="02020603050405020304" pitchFamily="18" charset="0"/>
              </a:rPr>
              <a:t>signal(s)  {</a:t>
            </a:r>
            <a:endParaRPr lang="en-US" altLang="en-US">
              <a:cs typeface="Times New Roman" panose="02020603050405020304" pitchFamily="18" charset="0"/>
            </a:endParaRPr>
          </a:p>
          <a:p>
            <a:r>
              <a:rPr lang="en-US" altLang="en-US" b="1">
                <a:cs typeface="Times New Roman" panose="02020603050405020304" pitchFamily="18" charset="0"/>
              </a:rPr>
              <a:t>      s.value  =  s.value  +  1;</a:t>
            </a:r>
            <a:endParaRPr lang="en-US" altLang="en-US">
              <a:cs typeface="Times New Roman" panose="02020603050405020304" pitchFamily="18" charset="0"/>
            </a:endParaRPr>
          </a:p>
          <a:p>
            <a:r>
              <a:rPr lang="en-US" altLang="en-US" b="1">
                <a:cs typeface="Times New Roman" panose="02020603050405020304" pitchFamily="18" charset="0"/>
              </a:rPr>
              <a:t>      if (  s.value  &lt;=  0 )  {</a:t>
            </a:r>
            <a:endParaRPr lang="en-US" altLang="en-US">
              <a:cs typeface="Times New Roman" panose="02020603050405020304" pitchFamily="18" charset="0"/>
            </a:endParaRPr>
          </a:p>
          <a:p>
            <a:r>
              <a:rPr lang="en-US" altLang="en-US" b="1">
                <a:cs typeface="Times New Roman" panose="02020603050405020304" pitchFamily="18" charset="0"/>
              </a:rPr>
              <a:t>	remove a process P from s.L;</a:t>
            </a:r>
            <a:endParaRPr lang="en-US" altLang="en-US">
              <a:cs typeface="Times New Roman" panose="02020603050405020304" pitchFamily="18" charset="0"/>
            </a:endParaRPr>
          </a:p>
          <a:p>
            <a:r>
              <a:rPr lang="en-US" altLang="en-US" b="1">
                <a:cs typeface="Times New Roman" panose="02020603050405020304" pitchFamily="18" charset="0"/>
              </a:rPr>
              <a:t>  	wakeup(P); </a:t>
            </a:r>
          </a:p>
          <a:p>
            <a:r>
              <a:rPr lang="en-US" altLang="en-US" b="1">
                <a:cs typeface="Times New Roman" panose="02020603050405020304" pitchFamily="18" charset="0"/>
              </a:rPr>
              <a:t>      }		</a:t>
            </a:r>
          </a:p>
          <a:p>
            <a:r>
              <a:rPr lang="en-US" altLang="en-US" b="1">
                <a:cs typeface="Times New Roman" panose="02020603050405020304" pitchFamily="18" charset="0"/>
              </a:rPr>
              <a:t>}</a:t>
            </a:r>
            <a:endParaRPr lang="en-US" altLang="en-US"/>
          </a:p>
        </p:txBody>
      </p:sp>
      <p:sp>
        <p:nvSpPr>
          <p:cNvPr id="21512" name="Rectangle 8">
            <a:extLst>
              <a:ext uri="{FF2B5EF4-FFF2-40B4-BE49-F238E27FC236}">
                <a16:creationId xmlns:a16="http://schemas.microsoft.com/office/drawing/2014/main" id="{42D7D8A3-2040-11AB-5415-036E06B1EE16}"/>
              </a:ext>
            </a:extLst>
          </p:cNvPr>
          <p:cNvSpPr>
            <a:spLocks noChangeArrowheads="1"/>
          </p:cNvSpPr>
          <p:nvPr/>
        </p:nvSpPr>
        <p:spPr bwMode="auto">
          <a:xfrm>
            <a:off x="1828800" y="304800"/>
            <a:ext cx="4648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spcBef>
                <a:spcPct val="0"/>
              </a:spcBef>
              <a:defRPr sz="4400">
                <a:solidFill>
                  <a:schemeClr val="tx2"/>
                </a:solidFill>
                <a:latin typeface="Arial" panose="020B0604020202020204" pitchFamily="34" charset="0"/>
              </a:defRPr>
            </a:lvl1pPr>
            <a:lvl2pPr algn="ctr">
              <a:spcBef>
                <a:spcPct val="0"/>
              </a:spcBef>
              <a:defRPr sz="4400">
                <a:solidFill>
                  <a:schemeClr val="tx2"/>
                </a:solidFill>
                <a:latin typeface="Arial" panose="020B0604020202020204" pitchFamily="34" charset="0"/>
              </a:defRPr>
            </a:lvl2pPr>
            <a:lvl3pPr algn="ctr">
              <a:spcBef>
                <a:spcPct val="0"/>
              </a:spcBef>
              <a:defRPr sz="4400">
                <a:solidFill>
                  <a:schemeClr val="tx2"/>
                </a:solidFill>
                <a:latin typeface="Arial" panose="020B0604020202020204" pitchFamily="34" charset="0"/>
              </a:defRPr>
            </a:lvl3pPr>
            <a:lvl4pPr algn="ctr">
              <a:spcBef>
                <a:spcPct val="0"/>
              </a:spcBef>
              <a:defRPr sz="4400">
                <a:solidFill>
                  <a:schemeClr val="tx2"/>
                </a:solidFill>
                <a:latin typeface="Arial" panose="020B0604020202020204" pitchFamily="34" charset="0"/>
              </a:defRPr>
            </a:lvl4pPr>
            <a:lvl5pPr algn="ctr">
              <a:spcBef>
                <a:spcPct val="0"/>
              </a:spcBef>
              <a:defRPr sz="4400">
                <a:solidFill>
                  <a:schemeClr val="tx2"/>
                </a:solidFill>
                <a:latin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defRPr>
            </a:lvl9pPr>
          </a:lstStyle>
          <a:p>
            <a:r>
              <a:rPr lang="en-US" altLang="en-US" sz="3600" b="1"/>
              <a:t>PROCESS SYNCHRONIZATION</a:t>
            </a:r>
          </a:p>
        </p:txBody>
      </p:sp>
      <p:sp>
        <p:nvSpPr>
          <p:cNvPr id="21513" name="Text Box 9">
            <a:extLst>
              <a:ext uri="{FF2B5EF4-FFF2-40B4-BE49-F238E27FC236}">
                <a16:creationId xmlns:a16="http://schemas.microsoft.com/office/drawing/2014/main" id="{AC47CF7B-E832-2473-4BBE-A0896A209022}"/>
              </a:ext>
            </a:extLst>
          </p:cNvPr>
          <p:cNvSpPr txBox="1">
            <a:spLocks noChangeArrowheads="1"/>
          </p:cNvSpPr>
          <p:nvPr/>
        </p:nvSpPr>
        <p:spPr bwMode="auto">
          <a:xfrm>
            <a:off x="7423151" y="304801"/>
            <a:ext cx="23209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800" b="1">
                <a:solidFill>
                  <a:srgbClr val="FF0000"/>
                </a:solidFill>
              </a:rPr>
              <a:t>Semaphores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2407</Words>
  <Application>Microsoft Office PowerPoint</Application>
  <PresentationFormat>Widescreen</PresentationFormat>
  <Paragraphs>388</Paragraphs>
  <Slides>22</Slides>
  <Notes>21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Aptos</vt:lpstr>
      <vt:lpstr>Aptos Display</vt:lpstr>
      <vt:lpstr>Arial</vt:lpstr>
      <vt:lpstr>Courier New</vt:lpstr>
      <vt:lpstr>Helvetica</vt:lpstr>
      <vt:lpstr>Monotype Sorts</vt:lpstr>
      <vt:lpstr>Symbol</vt:lpstr>
      <vt:lpstr>Times New Roman</vt:lpstr>
      <vt:lpstr>Office Theme</vt:lpstr>
      <vt:lpstr>Thread Synchronization</vt:lpstr>
      <vt:lpstr>PowerPoint Presentation</vt:lpstr>
      <vt:lpstr>PROCESS SYNCHRONIZATION</vt:lpstr>
      <vt:lpstr>PROCESS SYNCHRONIZATION</vt:lpstr>
      <vt:lpstr>PROCESS SYNCHRONIZATION</vt:lpstr>
      <vt:lpstr>PROCESS SYNCHRONIZATION</vt:lpstr>
      <vt:lpstr>PROCESS SYNCHRONIZATION</vt:lpstr>
      <vt:lpstr>PROCESS SYNCHRONIZATION</vt:lpstr>
      <vt:lpstr>PROCESS SYNCHRONIZATION</vt:lpstr>
      <vt:lpstr>PROCESS SYNCHRONIZATION</vt:lpstr>
      <vt:lpstr>PROCESS SYNCHRONIZATION</vt:lpstr>
      <vt:lpstr>PROCESS SYNCHRONIZATION</vt:lpstr>
      <vt:lpstr>PROCESS SYNCHRONIZATION</vt:lpstr>
      <vt:lpstr>PROCESS SYNCHRONIZATION</vt:lpstr>
      <vt:lpstr>PROCESS SYNCHRONIZATION</vt:lpstr>
      <vt:lpstr>PROCESS SYNCHRONIZATION</vt:lpstr>
      <vt:lpstr>PROCESS SYNCHRONIZATION</vt:lpstr>
      <vt:lpstr>PROCESS SYNCHRONIZATION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Ahmad Mudassir</dc:creator>
  <cp:lastModifiedBy>Ahmad Mudassir</cp:lastModifiedBy>
  <cp:revision>1</cp:revision>
  <dcterms:created xsi:type="dcterms:W3CDTF">2025-11-05T11:34:29Z</dcterms:created>
  <dcterms:modified xsi:type="dcterms:W3CDTF">2025-11-05T11:48:11Z</dcterms:modified>
</cp:coreProperties>
</file>