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370" r:id="rId3"/>
    <p:sldId id="371" r:id="rId4"/>
    <p:sldId id="372" r:id="rId5"/>
    <p:sldId id="373" r:id="rId6"/>
    <p:sldId id="303" r:id="rId7"/>
    <p:sldId id="304" r:id="rId8"/>
    <p:sldId id="320" r:id="rId9"/>
    <p:sldId id="355" r:id="rId10"/>
    <p:sldId id="257" r:id="rId11"/>
    <p:sldId id="305" r:id="rId12"/>
    <p:sldId id="306" r:id="rId13"/>
    <p:sldId id="307" r:id="rId14"/>
    <p:sldId id="308" r:id="rId15"/>
    <p:sldId id="309" r:id="rId16"/>
    <p:sldId id="310" r:id="rId17"/>
    <p:sldId id="311" r:id="rId18"/>
    <p:sldId id="312" r:id="rId19"/>
    <p:sldId id="356" r:id="rId20"/>
    <p:sldId id="258" r:id="rId21"/>
    <p:sldId id="313" r:id="rId22"/>
    <p:sldId id="314" r:id="rId23"/>
    <p:sldId id="315" r:id="rId24"/>
    <p:sldId id="321" r:id="rId25"/>
    <p:sldId id="259" r:id="rId26"/>
    <p:sldId id="260" r:id="rId27"/>
    <p:sldId id="261" r:id="rId28"/>
    <p:sldId id="262" r:id="rId29"/>
    <p:sldId id="263" r:id="rId30"/>
    <p:sldId id="264" r:id="rId31"/>
    <p:sldId id="265" r:id="rId32"/>
    <p:sldId id="266" r:id="rId33"/>
    <p:sldId id="354" r:id="rId34"/>
    <p:sldId id="267" r:id="rId35"/>
    <p:sldId id="268" r:id="rId36"/>
    <p:sldId id="269" r:id="rId37"/>
    <p:sldId id="270" r:id="rId38"/>
    <p:sldId id="353" r:id="rId39"/>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00" r:id="rId67"/>
    <p:sldId id="401" r:id="rId68"/>
    <p:sldId id="402" r:id="rId69"/>
    <p:sldId id="403" r:id="rId70"/>
    <p:sldId id="404" r:id="rId71"/>
    <p:sldId id="405" r:id="rId72"/>
    <p:sldId id="406" r:id="rId73"/>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213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9-02T13:41:04"/>
    </inkml:context>
    <inkml:brush xml:id="br0">
      <inkml:brushProperty name="width" value="0.0881940002441406" units="cm"/>
      <inkml:brushProperty name="height" value="0.352778015136719"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8905.000 8210.000,'149.000'0.000,"49.000"0.000,-49.000 0.000,-75.000 0.000,-49.000 0.000,25.000 0.000,-25.000 0.000,-1.000 0.000,1.000 0.000,0.000 0.000,0.000 0.000,0.000 0.000,-1.000 0.000,51.000 0.000,-26.000 0.000,-24.000 0.000,25.000 25.000,-25.000-25.000,49.000 25.000,-49.000-25.000,0.000 0.000,24.000 25.000,1.000-25.000,0.000 0.000,-26.000 0.000,26.000 25.000,0.000-25.000,-26.000 0.000,1.000 24.000,25.000-24.000,-25.000 0.000,-1.000 25.000,1.000 0.000,0.000-25.000,0.000 25.000,0.000-25.000,-25.000 25.000,24.000-25.000,-24.000 24.000,0.000 1.000,25.000-25.000,-25.000 25.000,0.000 0.000,-25.000-25.000,1.000 0.000,-1.000 0.000,0.000 0.000,0.000 0.000,0.000 0.000,1.000 0.000,-1.000 0.000,0.000 0.000,0.000 0.000,0.000 0.000,1.000 0.000,-26.000 0.000,25.000 0.000,0.000 0.000,1.000 0.000,-1.000 0.000,0.000 0.000,0.000 0.000,0.000 0.000,25.000-25.000,-24.000 25.000,-1.000 0.000,0.000 0.000,0.000 0.000,0.000 0.000,0.000 0.000,1.000 0.000,-1.000 0.000,0.000 0.000,0.000 0.000,-24.000 0.000,-1.000 0.000,-24.000 0.000,24.000 0.000,0.000 0.000,26.000 0.000,-1.000 0.000,0.000 0.000,0.000 0.000,0.000 0.000,-24.000 0.000,24.000 0.000,0.000 0.000,0.000 0.000,1.000 25.000,-1.000-25.000,0.000 0.000,25.000 25.000,-25.000-25.000,0.000 0.000,1.000 0.000,-1.000 0.000,0.000 0.000,25.000 24.000,-25.000-24.000,0.000 0.000,25.000 25.000,0.000 0.000,-24.000-25.000,-1.000 25.000,0.000-25.000,25.000 25.000,-25.000-25.000,25.000 24.000,-25.000-24.000,25.000 25.000,25.000-25.000,0.000 0.000,0.000 0.000,24.000 25.000,26.000-25.000,123.000 25.000,249.000 0.000,396.000 49.000,-148.000 0.000,-299.000 1.000,-172.000-50.000,-150.000-25.000,-24.000 0.000,-26.000 0.000,1.000 0.000,0.000 0.000,-25.000 25.000,0.000-1.000,0.000 1.000,0.000 0.000,-25.000-25.000,0.000 0.000,25.000 25.000,-24.000-25.000,-1.000 25.000,-99.000 24.000,-25.000 50.000,-149.000 75.000,-223.000 74.000,224.000-99.000,98.000-50.000,26.000-24.000,74.000-1.000,-25.000-24.000,74.000-26.000,0.000-24.000,1.000 25.000,24.000-25.000,0.000 25.000,0.000-25.000,0.000 0.000,1.000 0.000,-1.000 0.000,0.000 0.000,0.000 0.000,0.000 0.000,-24.000 0.000,-1.000 25.000,-24.000-25.000,49.000 25.000,0.000-25.000,-24.000 0.000,24.000 0.000,0.000 0.000,0.000 0.000,0.000 0.000,1.000 0.000,-1.000 0.000,0.000 0.000,0.000 0.000,25.000-25.000,25.000 25.000,-25.000-50.000,0.000 25.000,25.000-24.000,0.000 24.000,-25.000 0.000,0.000-24.000,0.000 24.000,0.000 0.000,24.000 0.000,-24.000 0.000,0.000 0.000,0.000 1.000,0.000-26.000,25.000-24.000,-25.000 24.000,25.000 0.000,-25.000 1.000,25.000 24.000,-25.000 0.000,0.000 0.000,0.000 1.000,0.000-51.000,0.000 26.000,0.000-1.000,0.000-24.000,0.000 49.000,0.000 0.000,0.000 0.000,0.000 0.000,0.000 1.000,0.000-1.000,0.000 0.000,0.000 0.000,0.000 50.000,25.000 49.000,-1.000 50.000,51.000 224.000,74.000 173.000,-50.000 74.000,-74.000-273.000,-1.000-98.000,1.000-76.000,-25.000-24.000,0.000-74.000,0.000-25.000,0.000 0.000,0.000 24.000,0.000 1.000,0.000-1.000,0.000-24.000,0.000 25.000,0.000-1.000,0.000 1.000,0.000 24.000,0.000 1.000,0.000-1.000,0.000-24.000,0.000-25.000,25.000 0.000,-25.000 24.000,0.000-24.000,0.000 25.000,0.000-26.000,0.000 1.000,0.000-50.000,0.000-24.000,0.000 24.000,-25.000-25.000,25.000 1.000,0.000-1.000,0.000 1.000,0.000-26.000,0.000 1.000,0.000-1.000,0.000-49.000,-25.000-49.000,25.000 24.000,-24.000-50.000,24.000-371.000,0.000-149.000,-25.000 346.000,25.000 76.000,0.000 222.000,0.000 51.000,0.000-1.000,0.000 0.000,25.000 0.000,-25.000-49.000,24.000-25.000,-24.000-1.000,25.000 26.000,0.000-1.000,-25.000 51.000,0.000-1.000,0.000 0.000,25.000 0.000,-25.000 0.000,0.000 1.000,0.000 48.000,25.000 1.000,-25.000 0.000,0.000 0.000,0.000 0.000,0.000 49.000,0.000-24.000,0.000-1.000,24.000 26.000,1.000 24.000,0.000 50.000,50.000 148.000,98.000 200.000,-49.000 48.000,0.000-24.000,-74.000-223.000,-25.000-174.000,-1.000 0.000,-24.000-99.000,0.000-1.000,0.000 1.000,0.000 0.000,0.000 25.000,0.000-26.000,0.000 26.000,0.000 0.000,0.000 24.000,25.000 25.000,-25.000-24.000,0.000-1.000,0.000 1.000,0.000-51.000,0.000 1.000,0.000 0.000,0.000 0.000,0.000 0.000,0.000-1.000,0.000 1.000,25.000-25.000,-25.000-25.000,0.000 1.000,0.000-1.000,0.000-25.000,-25.000-49.000,0.000 0.000,25.000 49.000,0.000-24.000,0.000-1.000,0.000 26.000,0.000-1.000,0.000 25.000,0.000-24.000,0.000 24.000,0.000 0.000,0.000 0.000,0.000 0.000,0.000-123.000,-24.000-572.000,-1.000 299.000,25.000 297.000,0.000 49.000,0.000 50.000,0.000 1.000,0.000-1.000,0.000 0.000,0.000 0.000,0.000 0.000,0.000-24.000,0.000-26.000,0.000 1.000,0.000 24.000,0.000 1.000,0.000 24.000,0.000 0.000,0.000 0.000,0.000 50.000,0.000 0.000,0.000 0.000,0.000 24.000,0.000-24.000,0.000 49.000,0.000-24.000,0.000 25.000,0.000-51.000,0.000 1.000,0.000 0.000,0.000 25.000,0.000-26.000,0.000 1.000,0.000 25.000,0.000 24.000,0.000-24.000,0.000 49.000,0.000-25.000,0.000 50.000,0.000 25.000,0.000 25.000,0.000 24.000,0.000-49.000,-25.000 25.000,25.000-75.000,0.000 0.000,0.000-24.000,0.000-26.000,-25.000 1.000,25.000-1.000,0.000 26.000,0.000-1.000,0.000-24.000,0.000 0.000,-25.000-1.000,25.000 1.000,-24.000-1.000,24.000-24.000,-25.000 0.000,25.000 0.000,0.000 0.000,0.000-1.000,0.000 1.000,-25.000-25.000,25.000 25.000,0.000 0.000,0.000 0.000,-25.000-25.000,25.000 24.000,0.000 1.000,-25.000-25.000,25.000 25.000,-24.000-25.000,-1.000 25.000,0.000-25.000,0.000 0.000,0.000 0.000,1.000 0.000,-1.000-25.000,0.000 0.000,0.000 0.000,0.000 1.000,-49.000-26.000,-25.000-24.000,24.000-1.000,-24.000 26.000,0.000-51.000,-50.000 1.000,25.000 0.000,25.000 0.000,24.000 24.000,1.000 26.000,24.000-26.000,1.000 26.000,-26.000-1.000,26.000-49.000,-26.000 24.000,1.000-49.000,-25.000-99.000,24.000 99.000,1.000-74.000,24.000 98.000,25.000 26.000,25.000 24.000,-24.000-24.000,24.000 24.000,0.000 1.000,0.000-1.000,0.000 25.000,0.000-24.000,0.000 24.000,0.000 0.000,0.000 0.000,0.000 1.000,0.000-1.000,24.000 25.000,1.000 0.000,-25.000 25.000,0.000-1.000,25.000-24.000,0.000 0.000,0.000 0.000,-1.000 0.000,-24.000-24.000,25.000 24.000,0.000-25.000,0.000 25.000,-25.000-25.000,25.000 0.000,-25.000 0.000,24.000 25.000,1.000-24.000,-25.000-1.000,0.000 0.000,0.000 0.000,0.000 0.000,0.000 0.000,25.000-24.000,25.000-224.000,74.000-422.000,25.000 299.000,-149.000 272.000,49.000 49.000,26.000-173.000,49.000-50.000,-75.000 150.000,-49.000 123.000,0.000 0.000,0.000 0.000,25.000 25.000,-25.000 25.000,0.000 0.000,0.000 0.000,0.000-1.000,0.000 26.000,0.000-25.000,0.000 49.000,0.000 1.000,-25.000 49.000,25.000 25.000,0.000 74.000,0.000-25.000,-25.000 1.000,25.000-1.000,-24.000 1.000,-1.000-1.000,25.000-24.000,-25.000-1.000,0.000-24.000,0.000-50.000,25.000 1.000,0.000-1.000,-24.000 74.000,-1.000 100.000,-50.000 99.000,51.000 0.000,-1.000-24.000,25.000-51.000,-25.000-98.000,25.000-100.000,0.000-25.000,0.000-24.000,0.000 0.000,0.000-1.000,0.000-24.000,0.000 0.000,0.000 0.000,0.000-1.000,0.000 1.000,0.000 0.000,0.000 0.000,0.000 24.000,25.000 1.000,0.000 0.000,-25.000-26.000,0.000 1.000,24.000 25.000,-24.000-25.000,25.000-1.000,-25.000 1.000,25.000 0.000,-25.000 0.000,25.000-25.000,-25.000 25.000,0.000-1.000,0.000 1.000,25.000-25.000,-25.000 25.000,24.000-25.000,1.000 0.000,0.000 0.000,-25.000-50.000,0.000-74.000,-25.000 50.000,25.000 0.000,-25.000-1.000,25.000 1.000,0.000 24.000,0.000 1.000,0.000 24.000,0.000-25.000,0.000-24.000,-24.000-100.000,24.000-24.000,-25.000 49.000,25.000 25.000,0.000-75.000,25.000-98.000,-25.000 123.000,0.000 100.000,0.000 49.000,24.000-25.000,1.000 50.000,-25.000-25.000,0.000 1.000,0.000-1.000,25.000 25.000,0.000 0.000,-25.000 25.000,0.000-1.000,0.000 26.000,25.000 49.000,24.000 174.000,100.000 198.000,74.000 174.000,0.000-149.000,-123.000-198.000,-75.000-149.000,-1.000-124.000,1.000 24.000,-25.000-24.000,0.000 0.000,0.000 0.000,0.000 0.000,0.000-1.000,0.000 1.000,0.000 0.000,0.000 0.000,0.000 0.000,0.000-1.000,25.000-24.000,-25.000 25.000,25.000 0.000,0.000-25.000,-25.000-25.000,24.000 25.000,-24.000-25.000,0.000-24.000,0.000-1.000,0.000 1.000,0.000-26.000,0.000 1.000,0.000-1.000,0.000 1.000,0.000 0.000,0.000-51.000,50.000-445.000,-50.000-224.000,25.000 546.000,-25.000 174.000,0.000 49.000,25.000 0.000,-25.000 0.000,0.000 1.000,0.000-1.000,0.000 0.000,0.000-25.000,24.000-24.000,-24.000-25.000,0.000-1.000,0.000 26.000,0.000 49.000,25.000-24.000,0.000-1.000,-25.000 25.000,0.000 0.000,0.000 1.000,25.000-1.000,-25.000 0.000,0.000-25.000,25.000 26.000,-25.000-1.000,24.000 0.000,-24.000 0.000,25.000 0.000,-25.000 50.000,0.000 0.000,0.000 0.000,25.000 24.000,-25.000 1.000,0.000-25.000,0.000 24.000,25.000 51.000,-25.000-1.000,25.000 25.000,-1.000-25.000,-24.000 0.000,25.000-24.000,-25.000-26.000,25.000 1.000,-25.000-25.000,25.000 24.000,-25.000-24.000,0.000 25.000,0.000-25.000,0.000-1.000,0.000 26.000,25.000 24.000,-25.000 1.000,24.000-26.000,-24.000 1.000,0.000 0.000,0.000-1.000,0.000 1.000,25.000-1.000,-25.000-24.000,25.000 0.000,-25.000 25.000,0.000-25.000,25.000-1.000,-25.000 26.000,0.000 24.000,25.000-24.000,-25.000 0.000,24.000-1.000,1.000 26.000,-25.000-1.000,25.000-24.000,-25.000 24.000,25.000 0.000,-25.000-24.000,0.000-25.000,0.000 24.000,0.000 1.000,25.000-50.000,-25.000 25.000,0.000 0.000,0.000-1.000,24.000 1.000,-24.000 0.000,0.000 0.000,0.000 0.000,0.000 0.000,0.000-1.000,0.000 1.000,0.000 0.000,0.000 0.000,0.000 0.000,0.000-1.000,0.000 1.000,0.000 0.000,-24.000 0.000,24.000 0.000,0.000-1.000,0.000 1.000,0.000 0.000,0.000 0.000,0.000 0.000,-25.000-25.000,25.000 24.000,0.000 1.000,0.000 0.000,0.000 0.000,0.000 0.000,0.000-1.000,-25.000-24.000,25.000 25.000,-25.000-25.000,0.000 0.000,1.000 0.000,-1.000 0.000,0.000 0.000,0.000 0.000,0.000 0.000,1.000 0.000,24.000-25.000,-25.000 25.000,-25.000 0.000,25.000 0.000,-24.000 0.000,24.000 0.000,-25.000 0.000,1.000 0.000,24.000 0.000,0.000 0.000,0.000 0.000,1.000 0.000,-1.000 0.000,0.000 0.000,-49.000 0.000,49.000 0.000,-25.000-24.000,1.000 24.000,-1.000 0.000,0.000 0.000,25.000 0.000,1.000 0.000,-1.000 0.000,0.000 0.000,0.000 0.000,0.000 0.000,-24.000-25.000,24.000 25.000,0.000 0.000,0.000 0.000,1.000 0.000,-26.000 0.000,25.000 0.000,-24.000 0.000,24.000 0.000,-25.000 0.000,25.000 0.000,1.000 0.000,-1.000 0.000,0.000 0.000,0.000 0.000,0.000 0.000,1.000 0.000,-1.000 0.000,0.000 0.000,0.000 0.000,0.000 0.000,1.000 0.000,-1.000 0.000,0.000 0.000,0.000 0.000,25.000-25.000,-25.000 25.000,1.000-25.000,-1.000 25.000,25.000-25.000,-25.000 1.000,25.000-1.000,0.000 0.000,0.000 0.000,0.000 0.000,0.000 1.000,0.000-1.000,0.000 0.000,0.000-25.000,0.000 26.000,0.000-1.000,0.000 0.000,0.000 0.000,0.000 0.000,0.000 1.000,0.000-1.000,0.000 0.000,0.000-25.000,0.000 1.000,0.000-26.000,0.000 1.000,0.000 24.000,0.000 1.000,0.000-1.000,0.000 0.000,0.000-24.000,0.000 0.000,0.000-1.000,0.000 50.000,0.000 1.000,0.000-26.000,0.000 25.000,0.000 0.000,0.000 1.000,0.000-26.000,0.000 25.000,0.000 0.000,0.000 1.000,0.000-1.000,0.000 0.000,0.000-74.000,0.000-25.000,0.000 49.000,0.000 1.000,0.000 24.000,0.000-24.000,0.000-75.000,-25.000 50.000,25.000 0.000,0.000 49.000,0.000 0.000,0.000 26.000,0.000-1.000,0.000 0.000,0.000 0.000,0.000 0.000,0.000 0.000,0.000 1.000,0.000-26.000,0.000-24.000,0.000-26.000,0.000 51.000,0.000-1.000,0.000 1.000,0.000 24.000,0.000-25.000,0.000 25.000,0.000 1.000,0.000-1.000,0.000 0.000,0.000 0.000,0.000 0.000,0.000 1.000,0.000-1.000,0.000 0.000,0.000 0.000,0.000-24.000,0.000 24.000,0.000-50.000,0.000-49.000,0.000 100.000,0.000-26.000,0.000 25.000,0.000 0.000,0.000 0.000,0.000 1.000,0.000-1.000,0.000 0.000,0.000 0.000,0.000 0.000,25.000-49.000,0.000-25.000,-25.000-50.000,49.000-25.000,-24.000-49.000,25.000 0.000,-25.000 99.000,-25.000 74.000,0.000 25.000,24.000 25.000,-24.000-24.000,0.000-1.000,0.000 0.000,0.000 0.000,0.000 0.000,0.000 1.000,25.000-76.000,-25.000 1.000,25.000-25.000,0.000 50.000,-25.000 49.000,0.000-25.000,0.000 26.000,0.000-1.000,0.000 0.000,0.000 0.000,25.000 25.000,-25.000-25.000,24.000 25.000,1.000 0.000,0.000-24.000,0.000 24.000,0.000 0.000,-25.000-25.000,24.000 25.000,1.000-25.000,0.000 25.000,0.000-25.000,0.000 25.000,49.000-25.000,0.000 0.000,-24.000 1.000,24.000-1.000,-24.000 25.000,0.000-25.000,-26.000 25.000,51.000-25.000,-50.000 25.000,24.000 0.000,-24.000 0.000,50.000-25.000,-51.000 25.000,1.000 0.000,0.000 0.000,0.000 0.000,0.000 0.000,-1.000 0.000,1.000 0.000,0.000 0.000,0.000 0.000,0.000 0.000,-1.000 0.000,1.000 0.000,0.000 0.000,-25.000 25.000,25.000-25.000,-25.000 25.000,25.000-25.000,-25.000 25.000,24.000 0.000,-24.000-1.000,25.000-24.000,-25.000 25.000,25.000 0.000,-25.000 0.000,0.000 0.000,25.000-25.000,0.000 25.000,-25.000-1.000,24.000 1.000,-24.000 0.000,25.000-25.000,0.000 25.000,0.000 0.000,-25.000-1.000,25.000-24.000,-25.000 25.000,24.000 0.000,-24.000 0.000,25.000 0.000,0.000-1.000,-25.000 1.000,0.000 0.000,25.000-25.000,-25.000 25.000,0.000 0.000,0.000-1.000,0.000 1.000,0.000 0.000,0.000 0.000,0.000 0.000,0.000-1.000,0.000 26.000,0.000 24.000,0.000-49.000,0.000 25.000,0.000-25.000,0.000 24.000,0.000-24.000,0.000 0.000,0.000 0.000,0.000-1.000,0.000 1.000,0.000 0.000,0.000 0.000,0.000 24.000,0.000 26.000,0.000-25.000,0.000-1.000,0.000 1.000,0.000-1.000,0.000 1.000,0.000 0.000,0.000 24.000,0.000-49.000,0.000 24.000,0.000 1.000,0.000-25.000,0.000 24.000,0.000-24.000,0.000 0.000,0.000 25.000,0.000-1.000,0.000 1.000,0.000-1.000,0.000 1.000,0.000 24.000,25.000-24.000,-25.000 25.000,0.000-1.000,0.000 0.000,0.000 1.000,0.000-1.000,0.000-49.000,24.000 0.000,-24.000 0.000,0.000 24.000,0.000-24.000,25.000 0.000,-25.000 24.000,0.000 1.000,0.000-25.000,0.000 24.000,0.000 26.000,0.000-1.000,0.000 1.000,0.000 24.000,0.000 50.000,25.000-50.000,-25.000-25.000,0.000-24.000,0.000-25.000,0.000 24.000,0.000-24.000,0.000 0.000,0.000 0.000,25.000 0.000,-25.000-1.000,0.000 1.000,0.000 0.000,0.000 0.000,0.000 49.000,0.000-24.000,0.000-1.000,25.000 26.000,-25.000-26.000,0.000 1.000,0.000-25.000,0.000 49.000,0.000-24.000,0.000-25.000,0.000 0.000,0.000-1.000,0.000 1.000,0.000 0.000,0.000 0.000,0.000 0.000,0.000-1.000,0.000 1.000,0.000 25.000,0.000-25.000,24.000-1.000,-24.000 26.000,0.000 24.000,25.000-49.000,-25.000 25.000,0.000-25.000,0.000 49.000,0.000-49.000,0.000 0.000,0.000-1.000,0.000 1.000,0.000 25.000,0.000-25.000,0.000-1.000,0.000 1.000,0.000 0.000,0.000 25.000,0.000-26.000,0.000 1.000,0.000 0.000,0.000 0.000,25.000 0.000,0.000 0.000,-25.000-1.000,0.000 1.000,0.000 0.000,0.000 0.000,0.000 0.000,0.000-1.000,0.000 1.000,0.000 0.000,0.000 0.000,0.000 0.000,0.000-1.000,0.000 1.000,0.000 0.000,0.000 0.000,0.000 0.000,0.000-1.000,0.000 1.000,0.000 0.000,0.000 0.000,-25.000-25.000,25.000 25.000,0.000-1.000,0.000 1.000,0.000 0.000,-25.000-25.000,25.000 25.000,0.000 0.000,-25.000-25.000,25.000 24.000,-24.000-24.000,-1.000 0.000,25.000 25.000,0.000 0.000,-25.000 0.000,25.000 0.000,-25.000-25.000,0.000 24.000,1.000-24.000,-1.000 0.000,0.000 0.000,0.000 0.000,0.000 0.000,1.000 0.000,-1.000 0.000,-25.000 0.000,25.000 0.000,1.000 0.000,-26.000 25.000,25.000-25.000,0.000 25.000,-24.000-25.000,24.000 0.000,0.000 0.000,0.000 0.000,1.000 0.000,-1.000 0.000,-25.000 0.000,25.000 0.000,-24.000 0.000,-1.000 0.000,1.000 0.000,-1.000 0.000,25.000 0.000,0.000 0.000,1.000 0.000,-1.000 0.000,0.000 0.000,0.000 0.000,-25.000 0.000,26.000 0.000,24.000-25.000,-25.000 25.000,0.000 0.000,0.000 0.000,0.000 0.000,1.000 0.000,-1.000 0.000,0.000 0.000,0.000 0.000,0.000 0.000,-24.000 0.000,24.000 25.000,-25.000-25.000,26.000 0.000,-1.000 0.000,25.000 25.000,-25.000-25.000,0.000 0.000,0.000 0.000,1.000 0.000,-1.000 0.000,0.000 0.000,0.000 0.000,0.000 0.000,1.000 0.000,-1.000 0.000,0.000 0.000,0.000 0.000,25.000-25.000,-25.000 25.000,1.000 0.000,24.000-25.000,-25.000 0.000,25.000 1.000,-25.000 24.000,0.000 0.000,25.000-25.000,0.000 0.000,0.000 0.000,0.000 0.000,-25.000 25.000,25.000-24.000,-24.000 24.000,-1.000 0.000,0.000-25.000,0.000 25.000,25.000-25.000,0.000 0.000,-25.000 25.000,25.000-25.000,-25.000 25.000,1.000 0.000,24.000-24.000,-25.000 24.000,25.000-25.000,-25.000 25.000,25.000-25.000,-25.000 25.000,0.000-25.000,1.000 0.000,-1.000 1.000,25.000-1.000,-25.000 25.000,25.000-25.000,-25.000 25.000,25.000-25.000,-25.000 0.000,25.000 1.000,-24.000-26.000,-1.000 0.000,0.000 1.000,0.000-1.000,0.000 1.000,1.000-26.000,-1.000 50.000,25.000 0.000,0.000 1.000,0.000-26.000,0.000 25.000,0.000 0.000,0.000 1.000,0.000-1.000,0.000 0.000,-25.000-25.000,25.000-24.000,0.000 24.000,0.000 1.000,0.000-1.000,0.000 25.000,0.000 1.000,0.000-1.000,0.000 0.000,0.000 0.000,0.000 0.000,0.000 1.000,0.000-1.000,0.000-25.000,25.000 1.000,-25.000 24.000,0.000-50.000,0.000 51.000,0.000-1.000,0.000 0.000,25.000 0.000,-25.000 0.000,0.000 0.000,0.000-24.000,24.000 49.000,-24.000-25.000,0.000 0.000,0.000 0.000,0.000 1.000,0.000-26.000,0.000 0.000,0.000-24.000,0.000 0.000,0.000-1.000,0.000 1.000,0.000 49.000,0.000-25.000,0.000 1.000,0.000-1.000,0.000 1.000,0.000 24.000,0.000 0.000,0.000 0.000,0.000-24.000,0.000-1.000,0.000-25.000,0.000 1.000,0.000 24.000,0.000 26.000,0.000-1.000,0.000-25.000,0.000 1.000,0.000 24.000,0.000-25.000,0.000 1.000,0.000 24.000,0.000 0.000,0.000 0.000,-24.000-24.000,24.000-1.000,0.000-24.000,0.000 49.000,0.000-25.000,-25.000 25.000,25.000-49.000,0.000 24.000,0.000 1.000,0.000-1.000,0.000 1.000,0.000 24.000,0.000 0.000,0.000-99.000,-25.000 25.000,25.000 24.000,0.000 26.000,0.000 24.000,0.000 0.000,0.000 0.000,0.000-24.000,0.000 24.000,0.000 0.000,0.000 0.000,0.000 0.000,0.000-24.000,0.000-50.000,0.000-75.000,0.000 25.000,0.000 75.000,0.000 24.000,0.000 0.000,25.000 26.000,-25.000-1.000,0.000 0.000,0.000 0.000,0.000 0.000,0.000 1.000,0.000-1.000,0.000 0.000,25.000-49.000,24.000-50.000,1.000-25.000,-50.000 74.000,49.000-73.000,1.000-1.000,0.000 49.000,-26.000 26.000,1.000 0.000,-25.000 49.000,25.000 0.000,-25.000 0.000,25.000 25.000,0.000 0.000,-25.000-25.000,24.000 1.000,1.000 24.000,0.000 0.000,0.000 0.000,0.000 0.000,0.000 0.000,-1.000 0.000,1.000 0.000,-25.000 24.000,25.000-24.000,0.000 0.000,24.000 0.000,-24.000 0.000,25.000 0.000,-25.000 0.000,-1.000 0.000,1.000 0.000,0.000 25.000,0.000-25.000,0.000 25.000,-1.000-25.000,1.000 0.000,25.000 0.000,-25.000 0.000,-1.000 0.000,1.000 0.000,0.000 0.000,0.000 0.000,0.000 0.000,-1.000 0.000,1.000 0.000,0.000 0.000,25.000 0.000,-26.000 0.000,1.000 0.000,25.000 0.000,-25.000 0.000,-1.000 0.000,1.000 0.000,0.000 0.000,0.000 0.000,0.000 0.000,0.000 0.000,-1.000 0.000,1.000 0.000,0.000 0.000,0.000 0.000,0.000 0.000,-1.000 0.000,1.000 0.000,25.000 25.000,-25.000-25.000,-1.000 0.000,1.000 0.000,0.000 0.000,0.000 25.000,0.000-25.000,-1.000 0.000,1.000 0.000,0.000 0.000,-25.000 24.000,25.000-24.000,0.000 0.000,-1.000 0.000,-24.000 25.000,25.000-25.000,0.000 0.000,-25.000 25.000,25.000-25.000,0.000 25.000,-1.000 0.000,-24.000-1.000,25.000-24.000,0.000 25.000,-25.000 0.000,25.000-25.000,-25.000 25.000,0.000 0.000,0.000 0.000,25.000-25.000,-25.000 24.000,24.000-24.000,1.000 0.000,-25.000 50.000,0.000-25.000,25.000-25.000,-25.000 49.000,0.000-24.000,25.000 25.000,-25.000-1.000,25.000-24.000,-25.000 25.000,0.000 24.000,0.000-49.000,24.000 0.000,-24.000 0.000,0.000-1.000,25.000 1.000,-25.000 25.000,0.000-25.000,25.000-1.000,-25.000 1.000,0.000 0.000,0.000 0.000,0.000 24.000,25.000-49.000,-25.000 25.000,25.000-25.000,-25.000 50.000,0.000-25.000,0.000-1.000,0.000 1.000,24.000 0.000,-24.000 0.000,0.000 0.000,0.000-1.000,0.000 1.000,0.000 0.000,0.000 25.000,0.000-25.000,0.000-1.000,0.000 1.000,0.000 25.000,0.000-25.000,0.000 24.000,0.000-24.000,0.000 0.000,0.000 0.000,0.000-1.000,0.000 26.000,0.000-25.000,0.000 24.000,0.000 1.000,0.000 0.000,0.000 24.000,0.000 0.000,0.000 1.000,0.000-26.000,0.000 26.000,0.000-50.000,0.000-1.000,0.000 1.000,0.000 0.000,0.000 0.000,0.000 0.000,0.000 0.000,0.000 49.000,0.000 0.000,0.000 26.000,0.000 48.000,0.000-24.000,0.000 0.000,0.000 25.000,0.000-50.000,0.000-49.000,0.000 0.000,0.000-1.000,0.000-24.000,0.000 0.000,0.000 25.000,0.000-26.000,0.000 26.000,0.000 0.000,0.000 49.000,0.000 0.000,0.000-25.000,0.000 26.000,0.000 24.000,0.000-75.000,0.000 1.000,25.000-25.000,-25.000-1.000,0.000 1.000,0.000 0.000,0.000 0.000,0.000 0.000,0.000-1.000,0.000 26.000,0.000-25.000,25.000 0.000,-25.000 24.000,25.000-49.000,-25.000 25.000,0.000 0.000,0.000 25.000,25.000-1.000,-25.000-24.000,0.000 0.000,0.000 0.000,0.000-1.000,0.000 1.000,0.000 0.000,0.000 0.000,0.000 0.000,25.000-1.000,-25.000 1.000,0.000 0.000,24.000-25.000,-24.000 25.000,25.000 0.000,-25.000-1.000,0.000 26.000,25.000-50.000,-25.000 25.000,25.000 74.000,-25.000-173.000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9-02T13:41:04"/>
    </inkml:context>
    <inkml:brush xml:id="br0">
      <inkml:brushProperty name="width" value="0.0881940002441406" units="cm"/>
      <inkml:brushProperty name="height" value="0.352778015136719"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8930.000 11038.000,'24.000'0.000,"26.000"0.000,0.000 0.000,24.000 0.000,-24.000 25.000,-1.000-25.000,1.000 0.000,0.000 25.000,24.000-25.000,-24.000 0.000,-26.000 0.000,1.000 24.000,25.000-24.000,-25.000 25.000,-1.000-25.000,1.000 0.000,0.000 0.000,25.000 0.000,-26.000 25.000,1.000-25.000,25.000 0.000,-25.000 0.000,-1.000 0.000,26.000 0.000,-25.000 0.000,0.000 0.000,24.000 0.000,1.000 0.000,-25.000 0.000,24.000 0.000,-24.000 0.000,50.000 0.000,-51.000 0.000,1.000 0.000,0.000 0.000,25.000 0.000,-26.000 0.000,1.000 0.000,0.000 0.000,25.000 0.000,-26.000 0.000,26.000 0.000,0.000 0.000,-1.000 0.000,1.000 0.000,-1.000 0.000,-24.000 0.000,0.000 0.000,25.000 0.000,-1.000 0.000,-24.000 0.000,0.000 0.000,24.000 0.000,-24.000-25.000,0.000 25.000,49.000 0.000,1.000 0.000,-1.000 0.000,26.000-25.000,48.000 1.000,76.000-1.000,48.000 25.000,-23.000-50.000,23.000 50.000,-48.000 0.000,-76.000-49.000,1.000-1.000,-50.000 25.000,-24.000 0.000,-1.000 1.000,1.000 24.000,-50.000 0.000,-25.000-25.000,49.000 25.000,-24.000 0.000,0.000 0.000,0.000 0.000,-1.000 0.000,1.000 0.000,0.000 0.000,0.000 0.000,0.000 0.000,24.000 0.000,-24.000 0.000,0.000 0.000,0.000 0.000,-1.000 0.000,1.000 0.000,0.000 0.000,0.000-25.000,0.000 25.000,-1.000 0.000,1.000 0.000,0.000 0.000,0.000 0.000,24.000 0.000,-24.000 0.000,0.000 0.000,0.000 0.000,0.000 0.000,-1.000 0.000,1.000 0.000,0.000 25.000,0.000-25.000,0.000 0.000,0.000 0.000,-1.000 0.000,-24.000 25.000,25.000-25.000,0.000 0.000,0.000 0.000,0.000 0.000,-1.000 0.000,26.000 0.000,-50.000 24.000,25.000-24.000,0.000 0.000,-1.000 0.000,1.000 0.000,-25.000 25.000,25.000-25.000,-25.000 25.000,25.000-25.000,-25.000 25.000,0.000 0.000,0.000-1.000,0.000 1.000,0.000 0.000,0.000 0.000,0.000 0.000,0.000-1.000,-25.000-24.000,25.000 25.000,-25.000 0.000,0.000 0.000,25.000 0.000,0.000 0.000,0.000-1.000,-24.000 1.000,24.000 0.000,0.000 0.000,0.000 24.000,-25.000-49.000,25.000 25.000,0.000 0.000,0.000 0.000,0.000 24.000,0.000-24.000,0.000 0.000,0.000 0.000,0.000 49.000,0.000-49.000,0.000 25.000,0.000-1.000,0.000 1.000,0.000-25.000,0.000 24.000,0.000-24.000,0.000 0.000,0.000 24.000,0.000-24.000,0.000 0.000,0.000 25.000,25.000-26.000,-25.000 1.000,0.000 25.000,0.000-25.000,24.000 24.000,-24.000-24.000,0.000 0.000,0.000 0.000,0.000 24.000,0.000-24.000,25.000-25.000,-25.000 25.000,0.000 0.000,25.000 0.000,-25.000-1.000,0.000 1.000,0.000 0.000,0.000 0.000,0.000 0.000,0.000-1.000,0.000 1.000,0.000 0.000,0.000 0.000,0.000 0.000,0.000-1.000,0.000 1.000,0.000 0.000,25.000 25.000,-25.000-1.000,0.000-24.000,0.000 25.000,0.000-1.000,0.000 1.000,0.000-25.000,0.000-1.000,0.000 26.000,0.000-25.000,0.000 0.000,0.000 0.000,0.000-1.000,0.000 1.000,0.000 0.000,0.000 0.000,0.000 0.000,0.000-1.000,0.000 26.000,0.000 0.000,0.000-1.000,25.000-24.000,-25.000 0.000,0.000 24.000,0.000-24.000,24.000 0.000,-24.000 25.000,0.000-26.000,25.000 1.000,-25.000 0.000,0.000 0.000,0.000 0.000,0.000-1.000,0.000 1.000,0.000 0.000,0.000 0.000,0.000 0.000,0.000-1.000,0.000 1.000,0.000 0.000,25.000 25.000,-25.000-26.000,0.000 1.000,0.000 0.000,25.000-25.000,-25.000 25.000,25.000 0.000,-25.000 0.000,0.000-1.000,0.000 1.000,0.000 0.000,24.000-25.000,-24.000 25.000,0.000 0.000,0.000-1.000,25.000-24.000,-25.000-24.000,0.000-1.000,-25.000 25.000,25.000-25.000,0.000 0.000,-24.000 25.000,24.000-25.000,-25.000 25.000,25.000-24.000,-25.000 24.000,25.000-25.000,-25.000 25.000,0.000-25.000,1.000 25.000,-1.000 0.000,0.000 0.000,0.000 0.000,0.000 0.000,1.000 0.000,-1.000 0.000,0.000 0.000,0.000 0.000,0.000 0.000,-24.000 0.000,-1.000 0.000,1.000 0.000,-51.000 0.000,1.000-25.000,25.000 25.000,24.000 0.000,-24.000 0.000,-1.000 0.000,26.000 0.000,24.000 0.000,0.000 0.000,0.000 0.000,0.000 0.000,1.000 0.000,-1.000 0.000,0.000 0.000,0.000 0.000,0.000 0.000,-49.000 0.000,0.000 0.000,-26.000 0.000,1.000-25.000,-50.000 0.000,-24.000 1.000,-26.000-1.000,1.000 0.000,99.000 25.000,-1.000-25.000,26.000 25.000,24.000-25.000,25.000 25.000,1.000 0.000,-1.000 0.000,0.000 0.000,0.000 0.000,-24.000 0.000,24.000 0.000,0.000 0.000,-49.000 0.000,24.000 0.000,-24.000 0.000,-50.000 0.000,49.000 0.000,1.000 0.000,24.000 0.000,1.000 0.000,24.000 0.000,0.000 0.000,0.000 0.000,0.000 0.000,1.000 0.000,-1.000 0.000,0.000 0.000,-25.000 25.000,25.000-25.000,1.000 0.000,-1.000 0.000,0.000 0.000,0.000 0.000,-24.000 0.000,24.000 0.000,0.000 0.000,0.000 0.000,0.000 0.000,1.000 0.000,-26.000-25.000,25.000 25.000,0.000 0.000,-49.000 0.000,24.000 0.000,26.000 0.000,-1.000 0.000,-25.000 0.000,25.000 0.000,1.000 0.000,-1.000 0.000,0.000 0.000,0.000 0.000,0.000 0.000,1.000 0.000,-1.000 0.000,0.000 0.000,-25.000 0.000,26.000 0.000,-26.000-24.000,0.000 24.000,1.000-25.000,-1.000 25.000,0.000 0.000,-24.000 0.000,24.000 0.000,26.000 0.000,-1.000 0.000,0.000 0.000,0.000 0.000,-24.000 0.000,24.000 0.000,0.000 0.000,25.000-25.000,-25.000 25.000,25.000-25.000,-25.000 25.000,25.000-25.000,25.000 1.000,0.000 24.000,0.000-25.000,0.000 0.000,24.000 25.000,1.000 0.000,-1.000-25.000,1.000 25.000,24.000-25.000,1.000 25.000,24.000-24.000,75.000-1.000,74.000-25.000,-25.000 1.000,50.000 24.000,-50.000 0.000,25.000 0.000,-25.000 0.000,-49.000 1.000,24.000-26.000,-73.000 25.000,-26.000 25.000,-50.000-25.000,1.000 25.000,0.000-24.000,24.000 24.000,-49.000 0.000,24.000 0.000,-24.000-25.000,50.000 0.000,-51.000 25.000,1.000 0.000,25.000 0.000,-1.000-25.000,1.000 25.000,-50.000-25.000,25.000 25.000,0.000 0.000,-1.000-24.000,1.000 24.000,0.000 0.000,0.000 0.000,0.000 0.000,-1.000 0.000,1.000 0.000,0.000 0.000,0.000 0.000,0.000 0.000,0.000 0.000,-1.000 0.000,1.000 0.000,0.000 0.000,25.000 0.000,-1.000 0.000,26.000 0.000,-26.000 0.000,1.000 0.000,24.000 0.000,-24.000 0.000,24.000 0.000,-24.000 0.000,-1.000 0.000,1.000 0.000,0.000 0.000,-26.000 0.000,1.000 0.000,0.000 0.000,0.000 0.000,0.000 0.000,-1.000 0.000,1.000 0.000,0.000 0.000,0.000 0.000,0.000 0.000,0.000 0.000,-50.000 0.000,0.000 0.000,0.000 0.000,0.000-25.000,-49.000 25.000,24.000-25.000,1.000 25.000,-1.000 0.000,0.000 0.000,1.000-25.000,-26.000 25.000,-49.000 0.000,-99.000-25.000,-75.000-49.000,-49.000 24.000,25.000 1.000,123.000 24.000,100.000 0.000,25.000 25.000,49.000 0.000,0.000 0.000,0.000 0.000,0.000 0.000,-24.000 0.000,24.000 0.000,0.000 0.000,-49.000 0.000,-1.000 0.000,-24.000 0.000,-25.000-25.000,25.000 0.000,25.000 25.000,49.000 0.000,0.000 0.000,-25.000 0.000,26.000 0.000,-1.000 0.000,0.000-24.000,0.000 24.000,0.000 0.000,0.000-25.000,1.000 25.000,-1.000 0.000,0.000-25.000,0.000 25.000,0.000 0.000,1.000-25.000,-1.000 25.000,0.000 0.000,0.000 0.000,25.000-25.000,0.000 1.000,0.000-1.000,0.000 0.000,50.000 0.000,-25.000 0.000,24.000 25.000,1.000-24.000,49.000-26.000,25.000 25.000,25.000-24.000,74.000-1.000,100.000-24.000,98.000-26.000,51.000 1.000,-175.000 74.000,-73.000 0.000,-76.000 1.000,-73.000-1.000,-50.000 25.000,-1.000 0.000,26.000 0.000,-25.000 0.000,0.000 0.000,-25.000-25.000,24.000 25.000,1.000 0.000,0.000 0.000,0.000 0.000,-25.000-25.000,49.000 25.000,-24.000 0.000,25.000 0.000,-25.000 0.000,-1.000 0.000,1.000 0.000,0.000 0.000,0.000 0.000,0.000 0.000,-1.000 0.000,1.000 0.000,0.000 0.000,0.000 0.000,-50.000-25.000,0.000 25.000,0.000 0.000,1.000 0.000,-1.000 0.000,0.000 0.000,0.000-24.000,0.000 24.000,1.000 0.000,-51.000 0.000,-24.000-25.000,0.000 0.000,-50.000 0.000,25.000 0.000,-25.000-24.000,50.000 24.000,-25.000 0.000,49.000 25.000,-24.000-25.000,25.000 25.000,-1.000 0.000,-49.000-24.000,-99.000 24.000,-149.000 0.000,-25.000 0.000,124.000 0.000,125.000 0.000,23.000 0.000,101.000 0.000,-1.000 0.000,-25.000 0.000,25.000 0.000,1.000 0.000,-1.000 0.000,0.000 0.000,25.000 24.000,-25.000-24.000,0.000 0.000,1.000 0.000,-26.000 25.000,0.000-25.000,26.000 0.000,-1.000 0.000,0.000 0.000,0.000 0.000,0.000 0.000,1.000 0.000,-1.000 0.000,0.000 0.000,0.000 0.000,0.000 0.000,50.000-25.000,0.000 25.000,25.000-24.000,-1.000-1.000,1.000 0.000,24.000-25.000,1.000 50.000,73.000-24.000,26.000-26.000,-50.000 50.000,25.000-25.000,-50.000 25.000,-49.000 0.000,-1.000 0.000,-24.000 0.000,0.000 0.000,0.000 0.000,0.000 0.000,-1.000 0.000,1.000 25.000,-25.000 0.000,0.000 0.000,0.000-1.000,0.000 1.000,0.000 0.000,0.000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9-02T13:41:04"/>
    </inkml:context>
    <inkml:brush xml:id="br0">
      <inkml:brushProperty name="width" value="0.0881940002441406" units="cm"/>
      <inkml:brushProperty name="height" value="0.352778015136719"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8954.000 13221.000,'50.000'0.000,"49.000"0.000,-24.000 0.000,-26.000 0.000,26.000 0.000,-26.000 0.000,1.000 0.000,24.000 0.000,-24.000 0.000,0.000 0.000,-26.000 0.000,26.000 0.000,0.000 0.000,-26.000 0.000,26.000 0.000,-25.000 0.000,24.000 0.000,-24.000 0.000,0.000 0.000,0.000 0.000,0.000 0.000,-1.000 0.000,1.000 0.000,0.000 0.000,25.000 0.000,-25.000 0.000,-1.000 0.000,1.000 0.000,0.000 0.000,0.000 0.000,0.000 0.000,-1.000 25.000,1.000-25.000,0.000 0.000,0.000 0.000,24.000 25.000,-24.000-25.000,25.000 0.000,-25.000 0.000,24.000 0.000,26.000 0.000,-51.000 0.000,26.000 0.000,-25.000 0.000,24.000 0.000,-24.000 0.000,0.000 0.000,0.000 0.000,0.000 0.000,-1.000 0.000,1.000 0.000,25.000 0.000,-1.000 0.000,-24.000 0.000,0.000 0.000,0.000 0.000,24.000 0.000,-24.000 0.000,25.000 0.000,0.000-25.000,-1.000 0.000,26.000 25.000,-1.000 0.000,-24.000 0.000,24.000 0.000,-24.000 0.000,-1.000 0.000,26.000-25.000,-26.000 0.000,26.000 25.000,-1.000 0.000,-49.000 0.000,24.000 0.000,-24.000-25.000,25.000 25.000,-25.000-24.000,24.000 24.000,-24.000 0.000,0.000 0.000,0.000 0.000,24.000 0.000,-24.000 0.000,25.000 0.000,-25.000 0.000,24.000 0.000,-24.000 0.000,0.000 0.000,0.000-25.000,-1.000 25.000,1.000 0.000,25.000 0.000,-25.000 0.000,24.000 0.000,1.000-25.000,24.000 25.000,1.000-25.000,-1.000 25.000,0.000 0.000,26.000 0.000,-1.000-25.000,-25.000 25.000,1.000-24.000,-26.000-1.000,26.000 25.000,-26.000 0.000,1.000-25.000,0.000 25.000,-1.000 0.000,-24.000-25.000,0.000 25.000,0.000 0.000,24.000 0.000,-49.000-25.000,25.000 25.000,0.000 0.000,0.000 0.000,-1.000 0.000,1.000 0.000,0.000 0.000,0.000-24.000,0.000 24.000,24.000 0.000,-24.000 0.000,49.000 0.000,-24.000 0.000,49.000 0.000,-24.000-50.000,74.000 50.000,-1.000-50.000,249.000 26.000,-298.000 24.000,25.000-25.000,-49.000 0.000,-25.000 0.000,24.000 25.000,-24.000 0.000,-26.000 0.000,26.000 0.000,-25.000 0.000,0.000 0.000,-1.000 0.000,1.000 0.000,0.000 0.000,0.000 0.000,0.000 0.000,-1.000 0.000,1.000 0.000,0.000 0.000,-25.000 25.000,25.000-25.000,0.000 0.000,-1.000 0.000,1.000 0.000,0.000 0.000,0.000 0.000,0.000 0.000,-1.000 0.000,1.000 25.000,0.000-25.000,0.000 0.000,0.000 0.000,-1.000 25.000,1.000-25.000,0.000 0.000,0.000 0.000,0.000 0.000,-1.000 0.000,1.000 0.000,25.000 0.000,-25.000 0.000,0.000 0.000,24.000 0.000,-24.000 0.000,0.000 0.000,0.000 24.000,-1.000-24.000,1.000 0.000,25.000 25.000,-25.000-25.000,-1.000 0.000,1.000 0.000,0.000 0.000,0.000 0.000,0.000 0.000,-1.000 25.000,1.000-25.000,0.000 0.000,25.000 0.000,-26.000 0.000,1.000 0.000,0.000 0.000,0.000 0.000,24.000 25.000,-24.000-25.000,0.000 0.000,0.000 0.000,0.000 25.000,24.000-25.000,1.000 0.000,-25.000 0.000,-1.000 0.000,1.000 0.000,0.000 0.000,25.000 0.000,-26.000 24.000,1.000-24.000,0.000 0.000,0.000 0.000,-25.000 25.000,0.000 0.000,0.000 0.000,0.000 0.000,0.000-1.000,0.000 1.000,-25.000-25.000,25.000 25.000,-25.000-25.000,25.000 25.000,-25.000-25.000,25.000 25.000,0.000-1.000,0.000 1.000,-24.000-25.000,24.000 25.000,-25.000 0.000,25.000 0.000,0.000 24.000,-25.000-49.000,25.000 25.000,0.000 0.000,-25.000 0.000,25.000 0.000,0.000-1.000,0.000 1.000,0.000 0.000,0.000 0.000,-25.000 0.000,25.000-1.000,0.000 1.000,0.000 0.000,0.000 0.000,0.000 0.000,0.000-1.000,0.000 1.000,0.000 0.000,0.000 0.000,0.000 0.000,0.000-1.000,0.000 26.000,0.000 0.000,0.000-26.000,0.000 1.000,0.000 0.000,0.000 0.000,0.000 0.000,0.000-1.000,0.000 1.000,0.000 0.000,0.000 0.000,0.000 0.000,-24.000-25.000,-1.000 0.000,0.000-25.000,0.000 25.000,0.000-25.000,1.000 25.000,24.000-25.000,-25.000 25.000,-25.000-25.000,25.000 1.000,1.000 24.000,-1.000-25.000,0.000 25.000,-25.000-25.000,1.000 0.000,-26.000-24.000,-49.000 24.000,50.000-25.000,0.000 50.000,-1.000-25.000,26.000 1.000,-26.000-1.000,25.000 25.000,26.000 0.000,-1.000 0.000,-25.000 0.000,25.000-25.000,1.000 25.000,-1.000 0.000,0.000 0.000,0.000 0.000,-24.000 0.000,24.000 0.000,-25.000 0.000,25.000 0.000,1.000-25.000,-51.000 25.000,26.000 0.000,24.000 0.000,0.000 0.000,-25.000 0.000,26.000 0.000,-1.000 0.000,-25.000 0.000,1.000 0.000,-1.000 0.000,-24.000 0.000,-75.000 0.000,0.000 0.000,-99.000-25.000,-75.000 25.000,-74.000 0.000,-24.000 0.000,123.000 0.000,149.000 0.000,50.000 0.000,25.000 0.000,-1.000 0.000,26.000 0.000,-1.000 0.000,25.000 0.000,-24.000 0.000,-1.000 0.000,0.000 0.000,1.000 0.000,-1.000 0.000,1.000 0.000,24.000 0.000,25.000 25.000,25.000-25.000,-1.000 0.000,1.000 0.000,25.000 0.000,-25.000 0.000,24.000 0.000,-24.000 0.000,25.000 0.000,-1.000 0.000,1.000 0.000,24.000 0.000,1.000-25.000,-1.000 1.000,75.000-1.000,-25.000 25.000,50.000-50.000,24.000 25.000,25.000 1.000,-74.000-1.000,-25.000 25.000,-25.000 0.000,-49.000-25.000,24.000 25.000,-24.000-25.000,0.000 25.000,24.000-25.000,-49.000 25.000,24.000 0.000,-24.000-24.000,50.000 24.000,-26.000-25.000,-24.000 25.000,25.000 0.000,-1.000 0.000,1.000-25.000,-1.000 25.000,51.000-25.000,-76.000 25.000,1.000 0.000,25.000 0.000,-25.000 0.000,0.000-25.000,-1.000 25.000,1.000 0.000,0.000 0.000,0.000 0.000,0.000 0.000,-1.000 0.000,1.000 0.000,25.000 0.000,-25.000 0.000,49.000 0.000,-24.000-24.000,-26.000 24.000,1.000 0.000,0.000 0.000,0.000 0.000,0.000 0.000,-1.000 0.000,1.000 0.000,0.000 0.000,25.000 0.000,-26.000 0.000,26.000 0.000,-25.000 0.000,0.000 0.000,24.000 0.000,26.000 0.000,-26.000 0.000,1.000 0.000,-25.000 0.000,24.000 0.000,-24.000 0.000,25.000 0.000,-25.000 0.000,-1.000 0.000,1.000 0.000,0.000 24.000,25.000 1.000,-26.000-25.000,1.000 0.000,0.000 0.000,-25.000 25.000,25.000-25.000,0.000 0.000,-25.000 25.000,24.000-25.000,1.000 0.000,-25.000 25.000,0.000-1.000,25.000-24.000,-25.000 25.000,0.000 0.000,0.000 0.000,0.000 0.000,0.000-1.000,-25.000 1.000,0.000-25.000,25.000 25.000,-24.000-25.000,24.000 25.000,-25.000-25.000,0.000 0.000,0.000 0.000,0.000 25.000,1.000-25.000,-1.000 0.000,0.000 0.000,25.000 24.000,-25.000-24.000,0.000 25.000,1.000-25.000,-1.000 0.000,0.000 0.000,0.000 0.000,0.000 0.000,1.000 0.000,-1.000 0.000,0.000 0.000,0.000 0.000,-25.000 0.000,26.000 0.000,-26.000 0.000,-24.000 0.000,-26.000 0.000,1.000 25.000,-50.000-25.000,-24.000 25.000,49.000-25.000,49.000 0.000,-24.000 0.000,25.000 0.000,24.000 25.000,25.000-25.000,-24.000 0.000,24.000 0.000,0.000 0.000,-25.000 0.000,26.000 0.000,-1.000 0.000,0.000 0.000,-25.000 0.000,1.000 0.000,24.000 0.000,-25.000 0.000,26.000 0.000,-1.000 0.000,0.000 0.000,-25.000 0.000,26.000 0.000,-1.000 0.000,0.000 0.000,-49.000 0.000,24.000 0.000,-24.000 0.000,-1.000 0.000,26.000 0.000,-26.000 0.000,1.000 0.000,-1.000 0.000,26.000 0.000,-26.000 0.000,26.000 0.000,-26.000 0.000,26.000-25.000,-1.000 25.000,-24.000-25.000,-1.000 25.000,1.000 0.000,-1.000 0.000,26.000 0.000,24.000-25.000,0.000 25.000,-24.000 0.000,49.000-25.000,-50.000 25.000,25.000 0.000,0.000 0.000,0.000 0.000,1.000-24.000,-26.000 24.000,25.000 0.000,0.000 0.000,1.000-25.000,-1.000 25.000,0.000-25.000,-25.000 25.000,26.000 0.000,-1.000 0.000,0.000-25.000,0.000 25.000,0.000-25.000,1.000 25.000,-1.000 0.000,0.000 0.000,0.000 0.000,0.000 0.000,1.000 0.000,-1.000-24.000,0.000 24.000,-25.000 0.000,26.000 0.000,-26.000 0.000,0.000 0.000,1.000 0.000,-26.000-25.000,26.000 25.000,-26.000 0.000,26.000-25.000,-26.000 25.000,26.000-25.000,-1.000 25.000,-24.000 0.000,-1.000 0.000,1.000-25.000,-25.000 25.000,-25.000 0.000,24.000-24.000,1.000 24.000,0.000-25.000,0.000 25.000,-25.000-25.000,74.000 25.000,0.000 0.000,1.000 0.000,-1.000 0.000,25.000 0.000,-24.000 0.000,24.000 0.000,-25.000 0.000,26.000-25.000,-26.000 25.000,0.000-25.000,26.000 25.000,-26.000-24.000,0.000 24.000,1.000 0.000,24.000 0.000,0.000 0.000,0.000 0.000,-24.000 0.000,24.000 0.000,0.000 0.000,0.000 0.000,25.000-25.000,-24.000 25.000,-1.000 0.000,0.000 0.000,-25.000 0.000,25.000 0.000,1.000 0.000,-1.000 0.000,0.000 0.000,0.000 0.000,0.000 0.000,1.000 0.000,-1.000 0.000,50.000 0.000,-1.000 0.000,1.000 0.000,-25.000 25.000,25.000-25.000,0.000 0.000,0.000 24.000,-1.000 1.000,1.000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932E3D8-ADD7-432D-BBEC-2030AAE7AB3C}"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75779" name="Rectangle 2"/>
          <p:cNvSpPr>
            <a:spLocks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75780" name="Rectangle 3"/>
          <p:cNvSpPr/>
          <p:nvPr>
            <p:ph type="body" idx="1"/>
          </p:nvPr>
        </p:nvSpPr>
        <p:spPr>
          <a:xfrm>
            <a:off x="914400" y="4343400"/>
            <a:ext cx="5029200" cy="4114800"/>
          </a:xfrm>
          <a:noFill/>
          <a:ln>
            <a:noFill/>
          </a:ln>
        </p:spPr>
        <p:txBody>
          <a:bodyPr wrap="square" lIns="92075" tIns="46038" rIns="92075" bIns="46038" anchor="t" anchorCtr="0"/>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noChangeArrowheads="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76803" name="Rectangle 1026"/>
          <p:cNvSpPr>
            <a:spLocks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76804" name="Rectangle 1027"/>
          <p:cNvSpPr/>
          <p:nvPr>
            <p:ph type="body" idx="1"/>
          </p:nvPr>
        </p:nvSpPr>
        <p:spPr>
          <a:xfrm>
            <a:off x="914400" y="4343400"/>
            <a:ext cx="5029200" cy="4114800"/>
          </a:xfrm>
          <a:noFill/>
          <a:ln>
            <a:noFill/>
          </a:ln>
        </p:spPr>
        <p:txBody>
          <a:bodyPr wrap="square" lIns="92075" tIns="46038" rIns="92075" bIns="46038" anchor="t" anchorCtr="0"/>
          <a:p>
            <a:pPr lvl="0" eaLnBrk="1" hangingPunct="1">
              <a:spcBef>
                <a:spcPct val="0"/>
              </a:spcBef>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noChangeArrowheads="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77827" name="Rectangle 2"/>
          <p:cNvSpPr>
            <a:spLocks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77828" name="Rectangle 3"/>
          <p:cNvSpPr/>
          <p:nvPr>
            <p:ph type="body" idx="1"/>
          </p:nvPr>
        </p:nvSpPr>
        <p:spPr>
          <a:xfrm>
            <a:off x="914400" y="4343400"/>
            <a:ext cx="5029200" cy="4114800"/>
          </a:xfrm>
          <a:noFill/>
          <a:ln>
            <a:noFill/>
          </a:ln>
        </p:spPr>
        <p:txBody>
          <a:bodyPr wrap="square" lIns="92075" tIns="46038" rIns="92075" bIns="46038" anchor="t" anchorCtr="0"/>
          <a:p>
            <a:pPr lvl="0" eaLnBrk="1" hangingPunct="1">
              <a:spcBef>
                <a:spcPct val="0"/>
              </a:spcBef>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noChangeArrowheads="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78851" name="Rectangle 2"/>
          <p:cNvSpPr>
            <a:spLocks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78852" name="Rectangle 3"/>
          <p:cNvSpPr/>
          <p:nvPr>
            <p:ph type="body" idx="1"/>
          </p:nvPr>
        </p:nvSpPr>
        <p:spPr>
          <a:xfrm>
            <a:off x="914400" y="4343400"/>
            <a:ext cx="5029200" cy="4114800"/>
          </a:xfrm>
          <a:noFill/>
          <a:ln>
            <a:noFill/>
          </a:ln>
        </p:spPr>
        <p:txBody>
          <a:bodyPr wrap="square" lIns="92075" tIns="46038" rIns="92075" bIns="46038" anchor="t" anchorCtr="0"/>
          <a:p>
            <a:pPr lvl="0" eaLnBrk="1" hangingPunct="1">
              <a:spcBef>
                <a:spcPct val="0"/>
              </a:spcBef>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noChangeArrowheads="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79875" name="Rectangle 2"/>
          <p:cNvSpPr>
            <a:spLocks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79876" name="Rectangle 3"/>
          <p:cNvSpPr/>
          <p:nvPr>
            <p:ph type="body" idx="1"/>
          </p:nvPr>
        </p:nvSpPr>
        <p:spPr>
          <a:xfrm>
            <a:off x="914400" y="4343400"/>
            <a:ext cx="5029200" cy="4114800"/>
          </a:xfrm>
          <a:noFill/>
          <a:ln>
            <a:noFill/>
          </a:ln>
        </p:spPr>
        <p:txBody>
          <a:bodyPr wrap="square" lIns="92075" tIns="46038" rIns="92075" bIns="46038" anchor="t" anchorCtr="0"/>
          <a:p>
            <a:pPr lvl="0" eaLnBrk="1" hangingPunct="1">
              <a:spcBef>
                <a:spcPct val="0"/>
              </a:spcBef>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Slide Image Placeholder 1"/>
          <p:cNvSpPr>
            <a:spLocks noGrp="1" noRot="1" noChangeAspect="1" noTextEdit="1"/>
          </p:cNvSpPr>
          <p:nvPr>
            <p:ph type="sldImg"/>
          </p:nvPr>
        </p:nvSpPr>
        <p:spPr>
          <a:ln>
            <a:solidFill>
              <a:srgbClr val="000000"/>
            </a:solidFill>
            <a:miter/>
          </a:ln>
        </p:spPr>
      </p:sp>
      <p:sp>
        <p:nvSpPr>
          <p:cNvPr id="80899" name="Notes Placeholder 2"/>
          <p:cNvSpPr>
            <a:spLocks noGrp="1"/>
          </p:cNvSpPr>
          <p:nvPr>
            <p:ph type="body" idx="1"/>
          </p:nvPr>
        </p:nvSpPr>
        <p:spPr>
          <a:noFill/>
          <a:ln>
            <a:noFill/>
          </a:ln>
        </p:spPr>
        <p:txBody>
          <a:bodyPr wrap="square" lIns="91440" tIns="45720" rIns="91440" bIns="45720" anchor="t" anchorCtr="0"/>
          <a:p>
            <a:pPr lvl="0"/>
            <a:endParaRPr dirty="0"/>
          </a:p>
        </p:txBody>
      </p:sp>
      <p:sp>
        <p:nvSpPr>
          <p:cNvPr id="4" name="Slide Number Placeholder 3"/>
          <p:cNvSpPr txBox="1">
            <a:spLocks noGrp="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8229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57200" y="3941763"/>
            <a:ext cx="8229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4"/>
          <p:cNvSpPr>
            <a:spLocks noGrp="1" noChangeArrowheads="1"/>
          </p:cNvSpPr>
          <p:nvPr>
            <p:ph type="dt" sz="half" idx="1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Rectangle 45"/>
          <p:cNvSpPr>
            <a:spLocks noGrp="1" noChangeArrowheads="1"/>
          </p:cNvSpPr>
          <p:nvPr>
            <p:ph type="ftr" sz="quarter" idx="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Rectangle 46"/>
          <p:cNvSpPr>
            <a:spLocks noGrp="1" noChangeArrowheads="1"/>
          </p:cNvSpPr>
          <p:nvPr>
            <p:ph type="sldNum" sz="quarter" idx="4"/>
          </p:nvPr>
        </p:nvSpPr>
        <p:spPr>
          <a:xfrm>
            <a:off x="6553200" y="6356350"/>
            <a:ext cx="2133600" cy="365125"/>
          </a:xfrm>
          <a:prstGeom prst="rect">
            <a:avLst/>
          </a:prstGeom>
        </p:spPr>
        <p:txBody>
          <a:bodyPr vert="horz" lIns="91440" tIns="45720" rIns="91440" bIns="45720" rtlCol="0" anchor="ctr"/>
          <a:p>
            <a:pPr algn="r">
              <a:buNone/>
            </a:pPr>
            <a:fld id="{9A0DB2DC-4C9A-4742-B13C-FB6460FD350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C79721-5C7A-4889-9BC6-983A8A87267E}" type="datetimeFigureOut">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png"/><Relationship Id="rId6" Type="http://schemas.openxmlformats.org/officeDocument/2006/relationships/customXml" Target="../ink/ink3.xml"/><Relationship Id="rId5" Type="http://schemas.openxmlformats.org/officeDocument/2006/relationships/image" Target="../media/image5.png"/><Relationship Id="rId4" Type="http://schemas.openxmlformats.org/officeDocument/2006/relationships/customXml" Target="../ink/ink2.xml"/><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2.xml"/><Relationship Id="rId2" Type="http://schemas.openxmlformats.org/officeDocument/2006/relationships/image" Target="../media/image9.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xml"/><Relationship Id="rId2" Type="http://schemas.openxmlformats.org/officeDocument/2006/relationships/image" Target="../media/image11.png"/><Relationship Id="rId1" Type="http://schemas.openxmlformats.org/officeDocument/2006/relationships/audio" Target="../media/audio2.wav"/></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12.png"/><Relationship Id="rId1" Type="http://schemas.openxmlformats.org/officeDocument/2006/relationships/audio" Target="../media/audio3.wav"/></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5.xml"/><Relationship Id="rId2" Type="http://schemas.openxmlformats.org/officeDocument/2006/relationships/image" Target="../media/image13.png"/><Relationship Id="rId1" Type="http://schemas.openxmlformats.org/officeDocument/2006/relationships/audio" Target="../media/audio4.wav"/></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audio" Target="../media/audio5.wav"/></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audio" Target="../media/audio6.wav"/></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audio" Target="../media/audio7.wav"/></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audio" Target="../media/audio8.wav"/></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audio" Target="../media/audio9.wav"/><Relationship Id="rId2" Type="http://schemas.openxmlformats.org/officeDocument/2006/relationships/image" Target="../media/image18.jpeg"/><Relationship Id="rId1" Type="http://schemas.openxmlformats.org/officeDocument/2006/relationships/hyperlink" Target="http://images.google.co.in/imgres?imgurl=http://www.ecoteacher.asn.au/S%26d2/elass.jpg&amp;imgrefurl=http://www.ecoteacher.asn.au/Demand/elastsli/e27.htm&amp;h=227&amp;w=227&amp;sz=12&amp;hl=en&amp;start=1&amp;tbnid=Qop1RpyTDI6m0M:&amp;tbnh=108&amp;tbnw=108&amp;prev=/images%3Fq%3Dincrease%2Bin%2Bquantity%2Bsupplied%26gbv%3D2%26hl%3Den" TargetMode="Externa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audio" Target="../media/audio10.wav"/><Relationship Id="rId1"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audio" Target="../media/audio11.wav"/></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audio" Target="../media/audio12.wav"/></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audio" Target="../media/audio13.wav"/></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audio" Target="../media/audio14.wav"/><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audio" Target="../media/audio15.wav"/></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audio" Target="../media/audio16.wav"/><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image" Target="../media/image11.png"/><Relationship Id="rId1" Type="http://schemas.openxmlformats.org/officeDocument/2006/relationships/audio" Target="../media/audio17.wav"/></Relationships>
</file>

<file path=ppt/slides/_rels/slide55.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xml"/><Relationship Id="rId7" Type="http://schemas.openxmlformats.org/officeDocument/2006/relationships/tags" Target="../tags/tag7.xml"/><Relationship Id="rId6" Type="http://schemas.openxmlformats.org/officeDocument/2006/relationships/image" Target="../media/image26.png"/><Relationship Id="rId5" Type="http://schemas.openxmlformats.org/officeDocument/2006/relationships/audio" Target="../media/audio18.wav"/><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56.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2.xml"/><Relationship Id="rId7" Type="http://schemas.openxmlformats.org/officeDocument/2006/relationships/tags" Target="../tags/tag8.xml"/><Relationship Id="rId6" Type="http://schemas.openxmlformats.org/officeDocument/2006/relationships/image" Target="../media/image31.png"/><Relationship Id="rId5" Type="http://schemas.openxmlformats.org/officeDocument/2006/relationships/audio" Target="../media/audio19.wav"/><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tags" Target="../tags/tag9.xml"/><Relationship Id="rId5" Type="http://schemas.openxmlformats.org/officeDocument/2006/relationships/image" Target="../media/image35.png"/><Relationship Id="rId4" Type="http://schemas.openxmlformats.org/officeDocument/2006/relationships/audio" Target="../media/audio20.wav"/><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1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Title 1"/>
          <p:cNvSpPr>
            <a:spLocks noGrp="1"/>
          </p:cNvSpPr>
          <p:nvPr>
            <p:ph type="title"/>
          </p:nvPr>
        </p:nvSpPr>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sz="4000" b="1" i="0" u="none" strike="noStrike" kern="1200" cap="all" spc="0" normalizeH="0" baseline="0" noProof="0" smtClean="0">
                <a:ln>
                  <a:noFill/>
                </a:ln>
                <a:solidFill>
                  <a:schemeClr val="tx1"/>
                </a:solidFill>
                <a:effectLst/>
                <a:uLnTx/>
                <a:uFillTx/>
                <a:latin typeface="+mj-lt"/>
                <a:ea typeface="+mj-ea"/>
                <a:cs typeface="+mj-cs"/>
              </a:rPr>
              <a:t>Introduction </a:t>
            </a:r>
            <a:endParaRPr kumimoji="0" sz="4000" b="1" i="0" u="none" strike="noStrike" kern="1200" cap="all" spc="0" normalizeH="0" baseline="0" noProof="0" smtClean="0">
              <a:ln>
                <a:noFill/>
              </a:ln>
              <a:solidFill>
                <a:schemeClr val="tx1"/>
              </a:solidFill>
              <a:effectLst/>
              <a:uLnTx/>
              <a:uFillTx/>
              <a:latin typeface="+mj-lt"/>
              <a:ea typeface="+mj-ea"/>
              <a:cs typeface="+mj-cs"/>
            </a:endParaRPr>
          </a:p>
        </p:txBody>
      </p:sp>
      <p:sp>
        <p:nvSpPr>
          <p:cNvPr id="9219" name="Text Placeholder 2"/>
          <p:cNvSpPr>
            <a:spLocks noGrp="1"/>
          </p:cNvSpPr>
          <p:nvPr>
            <p:ph type="body" idx="1"/>
          </p:nvPr>
        </p:nvSpPr>
        <p:spPr>
          <a:xfrm>
            <a:off x="722313" y="2906713"/>
            <a:ext cx="7772400" cy="1500188"/>
          </a:xfrm>
        </p:spPr>
        <p:txBody>
          <a:bodyPr vert="horz" wrap="square" lIns="91440" tIns="45720" rIns="91440" bIns="45720" numCol="1" rtlCol="0" anchor="b"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smtClean="0">
                <a:ln>
                  <a:noFill/>
                </a:ln>
                <a:solidFill>
                  <a:schemeClr val="bg1"/>
                </a:solidFill>
                <a:effectLst/>
                <a:uLnTx/>
                <a:uFillTx/>
                <a:latin typeface="+mn-lt"/>
                <a:ea typeface="+mn-ea"/>
                <a:cs typeface="+mn-cs"/>
              </a:rPr>
              <a:t>Process Economics</a:t>
            </a:r>
            <a:endParaRPr kumimoji="0" lang="en-US" sz="3200" b="0" i="0" u="none" strike="noStrike" kern="1200" cap="none" spc="0" normalizeH="0" baseline="0" noProof="0" smtClean="0">
              <a:ln>
                <a:noFill/>
              </a:ln>
              <a:solidFill>
                <a:schemeClr val="bg1"/>
              </a:solidFill>
              <a:effectLst/>
              <a:uLnTx/>
              <a:uFillTx/>
              <a:latin typeface="+mn-lt"/>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Tree>
  </p:cSld>
  <p:clrMapOvr>
    <a:masterClrMapping/>
  </p:clrMapOvr>
  <p:transition advTm="971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a:graphicFrameLocks noGrp="1"/>
          </p:cNvGraphicFramePr>
          <p:nvPr>
            <p:ph idx="1"/>
          </p:nvPr>
        </p:nvGraphicFramePr>
        <p:xfrm>
          <a:off x="838200" y="685800"/>
          <a:ext cx="7407275" cy="1682750"/>
        </p:xfrm>
        <a:graphic>
          <a:graphicData uri="http://schemas.openxmlformats.org/drawingml/2006/table">
            <a:tbl>
              <a:tblPr firstRow="1" firstCol="1" bandRow="1">
                <a:tableStyleId>{5C22544A-7EE6-4342-B048-85BDC9FD1C3A}</a:tableStyleId>
              </a:tblPr>
              <a:tblGrid>
                <a:gridCol w="3316529"/>
                <a:gridCol w="4090111"/>
              </a:tblGrid>
              <a:tr h="216906">
                <a:tc>
                  <a:txBody>
                    <a:bodyPr/>
                    <a:lstStyle/>
                    <a:p>
                      <a:pPr marL="64135" marR="0">
                        <a:lnSpc>
                          <a:spcPct val="115000"/>
                        </a:lnSpc>
                        <a:spcBef>
                          <a:spcPts val="100"/>
                        </a:spcBef>
                        <a:spcAft>
                          <a:spcPts val="0"/>
                        </a:spcAft>
                      </a:pPr>
                      <a:r>
                        <a:rPr lang="en-US" sz="3200" dirty="0">
                          <a:solidFill>
                            <a:srgbClr val="FF0000"/>
                          </a:solidFill>
                          <a:effectLst/>
                        </a:rPr>
                        <a:t>C</a:t>
                      </a:r>
                      <a:r>
                        <a:rPr lang="en-US" sz="3200" spc="10" dirty="0">
                          <a:solidFill>
                            <a:srgbClr val="FF0000"/>
                          </a:solidFill>
                          <a:effectLst/>
                        </a:rPr>
                        <a:t>o</a:t>
                      </a:r>
                      <a:r>
                        <a:rPr lang="en-US" sz="3200" dirty="0">
                          <a:solidFill>
                            <a:srgbClr val="FF0000"/>
                          </a:solidFill>
                          <a:effectLst/>
                        </a:rPr>
                        <a:t>u</a:t>
                      </a:r>
                      <a:r>
                        <a:rPr lang="en-US" sz="3200" spc="5" dirty="0">
                          <a:solidFill>
                            <a:srgbClr val="FF0000"/>
                          </a:solidFill>
                          <a:effectLst/>
                        </a:rPr>
                        <a:t>rs</a:t>
                      </a:r>
                      <a:r>
                        <a:rPr lang="en-US" sz="3200" dirty="0">
                          <a:solidFill>
                            <a:srgbClr val="FF0000"/>
                          </a:solidFill>
                          <a:effectLst/>
                        </a:rPr>
                        <a:t>e T</a:t>
                      </a:r>
                      <a:r>
                        <a:rPr lang="en-US" sz="3200" spc="20" dirty="0">
                          <a:solidFill>
                            <a:srgbClr val="FF0000"/>
                          </a:solidFill>
                          <a:effectLst/>
                        </a:rPr>
                        <a:t>i</a:t>
                      </a:r>
                      <a:r>
                        <a:rPr lang="en-US" sz="3200" spc="-5" dirty="0">
                          <a:solidFill>
                            <a:srgbClr val="FF0000"/>
                          </a:solidFill>
                          <a:effectLst/>
                        </a:rPr>
                        <a:t>t</a:t>
                      </a:r>
                      <a:r>
                        <a:rPr lang="en-US" sz="3200" spc="5" dirty="0">
                          <a:solidFill>
                            <a:srgbClr val="FF0000"/>
                          </a:solidFill>
                          <a:effectLst/>
                        </a:rPr>
                        <a:t>l</a:t>
                      </a:r>
                      <a:r>
                        <a:rPr lang="en-US" sz="3200" dirty="0">
                          <a:solidFill>
                            <a:srgbClr val="FF0000"/>
                          </a:solidFill>
                          <a:effectLst/>
                        </a:rPr>
                        <a:t>e</a:t>
                      </a:r>
                      <a:endParaRPr lang="en-US" sz="3200" dirty="0">
                        <a:solidFill>
                          <a:srgbClr val="FF0000"/>
                        </a:solidFill>
                        <a:effectLst/>
                        <a:latin typeface="Calibri" panose="020F0502020204030204"/>
                        <a:ea typeface="Calibri" panose="020F0502020204030204"/>
                        <a:cs typeface="Times New Roman" panose="02020603050405020304"/>
                      </a:endParaRPr>
                    </a:p>
                  </a:txBody>
                  <a:tcPr marL="67901" marR="67901" marT="0" marB="0"/>
                </a:tc>
                <a:tc>
                  <a:txBody>
                    <a:bodyPr/>
                    <a:lstStyle/>
                    <a:p>
                      <a:pPr marL="66040" marR="0">
                        <a:lnSpc>
                          <a:spcPct val="115000"/>
                        </a:lnSpc>
                        <a:spcBef>
                          <a:spcPts val="0"/>
                        </a:spcBef>
                        <a:spcAft>
                          <a:spcPts val="0"/>
                        </a:spcAft>
                      </a:pPr>
                      <a:r>
                        <a:rPr lang="en-US" altLang="en-US" sz="3200" dirty="0">
                          <a:solidFill>
                            <a:schemeClr val="tx1"/>
                          </a:solidFill>
                          <a:effectLst/>
                          <a:latin typeface="Calibri" panose="020F0502020204030204"/>
                          <a:ea typeface="Calibri" panose="020F0502020204030204"/>
                          <a:cs typeface="Times New Roman" panose="02020603050405020304"/>
                        </a:rPr>
                        <a:t>Fundamentals of Engineering Economics</a:t>
                      </a:r>
                      <a:r>
                        <a:rPr lang="en-US" altLang="en-US" sz="3200" dirty="0">
                          <a:solidFill>
                            <a:schemeClr val="bg1"/>
                          </a:solidFill>
                          <a:effectLst/>
                          <a:latin typeface="Calibri" panose="020F0502020204030204"/>
                          <a:ea typeface="Calibri" panose="020F0502020204030204"/>
                          <a:cs typeface="Times New Roman" panose="02020603050405020304"/>
                        </a:rPr>
                        <a:t> </a:t>
                      </a:r>
                      <a:endParaRPr lang="en-US" altLang="en-US" sz="3200" dirty="0">
                        <a:solidFill>
                          <a:schemeClr val="bg1"/>
                        </a:solidFill>
                        <a:effectLst/>
                        <a:latin typeface="Calibri" panose="020F0502020204030204"/>
                        <a:ea typeface="Calibri" panose="020F0502020204030204"/>
                        <a:cs typeface="Times New Roman" panose="02020603050405020304"/>
                      </a:endParaRPr>
                    </a:p>
                  </a:txBody>
                  <a:tcPr marL="67901" marR="67901" marT="0" marB="0"/>
                </a:tc>
              </a:tr>
              <a:tr h="216906">
                <a:tc>
                  <a:txBody>
                    <a:bodyPr/>
                    <a:lstStyle/>
                    <a:p>
                      <a:pPr marL="64135" marR="0">
                        <a:lnSpc>
                          <a:spcPct val="115000"/>
                        </a:lnSpc>
                        <a:spcBef>
                          <a:spcPts val="105"/>
                        </a:spcBef>
                        <a:spcAft>
                          <a:spcPts val="0"/>
                        </a:spcAft>
                      </a:pPr>
                      <a:r>
                        <a:rPr lang="en-US" sz="3200" dirty="0">
                          <a:solidFill>
                            <a:srgbClr val="FF0000"/>
                          </a:solidFill>
                          <a:effectLst/>
                        </a:rPr>
                        <a:t>C</a:t>
                      </a:r>
                      <a:r>
                        <a:rPr lang="en-US" sz="3200" spc="10" dirty="0">
                          <a:solidFill>
                            <a:srgbClr val="FF0000"/>
                          </a:solidFill>
                          <a:effectLst/>
                        </a:rPr>
                        <a:t>o</a:t>
                      </a:r>
                      <a:r>
                        <a:rPr lang="en-US" sz="3200" dirty="0">
                          <a:solidFill>
                            <a:srgbClr val="FF0000"/>
                          </a:solidFill>
                          <a:effectLst/>
                        </a:rPr>
                        <a:t>u</a:t>
                      </a:r>
                      <a:r>
                        <a:rPr lang="en-US" sz="3200" spc="5" dirty="0">
                          <a:solidFill>
                            <a:srgbClr val="FF0000"/>
                          </a:solidFill>
                          <a:effectLst/>
                        </a:rPr>
                        <a:t>rs</a:t>
                      </a:r>
                      <a:r>
                        <a:rPr lang="en-US" sz="3200" dirty="0">
                          <a:solidFill>
                            <a:srgbClr val="FF0000"/>
                          </a:solidFill>
                          <a:effectLst/>
                        </a:rPr>
                        <a:t>e </a:t>
                      </a:r>
                      <a:r>
                        <a:rPr lang="en-US" sz="3200" spc="15" dirty="0">
                          <a:solidFill>
                            <a:srgbClr val="FF0000"/>
                          </a:solidFill>
                          <a:effectLst/>
                        </a:rPr>
                        <a:t>C</a:t>
                      </a:r>
                      <a:r>
                        <a:rPr lang="en-US" sz="3200" dirty="0">
                          <a:solidFill>
                            <a:srgbClr val="FF0000"/>
                          </a:solidFill>
                          <a:effectLst/>
                        </a:rPr>
                        <a:t>o</a:t>
                      </a:r>
                      <a:r>
                        <a:rPr lang="en-US" sz="3200" spc="5" dirty="0">
                          <a:solidFill>
                            <a:srgbClr val="FF0000"/>
                          </a:solidFill>
                          <a:effectLst/>
                        </a:rPr>
                        <a:t>d</a:t>
                      </a:r>
                      <a:r>
                        <a:rPr lang="en-US" sz="3200" dirty="0">
                          <a:solidFill>
                            <a:srgbClr val="FF0000"/>
                          </a:solidFill>
                          <a:effectLst/>
                        </a:rPr>
                        <a:t>e</a:t>
                      </a:r>
                      <a:endParaRPr lang="en-US" sz="3200" dirty="0">
                        <a:solidFill>
                          <a:srgbClr val="FF0000"/>
                        </a:solidFill>
                        <a:effectLst/>
                        <a:latin typeface="Calibri" panose="020F0502020204030204"/>
                        <a:ea typeface="Calibri" panose="020F0502020204030204"/>
                        <a:cs typeface="Times New Roman" panose="02020603050405020304"/>
                      </a:endParaRPr>
                    </a:p>
                  </a:txBody>
                  <a:tcPr marL="67901" marR="67901" marT="0" marB="0"/>
                </a:tc>
                <a:tc>
                  <a:txBody>
                    <a:bodyPr/>
                    <a:lstStyle/>
                    <a:p>
                      <a:pPr marL="0" marR="0">
                        <a:lnSpc>
                          <a:spcPct val="115000"/>
                        </a:lnSpc>
                        <a:spcBef>
                          <a:spcPts val="0"/>
                        </a:spcBef>
                        <a:spcAft>
                          <a:spcPts val="0"/>
                        </a:spcAft>
                      </a:pPr>
                      <a:r>
                        <a:rPr lang="en-US" altLang="en-US" sz="3200" dirty="0">
                          <a:solidFill>
                            <a:schemeClr val="tx1"/>
                          </a:solidFill>
                          <a:effectLst/>
                          <a:latin typeface="Calibri" panose="020F0502020204030204"/>
                          <a:ea typeface="Calibri" panose="020F0502020204030204"/>
                          <a:cs typeface="Times New Roman" panose="02020603050405020304"/>
                          <a:sym typeface="+mn-ea"/>
                        </a:rPr>
                        <a:t>ECO 290</a:t>
                      </a:r>
                      <a:endParaRPr lang="en-US" altLang="en-US" sz="3200" dirty="0">
                        <a:solidFill>
                          <a:schemeClr val="tx1"/>
                        </a:solidFill>
                        <a:effectLst/>
                        <a:latin typeface="Calibri" panose="020F0502020204030204"/>
                        <a:ea typeface="Calibri" panose="020F0502020204030204"/>
                        <a:cs typeface="Times New Roman" panose="02020603050405020304"/>
                        <a:sym typeface="+mn-ea"/>
                      </a:endParaRPr>
                    </a:p>
                  </a:txBody>
                  <a:tcPr marL="67901" marR="67901" marT="0" marB="0"/>
                </a:tc>
              </a:tr>
              <a:tr h="216906">
                <a:tc>
                  <a:txBody>
                    <a:bodyPr/>
                    <a:lstStyle/>
                    <a:p>
                      <a:pPr marL="64135" marR="0">
                        <a:lnSpc>
                          <a:spcPct val="115000"/>
                        </a:lnSpc>
                        <a:spcBef>
                          <a:spcPts val="90"/>
                        </a:spcBef>
                        <a:spcAft>
                          <a:spcPts val="0"/>
                        </a:spcAft>
                      </a:pPr>
                      <a:r>
                        <a:rPr lang="en-US" sz="3200" dirty="0">
                          <a:solidFill>
                            <a:srgbClr val="FF0000"/>
                          </a:solidFill>
                          <a:effectLst/>
                        </a:rPr>
                        <a:t>C</a:t>
                      </a:r>
                      <a:r>
                        <a:rPr lang="en-US" sz="3200" spc="10" dirty="0">
                          <a:solidFill>
                            <a:srgbClr val="FF0000"/>
                          </a:solidFill>
                          <a:effectLst/>
                        </a:rPr>
                        <a:t>r</a:t>
                      </a:r>
                      <a:r>
                        <a:rPr lang="en-US" sz="3200" dirty="0">
                          <a:solidFill>
                            <a:srgbClr val="FF0000"/>
                          </a:solidFill>
                          <a:effectLst/>
                        </a:rPr>
                        <a:t>e</a:t>
                      </a:r>
                      <a:r>
                        <a:rPr lang="en-US" sz="3200" spc="5" dirty="0">
                          <a:solidFill>
                            <a:srgbClr val="FF0000"/>
                          </a:solidFill>
                          <a:effectLst/>
                        </a:rPr>
                        <a:t>di</a:t>
                      </a:r>
                      <a:r>
                        <a:rPr lang="en-US" sz="3200" dirty="0">
                          <a:solidFill>
                            <a:srgbClr val="FF0000"/>
                          </a:solidFill>
                          <a:effectLst/>
                        </a:rPr>
                        <a:t>t </a:t>
                      </a:r>
                      <a:r>
                        <a:rPr lang="en-US" sz="3200" spc="5" dirty="0">
                          <a:solidFill>
                            <a:srgbClr val="FF0000"/>
                          </a:solidFill>
                          <a:effectLst/>
                        </a:rPr>
                        <a:t>H</a:t>
                      </a:r>
                      <a:r>
                        <a:rPr lang="en-US" sz="3200" spc="15" dirty="0">
                          <a:solidFill>
                            <a:srgbClr val="FF0000"/>
                          </a:solidFill>
                          <a:effectLst/>
                        </a:rPr>
                        <a:t>o</a:t>
                      </a:r>
                      <a:r>
                        <a:rPr lang="en-US" sz="3200" spc="10" dirty="0">
                          <a:solidFill>
                            <a:srgbClr val="FF0000"/>
                          </a:solidFill>
                          <a:effectLst/>
                        </a:rPr>
                        <a:t>ur</a:t>
                      </a:r>
                      <a:r>
                        <a:rPr lang="en-US" sz="3200" dirty="0">
                          <a:solidFill>
                            <a:srgbClr val="FF0000"/>
                          </a:solidFill>
                          <a:effectLst/>
                        </a:rPr>
                        <a:t>s</a:t>
                      </a:r>
                      <a:endParaRPr lang="en-US" sz="3200" dirty="0">
                        <a:solidFill>
                          <a:srgbClr val="FF0000"/>
                        </a:solidFill>
                        <a:effectLst/>
                        <a:latin typeface="Calibri" panose="020F0502020204030204"/>
                        <a:ea typeface="Calibri" panose="020F0502020204030204"/>
                        <a:cs typeface="Times New Roman" panose="02020603050405020304"/>
                      </a:endParaRPr>
                    </a:p>
                  </a:txBody>
                  <a:tcPr marL="67901" marR="67901" marT="0" marB="0"/>
                </a:tc>
                <a:tc>
                  <a:txBody>
                    <a:bodyPr/>
                    <a:lstStyle/>
                    <a:p>
                      <a:pPr marL="66040" marR="0">
                        <a:lnSpc>
                          <a:spcPct val="115000"/>
                        </a:lnSpc>
                        <a:spcBef>
                          <a:spcPts val="0"/>
                        </a:spcBef>
                        <a:spcAft>
                          <a:spcPts val="0"/>
                        </a:spcAft>
                      </a:pPr>
                      <a:r>
                        <a:rPr lang="en-US" sz="3200" dirty="0">
                          <a:effectLst/>
                        </a:rPr>
                        <a:t>3(3,0)</a:t>
                      </a:r>
                      <a:endParaRPr lang="en-US" sz="3200" dirty="0">
                        <a:effectLst/>
                        <a:latin typeface="Calibri" panose="020F0502020204030204"/>
                        <a:ea typeface="Calibri" panose="020F0502020204030204"/>
                        <a:cs typeface="Times New Roman" panose="02020603050405020304"/>
                      </a:endParaRPr>
                    </a:p>
                  </a:txBody>
                  <a:tcPr marL="67901" marR="67901" marT="0" marB="0"/>
                </a:tc>
              </a:tr>
            </a:tbl>
          </a:graphicData>
        </a:graphic>
      </p:graphicFrame>
    </p:spTree>
  </p:cSld>
  <p:clrMapOvr>
    <a:masterClrMapping/>
  </p:clrMapOvr>
  <p:transition advTm="13798"/>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title"/>
          </p:nvPr>
        </p:nvSpPr>
        <p:spPr/>
        <p:txBody>
          <a:bodyPr vert="horz" wrap="square" lIns="91440" tIns="45720" rIns="91440" bIns="45720" anchor="ctr" anchorCtr="0"/>
          <a:p>
            <a:pPr eaLnBrk="1" hangingPunct="1"/>
            <a:endParaRPr dirty="0"/>
          </a:p>
        </p:txBody>
      </p:sp>
      <p:graphicFrame>
        <p:nvGraphicFramePr>
          <p:cNvPr id="7" name="Content Placeholder 6"/>
          <p:cNvGraphicFramePr>
            <a:graphicFrameLocks noGrp="1"/>
          </p:cNvGraphicFramePr>
          <p:nvPr>
            <p:ph idx="1"/>
          </p:nvPr>
        </p:nvGraphicFramePr>
        <p:xfrm>
          <a:off x="0" y="95250"/>
          <a:ext cx="9144000" cy="6762750"/>
        </p:xfrm>
        <a:graphic>
          <a:graphicData uri="http://schemas.openxmlformats.org/drawingml/2006/table">
            <a:tbl>
              <a:tblPr firstRow="1" bandRow="1">
                <a:tableStyleId>{5C22544A-7EE6-4342-B048-85BDC9FD1C3A}</a:tableStyleId>
              </a:tblPr>
              <a:tblGrid>
                <a:gridCol w="9144000"/>
              </a:tblGrid>
              <a:tr h="457200">
                <a:tc>
                  <a:txBody>
                    <a:bodyPr/>
                    <a:lstStyle/>
                    <a:p>
                      <a:pPr marL="0" marR="0" algn="ctr">
                        <a:lnSpc>
                          <a:spcPct val="115000"/>
                        </a:lnSpc>
                        <a:spcBef>
                          <a:spcPts val="35"/>
                        </a:spcBef>
                        <a:spcAft>
                          <a:spcPts val="0"/>
                        </a:spcAft>
                      </a:pPr>
                      <a:r>
                        <a:rPr lang="en-US" sz="1800" b="1" dirty="0">
                          <a:solidFill>
                            <a:srgbClr val="FF0000"/>
                          </a:solidFill>
                          <a:effectLst/>
                          <a:latin typeface="Arial" panose="020B0604020202020204" pitchFamily="34" charset="0"/>
                          <a:ea typeface="Calibri" panose="020F0502020204030204"/>
                          <a:cs typeface="Arial" panose="020B0604020202020204" pitchFamily="34" charset="0"/>
                        </a:rPr>
                        <a:t>Topic</a:t>
                      </a:r>
                      <a:endParaRPr lang="en-US" sz="1800" dirty="0">
                        <a:solidFill>
                          <a:srgbClr val="FF0000"/>
                        </a:solidFill>
                        <a:effectLst/>
                        <a:latin typeface="Arial" panose="020B0604020202020204" pitchFamily="34" charset="0"/>
                        <a:ea typeface="Calibri" panose="020F0502020204030204"/>
                        <a:cs typeface="Arial" panose="020B0604020202020204" pitchFamily="34" charset="0"/>
                      </a:endParaRPr>
                    </a:p>
                  </a:txBody>
                  <a:tcPr marL="68580" marR="68580" marT="0" marB="0" anchor="ctr"/>
                </a:tc>
              </a:tr>
              <a:tr h="457200">
                <a:tc>
                  <a:txBody>
                    <a:bodyPr/>
                    <a:lstStyle/>
                    <a:p>
                      <a:pPr marL="0" marR="0" algn="ctr" rtl="0" eaLnBrk="1" latinLnBrk="0" hangingPunct="1">
                        <a:lnSpc>
                          <a:spcPct val="115000"/>
                        </a:lnSpc>
                        <a:spcBef>
                          <a:spcPts val="0"/>
                        </a:spcBef>
                        <a:spcAft>
                          <a:spcPts val="0"/>
                        </a:spcAft>
                      </a:pPr>
                      <a:r>
                        <a:rPr kumimoji="0" lang="en-US" sz="1800" kern="1200" dirty="0" smtClean="0">
                          <a:solidFill>
                            <a:schemeClr val="dk1"/>
                          </a:solidFill>
                          <a:effectLst/>
                          <a:latin typeface="+mn-lt"/>
                          <a:ea typeface="Calibri" panose="020F0502020204030204"/>
                          <a:cs typeface="Arial" panose="020B0604020202020204" pitchFamily="34" charset="0"/>
                        </a:rPr>
                        <a:t>Introduction</a:t>
                      </a:r>
                      <a:endParaRPr kumimoji="0" lang="en-US" sz="1800" kern="1200" dirty="0">
                        <a:solidFill>
                          <a:schemeClr val="dk1"/>
                        </a:solidFill>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indent="0" algn="ctr" defTabSz="914400" rtl="0" eaLnBrk="1" fontAlgn="auto" latinLnBrk="0" hangingPunct="1">
                        <a:lnSpc>
                          <a:spcPct val="115000"/>
                        </a:lnSpc>
                        <a:spcBef>
                          <a:spcPts val="0"/>
                        </a:spcBef>
                        <a:spcAft>
                          <a:spcPts val="0"/>
                        </a:spcAft>
                        <a:buClrTx/>
                        <a:buSzTx/>
                        <a:buFontTx/>
                        <a:buNone/>
                        <a:defRPr/>
                      </a:pPr>
                      <a:r>
                        <a:rPr lang="en-US" sz="1800" dirty="0" smtClean="0">
                          <a:effectLst/>
                          <a:latin typeface="+mn-lt"/>
                          <a:ea typeface="Calibri" panose="020F0502020204030204"/>
                          <a:cs typeface="Arial" panose="020B0604020202020204" pitchFamily="34" charset="0"/>
                        </a:rPr>
                        <a:t>Elementary Economic Analysis</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lang="en-US" sz="1800" dirty="0" smtClean="0">
                          <a:effectLst/>
                          <a:latin typeface="+mn-lt"/>
                          <a:ea typeface="Calibri" panose="020F0502020204030204"/>
                          <a:cs typeface="Arial" panose="020B0604020202020204" pitchFamily="34" charset="0"/>
                        </a:rPr>
                        <a:t>Interest </a:t>
                      </a:r>
                      <a:r>
                        <a:rPr lang="en-US" sz="1800" dirty="0">
                          <a:effectLst/>
                          <a:latin typeface="+mn-lt"/>
                          <a:ea typeface="Calibri" panose="020F0502020204030204"/>
                          <a:cs typeface="Arial" panose="020B0604020202020204" pitchFamily="34" charset="0"/>
                        </a:rPr>
                        <a:t>Formulas and their </a:t>
                      </a:r>
                      <a:r>
                        <a:rPr lang="en-US" sz="1800" dirty="0" smtClean="0">
                          <a:effectLst/>
                          <a:latin typeface="+mn-lt"/>
                          <a:ea typeface="Calibri" panose="020F0502020204030204"/>
                          <a:cs typeface="Arial" panose="020B0604020202020204" pitchFamily="34" charset="0"/>
                        </a:rPr>
                        <a:t>Application</a:t>
                      </a:r>
                      <a:r>
                        <a:rPr lang="en-US" sz="1800" i="1" dirty="0">
                          <a:effectLst/>
                          <a:latin typeface="+mn-lt"/>
                          <a:ea typeface="Calibri" panose="020F0502020204030204"/>
                          <a:cs typeface="Arial" panose="020B0604020202020204" pitchFamily="34" charset="0"/>
                        </a:rPr>
                        <a:t> </a:t>
                      </a:r>
                      <a:endParaRPr lang="en-US" sz="1800" dirty="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lang="en-US" sz="1800" dirty="0" smtClean="0">
                          <a:effectLst/>
                          <a:latin typeface="+mn-lt"/>
                          <a:ea typeface="Calibri" panose="020F0502020204030204"/>
                          <a:cs typeface="Arial" panose="020B0604020202020204" pitchFamily="34" charset="0"/>
                        </a:rPr>
                        <a:t>Present worth method of comparison </a:t>
                      </a:r>
                      <a:endParaRPr lang="en-US" sz="1800" dirty="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lang="en-US" sz="1800" dirty="0" smtClean="0">
                          <a:effectLst/>
                          <a:latin typeface="+mn-lt"/>
                          <a:ea typeface="Calibri" panose="020F0502020204030204"/>
                          <a:cs typeface="Arial" panose="020B0604020202020204" pitchFamily="34" charset="0"/>
                        </a:rPr>
                        <a:t>Future worth method of comparison</a:t>
                      </a:r>
                      <a:endParaRPr lang="en-US" sz="1800" dirty="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kumimoji="0" lang="en-US" sz="1800" kern="1200" dirty="0" smtClean="0">
                          <a:solidFill>
                            <a:schemeClr val="dk1"/>
                          </a:solidFill>
                          <a:latin typeface="+mn-lt"/>
                          <a:ea typeface="+mn-ea"/>
                          <a:cs typeface="+mn-cs"/>
                        </a:rPr>
                        <a:t>Annual Equivalent Method</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lang="en-US" sz="1800" dirty="0" smtClean="0">
                          <a:effectLst/>
                          <a:latin typeface="+mn-lt"/>
                          <a:ea typeface="Calibri" panose="020F0502020204030204"/>
                          <a:cs typeface="Arial" panose="020B0604020202020204" pitchFamily="34" charset="0"/>
                        </a:rPr>
                        <a:t>Demand and supply analysis</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50000"/>
                        </a:lnSpc>
                        <a:spcBef>
                          <a:spcPts val="0"/>
                        </a:spcBef>
                        <a:spcAft>
                          <a:spcPts val="0"/>
                        </a:spcAft>
                      </a:pPr>
                      <a:r>
                        <a:rPr lang="en-US" sz="1800" dirty="0" smtClean="0">
                          <a:effectLst/>
                          <a:latin typeface="+mn-lt"/>
                          <a:ea typeface="Calibri" panose="020F0502020204030204"/>
                          <a:cs typeface="Arial" panose="020B0604020202020204" pitchFamily="34" charset="0"/>
                        </a:rPr>
                        <a:t>Economic efficiency </a:t>
                      </a:r>
                      <a:r>
                        <a:rPr lang="en-US" sz="1800" dirty="0">
                          <a:effectLst/>
                          <a:latin typeface="+mn-lt"/>
                          <a:ea typeface="Calibri" panose="020F0502020204030204"/>
                          <a:cs typeface="Arial" panose="020B0604020202020204" pitchFamily="34" charset="0"/>
                        </a:rPr>
                        <a:t>analysis</a:t>
                      </a:r>
                      <a:endParaRPr lang="en-US" sz="1800" dirty="0">
                        <a:effectLst/>
                        <a:latin typeface="+mn-lt"/>
                        <a:ea typeface="Calibri" panose="020F0502020204030204"/>
                        <a:cs typeface="Arial" panose="020B0604020202020204" pitchFamily="34" charset="0"/>
                      </a:endParaRPr>
                    </a:p>
                    <a:p>
                      <a:pPr marL="0" marR="0" algn="ctr">
                        <a:spcBef>
                          <a:spcPts val="0"/>
                        </a:spcBef>
                        <a:spcAft>
                          <a:spcPts val="0"/>
                        </a:spcAft>
                      </a:pPr>
                      <a:r>
                        <a:rPr lang="en-GB" sz="1800" i="1" dirty="0">
                          <a:solidFill>
                            <a:srgbClr val="000000"/>
                          </a:solidFill>
                          <a:effectLst/>
                          <a:latin typeface="+mn-lt"/>
                          <a:ea typeface="Calibri" panose="020F0502020204030204"/>
                          <a:cs typeface="Arial" panose="020B0604020202020204" pitchFamily="34" charset="0"/>
                        </a:rPr>
                        <a:t> </a:t>
                      </a:r>
                      <a:endParaRPr lang="en-US" sz="1800" dirty="0">
                        <a:solidFill>
                          <a:srgbClr val="000000"/>
                        </a:solidFill>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800" dirty="0" smtClean="0">
                          <a:effectLst/>
                          <a:latin typeface="+mn-lt"/>
                          <a:ea typeface="Calibri" panose="020F0502020204030204"/>
                          <a:cs typeface="Arial" panose="020B0604020202020204" pitchFamily="34" charset="0"/>
                        </a:rPr>
                        <a:t>Rate of Return Method</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800" dirty="0" smtClean="0">
                          <a:effectLst/>
                          <a:latin typeface="+mn-lt"/>
                          <a:ea typeface="Calibri" panose="020F0502020204030204"/>
                          <a:cs typeface="Arial" panose="020B0604020202020204" pitchFamily="34" charset="0"/>
                        </a:rPr>
                        <a:t>Replacement and Maintenance</a:t>
                      </a:r>
                      <a:r>
                        <a:rPr lang="en-US" sz="1800" baseline="0" dirty="0" smtClean="0">
                          <a:effectLst/>
                          <a:latin typeface="+mn-lt"/>
                          <a:ea typeface="Calibri" panose="020F0502020204030204"/>
                          <a:cs typeface="Arial" panose="020B0604020202020204" pitchFamily="34" charset="0"/>
                        </a:rPr>
                        <a:t> </a:t>
                      </a:r>
                      <a:r>
                        <a:rPr lang="en-US" sz="1800" dirty="0" smtClean="0">
                          <a:effectLst/>
                          <a:latin typeface="+mn-lt"/>
                          <a:ea typeface="Calibri" panose="020F0502020204030204"/>
                          <a:cs typeface="Arial" panose="020B0604020202020204" pitchFamily="34" charset="0"/>
                        </a:rPr>
                        <a:t>Analysis</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800" dirty="0" smtClean="0">
                          <a:effectLst/>
                          <a:latin typeface="+mn-lt"/>
                          <a:ea typeface="Calibri" panose="020F0502020204030204"/>
                          <a:cs typeface="Arial" panose="020B0604020202020204" pitchFamily="34" charset="0"/>
                        </a:rPr>
                        <a:t>Effects of inflation</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800" dirty="0" smtClean="0">
                          <a:effectLst/>
                          <a:latin typeface="+mn-lt"/>
                          <a:ea typeface="Calibri" panose="020F0502020204030204"/>
                          <a:cs typeface="Arial" panose="020B0604020202020204" pitchFamily="34" charset="0"/>
                        </a:rPr>
                        <a:t>Depreciation</a:t>
                      </a:r>
                      <a:endParaRPr lang="en-US" sz="1800" dirty="0" smtClean="0">
                        <a:effectLst/>
                        <a:latin typeface="+mn-lt"/>
                        <a:ea typeface="Calibri" panose="020F0502020204030204"/>
                        <a:cs typeface="Arial" panose="020B0604020202020204" pitchFamily="34" charset="0"/>
                      </a:endParaRPr>
                    </a:p>
                  </a:txBody>
                  <a:tcPr marL="68580" marR="68580" marT="0" marB="0" anchor="ctr"/>
                </a:tc>
              </a:tr>
              <a:tr h="457200">
                <a:tc>
                  <a:txBody>
                    <a:bodyPr/>
                    <a:lstStyle/>
                    <a:p>
                      <a:pPr marL="0" marR="0" algn="ctr">
                        <a:lnSpc>
                          <a:spcPct val="115000"/>
                        </a:lnSpc>
                        <a:spcBef>
                          <a:spcPts val="0"/>
                        </a:spcBef>
                        <a:spcAft>
                          <a:spcPts val="0"/>
                        </a:spcAft>
                      </a:pPr>
                      <a:r>
                        <a:rPr lang="en-US" sz="1800" dirty="0" smtClean="0">
                          <a:effectLst/>
                          <a:latin typeface="+mn-lt"/>
                          <a:ea typeface="Calibri" panose="020F0502020204030204"/>
                          <a:cs typeface="Arial" panose="020B0604020202020204" pitchFamily="34" charset="0"/>
                        </a:rPr>
                        <a:t>Inventory control</a:t>
                      </a:r>
                      <a:endParaRPr lang="en-US" sz="1800" dirty="0">
                        <a:effectLst/>
                        <a:latin typeface="+mn-lt"/>
                        <a:ea typeface="Calibri" panose="020F0502020204030204"/>
                        <a:cs typeface="Arial" panose="020B0604020202020204" pitchFamily="34" charset="0"/>
                      </a:endParaRPr>
                    </a:p>
                    <a:p>
                      <a:pPr marL="0" marR="0" algn="ctr">
                        <a:spcBef>
                          <a:spcPts val="0"/>
                        </a:spcBef>
                        <a:spcAft>
                          <a:spcPts val="0"/>
                        </a:spcAft>
                      </a:pPr>
                      <a:r>
                        <a:rPr lang="en-GB" sz="1800" i="1" dirty="0">
                          <a:solidFill>
                            <a:srgbClr val="000000"/>
                          </a:solidFill>
                          <a:effectLst/>
                          <a:latin typeface="+mn-lt"/>
                          <a:ea typeface="Calibri" panose="020F0502020204030204"/>
                          <a:cs typeface="Arial" panose="020B0604020202020204" pitchFamily="34" charset="0"/>
                        </a:rPr>
                        <a:t> </a:t>
                      </a:r>
                      <a:endParaRPr lang="en-US" sz="1800" dirty="0">
                        <a:solidFill>
                          <a:srgbClr val="000000"/>
                        </a:solidFill>
                        <a:effectLst/>
                        <a:latin typeface="+mn-lt"/>
                        <a:ea typeface="Calibri" panose="020F0502020204030204"/>
                        <a:cs typeface="Arial" panose="020B0604020202020204" pitchFamily="34" charset="0"/>
                      </a:endParaRPr>
                    </a:p>
                  </a:txBody>
                  <a:tcPr marL="68580" marR="68580" marT="0" marB="0" anchor="ctr"/>
                </a:tc>
              </a:tr>
            </a:tbl>
          </a:graphicData>
        </a:graphic>
      </p:graphicFrame>
    </p:spTree>
  </p:cSld>
  <p:clrMapOvr>
    <a:masterClrMapping/>
  </p:clrMapOvr>
  <p:transition advTm="56018"/>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p:txBody>
          <a:bodyPr vert="horz" wrap="square" lIns="91440" tIns="45720" rIns="91440" bIns="45720" anchor="ctr" anchorCtr="0"/>
          <a:p>
            <a:pPr eaLnBrk="1" hangingPunct="1"/>
            <a:r>
              <a:rPr dirty="0">
                <a:solidFill>
                  <a:srgbClr val="FF0000"/>
                </a:solidFill>
              </a:rPr>
              <a:t>Reference Books </a:t>
            </a:r>
            <a:endParaRPr dirty="0">
              <a:solidFill>
                <a:srgbClr val="FF0000"/>
              </a:solidFill>
            </a:endParaRPr>
          </a:p>
        </p:txBody>
      </p:sp>
      <p:sp>
        <p:nvSpPr>
          <p:cNvPr id="23555" name="Content Placeholder 2"/>
          <p:cNvSpPr>
            <a:spLocks noGrp="1"/>
          </p:cNvSpPr>
          <p:nvPr>
            <p:ph idx="1"/>
          </p:nvPr>
        </p:nvSpPr>
        <p:spPr/>
        <p:txBody>
          <a:bodyPr vert="horz" wrap="square" lIns="91440" tIns="45720" rIns="91440" bIns="45720" numCol="1" rtlCol="0" anchor="t" anchorCtr="0" compatLnSpc="1">
            <a:normAutofit/>
          </a:bodyPr>
          <a:lstStyle/>
          <a:p>
            <a:pPr marL="650875" marR="0" lvl="0" indent="-514350" algn="l" defTabSz="914400" rtl="0" eaLnBrk="1" fontAlgn="auto" latinLnBrk="0" hangingPunct="1">
              <a:lnSpc>
                <a:spcPct val="100000"/>
              </a:lnSpc>
              <a:spcBef>
                <a:spcPct val="20000"/>
              </a:spcBef>
              <a:spcAft>
                <a:spcPts val="0"/>
              </a:spcAft>
              <a:buClrTx/>
              <a:buSzTx/>
              <a:buFont typeface="Lucida Sans" panose="020B0602030504020204" pitchFamily="34" charset="0"/>
              <a:buAutoNum type="arabicPeriod"/>
              <a:defRPr/>
            </a:pPr>
            <a:r>
              <a:rPr kumimoji="0" lang="en-US" sz="3200" b="0" i="0" u="none" strike="noStrike" kern="1200" cap="none" spc="0" normalizeH="0" baseline="0" noProof="0" dirty="0" smtClean="0">
                <a:ln>
                  <a:noFill/>
                </a:ln>
                <a:solidFill>
                  <a:schemeClr val="tx1">
                    <a:lumMod val="85000"/>
                  </a:schemeClr>
                </a:solidFill>
                <a:effectLst/>
                <a:uLnTx/>
                <a:uFillTx/>
                <a:latin typeface="+mn-lt"/>
                <a:ea typeface="+mn-ea"/>
                <a:cs typeface="+mn-cs"/>
              </a:rPr>
              <a:t>Engineering Economy 4th edition, by R. </a:t>
            </a:r>
            <a:r>
              <a:rPr kumimoji="0" lang="en-US" sz="3200" b="0" i="0" u="none" strike="noStrike" kern="1200" cap="none" spc="0" normalizeH="0" baseline="0" noProof="0" dirty="0" err="1" smtClean="0">
                <a:ln>
                  <a:noFill/>
                </a:ln>
                <a:solidFill>
                  <a:schemeClr val="tx1">
                    <a:lumMod val="85000"/>
                  </a:schemeClr>
                </a:solidFill>
                <a:effectLst/>
                <a:uLnTx/>
                <a:uFillTx/>
                <a:latin typeface="+mn-lt"/>
                <a:ea typeface="+mn-ea"/>
                <a:cs typeface="+mn-cs"/>
              </a:rPr>
              <a:t>Panneerselvam</a:t>
            </a:r>
            <a:endParaRPr kumimoji="0" lang="en-US" sz="3200" b="0" i="0" u="none" strike="noStrike" kern="1200" cap="none" spc="0" normalizeH="0" baseline="0" noProof="0" dirty="0" smtClean="0">
              <a:ln>
                <a:noFill/>
              </a:ln>
              <a:solidFill>
                <a:schemeClr val="tx1">
                  <a:lumMod val="85000"/>
                </a:schemeClr>
              </a:solidFill>
              <a:effectLst/>
              <a:uLnTx/>
              <a:uFillTx/>
              <a:latin typeface="+mn-lt"/>
              <a:ea typeface="+mn-ea"/>
              <a:cs typeface="+mn-cs"/>
            </a:endParaRPr>
          </a:p>
          <a:p>
            <a:pPr marL="650875" marR="0" lvl="0" indent="-514350" algn="l" defTabSz="914400" rtl="0" eaLnBrk="1" fontAlgn="auto" latinLnBrk="0" hangingPunct="1">
              <a:lnSpc>
                <a:spcPct val="100000"/>
              </a:lnSpc>
              <a:spcBef>
                <a:spcPct val="20000"/>
              </a:spcBef>
              <a:spcAft>
                <a:spcPts val="0"/>
              </a:spcAft>
              <a:buClrTx/>
              <a:buSzTx/>
              <a:buFont typeface="Lucida Sans" panose="020B0602030504020204" pitchFamily="34" charset="0"/>
              <a:buAutoNum type="arabicPeriod"/>
              <a:defRPr/>
            </a:pPr>
            <a:r>
              <a:rPr kumimoji="0" lang="en-US" sz="3200" b="0" i="0" u="none" strike="noStrike" kern="1200" cap="none" spc="0" normalizeH="0" baseline="0" noProof="0" dirty="0" smtClean="0">
                <a:ln>
                  <a:noFill/>
                </a:ln>
                <a:solidFill>
                  <a:schemeClr val="tx1">
                    <a:lumMod val="85000"/>
                  </a:schemeClr>
                </a:solidFill>
                <a:effectLst/>
                <a:uLnTx/>
                <a:uFillTx/>
                <a:latin typeface="+mn-lt"/>
                <a:ea typeface="+mn-ea"/>
                <a:cs typeface="+mn-cs"/>
              </a:rPr>
              <a:t>Principles of Microeconomics 4th edition, by N. G. </a:t>
            </a:r>
            <a:r>
              <a:rPr kumimoji="0" lang="en-US" sz="3200" b="0" i="0" u="none" strike="noStrike" kern="1200" cap="none" spc="0" normalizeH="0" baseline="0" noProof="0" dirty="0" err="1" smtClean="0">
                <a:ln>
                  <a:noFill/>
                </a:ln>
                <a:solidFill>
                  <a:schemeClr val="tx1">
                    <a:lumMod val="85000"/>
                  </a:schemeClr>
                </a:solidFill>
                <a:effectLst/>
                <a:uLnTx/>
                <a:uFillTx/>
                <a:latin typeface="+mn-lt"/>
                <a:ea typeface="+mn-ea"/>
                <a:cs typeface="+mn-cs"/>
              </a:rPr>
              <a:t>Mankiw</a:t>
            </a:r>
            <a:endParaRPr kumimoji="0" lang="en-US" sz="3200" b="0" i="0" u="none" strike="noStrike" kern="1200" cap="none" spc="0" normalizeH="0" baseline="0" noProof="0" dirty="0" smtClean="0">
              <a:ln>
                <a:noFill/>
              </a:ln>
              <a:solidFill>
                <a:schemeClr val="tx1">
                  <a:lumMod val="85000"/>
                </a:schemeClr>
              </a:solidFill>
              <a:effectLst/>
              <a:uLnTx/>
              <a:uFillTx/>
              <a:latin typeface="+mn-lt"/>
              <a:ea typeface="+mn-ea"/>
              <a:cs typeface="+mn-cs"/>
            </a:endParaRPr>
          </a:p>
        </p:txBody>
      </p:sp>
    </p:spTree>
  </p:cSld>
  <p:clrMapOvr>
    <a:masterClrMapping/>
  </p:clrMapOvr>
  <p:transition advTm="19748"/>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1440" tIns="45720" rIns="91440" bIns="45720" anchor="ctr" anchorCtr="0"/>
          <a:p>
            <a:pPr eaLnBrk="1" hangingPunct="1"/>
            <a:r>
              <a:rPr dirty="0"/>
              <a:t>WHAT IS ECONOMICS?</a:t>
            </a:r>
            <a:endParaRPr dirty="0"/>
          </a:p>
        </p:txBody>
      </p:sp>
      <p:sp>
        <p:nvSpPr>
          <p:cNvPr id="8195" name="Rectangle 3"/>
          <p:cNvSpPr>
            <a:spLocks noGrp="1"/>
          </p:cNvSpPr>
          <p:nvPr>
            <p:ph idx="1"/>
          </p:nvPr>
        </p:nvSpPr>
        <p:spPr>
          <a:xfrm>
            <a:off x="457200" y="1600200"/>
            <a:ext cx="8229600" cy="2819400"/>
          </a:xfrm>
        </p:spPr>
        <p:txBody>
          <a:bodyPr vert="horz" wrap="square" lIns="91440" tIns="45720" rIns="91440" bIns="45720" anchor="t" anchorCtr="0"/>
          <a:p>
            <a:pPr eaLnBrk="1" hangingPunct="1"/>
            <a:r>
              <a:rPr dirty="0"/>
              <a:t>Economics – the study of how individuals and societies make decisions about ways to use scarce resources to fulfill wants and needs.</a:t>
            </a:r>
            <a:endParaRPr dirty="0"/>
          </a:p>
        </p:txBody>
      </p:sp>
    </p:spTree>
  </p:cSld>
  <p:clrMapOvr>
    <a:masterClrMapping/>
  </p:clrMapOvr>
  <p:transition advTm="50058"/>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p:txBody>
          <a:bodyPr vert="horz" wrap="square" lIns="91440" tIns="45720" rIns="91440" bIns="45720" anchor="ctr" anchorCtr="0"/>
          <a:p>
            <a:pPr eaLnBrk="1" hangingPunct="1"/>
            <a:r>
              <a:rPr sz="4000" dirty="0"/>
              <a:t>Needs and Wants</a:t>
            </a:r>
            <a:endParaRPr sz="4000" dirty="0"/>
          </a:p>
        </p:txBody>
      </p:sp>
      <p:sp>
        <p:nvSpPr>
          <p:cNvPr id="9219" name="Rectangle 3"/>
          <p:cNvSpPr>
            <a:spLocks noGrp="1"/>
          </p:cNvSpPr>
          <p:nvPr>
            <p:ph idx="1"/>
          </p:nvPr>
        </p:nvSpPr>
        <p:spPr/>
        <p:txBody>
          <a:bodyPr vert="horz" wrap="square" lIns="91440" tIns="45720" rIns="91440" bIns="45720" anchor="t" anchorCtr="0"/>
          <a:p>
            <a:pPr eaLnBrk="1" hangingPunct="1"/>
            <a:r>
              <a:rPr dirty="0"/>
              <a:t>NEEDS – “stuff” we must have to survive, generally:  food, shelter, clothing </a:t>
            </a:r>
            <a:endParaRPr dirty="0"/>
          </a:p>
          <a:p>
            <a:pPr eaLnBrk="1" hangingPunct="1">
              <a:buFont typeface="Wingdings" panose="05000000000000000000" pitchFamily="2" charset="2"/>
              <a:buNone/>
            </a:pPr>
            <a:endParaRPr dirty="0"/>
          </a:p>
          <a:p>
            <a:pPr eaLnBrk="1" hangingPunct="1"/>
            <a:endParaRPr dirty="0"/>
          </a:p>
          <a:p>
            <a:pPr eaLnBrk="1" hangingPunct="1"/>
            <a:r>
              <a:rPr dirty="0"/>
              <a:t>WANTS – “stuff” we would really like to have (Fancy food, shelter, clothing, big screen TVs, jewelry, conveniences . . . Also known as LUXURIES</a:t>
            </a:r>
            <a:endParaRPr dirty="0"/>
          </a:p>
        </p:txBody>
      </p:sp>
    </p:spTree>
  </p:cSld>
  <p:clrMapOvr>
    <a:masterClrMapping/>
  </p:clrMapOvr>
  <p:transition advTm="76328"/>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1440" tIns="45720" rIns="91440" bIns="45720" anchor="ctr" anchorCtr="0"/>
          <a:p>
            <a:pPr eaLnBrk="1" hangingPunct="1"/>
            <a:r>
              <a:rPr sz="4000" dirty="0"/>
              <a:t>Economic Questions</a:t>
            </a:r>
            <a:endParaRPr sz="4000" dirty="0"/>
          </a:p>
        </p:txBody>
      </p:sp>
      <p:sp>
        <p:nvSpPr>
          <p:cNvPr id="10243" name="Rectangle 3"/>
          <p:cNvSpPr>
            <a:spLocks noGrp="1"/>
          </p:cNvSpPr>
          <p:nvPr>
            <p:ph idx="1"/>
          </p:nvPr>
        </p:nvSpPr>
        <p:spPr/>
        <p:txBody>
          <a:bodyPr vert="horz" wrap="square" lIns="91440" tIns="45720" rIns="91440" bIns="45720" anchor="t" anchorCtr="0"/>
          <a:p>
            <a:pPr algn="ctr" eaLnBrk="1" hangingPunct="1">
              <a:lnSpc>
                <a:spcPct val="80000"/>
              </a:lnSpc>
              <a:buFont typeface="Wingdings" panose="05000000000000000000" pitchFamily="2" charset="2"/>
              <a:buNone/>
            </a:pPr>
            <a:endParaRPr dirty="0"/>
          </a:p>
          <a:p>
            <a:pPr eaLnBrk="1" hangingPunct="1">
              <a:lnSpc>
                <a:spcPct val="80000"/>
              </a:lnSpc>
              <a:buFont typeface="Arial" panose="020B0604020202020204" pitchFamily="34" charset="0"/>
              <a:buChar char="•"/>
            </a:pPr>
            <a:r>
              <a:rPr dirty="0"/>
              <a:t>WHAT to produce (make)</a:t>
            </a:r>
            <a:endParaRPr dirty="0"/>
          </a:p>
          <a:p>
            <a:pPr eaLnBrk="1" hangingPunct="1">
              <a:lnSpc>
                <a:spcPct val="80000"/>
              </a:lnSpc>
              <a:buFont typeface="Arial" panose="020B0604020202020204" pitchFamily="34" charset="0"/>
              <a:buChar char="•"/>
            </a:pPr>
            <a:r>
              <a:rPr dirty="0"/>
              <a:t>HOW MUCH to produce (quantity)</a:t>
            </a:r>
            <a:endParaRPr dirty="0"/>
          </a:p>
          <a:p>
            <a:pPr eaLnBrk="1" hangingPunct="1">
              <a:lnSpc>
                <a:spcPct val="80000"/>
              </a:lnSpc>
              <a:buFont typeface="Arial" panose="020B0604020202020204" pitchFamily="34" charset="0"/>
              <a:buChar char="•"/>
            </a:pPr>
            <a:r>
              <a:rPr dirty="0"/>
              <a:t>HOW to Produce it (manufacture)</a:t>
            </a:r>
            <a:endParaRPr dirty="0"/>
          </a:p>
          <a:p>
            <a:pPr eaLnBrk="1" hangingPunct="1">
              <a:lnSpc>
                <a:spcPct val="80000"/>
              </a:lnSpc>
              <a:buFont typeface="Arial" panose="020B0604020202020204" pitchFamily="34" charset="0"/>
              <a:buChar char="•"/>
            </a:pPr>
            <a:r>
              <a:rPr dirty="0"/>
              <a:t>FOR WHOM to Produce (who gets what)</a:t>
            </a:r>
            <a:endParaRPr dirty="0"/>
          </a:p>
          <a:p>
            <a:pPr eaLnBrk="1" hangingPunct="1">
              <a:lnSpc>
                <a:spcPct val="80000"/>
              </a:lnSpc>
              <a:buFont typeface="Arial" panose="020B0604020202020204" pitchFamily="34" charset="0"/>
              <a:buChar char="•"/>
            </a:pPr>
            <a:r>
              <a:rPr dirty="0"/>
              <a:t>WHO gets to make these decisions?</a:t>
            </a:r>
            <a:endParaRPr dirty="0"/>
          </a:p>
          <a:p>
            <a:pPr eaLnBrk="1" hangingPunct="1">
              <a:lnSpc>
                <a:spcPct val="80000"/>
              </a:lnSpc>
              <a:buFont typeface="Arial" panose="020B0604020202020204" pitchFamily="34" charset="0"/>
              <a:buChar char="•"/>
            </a:pPr>
            <a:endParaRPr dirty="0"/>
          </a:p>
        </p:txBody>
      </p:sp>
    </p:spTree>
  </p:cSld>
  <p:clrMapOvr>
    <a:masterClrMapping/>
  </p:clrMapOvr>
  <p:transition advTm="125748"/>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638"/>
            <a:ext cx="8229600" cy="715963"/>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Economics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 name="Content Placeholder 2"/>
          <p:cNvSpPr>
            <a:spLocks noGrp="1"/>
          </p:cNvSpPr>
          <p:nvPr>
            <p:ph idx="1"/>
          </p:nvPr>
        </p:nvSpPr>
        <p:spPr>
          <a:xfrm>
            <a:off x="457200" y="1295400"/>
            <a:ext cx="8229600" cy="4724400"/>
          </a:xfrm>
        </p:spPr>
        <p:txBody>
          <a:bodyPr vert="horz" wrap="square" lIns="91440" tIns="45720" rIns="91440" bIns="45720" numCol="1" rtlCol="0" anchor="t" anchorCtr="0" compatLnSpc="1">
            <a:normAutofit fontScale="85000" lnSpcReduction="10000"/>
          </a:bodyPr>
          <a:lstStyle/>
          <a:p>
            <a:pPr marL="137160" marR="0" lvl="0" indent="0" algn="l" defTabSz="914400" rtl="0" eaLnBrk="1" fontAlgn="auto" latinLnBrk="0" hangingPunct="1">
              <a:lnSpc>
                <a:spcPct val="100000"/>
              </a:lnSpc>
              <a:spcBef>
                <a:spcPct val="20000"/>
              </a:spcBef>
              <a:spcAft>
                <a:spcPts val="0"/>
              </a:spcAft>
              <a:buClr>
                <a:schemeClr val="tx1">
                  <a:shade val="95000"/>
                </a:schemeClr>
              </a:buClr>
              <a:buSzTx/>
              <a:buFont typeface="Wingdings 2" panose="05020102010507070707"/>
              <a:buNone/>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Economics is the science that deals with the production and consumption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of goods </a:t>
            </a:r>
            <a:r>
              <a:rPr kumimoji="0" lang="en-US" sz="3200" b="0" i="0" u="none" strike="noStrike" kern="1200" cap="none" spc="0" normalizeH="0" baseline="0" noProof="0" dirty="0">
                <a:ln>
                  <a:noFill/>
                </a:ln>
                <a:solidFill>
                  <a:schemeClr val="tx1"/>
                </a:solidFill>
                <a:effectLst/>
                <a:uLnTx/>
                <a:uFillTx/>
                <a:latin typeface="+mn-lt"/>
                <a:ea typeface="+mn-ea"/>
                <a:cs typeface="+mn-cs"/>
              </a:rPr>
              <a:t>and services and the distribution and rendering of these for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human welfare</a:t>
            </a:r>
            <a:r>
              <a:rPr kumimoji="0" lang="en-US" sz="3200" b="0" i="0" u="none" strike="noStrike" kern="1200" cap="none" spc="0" normalizeH="0" baseline="0" noProof="0" dirty="0">
                <a:ln>
                  <a:noFill/>
                </a:ln>
                <a:solidFill>
                  <a:schemeClr val="tx1"/>
                </a:solidFill>
                <a:effectLst/>
                <a:uLnTx/>
                <a:uFillTx/>
                <a:latin typeface="+mn-lt"/>
                <a:ea typeface="+mn-ea"/>
                <a:cs typeface="+mn-cs"/>
              </a:rPr>
              <a:t>.</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br>
              <a:rPr kumimoji="0" lang="en-US" sz="3200" b="0" i="0" u="none" strike="noStrike" kern="1200" cap="none" spc="0" normalizeH="0" baseline="0" noProof="0" dirty="0" smtClean="0">
                <a:ln>
                  <a:noFill/>
                </a:ln>
                <a:solidFill>
                  <a:schemeClr val="tx1"/>
                </a:solidFill>
                <a:effectLst/>
                <a:uLnTx/>
                <a:uFillTx/>
                <a:latin typeface="+mn-lt"/>
                <a:ea typeface="+mn-ea"/>
                <a:cs typeface="+mn-cs"/>
              </a:rPr>
            </a:br>
            <a:r>
              <a:rPr kumimoji="0" lang="en-US" sz="3200" b="0" i="0" u="none" strike="noStrike" kern="1200" cap="none" spc="0" normalizeH="0" baseline="0" noProof="0" dirty="0">
                <a:ln>
                  <a:noFill/>
                </a:ln>
                <a:solidFill>
                  <a:schemeClr val="tx1"/>
                </a:solidFill>
                <a:effectLst/>
                <a:uLnTx/>
                <a:uFillTx/>
                <a:latin typeface="+mn-lt"/>
                <a:ea typeface="+mn-ea"/>
                <a:cs typeface="+mn-cs"/>
              </a:rPr>
              <a:t>The following are the economic goals.</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594360" marR="0" lvl="0" indent="-457200" algn="l" defTabSz="914400" rtl="0" eaLnBrk="1" fontAlgn="auto" latinLnBrk="0" hangingPunct="1">
              <a:lnSpc>
                <a:spcPct val="100000"/>
              </a:lnSpc>
              <a:spcBef>
                <a:spcPct val="20000"/>
              </a:spcBef>
              <a:spcAft>
                <a:spcPts val="0"/>
              </a:spcAft>
              <a:buClr>
                <a:schemeClr val="tx1">
                  <a:shade val="95000"/>
                </a:schemeClr>
              </a:buClr>
              <a:buSzTx/>
              <a:buFont typeface="Wingdings" panose="05000000000000000000" pitchFamily="2" charset="2"/>
              <a:buChar char="v"/>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 high level of employment</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594360" marR="0" lvl="0" indent="-457200" algn="l" defTabSz="914400" rtl="0" eaLnBrk="1" fontAlgn="auto" latinLnBrk="0" hangingPunct="1">
              <a:lnSpc>
                <a:spcPct val="100000"/>
              </a:lnSpc>
              <a:spcBef>
                <a:spcPct val="20000"/>
              </a:spcBef>
              <a:spcAft>
                <a:spcPts val="0"/>
              </a:spcAft>
              <a:buClr>
                <a:schemeClr val="tx1">
                  <a:shade val="95000"/>
                </a:schemeClr>
              </a:buClr>
              <a:buSzTx/>
              <a:buFont typeface="Wingdings" panose="05000000000000000000" pitchFamily="2" charset="2"/>
              <a:buChar char="v"/>
              <a:defRPr/>
            </a:pPr>
            <a:r>
              <a:rPr kumimoji="0" lang="en-US" sz="3200" b="0" i="0" u="none" strike="noStrike" kern="1200" cap="none" spc="0" normalizeH="0" baseline="0" noProof="0" dirty="0">
                <a:ln>
                  <a:noFill/>
                </a:ln>
                <a:solidFill>
                  <a:schemeClr val="tx1"/>
                </a:solidFill>
                <a:effectLst/>
                <a:uLnTx/>
                <a:uFillTx/>
                <a:latin typeface="+mn-lt"/>
                <a:ea typeface="+mn-ea"/>
                <a:cs typeface="+mn-cs"/>
              </a:rPr>
              <a:t>Price stability</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594360" marR="0" lvl="0" indent="-457200" algn="l" defTabSz="914400" rtl="0" eaLnBrk="1" fontAlgn="auto" latinLnBrk="0" hangingPunct="1">
              <a:lnSpc>
                <a:spcPct val="100000"/>
              </a:lnSpc>
              <a:spcBef>
                <a:spcPct val="20000"/>
              </a:spcBef>
              <a:spcAft>
                <a:spcPts val="0"/>
              </a:spcAft>
              <a:buClr>
                <a:schemeClr val="tx1">
                  <a:shade val="95000"/>
                </a:schemeClr>
              </a:buClr>
              <a:buSzTx/>
              <a:buFont typeface="Wingdings" panose="05000000000000000000" pitchFamily="2" charset="2"/>
              <a:buChar char="v"/>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Efficiency</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594360" marR="0" lvl="0" indent="-457200" algn="l" defTabSz="914400" rtl="0" eaLnBrk="1" fontAlgn="auto" latinLnBrk="0" hangingPunct="1">
              <a:lnSpc>
                <a:spcPct val="100000"/>
              </a:lnSpc>
              <a:spcBef>
                <a:spcPct val="20000"/>
              </a:spcBef>
              <a:spcAft>
                <a:spcPts val="0"/>
              </a:spcAft>
              <a:buClr>
                <a:schemeClr val="tx1">
                  <a:shade val="95000"/>
                </a:schemeClr>
              </a:buClr>
              <a:buSzTx/>
              <a:buFont typeface="Wingdings" panose="05000000000000000000" pitchFamily="2" charset="2"/>
              <a:buChar char="v"/>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An equitable distribution of income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594360" marR="0" lvl="0" indent="-457200" algn="l" defTabSz="914400" rtl="0" eaLnBrk="1" fontAlgn="auto" latinLnBrk="0" hangingPunct="1">
              <a:lnSpc>
                <a:spcPct val="100000"/>
              </a:lnSpc>
              <a:spcBef>
                <a:spcPct val="20000"/>
              </a:spcBef>
              <a:spcAft>
                <a:spcPts val="0"/>
              </a:spcAft>
              <a:buClr>
                <a:schemeClr val="tx1">
                  <a:shade val="95000"/>
                </a:schemeClr>
              </a:buClr>
              <a:buSzTx/>
              <a:buFont typeface="Wingdings" panose="05000000000000000000" pitchFamily="2" charset="2"/>
              <a:buChar char="v"/>
              <a:defRPr/>
            </a:pPr>
            <a:r>
              <a:rPr kumimoji="0" lang="en-US" sz="3200" b="0" i="0" u="none" strike="noStrike" kern="1200" cap="none" spc="0" normalizeH="0" baseline="0" noProof="0" dirty="0">
                <a:ln>
                  <a:noFill/>
                </a:ln>
                <a:solidFill>
                  <a:schemeClr val="tx1"/>
                </a:solidFill>
                <a:effectLst/>
                <a:uLnTx/>
                <a:uFillTx/>
                <a:latin typeface="+mn-lt"/>
                <a:ea typeface="+mn-ea"/>
                <a:cs typeface="+mn-cs"/>
              </a:rPr>
              <a:t>Growth </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52648"/>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p:txBody>
          <a:bodyPr vert="horz" wrap="square" lIns="91440" tIns="45720" rIns="91440" bIns="45720" anchor="ctr" anchorCtr="0"/>
          <a:p>
            <a:pPr eaLnBrk="1" hangingPunct="1"/>
            <a:r>
              <a:rPr dirty="0"/>
              <a:t>Definition of Economics </a:t>
            </a:r>
            <a:endParaRPr dirty="0"/>
          </a:p>
        </p:txBody>
      </p:sp>
      <p:sp>
        <p:nvSpPr>
          <p:cNvPr id="3" name="Content Placeholder 2"/>
          <p:cNvSpPr>
            <a:spLocks noGrp="1"/>
          </p:cNvSpPr>
          <p:nvPr>
            <p:ph idx="1"/>
          </p:nvPr>
        </p:nvSpPr>
        <p:spPr/>
        <p:txBody>
          <a:bodyPr vert="horz" wrap="square" lIns="91440" tIns="45720" rIns="91440" bIns="45720" numCol="1" rtlCol="0" anchor="t" anchorCtr="0" compatLnSpc="1">
            <a:normAutofit/>
          </a:bodyPr>
          <a:lstStyle/>
          <a:p>
            <a:pPr marL="548640" marR="0" lvl="0" indent="-411480" algn="just" defTabSz="914400" rtl="0" eaLnBrk="1" fontAlgn="auto" latinLnBrk="0" hangingPunct="1">
              <a:lnSpc>
                <a:spcPct val="100000"/>
              </a:lnSpc>
              <a:spcBef>
                <a:spcPct val="20000"/>
              </a:spcBef>
              <a:spcAft>
                <a:spcPts val="0"/>
              </a:spcAft>
              <a:buClr>
                <a:schemeClr val="tx1">
                  <a:shade val="95000"/>
                </a:schemeClr>
              </a:buClr>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Economics is the science that deals with the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production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consumption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distribution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exchange of wealth</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Tm="21068"/>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nchorCtr="0"/>
          <a:p>
            <a:pPr eaLnBrk="1" hangingPunct="1"/>
            <a:r>
              <a:rPr dirty="0"/>
              <a:t>PRODUCTION, cont.</a:t>
            </a:r>
            <a:endParaRPr dirty="0"/>
          </a:p>
        </p:txBody>
      </p:sp>
      <p:sp>
        <p:nvSpPr>
          <p:cNvPr id="82947" name="Rectangle 3"/>
          <p:cNvSpPr>
            <a:spLocks noGrp="1" noChangeArrowheads="1"/>
          </p:cNvSpPr>
          <p:nvPr>
            <p:ph sz="half" idx="1"/>
          </p:nvPr>
        </p:nvSpPr>
        <p:spPr>
          <a:xfrm>
            <a:off x="457200" y="1600200"/>
            <a:ext cx="8305800" cy="4525963"/>
          </a:xfrm>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Production is how much stuff an individual, business, country, even the WORLD makes.</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But what is “STUFF”?</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STUFF – Goods and Services.</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Goods – tangible (you can touch it) products we can buy</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Services – work that is performed for others</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p:txBody>
      </p:sp>
    </p:spTree>
    <p:custDataLst>
      <p:tags r:id="rId1"/>
    </p:custDataLst>
  </p:cSld>
  <p:clrMapOvr>
    <a:masterClrMapping/>
  </p:clrMapOvr>
  <p:transition advTm="7446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947">
                                            <p:txEl>
                                              <p:charRg st="86" end="107"/>
                                            </p:txEl>
                                          </p:spTgt>
                                        </p:tgtEl>
                                        <p:attrNameLst>
                                          <p:attrName>style.visibility</p:attrName>
                                        </p:attrNameLst>
                                      </p:cBhvr>
                                      <p:to>
                                        <p:strVal val="visible"/>
                                      </p:to>
                                    </p:set>
                                    <p:anim calcmode="lin" valueType="num">
                                      <p:cBhvr additive="base">
                                        <p:cTn id="7" dur="500" fill="hold"/>
                                        <p:tgtEl>
                                          <p:spTgt spid="82947">
                                            <p:txEl>
                                              <p:charRg st="86" end="10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7">
                                            <p:txEl>
                                              <p:charRg st="86" end="10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2947">
                                            <p:txEl>
                                              <p:charRg st="107" end="135"/>
                                            </p:txEl>
                                          </p:spTgt>
                                        </p:tgtEl>
                                        <p:attrNameLst>
                                          <p:attrName>style.visibility</p:attrName>
                                        </p:attrNameLst>
                                      </p:cBhvr>
                                      <p:to>
                                        <p:strVal val="visible"/>
                                      </p:to>
                                    </p:set>
                                    <p:anim calcmode="lin" valueType="num">
                                      <p:cBhvr additive="base">
                                        <p:cTn id="13" dur="500" fill="hold"/>
                                        <p:tgtEl>
                                          <p:spTgt spid="82947">
                                            <p:txEl>
                                              <p:charRg st="107" end="13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2947">
                                            <p:txEl>
                                              <p:charRg st="107" end="13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2947">
                                            <p:txEl>
                                              <p:charRg st="136" end="192"/>
                                            </p:txEl>
                                          </p:spTgt>
                                        </p:tgtEl>
                                        <p:attrNameLst>
                                          <p:attrName>style.visibility</p:attrName>
                                        </p:attrNameLst>
                                      </p:cBhvr>
                                      <p:to>
                                        <p:strVal val="visible"/>
                                      </p:to>
                                    </p:set>
                                    <p:anim calcmode="lin" valueType="num">
                                      <p:cBhvr additive="base">
                                        <p:cTn id="19" dur="500" fill="hold"/>
                                        <p:tgtEl>
                                          <p:spTgt spid="82947">
                                            <p:txEl>
                                              <p:charRg st="136" end="19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2947">
                                            <p:txEl>
                                              <p:charRg st="136" end="19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2947">
                                            <p:txEl>
                                              <p:charRg st="193" end="238"/>
                                            </p:txEl>
                                          </p:spTgt>
                                        </p:tgtEl>
                                        <p:attrNameLst>
                                          <p:attrName>style.visibility</p:attrName>
                                        </p:attrNameLst>
                                      </p:cBhvr>
                                      <p:to>
                                        <p:strVal val="visible"/>
                                      </p:to>
                                    </p:set>
                                    <p:anim calcmode="lin" valueType="num">
                                      <p:cBhvr additive="base">
                                        <p:cTn id="25" dur="500" fill="hold"/>
                                        <p:tgtEl>
                                          <p:spTgt spid="82947">
                                            <p:txEl>
                                              <p:charRg st="193" end="23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2947">
                                            <p:txEl>
                                              <p:charRg st="193" end="23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ctr" anchorCtr="0"/>
          <a:p>
            <a:pPr eaLnBrk="1" hangingPunct="1"/>
            <a:r>
              <a:rPr dirty="0"/>
              <a:t>Factors of Production</a:t>
            </a:r>
            <a:endParaRPr dirty="0"/>
          </a:p>
        </p:txBody>
      </p:sp>
      <p:sp>
        <p:nvSpPr>
          <p:cNvPr id="14339" name="Rectangle 3"/>
          <p:cNvSpPr>
            <a:spLocks noGrp="1"/>
          </p:cNvSpPr>
          <p:nvPr>
            <p:ph type="body" sz="half" idx="1"/>
          </p:nvPr>
        </p:nvSpPr>
        <p:spPr/>
        <p:txBody>
          <a:bodyPr vert="horz" wrap="square" lIns="91440" tIns="45720" rIns="91440" bIns="45720" anchor="t" anchorCtr="0"/>
          <a:p>
            <a:pPr eaLnBrk="1" hangingPunct="1">
              <a:buClrTx/>
              <a:buSzTx/>
              <a:buFont typeface="Arial" panose="020B0604020202020204" pitchFamily="34" charset="0"/>
            </a:pPr>
            <a:r>
              <a:rPr dirty="0"/>
              <a:t>So, what do we need to make all of this Stuff?</a:t>
            </a:r>
            <a:endParaRPr dirty="0"/>
          </a:p>
        </p:txBody>
      </p:sp>
    </p:spTree>
  </p:cSld>
  <p:clrMapOvr>
    <a:masterClrMapping/>
  </p:clrMapOvr>
  <p:transition advTm="7618"/>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1440" tIns="45720" rIns="91440" bIns="45720" anchor="ctr" anchorCtr="0"/>
          <a:p>
            <a:pPr eaLnBrk="1" hangingPunct="1"/>
            <a:r>
              <a:rPr dirty="0"/>
              <a:t>4 Factors of Production</a:t>
            </a:r>
            <a:endParaRPr dirty="0"/>
          </a:p>
        </p:txBody>
      </p:sp>
      <p:sp>
        <p:nvSpPr>
          <p:cNvPr id="20483" name="Rectangle 3"/>
          <p:cNvSpPr>
            <a:spLocks noGrp="1" noChangeArrowheads="1"/>
          </p:cNvSpPr>
          <p:nvPr>
            <p:ph idx="1"/>
          </p:nvPr>
        </p:nvSpPr>
        <p:spPr>
          <a:xfrm>
            <a:off x="457200" y="1600200"/>
            <a:ext cx="8229600" cy="5029200"/>
          </a:xfrm>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LAND – Natural Resources</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Water, natural gas, oil, trees (all the stuff we find on, in, and under the land)</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LABOR – Physical and Intellectual</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Labor is manpower </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CAPITAL - Tools, Machinery, Factories</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The things we use to make things</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ENTREPRENEURSHIP – Investment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Investing time, natural resources, labor and capital are all risks associated with production</a:t>
            </a:r>
            <a:endParaRPr kumimoji="0" lang="en-US" sz="2800" b="0" i="0" u="none" strike="noStrike" kern="1200" cap="none" spc="0" normalizeH="0" baseline="0" noProof="0" smtClean="0">
              <a:ln>
                <a:noFill/>
              </a:ln>
              <a:solidFill>
                <a:schemeClr val="tx1"/>
              </a:solidFill>
              <a:effectLst/>
              <a:uLnTx/>
              <a:uFillTx/>
              <a:latin typeface="+mn-lt"/>
              <a:ea typeface="+mn-ea"/>
              <a:cs typeface="+mn-cs"/>
            </a:endParaRPr>
          </a:p>
        </p:txBody>
      </p:sp>
      <p:sp>
        <p:nvSpPr>
          <p:cNvPr id="15364" name="Text Box 4"/>
          <p:cNvSpPr txBox="1"/>
          <p:nvPr/>
        </p:nvSpPr>
        <p:spPr>
          <a:xfrm>
            <a:off x="685800" y="1447800"/>
            <a:ext cx="6172200" cy="366713"/>
          </a:xfrm>
          <a:prstGeom prst="rect">
            <a:avLst/>
          </a:prstGeom>
          <a:noFill/>
          <a:ln w="9525">
            <a:noFill/>
          </a:ln>
        </p:spPr>
        <p:txBody>
          <a:bodyPr>
            <a:spAutoFit/>
          </a:bodyPr>
          <a:p>
            <a:endParaRPr dirty="0">
              <a:latin typeface="Arial" panose="020B0604020202020204" pitchFamily="34" charset="0"/>
            </a:endParaRPr>
          </a:p>
        </p:txBody>
      </p:sp>
    </p:spTree>
  </p:cSld>
  <p:clrMapOvr>
    <a:masterClrMapping/>
  </p:clrMapOvr>
  <p:transition advTm="91808"/>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1440" tIns="45720" rIns="91440" bIns="45720" anchor="ctr" anchorCtr="0"/>
          <a:p>
            <a:pPr eaLnBrk="1" hangingPunct="1"/>
            <a:r>
              <a:rPr dirty="0"/>
              <a:t>Production Process</a:t>
            </a:r>
            <a:endParaRPr dirty="0"/>
          </a:p>
        </p:txBody>
      </p:sp>
      <p:sp>
        <p:nvSpPr>
          <p:cNvPr id="16387" name="Rectangle 16"/>
          <p:cNvSpPr/>
          <p:nvPr/>
        </p:nvSpPr>
        <p:spPr>
          <a:xfrm>
            <a:off x="914400" y="4038600"/>
            <a:ext cx="9144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dirty="0">
                <a:latin typeface="Arial" panose="020B0604020202020204" pitchFamily="34" charset="0"/>
              </a:rPr>
              <a:t>Capital</a:t>
            </a:r>
            <a:endParaRPr dirty="0">
              <a:latin typeface="Arial" panose="020B0604020202020204" pitchFamily="34" charset="0"/>
            </a:endParaRPr>
          </a:p>
        </p:txBody>
      </p:sp>
      <p:sp>
        <p:nvSpPr>
          <p:cNvPr id="16388" name="Rectangle 17"/>
          <p:cNvSpPr/>
          <p:nvPr/>
        </p:nvSpPr>
        <p:spPr>
          <a:xfrm>
            <a:off x="914400" y="3048000"/>
            <a:ext cx="9144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dirty="0">
                <a:latin typeface="Arial" panose="020B0604020202020204" pitchFamily="34" charset="0"/>
              </a:rPr>
              <a:t>Labor</a:t>
            </a:r>
            <a:endParaRPr dirty="0">
              <a:latin typeface="Arial" panose="020B0604020202020204" pitchFamily="34" charset="0"/>
            </a:endParaRPr>
          </a:p>
        </p:txBody>
      </p:sp>
      <p:sp>
        <p:nvSpPr>
          <p:cNvPr id="16389" name="Rectangle 18"/>
          <p:cNvSpPr/>
          <p:nvPr/>
        </p:nvSpPr>
        <p:spPr>
          <a:xfrm>
            <a:off x="914400" y="1981200"/>
            <a:ext cx="9144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dirty="0">
                <a:latin typeface="Arial" panose="020B0604020202020204" pitchFamily="34" charset="0"/>
              </a:rPr>
              <a:t>Land</a:t>
            </a:r>
            <a:endParaRPr dirty="0">
              <a:latin typeface="Arial" panose="020B0604020202020204" pitchFamily="34" charset="0"/>
            </a:endParaRPr>
          </a:p>
        </p:txBody>
      </p:sp>
      <p:sp>
        <p:nvSpPr>
          <p:cNvPr id="16390" name="Rectangle 20"/>
          <p:cNvSpPr/>
          <p:nvPr/>
        </p:nvSpPr>
        <p:spPr>
          <a:xfrm>
            <a:off x="914400" y="5105400"/>
            <a:ext cx="9144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dirty="0">
                <a:latin typeface="Arial" panose="020B0604020202020204" pitchFamily="34" charset="0"/>
              </a:rPr>
              <a:t>Entrepreneurship</a:t>
            </a:r>
            <a:endParaRPr dirty="0">
              <a:latin typeface="Arial" panose="020B0604020202020204" pitchFamily="34" charset="0"/>
            </a:endParaRPr>
          </a:p>
        </p:txBody>
      </p:sp>
      <p:sp>
        <p:nvSpPr>
          <p:cNvPr id="16391" name="Oval 21"/>
          <p:cNvSpPr/>
          <p:nvPr/>
        </p:nvSpPr>
        <p:spPr>
          <a:xfrm>
            <a:off x="2895600" y="2514600"/>
            <a:ext cx="2667000" cy="2743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dirty="0">
                <a:latin typeface="Arial" panose="020B0604020202020204" pitchFamily="34" charset="0"/>
              </a:rPr>
              <a:t>Production/Manufacturing</a:t>
            </a:r>
            <a:endParaRPr dirty="0">
              <a:latin typeface="Arial" panose="020B0604020202020204" pitchFamily="34" charset="0"/>
            </a:endParaRPr>
          </a:p>
          <a:p>
            <a:pPr algn="ctr"/>
            <a:r>
              <a:rPr dirty="0">
                <a:latin typeface="Arial" panose="020B0604020202020204" pitchFamily="34" charset="0"/>
              </a:rPr>
              <a:t>“Factory”</a:t>
            </a:r>
            <a:endParaRPr dirty="0">
              <a:latin typeface="Arial" panose="020B0604020202020204" pitchFamily="34" charset="0"/>
            </a:endParaRPr>
          </a:p>
        </p:txBody>
      </p:sp>
      <p:sp>
        <p:nvSpPr>
          <p:cNvPr id="16392" name="Oval 22"/>
          <p:cNvSpPr/>
          <p:nvPr/>
        </p:nvSpPr>
        <p:spPr>
          <a:xfrm>
            <a:off x="5867400" y="2514600"/>
            <a:ext cx="914400" cy="914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dirty="0">
                <a:latin typeface="Arial" panose="020B0604020202020204" pitchFamily="34" charset="0"/>
              </a:rPr>
              <a:t>Goods</a:t>
            </a:r>
            <a:endParaRPr dirty="0">
              <a:latin typeface="Arial" panose="020B0604020202020204" pitchFamily="34" charset="0"/>
            </a:endParaRPr>
          </a:p>
        </p:txBody>
      </p:sp>
      <p:sp>
        <p:nvSpPr>
          <p:cNvPr id="16393" name="Oval 23"/>
          <p:cNvSpPr/>
          <p:nvPr/>
        </p:nvSpPr>
        <p:spPr>
          <a:xfrm>
            <a:off x="5791200" y="4648200"/>
            <a:ext cx="914400" cy="914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dirty="0">
                <a:latin typeface="Arial" panose="020B0604020202020204" pitchFamily="34" charset="0"/>
              </a:rPr>
              <a:t>Services</a:t>
            </a:r>
            <a:endParaRPr dirty="0">
              <a:latin typeface="Arial" panose="020B0604020202020204" pitchFamily="34" charset="0"/>
            </a:endParaRPr>
          </a:p>
        </p:txBody>
      </p:sp>
      <p:sp>
        <p:nvSpPr>
          <p:cNvPr id="16394" name="Rectangle 24"/>
          <p:cNvSpPr/>
          <p:nvPr/>
        </p:nvSpPr>
        <p:spPr>
          <a:xfrm>
            <a:off x="7315200" y="3581400"/>
            <a:ext cx="9144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dirty="0">
                <a:latin typeface="Arial" panose="020B0604020202020204" pitchFamily="34" charset="0"/>
              </a:rPr>
              <a:t>Consumers</a:t>
            </a:r>
            <a:endParaRPr dirty="0">
              <a:latin typeface="Arial" panose="020B0604020202020204" pitchFamily="34" charset="0"/>
            </a:endParaRPr>
          </a:p>
        </p:txBody>
      </p:sp>
      <p:sp>
        <p:nvSpPr>
          <p:cNvPr id="16395" name="Line 26"/>
          <p:cNvSpPr/>
          <p:nvPr/>
        </p:nvSpPr>
        <p:spPr>
          <a:xfrm>
            <a:off x="1828800" y="2438400"/>
            <a:ext cx="1295400" cy="685800"/>
          </a:xfrm>
          <a:prstGeom prst="line">
            <a:avLst/>
          </a:prstGeom>
          <a:ln w="9525" cap="flat" cmpd="sng">
            <a:solidFill>
              <a:schemeClr val="tx1"/>
            </a:solidFill>
            <a:prstDash val="solid"/>
            <a:headEnd type="none" w="med" len="med"/>
            <a:tailEnd type="triangle" w="med" len="med"/>
          </a:ln>
        </p:spPr>
      </p:sp>
      <p:sp>
        <p:nvSpPr>
          <p:cNvPr id="16396" name="Line 27"/>
          <p:cNvSpPr/>
          <p:nvPr/>
        </p:nvSpPr>
        <p:spPr>
          <a:xfrm>
            <a:off x="1905000" y="3505200"/>
            <a:ext cx="1066800" cy="0"/>
          </a:xfrm>
          <a:prstGeom prst="line">
            <a:avLst/>
          </a:prstGeom>
          <a:ln w="9525" cap="flat" cmpd="sng">
            <a:solidFill>
              <a:schemeClr val="tx1"/>
            </a:solidFill>
            <a:prstDash val="solid"/>
            <a:headEnd type="none" w="med" len="med"/>
            <a:tailEnd type="triangle" w="med" len="med"/>
          </a:ln>
        </p:spPr>
      </p:sp>
      <p:sp>
        <p:nvSpPr>
          <p:cNvPr id="16397" name="Line 28"/>
          <p:cNvSpPr/>
          <p:nvPr/>
        </p:nvSpPr>
        <p:spPr>
          <a:xfrm flipV="1">
            <a:off x="1828800" y="4191000"/>
            <a:ext cx="1066800" cy="304800"/>
          </a:xfrm>
          <a:prstGeom prst="line">
            <a:avLst/>
          </a:prstGeom>
          <a:ln w="9525" cap="flat" cmpd="sng">
            <a:solidFill>
              <a:schemeClr val="tx1"/>
            </a:solidFill>
            <a:prstDash val="solid"/>
            <a:headEnd type="none" w="med" len="med"/>
            <a:tailEnd type="triangle" w="med" len="med"/>
          </a:ln>
        </p:spPr>
      </p:sp>
      <p:sp>
        <p:nvSpPr>
          <p:cNvPr id="16398" name="Line 29"/>
          <p:cNvSpPr/>
          <p:nvPr/>
        </p:nvSpPr>
        <p:spPr>
          <a:xfrm flipV="1">
            <a:off x="1828800" y="4648200"/>
            <a:ext cx="1295400" cy="762000"/>
          </a:xfrm>
          <a:prstGeom prst="line">
            <a:avLst/>
          </a:prstGeom>
          <a:ln w="9525" cap="flat" cmpd="sng">
            <a:solidFill>
              <a:schemeClr val="tx1"/>
            </a:solidFill>
            <a:prstDash val="solid"/>
            <a:headEnd type="none" w="med" len="med"/>
            <a:tailEnd type="triangle" w="med" len="med"/>
          </a:ln>
        </p:spPr>
      </p:sp>
      <p:sp>
        <p:nvSpPr>
          <p:cNvPr id="16399" name="Line 30"/>
          <p:cNvSpPr/>
          <p:nvPr/>
        </p:nvSpPr>
        <p:spPr>
          <a:xfrm>
            <a:off x="5257800" y="4800600"/>
            <a:ext cx="533400" cy="381000"/>
          </a:xfrm>
          <a:prstGeom prst="line">
            <a:avLst/>
          </a:prstGeom>
          <a:ln w="9525" cap="flat" cmpd="sng">
            <a:solidFill>
              <a:schemeClr val="tx1"/>
            </a:solidFill>
            <a:prstDash val="solid"/>
            <a:headEnd type="none" w="med" len="med"/>
            <a:tailEnd type="triangle" w="med" len="med"/>
          </a:ln>
        </p:spPr>
      </p:sp>
      <p:sp>
        <p:nvSpPr>
          <p:cNvPr id="16400" name="Line 31"/>
          <p:cNvSpPr/>
          <p:nvPr/>
        </p:nvSpPr>
        <p:spPr>
          <a:xfrm flipV="1">
            <a:off x="5486400" y="3200400"/>
            <a:ext cx="457200" cy="152400"/>
          </a:xfrm>
          <a:prstGeom prst="line">
            <a:avLst/>
          </a:prstGeom>
          <a:ln w="9525" cap="flat" cmpd="sng">
            <a:solidFill>
              <a:schemeClr val="tx1"/>
            </a:solidFill>
            <a:prstDash val="solid"/>
            <a:headEnd type="none" w="med" len="med"/>
            <a:tailEnd type="triangle" w="med" len="med"/>
          </a:ln>
        </p:spPr>
      </p:sp>
      <p:sp>
        <p:nvSpPr>
          <p:cNvPr id="16401" name="Line 32"/>
          <p:cNvSpPr/>
          <p:nvPr/>
        </p:nvSpPr>
        <p:spPr>
          <a:xfrm flipH="1" flipV="1">
            <a:off x="6629400" y="3276600"/>
            <a:ext cx="685800" cy="304800"/>
          </a:xfrm>
          <a:prstGeom prst="line">
            <a:avLst/>
          </a:prstGeom>
          <a:ln w="9525" cap="flat" cmpd="sng">
            <a:solidFill>
              <a:schemeClr val="tx1"/>
            </a:solidFill>
            <a:prstDash val="solid"/>
            <a:headEnd type="none" w="med" len="med"/>
            <a:tailEnd type="triangle" w="med" len="med"/>
          </a:ln>
        </p:spPr>
      </p:sp>
      <p:sp>
        <p:nvSpPr>
          <p:cNvPr id="16402" name="Line 33"/>
          <p:cNvSpPr/>
          <p:nvPr/>
        </p:nvSpPr>
        <p:spPr>
          <a:xfrm flipH="1">
            <a:off x="6629400" y="4495800"/>
            <a:ext cx="685800" cy="457200"/>
          </a:xfrm>
          <a:prstGeom prst="line">
            <a:avLst/>
          </a:prstGeom>
          <a:ln w="9525" cap="flat" cmpd="sng">
            <a:solidFill>
              <a:schemeClr val="tx1"/>
            </a:solidFill>
            <a:prstDash val="solid"/>
            <a:headEnd type="none" w="med" len="med"/>
            <a:tailEnd type="triangle" w="med" len="med"/>
          </a:ln>
        </p:spPr>
      </p:sp>
    </p:spTree>
  </p:cSld>
  <p:clrMapOvr>
    <a:masterClrMapping/>
  </p:clrMapOvr>
  <p:transition advTm="41288"/>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p:txBody>
          <a:bodyPr vert="horz" wrap="square" lIns="91440" tIns="45720" rIns="91440" bIns="45720" anchor="ctr" anchorCtr="0"/>
          <a:p>
            <a:pPr eaLnBrk="1" hangingPunct="1"/>
            <a:r>
              <a:rPr dirty="0"/>
              <a:t>Consumption </a:t>
            </a:r>
            <a:endParaRPr dirty="0"/>
          </a:p>
        </p:txBody>
      </p:sp>
      <p:sp>
        <p:nvSpPr>
          <p:cNvPr id="17411" name="Content Placeholder 2"/>
          <p:cNvSpPr>
            <a:spLocks noGrp="1"/>
          </p:cNvSpPr>
          <p:nvPr>
            <p:ph idx="1"/>
          </p:nvPr>
        </p:nvSpPr>
        <p:spPr/>
        <p:txBody>
          <a:bodyPr vert="horz" wrap="square" lIns="91440" tIns="45720" rIns="91440" bIns="45720" anchor="t" anchorCtr="0"/>
          <a:p>
            <a:pPr algn="just" eaLnBrk="1" hangingPunct="1"/>
            <a:r>
              <a:rPr dirty="0"/>
              <a:t>The part of wealth used to fulfill the basic needs of human life is called consumption. We spent our income in that direction from where we can derive maximum utility. </a:t>
            </a:r>
            <a:endParaRPr dirty="0"/>
          </a:p>
        </p:txBody>
      </p:sp>
    </p:spTree>
  </p:cSld>
  <p:clrMapOvr>
    <a:masterClrMapping/>
  </p:clrMapOvr>
  <p:transition advTm="36148"/>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p:txBody>
          <a:bodyPr vert="horz" wrap="square" lIns="91440" tIns="45720" rIns="91440" bIns="45720" anchor="ctr" anchorCtr="0"/>
          <a:p>
            <a:pPr eaLnBrk="1" hangingPunct="1"/>
            <a:r>
              <a:rPr dirty="0"/>
              <a:t>Distribution </a:t>
            </a:r>
            <a:endParaRPr dirty="0"/>
          </a:p>
        </p:txBody>
      </p:sp>
      <p:sp>
        <p:nvSpPr>
          <p:cNvPr id="18435" name="Content Placeholder 2"/>
          <p:cNvSpPr>
            <a:spLocks noGrp="1"/>
          </p:cNvSpPr>
          <p:nvPr>
            <p:ph idx="1"/>
          </p:nvPr>
        </p:nvSpPr>
        <p:spPr/>
        <p:txBody>
          <a:bodyPr vert="horz" wrap="square" lIns="91440" tIns="45720" rIns="91440" bIns="45720" anchor="t" anchorCtr="0"/>
          <a:p>
            <a:pPr eaLnBrk="1" hangingPunct="1"/>
            <a:r>
              <a:rPr dirty="0"/>
              <a:t>How the four factors are paid according to their contribution in the form of rent, wages, interest and profit. </a:t>
            </a:r>
            <a:endParaRPr dirty="0"/>
          </a:p>
        </p:txBody>
      </p:sp>
    </p:spTree>
  </p:cSld>
  <p:clrMapOvr>
    <a:masterClrMapping/>
  </p:clrMapOvr>
  <p:transition advTm="3122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p:txBody>
          <a:bodyPr vert="horz" wrap="square" lIns="91440" tIns="45720" rIns="91440" bIns="45720" anchor="ctr" anchorCtr="0"/>
          <a:p>
            <a:pPr eaLnBrk="1" hangingPunct="1"/>
            <a:r>
              <a:rPr dirty="0"/>
              <a:t>Exchange of wealth</a:t>
            </a:r>
            <a:endParaRPr dirty="0"/>
          </a:p>
        </p:txBody>
      </p:sp>
      <p:sp>
        <p:nvSpPr>
          <p:cNvPr id="19459" name="Content Placeholder 2"/>
          <p:cNvSpPr>
            <a:spLocks noGrp="1"/>
          </p:cNvSpPr>
          <p:nvPr>
            <p:ph idx="1"/>
          </p:nvPr>
        </p:nvSpPr>
        <p:spPr/>
        <p:txBody>
          <a:bodyPr vert="horz" wrap="square" lIns="91440" tIns="45720" rIns="91440" bIns="45720" anchor="t" anchorCtr="0"/>
          <a:p>
            <a:pPr algn="just" eaLnBrk="1" hangingPunct="1"/>
            <a:r>
              <a:rPr dirty="0"/>
              <a:t>How the wealth exchanged from one hand to another. And similarly how wealth is exchanged between the two countries in the form of trade. </a:t>
            </a:r>
            <a:endParaRPr dirty="0"/>
          </a:p>
        </p:txBody>
      </p:sp>
    </p:spTree>
  </p:cSld>
  <p:clrMapOvr>
    <a:masterClrMapping/>
  </p:clrMapOvr>
  <p:transition advTm="43578"/>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wrap="square" lIns="91440" tIns="45720" rIns="91440" bIns="45720" anchor="ctr" anchorCtr="0"/>
          <a:p>
            <a:pPr eaLnBrk="1" hangingPunct="1"/>
            <a:r>
              <a:rPr dirty="0"/>
              <a:t>So, we can say that</a:t>
            </a:r>
            <a:endParaRPr dirty="0"/>
          </a:p>
        </p:txBody>
      </p:sp>
      <p:sp>
        <p:nvSpPr>
          <p:cNvPr id="20483" name="Content Placeholder 2"/>
          <p:cNvSpPr>
            <a:spLocks noGrp="1"/>
          </p:cNvSpPr>
          <p:nvPr>
            <p:ph idx="1"/>
          </p:nvPr>
        </p:nvSpPr>
        <p:spPr/>
        <p:txBody>
          <a:bodyPr vert="horz" wrap="square" lIns="91440" tIns="45720" rIns="91440" bIns="45720" anchor="t" anchorCtr="0"/>
          <a:p>
            <a:pPr eaLnBrk="1" hangingPunct="1"/>
            <a:r>
              <a:rPr dirty="0"/>
              <a:t>“Economics is the study of how people and society choose to employ scarce resources that could have alternative uses in order to produce various commodities and to distribute them for consumption, now or in the future, …”</a:t>
            </a:r>
            <a:endParaRPr dirty="0"/>
          </a:p>
        </p:txBody>
      </p:sp>
    </p:spTree>
  </p:cSld>
  <p:clrMapOvr>
    <a:masterClrMapping/>
  </p:clrMapOvr>
  <p:transition advTm="41868"/>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p:txBody>
          <a:bodyPr vert="horz" wrap="square" lIns="91440" tIns="45720" rIns="91440" bIns="45720" anchor="ctr" anchorCtr="0"/>
          <a:p>
            <a:pPr eaLnBrk="1" hangingPunct="1"/>
            <a:r>
              <a:rPr sz="3600" b="1" dirty="0"/>
              <a:t>Flow in an Economy 2 Sector Economy </a:t>
            </a:r>
            <a:endParaRPr sz="3600" b="1" dirty="0"/>
          </a:p>
        </p:txBody>
      </p:sp>
      <p:sp>
        <p:nvSpPr>
          <p:cNvPr id="21507" name="Content Placeholder 2"/>
          <p:cNvSpPr>
            <a:spLocks noGrp="1"/>
          </p:cNvSpPr>
          <p:nvPr>
            <p:ph idx="1"/>
          </p:nvPr>
        </p:nvSpPr>
        <p:spPr/>
        <p:txBody>
          <a:bodyPr vert="horz" wrap="square" lIns="91440" tIns="45720" rIns="91440" bIns="45720" anchor="t" anchorCtr="0"/>
          <a:p>
            <a:pPr eaLnBrk="1" hangingPunct="1"/>
            <a:endParaRPr dirty="0"/>
          </a:p>
        </p:txBody>
      </p:sp>
      <p:pic>
        <p:nvPicPr>
          <p:cNvPr id="21508" name="Picture 2"/>
          <p:cNvPicPr>
            <a:picLocks noChangeAspect="1"/>
          </p:cNvPicPr>
          <p:nvPr/>
        </p:nvPicPr>
        <p:blipFill>
          <a:blip r:embed="rId1"/>
          <a:stretch>
            <a:fillRect/>
          </a:stretch>
        </p:blipFill>
        <p:spPr>
          <a:xfrm>
            <a:off x="533400" y="1519238"/>
            <a:ext cx="8153400" cy="4652962"/>
          </a:xfrm>
          <a:prstGeom prst="rect">
            <a:avLst/>
          </a:prstGeom>
          <a:noFill/>
          <a:ln w="9525">
            <a:noFill/>
          </a:ln>
        </p:spPr>
      </p:pic>
    </p:spTree>
  </p:cSld>
  <p:clrMapOvr>
    <a:masterClrMapping/>
  </p:clrMapOvr>
  <p:transition advTm="66208"/>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304800" y="76200"/>
            <a:ext cx="8305800" cy="1143000"/>
          </a:xfrm>
        </p:spPr>
        <p:txBody>
          <a:bodyPr vert="horz" wrap="square" lIns="91440" tIns="45720" rIns="91440" bIns="45720" anchor="ctr" anchorCtr="0"/>
          <a:p>
            <a:pPr eaLnBrk="1" hangingPunct="1"/>
            <a:r>
              <a:rPr sz="3600" b="1" dirty="0"/>
              <a:t>Flow in an Economy 3 Sector Economy  </a:t>
            </a:r>
            <a:endParaRPr sz="3600" b="1" dirty="0"/>
          </a:p>
        </p:txBody>
      </p:sp>
      <p:pic>
        <p:nvPicPr>
          <p:cNvPr id="22531" name="Picture 5"/>
          <p:cNvPicPr>
            <a:picLocks noChangeAspect="1"/>
          </p:cNvPicPr>
          <p:nvPr/>
        </p:nvPicPr>
        <p:blipFill>
          <a:blip r:embed="rId1"/>
          <a:stretch>
            <a:fillRect/>
          </a:stretch>
        </p:blipFill>
        <p:spPr>
          <a:xfrm>
            <a:off x="990600" y="1219200"/>
            <a:ext cx="7086600" cy="5105400"/>
          </a:xfrm>
          <a:prstGeom prst="rect">
            <a:avLst/>
          </a:prstGeom>
          <a:noFill/>
          <a:ln w="9525">
            <a:noFill/>
          </a:ln>
        </p:spPr>
      </p:pic>
    </p:spTree>
  </p:cSld>
  <p:clrMapOvr>
    <a:masterClrMapping/>
  </p:clrMapOvr>
  <p:transition advTm="82188"/>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91440" tIns="45720" rIns="91440" bIns="45720" anchor="ctr" anchorCtr="0"/>
          <a:p>
            <a:pPr eaLnBrk="1" hangingPunct="1"/>
            <a:r>
              <a:rPr dirty="0"/>
              <a:t>Micro Economics </a:t>
            </a:r>
            <a:endParaRPr dirty="0"/>
          </a:p>
        </p:txBody>
      </p:sp>
      <p:sp>
        <p:nvSpPr>
          <p:cNvPr id="18435" name="Content Placeholder 2"/>
          <p:cNvSpPr>
            <a:spLocks noGrp="1"/>
          </p:cNvSpPr>
          <p:nvPr>
            <p:ph idx="1"/>
          </p:nvPr>
        </p:nvSpPr>
        <p:spPr/>
        <p:txBody>
          <a:bodyPr vert="horz" wrap="square" lIns="91440" tIns="45720" rIns="91440" bIns="45720" numCol="1" rtlCol="0" anchor="t" anchorCtr="0" compatLnSpc="1">
            <a:normAutofit fontScale="92500" lnSpcReduction="10000"/>
          </a:bodyPr>
          <a:lstStyle/>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Micro economics studies the decisions made by individual and business concerning the distribution of resources and prices of goods and services.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It deals with a specific industry or a sector, the connections of firms and households in the market.</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For example, microeconomics would study how a company could lower its prices to increase its product demand in the market.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Tree>
  </p:cSld>
  <p:clrMapOvr>
    <a:masterClrMapping/>
  </p:clrMapOvr>
  <p:transition advTm="74938"/>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Content Placeholder 2"/>
          <p:cNvSpPr>
            <a:spLocks noGrp="1"/>
          </p:cNvSpPr>
          <p:nvPr>
            <p:ph idx="1"/>
          </p:nvPr>
        </p:nvSpPr>
        <p:spPr/>
        <p:txBody>
          <a:bodyPr vert="horz" wrap="square" lIns="91440" tIns="45720" rIns="91440" bIns="45720" anchor="t" anchorCtr="0"/>
          <a:p>
            <a:pPr eaLnBrk="1" hangingPunct="1"/>
            <a:r>
              <a:rPr dirty="0"/>
              <a:t>It deals with the decision making of single economic variables such as the demand, price, consumer, etc.</a:t>
            </a:r>
            <a:endParaRPr dirty="0"/>
          </a:p>
          <a:p>
            <a:pPr eaLnBrk="1" hangingPunct="1"/>
            <a:endParaRPr dirty="0"/>
          </a:p>
        </p:txBody>
      </p:sp>
    </p:spTree>
  </p:cSld>
  <p:clrMapOvr>
    <a:masterClrMapping/>
  </p:clrMapOvr>
  <p:transition advTm="11708"/>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p:txBody>
          <a:bodyPr vert="horz" wrap="square" lIns="91440" tIns="45720" rIns="91440" bIns="45720" anchor="ctr" anchorCtr="0"/>
          <a:p>
            <a:pPr eaLnBrk="1" hangingPunct="1"/>
            <a:r>
              <a:rPr dirty="0"/>
              <a:t>Macro Economics </a:t>
            </a:r>
            <a:endParaRPr dirty="0"/>
          </a:p>
        </p:txBody>
      </p:sp>
      <p:sp>
        <p:nvSpPr>
          <p:cNvPr id="20483" name="Content Placeholder 2"/>
          <p:cNvSpPr>
            <a:spLocks noGrp="1"/>
          </p:cNvSpPr>
          <p:nvPr>
            <p:ph idx="1"/>
          </p:nvPr>
        </p:nvSpPr>
        <p:spPr/>
        <p:txBody>
          <a:bodyPr vert="horz" wrap="square" lIns="91440" tIns="45720" rIns="91440" bIns="45720" numCol="1" rtlCol="0" anchor="t" anchorCtr="0" compatLnSpc="1">
            <a:normAutofit fontScale="92500" lnSpcReduction="20000"/>
          </a:bodyPr>
          <a:lstStyle/>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Macroeconomics, studies the behavior of not only particular company or industries but whole economy.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It includes understanding how unemployment, price levels, growth rate affects the economy wide aspects such as the Gross National Product (GNP).</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It deals with averages and aggregates of the entire economy such as national income, aggregate output, aggregate savings etc.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Wingdings 2" panose="05020102010507070707" pitchFamily="18"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Tree>
  </p:cSld>
  <p:clrMapOvr>
    <a:masterClrMapping/>
  </p:clrMapOvr>
  <p:transition advTm="49618"/>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3"/>
          <p:cNvSpPr>
            <a:spLocks noGrp="1"/>
          </p:cNvSpPr>
          <p:nvPr>
            <p:ph type="title"/>
          </p:nvPr>
        </p:nvSpPr>
        <p:spPr>
          <a:xfrm>
            <a:off x="533400" y="2514600"/>
            <a:ext cx="8229600" cy="1143000"/>
          </a:xfrm>
        </p:spPr>
        <p:txBody>
          <a:bodyPr vert="horz" wrap="square" lIns="91440" tIns="45720" rIns="91440" bIns="45720" anchor="ctr" anchorCtr="0"/>
          <a:p>
            <a:pPr eaLnBrk="1" hangingPunct="1"/>
            <a:r>
              <a:rPr dirty="0"/>
              <a:t>Demand </a:t>
            </a:r>
            <a:endParaRPr dirty="0"/>
          </a:p>
        </p:txBody>
      </p:sp>
    </p:spTree>
  </p:cSld>
  <p:clrMapOvr>
    <a:masterClrMapping/>
  </p:clrMapOvr>
  <p:transition advTm="6158"/>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Content Placeholder 2"/>
          <p:cNvSpPr>
            <a:spLocks noGrp="1"/>
          </p:cNvSpPr>
          <p:nvPr>
            <p:ph idx="1"/>
          </p:nvPr>
        </p:nvSpPr>
        <p:spPr/>
        <p:txBody>
          <a:bodyPr vert="horz" wrap="square" lIns="91440" tIns="45720" rIns="91440" bIns="45720" anchor="t" anchorCtr="0"/>
          <a:p>
            <a:pPr eaLnBrk="1" hangingPunct="1"/>
            <a:r>
              <a:rPr dirty="0"/>
              <a:t>Demand means wish or desire to have commodity </a:t>
            </a:r>
            <a:endParaRPr dirty="0"/>
          </a:p>
          <a:p>
            <a:pPr eaLnBrk="1" hangingPunct="1"/>
            <a:r>
              <a:rPr dirty="0"/>
              <a:t>Two things must be fulfilled for existence of demand</a:t>
            </a:r>
            <a:endParaRPr dirty="0"/>
          </a:p>
          <a:p>
            <a:pPr lvl="1" eaLnBrk="1" hangingPunct="1"/>
            <a:r>
              <a:rPr dirty="0"/>
              <a:t>Will to purchase any thing </a:t>
            </a:r>
            <a:endParaRPr dirty="0"/>
          </a:p>
          <a:p>
            <a:pPr lvl="1" eaLnBrk="1" hangingPunct="1"/>
            <a:r>
              <a:rPr dirty="0"/>
              <a:t>Power to purchase a commodity </a:t>
            </a:r>
            <a:endParaRPr dirty="0"/>
          </a:p>
          <a:p>
            <a:pPr eaLnBrk="1" hangingPunct="1"/>
            <a:r>
              <a:rPr dirty="0"/>
              <a:t>Another important thing is </a:t>
            </a:r>
            <a:endParaRPr dirty="0"/>
          </a:p>
          <a:p>
            <a:pPr lvl="1" eaLnBrk="1" hangingPunct="1"/>
            <a:r>
              <a:rPr dirty="0"/>
              <a:t>Price </a:t>
            </a:r>
            <a:endParaRPr dirty="0"/>
          </a:p>
        </p:txBody>
      </p:sp>
    </p:spTree>
  </p:cSld>
  <p:clrMapOvr>
    <a:masterClrMapping/>
  </p:clrMapOvr>
  <p:transition advTm="45548"/>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Content Placeholder 2"/>
          <p:cNvSpPr>
            <a:spLocks noGrp="1"/>
          </p:cNvSpPr>
          <p:nvPr>
            <p:ph idx="1"/>
          </p:nvPr>
        </p:nvSpPr>
        <p:spPr>
          <a:xfrm>
            <a:off x="457200" y="609600"/>
            <a:ext cx="8229600" cy="5516563"/>
          </a:xfrm>
        </p:spPr>
        <p:txBody>
          <a:bodyPr vert="horz" wrap="square" lIns="91440" tIns="45720" rIns="91440" bIns="45720" anchor="t" anchorCtr="0"/>
          <a:p>
            <a:pPr eaLnBrk="1" hangingPunct="1"/>
            <a:r>
              <a:rPr dirty="0"/>
              <a:t>As any change in the price of a good results a certain change in the demand for that good</a:t>
            </a:r>
            <a:endParaRPr dirty="0"/>
          </a:p>
          <a:p>
            <a:pPr eaLnBrk="1" hangingPunct="1"/>
            <a:r>
              <a:rPr dirty="0"/>
              <a:t>Thus </a:t>
            </a:r>
            <a:endParaRPr dirty="0"/>
          </a:p>
          <a:p>
            <a:pPr marL="457200" lvl="1" indent="0" eaLnBrk="1" hangingPunct="1">
              <a:buNone/>
            </a:pPr>
            <a:r>
              <a:rPr dirty="0"/>
              <a:t>   qd= f(P)</a:t>
            </a:r>
            <a:endParaRPr dirty="0"/>
          </a:p>
          <a:p>
            <a:pPr marL="457200" lvl="1" indent="0" eaLnBrk="1" hangingPunct="1">
              <a:buNone/>
            </a:pPr>
            <a:endParaRPr dirty="0"/>
          </a:p>
          <a:p>
            <a:pPr algn="just" eaLnBrk="1" hangingPunct="1"/>
            <a:r>
              <a:rPr dirty="0"/>
              <a:t>“Demand is the quantity of a commodity which the consumers are prepared to purchase at a certain price during a specific period of time”.            </a:t>
            </a:r>
            <a:endParaRPr dirty="0"/>
          </a:p>
        </p:txBody>
      </p:sp>
    </p:spTree>
  </p:cSld>
  <p:clrMapOvr>
    <a:masterClrMapping/>
  </p:clrMapOvr>
  <p:transition advTm="45008"/>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p:txBody>
          <a:bodyPr vert="horz" wrap="square" lIns="91440" tIns="45720" rIns="91440" bIns="45720" anchor="ctr" anchorCtr="0"/>
          <a:p>
            <a:pPr eaLnBrk="1" hangingPunct="1"/>
            <a:r>
              <a:rPr dirty="0"/>
              <a:t>Types of demand </a:t>
            </a:r>
            <a:endParaRPr dirty="0"/>
          </a:p>
        </p:txBody>
      </p:sp>
      <p:sp>
        <p:nvSpPr>
          <p:cNvPr id="3" name="Content Placeholder 2"/>
          <p:cNvSpPr>
            <a:spLocks noGrp="1"/>
          </p:cNvSpPr>
          <p:nvPr>
            <p:ph idx="1"/>
          </p:nvPr>
        </p:nvSpPr>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
                <a:schemeClr val="tx1">
                  <a:shade val="95000"/>
                </a:schemeClr>
              </a:buClr>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There are three types of demand</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tx1">
                  <a:shade val="95000"/>
                </a:schemeClr>
              </a:buClr>
              <a:buSzTx/>
              <a:buFont typeface="+mj-lt"/>
              <a:buAutoNum type="arabicPeriod"/>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Price demand</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tx1">
                  <a:shade val="95000"/>
                </a:schemeClr>
              </a:buClr>
              <a:buSzTx/>
              <a:buFont typeface="+mj-lt"/>
              <a:buAutoNum type="arabicPeriod"/>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Income demand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tx1">
                  <a:shade val="95000"/>
                </a:schemeClr>
              </a:buClr>
              <a:buSzTx/>
              <a:buFont typeface="+mj-lt"/>
              <a:buAutoNum type="arabicPeriod"/>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Cross demand </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11168"/>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p:txBody>
          <a:bodyPr vert="horz" wrap="square" lIns="91440" tIns="45720" rIns="91440" bIns="45720" anchor="ctr" anchorCtr="0"/>
          <a:p>
            <a:pPr eaLnBrk="1" hangingPunct="1"/>
            <a:r>
              <a:rPr dirty="0"/>
              <a:t>Price demand</a:t>
            </a:r>
            <a:endParaRPr dirty="0"/>
          </a:p>
        </p:txBody>
      </p:sp>
      <p:sp>
        <p:nvSpPr>
          <p:cNvPr id="30723" name="Content Placeholder 2"/>
          <p:cNvSpPr>
            <a:spLocks noGrp="1"/>
          </p:cNvSpPr>
          <p:nvPr>
            <p:ph idx="1"/>
          </p:nvPr>
        </p:nvSpPr>
        <p:spPr/>
        <p:txBody>
          <a:bodyPr vert="horz" wrap="square" lIns="91440" tIns="45720" rIns="91440" bIns="45720" anchor="t" anchorCtr="0"/>
          <a:p>
            <a:pPr algn="just" eaLnBrk="1" hangingPunct="1"/>
            <a:r>
              <a:rPr dirty="0"/>
              <a:t>It refers to the various quantities of a commodity or service that a consumer would purchase at a given time in a market at a various prices.</a:t>
            </a:r>
            <a:endParaRPr dirty="0"/>
          </a:p>
          <a:p>
            <a:pPr algn="just" eaLnBrk="1" hangingPunct="1"/>
            <a:r>
              <a:rPr dirty="0"/>
              <a:t>It is assumed that other things such as consumer’s income, tastes and prices of interrelated goods remain unchanged.  </a:t>
            </a:r>
            <a:endParaRPr dirty="0"/>
          </a:p>
        </p:txBody>
      </p:sp>
    </p:spTree>
  </p:cSld>
  <p:clrMapOvr>
    <a:masterClrMapping/>
  </p:clrMapOvr>
  <p:transition advTm="58868"/>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p:txBody>
          <a:bodyPr vert="horz" wrap="square" lIns="91440" tIns="45720" rIns="91440" bIns="45720" anchor="ctr" anchorCtr="0"/>
          <a:p>
            <a:pPr eaLnBrk="1" hangingPunct="1"/>
            <a:r>
              <a:rPr dirty="0"/>
              <a:t>Income demand </a:t>
            </a:r>
            <a:endParaRPr dirty="0"/>
          </a:p>
        </p:txBody>
      </p:sp>
      <p:sp>
        <p:nvSpPr>
          <p:cNvPr id="31747" name="Content Placeholder 2"/>
          <p:cNvSpPr>
            <a:spLocks noGrp="1"/>
          </p:cNvSpPr>
          <p:nvPr>
            <p:ph idx="1"/>
          </p:nvPr>
        </p:nvSpPr>
        <p:spPr/>
        <p:txBody>
          <a:bodyPr vert="horz" wrap="square" lIns="91440" tIns="45720" rIns="91440" bIns="45720" anchor="t" anchorCtr="0"/>
          <a:p>
            <a:pPr algn="just" eaLnBrk="1" hangingPunct="1"/>
            <a:r>
              <a:rPr dirty="0"/>
              <a:t>It refers to the various quantities of a commodity or service which would be purchased by a consumer at various level of income.</a:t>
            </a:r>
            <a:endParaRPr dirty="0"/>
          </a:p>
          <a:p>
            <a:pPr algn="just" eaLnBrk="1" hangingPunct="1"/>
            <a:r>
              <a:rPr dirty="0"/>
              <a:t>It is assumed that other things such as price, tastes and desire of consumer do not  change.</a:t>
            </a:r>
            <a:endParaRPr dirty="0"/>
          </a:p>
        </p:txBody>
      </p:sp>
    </p:spTree>
  </p:cSld>
  <p:clrMapOvr>
    <a:masterClrMapping/>
  </p:clrMapOvr>
  <p:transition advTm="40048"/>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p:txBody>
          <a:bodyPr vert="horz" wrap="square" lIns="91440" tIns="45720" rIns="91440" bIns="45720" anchor="ctr" anchorCtr="0"/>
          <a:p>
            <a:pPr eaLnBrk="1" hangingPunct="1"/>
            <a:r>
              <a:rPr dirty="0"/>
              <a:t>Cross demand </a:t>
            </a:r>
            <a:endParaRPr dirty="0"/>
          </a:p>
        </p:txBody>
      </p:sp>
      <p:sp>
        <p:nvSpPr>
          <p:cNvPr id="32771" name="Content Placeholder 2"/>
          <p:cNvSpPr>
            <a:spLocks noGrp="1"/>
          </p:cNvSpPr>
          <p:nvPr>
            <p:ph idx="1"/>
          </p:nvPr>
        </p:nvSpPr>
        <p:spPr/>
        <p:txBody>
          <a:bodyPr vert="horz" wrap="square" lIns="91440" tIns="45720" rIns="91440" bIns="45720" anchor="t" anchorCtr="0"/>
          <a:p>
            <a:pPr algn="just" eaLnBrk="1" hangingPunct="1"/>
            <a:r>
              <a:rPr dirty="0"/>
              <a:t>It refers to the various quantities of a commodity or service which will be purchased with reference to change in the price </a:t>
            </a:r>
            <a:r>
              <a:rPr dirty="0">
                <a:solidFill>
                  <a:srgbClr val="FF0000"/>
                </a:solidFill>
              </a:rPr>
              <a:t>not of this good </a:t>
            </a:r>
            <a:r>
              <a:rPr dirty="0"/>
              <a:t>but of other interrelated goods. </a:t>
            </a:r>
            <a:endParaRPr dirty="0"/>
          </a:p>
          <a:p>
            <a:pPr algn="just" eaLnBrk="1" hangingPunct="1"/>
            <a:r>
              <a:rPr dirty="0"/>
              <a:t>These goods are either substitutes or complementary goods. </a:t>
            </a:r>
            <a:endParaRPr dirty="0"/>
          </a:p>
        </p:txBody>
      </p:sp>
    </p:spTree>
  </p:cSld>
  <p:clrMapOvr>
    <a:masterClrMapping/>
  </p:clrMapOvr>
  <p:transition advTm="61238"/>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wrap="square" lIns="91440" tIns="45720" rIns="91440" bIns="45720" anchor="ctr" anchorCtr="0"/>
          <a:p>
            <a:pPr eaLnBrk="1" hangingPunct="1"/>
            <a:r>
              <a:rPr dirty="0"/>
              <a:t>Law of demand </a:t>
            </a:r>
            <a:endParaRPr dirty="0"/>
          </a:p>
        </p:txBody>
      </p:sp>
      <p:sp>
        <p:nvSpPr>
          <p:cNvPr id="33795" name="Content Placeholder 2"/>
          <p:cNvSpPr>
            <a:spLocks noGrp="1"/>
          </p:cNvSpPr>
          <p:nvPr>
            <p:ph idx="1"/>
          </p:nvPr>
        </p:nvSpPr>
        <p:spPr/>
        <p:txBody>
          <a:bodyPr vert="horz" wrap="square" lIns="91440" tIns="45720" rIns="91440" bIns="45720" anchor="t" anchorCtr="0"/>
          <a:p>
            <a:pPr eaLnBrk="1" hangingPunct="1"/>
            <a:r>
              <a:rPr dirty="0"/>
              <a:t>It can be defined as the functional relationship between price and quantity demanded.   </a:t>
            </a:r>
            <a:endParaRPr dirty="0"/>
          </a:p>
          <a:p>
            <a:pPr eaLnBrk="1" hangingPunct="1"/>
            <a:r>
              <a:rPr dirty="0"/>
              <a:t>There is inverse relationship between the price of commodity and its demand, as: </a:t>
            </a:r>
            <a:endParaRPr dirty="0"/>
          </a:p>
          <a:p>
            <a:pPr eaLnBrk="1" hangingPunct="1"/>
            <a:r>
              <a:rPr dirty="0"/>
              <a:t>Price ↑ than quantity of demand↓</a:t>
            </a:r>
            <a:endParaRPr dirty="0"/>
          </a:p>
          <a:p>
            <a:pPr eaLnBrk="1" hangingPunct="1"/>
            <a:r>
              <a:rPr dirty="0"/>
              <a:t>Price ↓ than quantity of demand ↑</a:t>
            </a:r>
            <a:endParaRPr dirty="0"/>
          </a:p>
          <a:p>
            <a:pPr eaLnBrk="1" hangingPunct="1"/>
            <a:endParaRPr dirty="0"/>
          </a:p>
        </p:txBody>
      </p:sp>
    </p:spTree>
  </p:cSld>
  <p:clrMapOvr>
    <a:masterClrMapping/>
  </p:clrMapOvr>
  <p:transition advTm="32888"/>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9" name="Picture 2"/>
          <p:cNvPicPr>
            <a:picLocks noGrp="1" noChangeAspect="1"/>
          </p:cNvPicPr>
          <p:nvPr>
            <p:ph idx="1"/>
          </p:nvPr>
        </p:nvPicPr>
        <p:blipFill>
          <a:blip r:embed="rId1"/>
          <a:srcRect/>
          <a:stretch>
            <a:fillRect/>
          </a:stretch>
        </p:blipFill>
        <p:spPr>
          <a:xfrm>
            <a:off x="2057400" y="1676400"/>
            <a:ext cx="4876800" cy="3962400"/>
          </a:xfrm>
        </p:spPr>
      </p:pic>
      <mc:AlternateContent xmlns:mc="http://schemas.openxmlformats.org/markup-compatibility/2006" xmlns:p14="http://schemas.microsoft.com/office/powerpoint/2010/main">
        <mc:Choice Requires="p14">
          <p:contentPart r:id="rId2" p14:bwMode="auto">
            <p14:nvContentPartPr>
              <p14:cNvPr id="1026" name="Ink 3"/>
              <p14:cNvContentPartPr/>
              <p14:nvPr/>
            </p14:nvContentPartPr>
            <p14:xfrm>
              <a:off x="3036888" y="2714625"/>
              <a:ext cx="1347787" cy="2366963"/>
            </p14:xfrm>
          </p:contentPart>
        </mc:Choice>
        <mc:Fallback xmlns="">
          <p:pic>
            <p:nvPicPr>
              <p:cNvPr id="1026" name="Ink 3"/>
            </p:nvPicPr>
            <p:blipFill>
              <a:blip r:embed="rId3"/>
            </p:blipFill>
            <p:spPr>
              <a:xfrm>
                <a:off x="3036888" y="2714625"/>
                <a:ext cx="1347787" cy="2366963"/>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027" name="Ink 4"/>
              <p14:cNvContentPartPr/>
              <p14:nvPr/>
            </p14:nvContentPartPr>
            <p14:xfrm>
              <a:off x="3214688" y="3884613"/>
              <a:ext cx="2125662" cy="1312862"/>
            </p14:xfrm>
          </p:contentPart>
        </mc:Choice>
        <mc:Fallback xmlns="">
          <p:pic>
            <p:nvPicPr>
              <p:cNvPr id="1027" name="Ink 4"/>
            </p:nvPicPr>
            <p:blipFill>
              <a:blip r:embed="rId5"/>
            </p:blipFill>
            <p:spPr>
              <a:xfrm>
                <a:off x="3214688" y="3884613"/>
                <a:ext cx="2125662" cy="1312862"/>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28" name="Ink 5"/>
              <p14:cNvContentPartPr/>
              <p14:nvPr/>
            </p14:nvContentPartPr>
            <p14:xfrm>
              <a:off x="3224213" y="4562475"/>
              <a:ext cx="3089275" cy="528638"/>
            </p14:xfrm>
          </p:contentPart>
        </mc:Choice>
        <mc:Fallback xmlns="">
          <p:pic>
            <p:nvPicPr>
              <p:cNvPr id="1028" name="Ink 5"/>
            </p:nvPicPr>
            <p:blipFill>
              <a:blip r:embed="rId7"/>
            </p:blipFill>
            <p:spPr>
              <a:xfrm>
                <a:off x="3224213" y="4562475"/>
                <a:ext cx="3089275" cy="528638"/>
              </a:xfrm>
              <a:prstGeom prst="rect"/>
            </p:spPr>
          </p:pic>
        </mc:Fallback>
      </mc:AlternateContent>
    </p:spTree>
  </p:cSld>
  <p:clrMapOvr>
    <a:masterClrMapping/>
  </p:clrMapOvr>
  <p:transition advTm="99008"/>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Factors influencing demand</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endParaRPr kumimoji="0" lang="en-US" sz="4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34819" name="Content Placeholder 2"/>
          <p:cNvSpPr>
            <a:spLocks noGrp="1"/>
          </p:cNvSpPr>
          <p:nvPr>
            <p:ph idx="1"/>
          </p:nvPr>
        </p:nvSpPr>
        <p:spPr/>
        <p:txBody>
          <a:bodyPr vert="horz" wrap="square" lIns="91440" tIns="45720" rIns="91440" bIns="45720" anchor="t" anchorCtr="0"/>
          <a:p>
            <a:pPr eaLnBrk="1" hangingPunct="1">
              <a:buNone/>
            </a:pPr>
            <a:r>
              <a:rPr dirty="0"/>
              <a:t>  The shape of the demand curve is influenced by the following factors:</a:t>
            </a:r>
            <a:endParaRPr dirty="0"/>
          </a:p>
          <a:p>
            <a:pPr eaLnBrk="1" hangingPunct="1"/>
            <a:r>
              <a:rPr dirty="0"/>
              <a:t> Income of the people</a:t>
            </a:r>
            <a:endParaRPr dirty="0"/>
          </a:p>
          <a:p>
            <a:pPr eaLnBrk="1" hangingPunct="1"/>
            <a:r>
              <a:rPr dirty="0"/>
              <a:t> Prices of related goods</a:t>
            </a:r>
            <a:endParaRPr dirty="0"/>
          </a:p>
          <a:p>
            <a:pPr eaLnBrk="1" hangingPunct="1"/>
            <a:r>
              <a:rPr dirty="0"/>
              <a:t> Tastes of consumers</a:t>
            </a:r>
            <a:endParaRPr dirty="0"/>
          </a:p>
        </p:txBody>
      </p:sp>
    </p:spTree>
  </p:cSld>
  <p:clrMapOvr>
    <a:masterClrMapping/>
  </p:clrMapOvr>
  <p:transition advTm="26318"/>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p:cNvSpPr>
          <p:nvPr>
            <p:ph type="title"/>
          </p:nvPr>
        </p:nvSpPr>
        <p:spPr/>
        <p:txBody>
          <a:bodyPr vert="horz" wrap="square" lIns="91440" tIns="45720" rIns="91440" bIns="45720" anchor="ctr" anchorCtr="0"/>
          <a:p>
            <a:pPr eaLnBrk="1" hangingPunct="1"/>
            <a:r>
              <a:rPr dirty="0"/>
              <a:t>Assumptions of law of demand </a:t>
            </a:r>
            <a:endParaRPr dirty="0"/>
          </a:p>
        </p:txBody>
      </p:sp>
      <p:sp>
        <p:nvSpPr>
          <p:cNvPr id="35843" name="Content Placeholder 2"/>
          <p:cNvSpPr>
            <a:spLocks noGrp="1"/>
          </p:cNvSpPr>
          <p:nvPr>
            <p:ph idx="1"/>
          </p:nvPr>
        </p:nvSpPr>
        <p:spPr/>
        <p:txBody>
          <a:bodyPr vert="horz" wrap="square" lIns="91440" tIns="45720" rIns="91440" bIns="45720" anchor="t" anchorCtr="0"/>
          <a:p>
            <a:pPr algn="just" eaLnBrk="1" hangingPunct="1"/>
            <a:r>
              <a:rPr dirty="0"/>
              <a:t>No change in the number of consumer </a:t>
            </a:r>
            <a:endParaRPr dirty="0"/>
          </a:p>
          <a:p>
            <a:pPr algn="just" eaLnBrk="1" hangingPunct="1"/>
            <a:r>
              <a:rPr dirty="0"/>
              <a:t> No change in the consumer’s income</a:t>
            </a:r>
            <a:endParaRPr dirty="0"/>
          </a:p>
          <a:p>
            <a:pPr algn="just" eaLnBrk="1" hangingPunct="1"/>
            <a:r>
              <a:rPr dirty="0"/>
              <a:t>No change in the consumer’s fashion, taste and habits</a:t>
            </a:r>
            <a:endParaRPr dirty="0"/>
          </a:p>
          <a:p>
            <a:pPr algn="just" eaLnBrk="1" hangingPunct="1"/>
            <a:r>
              <a:rPr dirty="0"/>
              <a:t>No change in the price of substitutes</a:t>
            </a:r>
            <a:endParaRPr dirty="0"/>
          </a:p>
          <a:p>
            <a:pPr algn="just" eaLnBrk="1" hangingPunct="1"/>
            <a:r>
              <a:rPr dirty="0"/>
              <a:t>No change in the external value of money  </a:t>
            </a:r>
            <a:endParaRPr dirty="0"/>
          </a:p>
        </p:txBody>
      </p:sp>
    </p:spTree>
  </p:cSld>
  <p:clrMapOvr>
    <a:masterClrMapping/>
  </p:clrMapOvr>
  <p:transition advTm="54428"/>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1"/>
          <p:cNvSpPr>
            <a:spLocks noGrp="1"/>
          </p:cNvSpPr>
          <p:nvPr>
            <p:ph type="title"/>
          </p:nvPr>
        </p:nvSpPr>
        <p:spPr/>
        <p:txBody>
          <a:bodyPr vert="horz" wrap="square" lIns="91440" tIns="45720" rIns="91440" bIns="45720" anchor="ctr" anchorCtr="0"/>
          <a:p>
            <a:pPr eaLnBrk="1" hangingPunct="1"/>
            <a:r>
              <a:rPr dirty="0"/>
              <a:t>Limitation </a:t>
            </a:r>
            <a:endParaRPr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92500" lnSpcReduction="20000"/>
          </a:bodyPr>
          <a:lstStyle/>
          <a:p>
            <a:pPr marL="0" marR="0" lvl="0" indent="0" algn="l" defTabSz="914400" rtl="0" eaLnBrk="1" fontAlgn="auto" latinLnBrk="0" hangingPunct="1">
              <a:lnSpc>
                <a:spcPct val="100000"/>
              </a:lnSpc>
              <a:spcBef>
                <a:spcPct val="20000"/>
              </a:spcBef>
              <a:spcAft>
                <a:spcPts val="0"/>
              </a:spcAft>
              <a:buClr>
                <a:schemeClr val="tx1">
                  <a:shade val="95000"/>
                </a:schemeClr>
              </a:buClr>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Under certain circumstances the prices and the demand of commodity move in the same direction. These are known as limitation/ exception of law of demand</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
                <a:schemeClr val="tx1">
                  <a:shade val="95000"/>
                </a:schemeClr>
              </a:buClr>
              <a:buSzTx/>
              <a:buFont typeface="+mj-lt"/>
              <a:buAutoNum type="arabicParenR"/>
              <a:defRPr/>
            </a:pP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Giffon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goods (inferior goods)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
                <a:schemeClr val="tx1">
                  <a:shade val="95000"/>
                </a:schemeClr>
              </a:buClr>
              <a:buSzTx/>
              <a:buFont typeface="+mj-lt"/>
              <a:buAutoNum type="arabicParen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Scare goods (scarcity of supply of commodity in future)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
                <a:schemeClr val="tx1">
                  <a:shade val="95000"/>
                </a:schemeClr>
              </a:buClr>
              <a:buSzTx/>
              <a:buFont typeface="+mj-lt"/>
              <a:buAutoNum type="arabicParen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The most precious goods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
                <a:schemeClr val="tx1">
                  <a:shade val="95000"/>
                </a:schemeClr>
              </a:buClr>
              <a:buSzTx/>
              <a:buFont typeface="+mj-lt"/>
              <a:buAutoNum type="arabicParen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Emergency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
                <a:schemeClr val="tx1">
                  <a:shade val="95000"/>
                </a:schemeClr>
              </a:buClr>
              <a:buSzTx/>
              <a:buFont typeface="+mj-lt"/>
              <a:buAutoNum type="arabicParen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Ignorance and carelessness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tx1">
                  <a:shade val="95000"/>
                </a:schemeClr>
              </a:buClr>
              <a:buSzTx/>
              <a:buFont typeface="Arial" panose="020B0604020202020204" pitchFamily="34" charset="0"/>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112718"/>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533400" y="304800"/>
            <a:ext cx="8229600" cy="1143000"/>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2400" b="0" i="0" u="none" strike="noStrike" kern="1200" cap="none" spc="0" normalizeH="0" baseline="0" noProof="0" smtClean="0">
                <a:ln>
                  <a:noFill/>
                </a:ln>
                <a:solidFill>
                  <a:schemeClr val="tx1"/>
                </a:solidFill>
                <a:effectLst/>
                <a:uLnTx/>
                <a:uFillTx/>
                <a:latin typeface="+mj-lt"/>
                <a:ea typeface="+mj-ea"/>
                <a:cs typeface="+mj-cs"/>
              </a:rPr>
            </a:br>
            <a:br>
              <a:rPr kumimoji="0" lang="en-US" sz="2400" b="0" i="0" u="none" strike="noStrike" kern="1200" cap="none" spc="0" normalizeH="0" baseline="0" noProof="0" smtClean="0">
                <a:ln>
                  <a:noFill/>
                </a:ln>
                <a:solidFill>
                  <a:schemeClr val="tx1"/>
                </a:solidFill>
                <a:effectLst/>
                <a:uLnTx/>
                <a:uFillTx/>
                <a:latin typeface="+mj-lt"/>
                <a:ea typeface="+mj-ea"/>
                <a:cs typeface="+mj-cs"/>
              </a:rPr>
            </a:br>
            <a:br>
              <a:rPr kumimoji="0" lang="en-US" sz="2400" b="0" i="0" u="none" strike="noStrike" kern="1200" cap="none" spc="0" normalizeH="0" baseline="0" noProof="0" smtClean="0">
                <a:ln>
                  <a:noFill/>
                </a:ln>
                <a:solidFill>
                  <a:schemeClr val="tx1"/>
                </a:solidFill>
                <a:effectLst/>
                <a:uLnTx/>
                <a:uFillTx/>
                <a:latin typeface="+mj-lt"/>
                <a:ea typeface="+mj-ea"/>
                <a:cs typeface="+mj-cs"/>
              </a:rPr>
            </a:br>
            <a:r>
              <a:rPr kumimoji="0" lang="en-US" sz="2400" b="0" i="0" u="none" strike="noStrike" kern="1200" cap="none" spc="0" normalizeH="0" baseline="0" noProof="0" smtClean="0">
                <a:ln>
                  <a:noFill/>
                </a:ln>
                <a:solidFill>
                  <a:schemeClr val="tx1"/>
                </a:solidFill>
                <a:effectLst/>
                <a:uLnTx/>
                <a:uFillTx/>
                <a:latin typeface="+mj-lt"/>
                <a:ea typeface="+mj-ea"/>
                <a:cs typeface="+mj-cs"/>
              </a:rPr>
              <a:t>It is positively sloped as</a:t>
            </a:r>
            <a:br>
              <a:rPr kumimoji="0" lang="en-US" sz="2400" b="0" i="0" u="none" strike="noStrike" kern="1200" cap="none" spc="0" normalizeH="0" baseline="0" noProof="0" smtClean="0">
                <a:ln>
                  <a:noFill/>
                </a:ln>
                <a:solidFill>
                  <a:schemeClr val="tx1"/>
                </a:solidFill>
                <a:effectLst/>
                <a:uLnTx/>
                <a:uFillTx/>
                <a:latin typeface="+mj-lt"/>
                <a:ea typeface="+mj-ea"/>
                <a:cs typeface="+mj-cs"/>
              </a:rPr>
            </a:br>
            <a:br>
              <a:rPr kumimoji="0" lang="en-US" sz="2400" b="0" i="0" u="none" strike="noStrike" kern="1200" cap="none" spc="0" normalizeH="0" baseline="0" noProof="0" smtClean="0">
                <a:ln>
                  <a:noFill/>
                </a:ln>
                <a:solidFill>
                  <a:schemeClr val="tx1"/>
                </a:solidFill>
                <a:effectLst/>
                <a:uLnTx/>
                <a:uFillTx/>
                <a:latin typeface="+mj-lt"/>
                <a:ea typeface="+mj-ea"/>
                <a:cs typeface="+mj-cs"/>
              </a:rPr>
            </a:br>
            <a:r>
              <a:rPr kumimoji="0" lang="en-US" sz="2400" b="0" i="0" u="none" strike="noStrike" kern="1200" cap="none" spc="0" normalizeH="0" baseline="0" noProof="0" smtClean="0">
                <a:ln>
                  <a:noFill/>
                </a:ln>
                <a:solidFill>
                  <a:schemeClr val="tx1"/>
                </a:solidFill>
                <a:effectLst/>
                <a:uLnTx/>
                <a:uFillTx/>
                <a:latin typeface="+mj-lt"/>
                <a:ea typeface="+mj-ea"/>
                <a:cs typeface="+mj-cs"/>
              </a:rPr>
              <a:t>Price ↑ than quantity of demand ↑</a:t>
            </a:r>
            <a:br>
              <a:rPr kumimoji="0" lang="en-US" sz="2400" b="0" i="0" u="none" strike="noStrike" kern="1200" cap="none" spc="0" normalizeH="0" baseline="0" noProof="0" smtClean="0">
                <a:ln>
                  <a:noFill/>
                </a:ln>
                <a:solidFill>
                  <a:schemeClr val="tx1"/>
                </a:solidFill>
                <a:effectLst/>
                <a:uLnTx/>
                <a:uFillTx/>
                <a:latin typeface="+mj-lt"/>
                <a:ea typeface="+mj-ea"/>
                <a:cs typeface="+mj-cs"/>
              </a:rPr>
            </a:br>
            <a:r>
              <a:rPr kumimoji="0" lang="en-US" sz="2400" b="0" i="0" u="none" strike="noStrike" kern="1200" cap="none" spc="0" normalizeH="0" baseline="0" noProof="0" smtClean="0">
                <a:ln>
                  <a:noFill/>
                </a:ln>
                <a:solidFill>
                  <a:schemeClr val="tx1"/>
                </a:solidFill>
                <a:effectLst/>
                <a:uLnTx/>
                <a:uFillTx/>
                <a:latin typeface="+mj-lt"/>
                <a:ea typeface="+mj-ea"/>
                <a:cs typeface="+mj-cs"/>
              </a:rPr>
              <a:t>Price ↓ than quantity of demand ↓</a:t>
            </a:r>
            <a:br>
              <a:rPr kumimoji="0" lang="en-US" sz="2400" b="0" i="0" u="none" strike="noStrike" kern="1200" cap="none" spc="0" normalizeH="0" baseline="0" noProof="0" smtClean="0">
                <a:ln>
                  <a:noFill/>
                </a:ln>
                <a:solidFill>
                  <a:schemeClr val="tx1"/>
                </a:solidFill>
                <a:effectLst/>
                <a:uLnTx/>
                <a:uFillTx/>
                <a:latin typeface="+mj-lt"/>
                <a:ea typeface="+mj-ea"/>
                <a:cs typeface="+mj-cs"/>
              </a:rPr>
            </a:br>
            <a:endParaRPr kumimoji="0" lang="en-US" sz="2400" b="0" i="0" u="none" strike="noStrike" kern="1200" cap="none" spc="0" normalizeH="0" baseline="0" noProof="0" smtClean="0">
              <a:ln>
                <a:noFill/>
              </a:ln>
              <a:solidFill>
                <a:schemeClr val="tx1"/>
              </a:solidFill>
              <a:effectLst/>
              <a:uLnTx/>
              <a:uFillTx/>
              <a:latin typeface="+mj-lt"/>
              <a:ea typeface="+mj-ea"/>
              <a:cs typeface="+mj-cs"/>
            </a:endParaRPr>
          </a:p>
        </p:txBody>
      </p:sp>
      <p:pic>
        <p:nvPicPr>
          <p:cNvPr id="37891" name="Picture 2"/>
          <p:cNvPicPr>
            <a:picLocks noGrp="1" noChangeAspect="1"/>
          </p:cNvPicPr>
          <p:nvPr>
            <p:ph idx="1"/>
          </p:nvPr>
        </p:nvPicPr>
        <p:blipFill>
          <a:blip r:embed="rId1"/>
          <a:srcRect/>
          <a:stretch>
            <a:fillRect/>
          </a:stretch>
        </p:blipFill>
        <p:spPr>
          <a:xfrm>
            <a:off x="2814638" y="2382838"/>
            <a:ext cx="3514725" cy="2962275"/>
          </a:xfrm>
        </p:spPr>
      </p:pic>
    </p:spTree>
  </p:cSld>
  <p:clrMapOvr>
    <a:masterClrMapping/>
  </p:clrMapOvr>
  <p:transition advTm="15228"/>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Content Placeholder 2"/>
          <p:cNvSpPr>
            <a:spLocks noGrp="1"/>
          </p:cNvSpPr>
          <p:nvPr>
            <p:ph idx="1"/>
          </p:nvPr>
        </p:nvSpPr>
        <p:spPr>
          <a:xfrm>
            <a:off x="457200" y="685800"/>
            <a:ext cx="8229600" cy="5440363"/>
          </a:xfrm>
        </p:spPr>
        <p:txBody>
          <a:bodyPr vert="horz" wrap="square" lIns="91440" tIns="45720" rIns="91440" bIns="45720" anchor="t" anchorCtr="0"/>
          <a:p>
            <a:pPr algn="just" eaLnBrk="1" hangingPunct="1"/>
            <a:r>
              <a:rPr dirty="0"/>
              <a:t>This behavior of consumer is called as “law of demand”.</a:t>
            </a:r>
            <a:endParaRPr dirty="0"/>
          </a:p>
          <a:p>
            <a:pPr algn="just" eaLnBrk="1" hangingPunct="1"/>
            <a:r>
              <a:rPr dirty="0"/>
              <a:t>“There is an inverse relationship between the quantity demanded and the price of the commodity, with the condition that the income of the consumers and prices of substitutes remaining unchanged”.   </a:t>
            </a:r>
            <a:endParaRPr dirty="0"/>
          </a:p>
        </p:txBody>
      </p:sp>
    </p:spTree>
  </p:cSld>
  <p:clrMapOvr>
    <a:masterClrMapping/>
  </p:clrMapOvr>
  <p:transition advTm="37508"/>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1026"/>
          <p:cNvSpPr>
            <a:spLocks noGrp="1"/>
          </p:cNvSpPr>
          <p:nvPr>
            <p:ph type="title"/>
          </p:nvPr>
        </p:nvSpPr>
        <p:spPr>
          <a:xfrm>
            <a:off x="609600" y="228600"/>
            <a:ext cx="8229600" cy="1143000"/>
          </a:xfrm>
        </p:spPr>
        <p:txBody>
          <a:bodyPr vert="horz" wrap="square" lIns="92075" tIns="46038" rIns="92075" bIns="46038" anchor="ctr" anchorCtr="0"/>
          <a:p>
            <a:pPr eaLnBrk="1" hangingPunct="1"/>
            <a:r>
              <a:rPr sz="2800" dirty="0"/>
              <a:t>A movement in Demand curve Versus a shift of Demand curve</a:t>
            </a:r>
            <a:endParaRPr sz="2800" dirty="0"/>
          </a:p>
        </p:txBody>
      </p:sp>
      <p:grpSp>
        <p:nvGrpSpPr>
          <p:cNvPr id="2" name="Group 1077"/>
          <p:cNvGrpSpPr/>
          <p:nvPr/>
        </p:nvGrpSpPr>
        <p:grpSpPr>
          <a:xfrm>
            <a:off x="685800" y="2057400"/>
            <a:ext cx="7772400" cy="1917700"/>
            <a:chOff x="432" y="1296"/>
            <a:chExt cx="4800" cy="1012"/>
          </a:xfrm>
        </p:grpSpPr>
        <p:sp>
          <p:nvSpPr>
            <p:cNvPr id="39945" name="Text Box 1058"/>
            <p:cNvSpPr txBox="1"/>
            <p:nvPr/>
          </p:nvSpPr>
          <p:spPr>
            <a:xfrm>
              <a:off x="432" y="1296"/>
              <a:ext cx="4800" cy="1012"/>
            </a:xfrm>
            <a:prstGeom prst="rect">
              <a:avLst/>
            </a:prstGeom>
            <a:solidFill>
              <a:srgbClr val="C0C0C0">
                <a:alpha val="50195"/>
              </a:srgbClr>
            </a:solidFill>
            <a:ln w="12700">
              <a:noFill/>
            </a:ln>
          </p:spPr>
          <p:txBody>
            <a:bodyPr>
              <a:spAutoFit/>
            </a:bodyPr>
            <a:p>
              <a:pPr marL="282575" indent="-282575" eaLnBrk="0" hangingPunct="0"/>
              <a:r>
                <a:rPr dirty="0">
                  <a:latin typeface="Arial" panose="020B0604020202020204" pitchFamily="34" charset="0"/>
                </a:rPr>
                <a:t>Change in price of a good or service</a:t>
              </a:r>
              <a:endParaRPr dirty="0">
                <a:latin typeface="Arial" panose="020B0604020202020204" pitchFamily="34" charset="0"/>
              </a:endParaRPr>
            </a:p>
            <a:p>
              <a:pPr marL="282575" indent="-282575" eaLnBrk="0" hangingPunct="0"/>
              <a:r>
                <a:rPr dirty="0">
                  <a:latin typeface="Arial" panose="020B0604020202020204" pitchFamily="34" charset="0"/>
                </a:rPr>
                <a:t>         leads to</a:t>
              </a:r>
              <a:endParaRPr dirty="0">
                <a:latin typeface="Arial" panose="020B0604020202020204" pitchFamily="34" charset="0"/>
              </a:endParaRPr>
            </a:p>
            <a:p>
              <a:pPr marL="282575" indent="-282575" eaLnBrk="0" hangingPunct="0"/>
              <a:endParaRPr dirty="0">
                <a:latin typeface="Arial" panose="020B0604020202020204" pitchFamily="34" charset="0"/>
              </a:endParaRPr>
            </a:p>
            <a:p>
              <a:pPr marL="282575" indent="-282575" eaLnBrk="0" hangingPunct="0"/>
              <a:r>
                <a:rPr dirty="0">
                  <a:latin typeface="Arial" panose="020B0604020202020204" pitchFamily="34" charset="0"/>
                </a:rPr>
                <a:t>		Change in </a:t>
              </a:r>
              <a:r>
                <a:rPr i="1" dirty="0">
                  <a:latin typeface="Arial" panose="020B0604020202020204" pitchFamily="34" charset="0"/>
                </a:rPr>
                <a:t>quantity demanded</a:t>
              </a:r>
              <a:br>
                <a:rPr i="1" dirty="0">
                  <a:latin typeface="Arial" panose="020B0604020202020204" pitchFamily="34" charset="0"/>
                </a:rPr>
              </a:br>
              <a:r>
                <a:rPr i="1" dirty="0">
                  <a:latin typeface="Arial" panose="020B0604020202020204" pitchFamily="34" charset="0"/>
                </a:rPr>
                <a:t>	</a:t>
              </a:r>
              <a:r>
                <a:rPr dirty="0">
                  <a:latin typeface="Arial" panose="020B0604020202020204" pitchFamily="34" charset="0"/>
                </a:rPr>
                <a:t>(</a:t>
              </a:r>
              <a:r>
                <a:rPr b="1" dirty="0">
                  <a:latin typeface="Arial" panose="020B0604020202020204" pitchFamily="34" charset="0"/>
                </a:rPr>
                <a:t>Movement along the curve</a:t>
              </a:r>
              <a:r>
                <a:rPr dirty="0">
                  <a:latin typeface="Arial" panose="020B0604020202020204" pitchFamily="34" charset="0"/>
                </a:rPr>
                <a:t>).</a:t>
              </a:r>
              <a:endParaRPr dirty="0">
                <a:latin typeface="Arial" panose="020B0604020202020204" pitchFamily="34" charset="0"/>
              </a:endParaRPr>
            </a:p>
          </p:txBody>
        </p:sp>
        <p:sp>
          <p:nvSpPr>
            <p:cNvPr id="39946" name="Freeform 1063"/>
            <p:cNvSpPr/>
            <p:nvPr/>
          </p:nvSpPr>
          <p:spPr>
            <a:xfrm>
              <a:off x="636" y="1678"/>
              <a:ext cx="372" cy="508"/>
            </a:xfrm>
            <a:custGeom>
              <a:avLst/>
              <a:gdLst>
                <a:gd name="txL" fmla="*/ 0 w 349"/>
                <a:gd name="txT" fmla="*/ 0 h 604"/>
                <a:gd name="txR" fmla="*/ 349 w 349"/>
                <a:gd name="txB" fmla="*/ 604 h 604"/>
              </a:gdLst>
              <a:ahLst/>
              <a:cxnLst>
                <a:cxn ang="0">
                  <a:pos x="0" y="0"/>
                </a:cxn>
                <a:cxn ang="0">
                  <a:pos x="0" y="107"/>
                </a:cxn>
                <a:cxn ang="0">
                  <a:pos x="662" y="107"/>
                </a:cxn>
              </a:cxnLst>
              <a:rect l="txL" t="txT" r="txR" b="txB"/>
              <a:pathLst>
                <a:path w="349" h="604">
                  <a:moveTo>
                    <a:pt x="0" y="0"/>
                  </a:moveTo>
                  <a:lnTo>
                    <a:pt x="0" y="604"/>
                  </a:lnTo>
                  <a:lnTo>
                    <a:pt x="349" y="604"/>
                  </a:lnTo>
                </a:path>
              </a:pathLst>
            </a:custGeom>
            <a:solidFill>
              <a:srgbClr val="C0C0C0">
                <a:alpha val="50195"/>
              </a:srgbClr>
            </a:solidFill>
            <a:ln w="25400" cap="flat" cmpd="sng">
              <a:solidFill>
                <a:srgbClr val="FF9900"/>
              </a:solidFill>
              <a:prstDash val="solid"/>
              <a:round/>
              <a:headEnd type="none" w="med" len="med"/>
              <a:tailEnd type="triangle" w="med" len="med"/>
            </a:ln>
          </p:spPr>
          <p:txBody>
            <a:bodyPr/>
            <a:p>
              <a:endParaRPr dirty="0">
                <a:latin typeface="Arial" panose="020B0604020202020204" pitchFamily="34" charset="0"/>
              </a:endParaRPr>
            </a:p>
          </p:txBody>
        </p:sp>
      </p:grpSp>
      <p:grpSp>
        <p:nvGrpSpPr>
          <p:cNvPr id="3" name="Group 1078"/>
          <p:cNvGrpSpPr/>
          <p:nvPr/>
        </p:nvGrpSpPr>
        <p:grpSpPr>
          <a:xfrm>
            <a:off x="685800" y="4191000"/>
            <a:ext cx="7772400" cy="2282825"/>
            <a:chOff x="432" y="2640"/>
            <a:chExt cx="4800" cy="1438"/>
          </a:xfrm>
        </p:grpSpPr>
        <p:sp>
          <p:nvSpPr>
            <p:cNvPr id="39943" name="Text Box 1059"/>
            <p:cNvSpPr txBox="1"/>
            <p:nvPr/>
          </p:nvSpPr>
          <p:spPr>
            <a:xfrm>
              <a:off x="432" y="2640"/>
              <a:ext cx="4800" cy="1438"/>
            </a:xfrm>
            <a:prstGeom prst="rect">
              <a:avLst/>
            </a:prstGeom>
            <a:solidFill>
              <a:srgbClr val="C0C0C0">
                <a:alpha val="50195"/>
              </a:srgbClr>
            </a:solidFill>
            <a:ln w="12700">
              <a:noFill/>
            </a:ln>
          </p:spPr>
          <p:txBody>
            <a:bodyPr>
              <a:spAutoFit/>
            </a:bodyPr>
            <a:p>
              <a:pPr marL="282575" indent="-282575" eaLnBrk="0" hangingPunct="0"/>
              <a:r>
                <a:rPr dirty="0">
                  <a:latin typeface="Arial" panose="020B0604020202020204" pitchFamily="34" charset="0"/>
                </a:rPr>
                <a:t>Change in income, preferences, or</a:t>
              </a:r>
              <a:br>
                <a:rPr dirty="0">
                  <a:latin typeface="Arial" panose="020B0604020202020204" pitchFamily="34" charset="0"/>
                </a:rPr>
              </a:br>
              <a:r>
                <a:rPr dirty="0">
                  <a:latin typeface="Arial" panose="020B0604020202020204" pitchFamily="34" charset="0"/>
                </a:rPr>
                <a:t>prices of other goods or services</a:t>
              </a:r>
              <a:endParaRPr dirty="0">
                <a:latin typeface="Arial" panose="020B0604020202020204" pitchFamily="34" charset="0"/>
              </a:endParaRPr>
            </a:p>
            <a:p>
              <a:pPr marL="282575" indent="-282575" eaLnBrk="0" hangingPunct="0"/>
              <a:r>
                <a:rPr dirty="0">
                  <a:latin typeface="Arial" panose="020B0604020202020204" pitchFamily="34" charset="0"/>
                </a:rPr>
                <a:t>         leads to</a:t>
              </a:r>
              <a:endParaRPr dirty="0">
                <a:latin typeface="Arial" panose="020B0604020202020204" pitchFamily="34" charset="0"/>
              </a:endParaRPr>
            </a:p>
            <a:p>
              <a:pPr marL="282575" indent="-282575" eaLnBrk="0" hangingPunct="0"/>
              <a:endParaRPr dirty="0">
                <a:latin typeface="Arial" panose="020B0604020202020204" pitchFamily="34" charset="0"/>
              </a:endParaRPr>
            </a:p>
            <a:p>
              <a:pPr marL="282575" indent="-282575" eaLnBrk="0" hangingPunct="0"/>
              <a:r>
                <a:rPr dirty="0">
                  <a:latin typeface="Arial" panose="020B0604020202020204" pitchFamily="34" charset="0"/>
                </a:rPr>
                <a:t>		Change in demand</a:t>
              </a:r>
              <a:br>
                <a:rPr dirty="0">
                  <a:latin typeface="Arial" panose="020B0604020202020204" pitchFamily="34" charset="0"/>
                </a:rPr>
              </a:br>
              <a:r>
                <a:rPr dirty="0">
                  <a:latin typeface="Arial" panose="020B0604020202020204" pitchFamily="34" charset="0"/>
                </a:rPr>
                <a:t>	(</a:t>
              </a:r>
              <a:r>
                <a:rPr b="1" dirty="0">
                  <a:latin typeface="Arial" panose="020B0604020202020204" pitchFamily="34" charset="0"/>
                </a:rPr>
                <a:t>Shift of curve</a:t>
              </a:r>
              <a:r>
                <a:rPr dirty="0">
                  <a:latin typeface="Arial" panose="020B0604020202020204" pitchFamily="34" charset="0"/>
                </a:rPr>
                <a:t>).</a:t>
              </a:r>
              <a:endParaRPr dirty="0">
                <a:latin typeface="Arial" panose="020B0604020202020204" pitchFamily="34" charset="0"/>
              </a:endParaRPr>
            </a:p>
          </p:txBody>
        </p:sp>
        <p:sp>
          <p:nvSpPr>
            <p:cNvPr id="39944" name="Freeform 1064"/>
            <p:cNvSpPr/>
            <p:nvPr/>
          </p:nvSpPr>
          <p:spPr>
            <a:xfrm>
              <a:off x="624" y="3214"/>
              <a:ext cx="349" cy="508"/>
            </a:xfrm>
            <a:custGeom>
              <a:avLst/>
              <a:gdLst>
                <a:gd name="txL" fmla="*/ 0 w 349"/>
                <a:gd name="txT" fmla="*/ 0 h 604"/>
                <a:gd name="txR" fmla="*/ 349 w 349"/>
                <a:gd name="txB" fmla="*/ 604 h 604"/>
              </a:gdLst>
              <a:ahLst/>
              <a:cxnLst>
                <a:cxn ang="0">
                  <a:pos x="0" y="0"/>
                </a:cxn>
                <a:cxn ang="0">
                  <a:pos x="0" y="107"/>
                </a:cxn>
                <a:cxn ang="0">
                  <a:pos x="349" y="107"/>
                </a:cxn>
              </a:cxnLst>
              <a:rect l="txL" t="txT" r="txR" b="txB"/>
              <a:pathLst>
                <a:path w="349" h="604">
                  <a:moveTo>
                    <a:pt x="0" y="0"/>
                  </a:moveTo>
                  <a:lnTo>
                    <a:pt x="0" y="604"/>
                  </a:lnTo>
                  <a:lnTo>
                    <a:pt x="349" y="604"/>
                  </a:lnTo>
                </a:path>
              </a:pathLst>
            </a:custGeom>
            <a:noFill/>
            <a:ln w="25400" cap="flat" cmpd="sng">
              <a:solidFill>
                <a:srgbClr val="FF9900"/>
              </a:solidFill>
              <a:prstDash val="solid"/>
              <a:round/>
              <a:headEnd type="none" w="med" len="med"/>
              <a:tailEnd type="triangle" w="med" len="med"/>
            </a:ln>
          </p:spPr>
          <p:txBody>
            <a:bodyPr/>
            <a:p>
              <a:endParaRPr dirty="0">
                <a:latin typeface="Arial" panose="020B0604020202020204" pitchFamily="34" charset="0"/>
              </a:endParaRPr>
            </a:p>
          </p:txBody>
        </p:sp>
      </p:grpSp>
      <p:pic>
        <p:nvPicPr>
          <p:cNvPr id="50233" name="Picture 1081" descr="C:\Prentice Hall\CaseFair\presentations\Cf03\images\optimized\movealong2.gif"/>
          <p:cNvPicPr>
            <a:picLocks noChangeAspect="1"/>
          </p:cNvPicPr>
          <p:nvPr/>
        </p:nvPicPr>
        <p:blipFill>
          <a:blip r:embed="rId1"/>
          <a:stretch>
            <a:fillRect/>
          </a:stretch>
        </p:blipFill>
        <p:spPr>
          <a:xfrm>
            <a:off x="5867400" y="2043113"/>
            <a:ext cx="2514600" cy="1919287"/>
          </a:xfrm>
          <a:prstGeom prst="rect">
            <a:avLst/>
          </a:prstGeom>
          <a:noFill/>
          <a:ln w="9525">
            <a:noFill/>
          </a:ln>
        </p:spPr>
      </p:pic>
      <p:pic>
        <p:nvPicPr>
          <p:cNvPr id="50234" name="Picture 1082" descr="C:\Prentice Hall\CaseFair\presentations\Cf03\images\optimized\movealong5.gif"/>
          <p:cNvPicPr>
            <a:picLocks noChangeAspect="1"/>
          </p:cNvPicPr>
          <p:nvPr/>
        </p:nvPicPr>
        <p:blipFill>
          <a:blip r:embed="rId2"/>
          <a:stretch>
            <a:fillRect/>
          </a:stretch>
        </p:blipFill>
        <p:spPr>
          <a:xfrm>
            <a:off x="5867400" y="4321175"/>
            <a:ext cx="2587625" cy="2079625"/>
          </a:xfrm>
          <a:prstGeom prst="rect">
            <a:avLst/>
          </a:prstGeom>
          <a:noFill/>
          <a:ln w="9525">
            <a:noFill/>
          </a:ln>
        </p:spPr>
      </p:pic>
    </p:spTree>
    <p:custDataLst>
      <p:tags r:id="rId3"/>
    </p:custDataLst>
  </p:cSld>
  <p:clrMapOvr>
    <a:masterClrMapping/>
  </p:clrMapOvr>
  <p:transition advTm="10640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0233"/>
                                        </p:tgtEl>
                                        <p:attrNameLst>
                                          <p:attrName>style.visibility</p:attrName>
                                        </p:attrNameLst>
                                      </p:cBhvr>
                                      <p:to>
                                        <p:strVal val="visible"/>
                                      </p:to>
                                    </p:set>
                                    <p:animEffect transition="in" filter="box(out)">
                                      <p:cBhvr>
                                        <p:cTn id="12" dur="500"/>
                                        <p:tgtEl>
                                          <p:spTgt spid="502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0234"/>
                                        </p:tgtEl>
                                        <p:attrNameLst>
                                          <p:attrName>style.visibility</p:attrName>
                                        </p:attrNameLst>
                                      </p:cBhvr>
                                      <p:to>
                                        <p:strVal val="visible"/>
                                      </p:to>
                                    </p:set>
                                    <p:animEffect transition="in" filter="box(out)">
                                      <p:cBhvr>
                                        <p:cTn id="22" dur="500"/>
                                        <p:tgtEl>
                                          <p:spTgt spid="50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9600" b="0" i="0" u="none" strike="noStrike" kern="1200" cap="none" spc="0" normalizeH="0" baseline="0" noProof="0" smtClean="0">
                <a:ln>
                  <a:noFill/>
                </a:ln>
                <a:solidFill>
                  <a:schemeClr val="tx1"/>
                </a:solidFill>
                <a:effectLst/>
                <a:uLnTx/>
                <a:uFillTx/>
                <a:latin typeface="Comic Sans MS" panose="030F0702030302020204" pitchFamily="66" charset="0"/>
                <a:ea typeface="+mj-ea"/>
                <a:cs typeface="+mj-cs"/>
              </a:rPr>
              <a:t>SUPPLY</a:t>
            </a:r>
            <a:endParaRPr kumimoji="0" lang="en-US" sz="9600" b="0" i="0" u="none" strike="noStrike" kern="1200" cap="none" spc="0" normalizeH="0" baseline="0" noProof="0" smtClean="0">
              <a:ln>
                <a:noFill/>
              </a:ln>
              <a:solidFill>
                <a:schemeClr val="tx1"/>
              </a:solidFill>
              <a:effectLst/>
              <a:uLnTx/>
              <a:uFillTx/>
              <a:latin typeface="Comic Sans MS" panose="030F0702030302020204" pitchFamily="66" charset="0"/>
              <a:ea typeface="+mj-ea"/>
              <a:cs typeface="+mj-cs"/>
            </a:endParaRPr>
          </a:p>
        </p:txBody>
      </p:sp>
      <p:sp>
        <p:nvSpPr>
          <p:cNvPr id="40963" name="Content Placeholder 2"/>
          <p:cNvSpPr>
            <a:spLocks noGrp="1"/>
          </p:cNvSpPr>
          <p:nvPr>
            <p:ph idx="1"/>
          </p:nvPr>
        </p:nvSpPr>
        <p:spPr/>
        <p:txBody>
          <a:bodyPr vert="horz" wrap="square" lIns="91440" tIns="45720" rIns="91440" bIns="45720" numCol="1" rtlCol="0" anchor="t" anchorCtr="0" compatLnSpc="1">
            <a:normAutofit lnSpcReduction="10000"/>
          </a:bodyPr>
          <a:lstStyle/>
          <a:p>
            <a:pPr marL="420370" marR="0" lvl="0" indent="-384175"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Supply of a commodity means quantity of the commodity which is actually offered for sale at a given price during some particular time.</a:t>
            </a:r>
            <a:br>
              <a:rPr kumimoji="0" lang="en-US" sz="3200" b="0" i="0" u="none" strike="noStrike" kern="1200" cap="none" spc="0" normalizeH="0" baseline="0" noProof="0" smtClean="0">
                <a:ln>
                  <a:noFill/>
                </a:ln>
                <a:solidFill>
                  <a:schemeClr val="tx1"/>
                </a:solidFill>
                <a:effectLst/>
                <a:uLnTx/>
                <a:uFillTx/>
                <a:latin typeface="+mn-lt"/>
                <a:ea typeface="+mn-ea"/>
                <a:cs typeface="+mn-cs"/>
              </a:rPr>
            </a:b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420370" marR="0" lvl="0" indent="-384175"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The definition of supply is complete when it has the following elements:</a:t>
            </a:r>
            <a:br>
              <a:rPr kumimoji="0" lang="en-US" sz="3200" b="0" i="0" u="none" strike="noStrike" kern="1200" cap="none" spc="0" normalizeH="0" baseline="0" noProof="0" smtClean="0">
                <a:ln>
                  <a:noFill/>
                </a:ln>
                <a:solidFill>
                  <a:schemeClr val="tx1"/>
                </a:solidFill>
                <a:effectLst/>
                <a:uLnTx/>
                <a:uFillTx/>
                <a:latin typeface="+mn-lt"/>
                <a:ea typeface="+mn-ea"/>
                <a:cs typeface="+mn-cs"/>
              </a:rPr>
            </a:br>
            <a:r>
              <a:rPr kumimoji="0" lang="en-US" sz="3200" b="0" i="0" u="none" strike="noStrike" kern="1200" cap="none" spc="0" normalizeH="0" baseline="0" noProof="0" smtClean="0">
                <a:ln>
                  <a:noFill/>
                </a:ln>
                <a:solidFill>
                  <a:schemeClr val="tx1"/>
                </a:solidFill>
                <a:effectLst/>
                <a:uLnTx/>
                <a:uFillTx/>
                <a:latin typeface="+mn-lt"/>
                <a:ea typeface="+mn-ea"/>
                <a:cs typeface="+mn-cs"/>
              </a:rPr>
              <a:t>(i) Quantity of a commodity offered for sale;</a:t>
            </a:r>
            <a:br>
              <a:rPr kumimoji="0" lang="en-US" sz="3200" b="0" i="0" u="none" strike="noStrike" kern="1200" cap="none" spc="0" normalizeH="0" baseline="0" noProof="0" smtClean="0">
                <a:ln>
                  <a:noFill/>
                </a:ln>
                <a:solidFill>
                  <a:schemeClr val="tx1"/>
                </a:solidFill>
                <a:effectLst/>
                <a:uLnTx/>
                <a:uFillTx/>
                <a:latin typeface="+mn-lt"/>
                <a:ea typeface="+mn-ea"/>
                <a:cs typeface="+mn-cs"/>
              </a:rPr>
            </a:br>
            <a:r>
              <a:rPr kumimoji="0" lang="en-US" sz="3200" b="0" i="0" u="none" strike="noStrike" kern="1200" cap="none" spc="0" normalizeH="0" baseline="0" noProof="0" smtClean="0">
                <a:ln>
                  <a:noFill/>
                </a:ln>
                <a:solidFill>
                  <a:schemeClr val="tx1"/>
                </a:solidFill>
                <a:effectLst/>
                <a:uLnTx/>
                <a:uFillTx/>
                <a:latin typeface="+mn-lt"/>
                <a:ea typeface="+mn-ea"/>
                <a:cs typeface="+mn-cs"/>
              </a:rPr>
              <a:t>(ii) Price of the commodity; and</a:t>
            </a:r>
            <a:br>
              <a:rPr kumimoji="0" lang="en-US" sz="3200" b="0" i="0" u="none" strike="noStrike" kern="1200" cap="none" spc="0" normalizeH="0" baseline="0" noProof="0" smtClean="0">
                <a:ln>
                  <a:noFill/>
                </a:ln>
                <a:solidFill>
                  <a:schemeClr val="tx1"/>
                </a:solidFill>
                <a:effectLst/>
                <a:uLnTx/>
                <a:uFillTx/>
                <a:latin typeface="+mn-lt"/>
                <a:ea typeface="+mn-ea"/>
                <a:cs typeface="+mn-cs"/>
              </a:rPr>
            </a:br>
            <a:r>
              <a:rPr kumimoji="0" lang="en-US" sz="3200" b="0" i="0" u="none" strike="noStrike" kern="1200" cap="none" spc="0" normalizeH="0" baseline="0" noProof="0" smtClean="0">
                <a:ln>
                  <a:noFill/>
                </a:ln>
                <a:solidFill>
                  <a:schemeClr val="tx1"/>
                </a:solidFill>
                <a:effectLst/>
                <a:uLnTx/>
                <a:uFillTx/>
                <a:latin typeface="+mn-lt"/>
                <a:ea typeface="+mn-ea"/>
                <a:cs typeface="+mn-cs"/>
              </a:rPr>
              <a:t>(iii) Time during which the quantity is offered.</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pic>
        <p:nvPicPr>
          <p:cNvPr id="5" name="~PP1151.WAV">
            <a:hlinkClick r:id="" action="ppaction://media"/>
          </p:cNvPr>
          <p:cNvPicPr>
            <a:picLocks noRot="1" noChangeAspect="1"/>
          </p:cNvPicPr>
          <p:nvPr>
            <a:wavAudioFile r:embed="rId1" name="~PP115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868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ctrTitle"/>
          </p:nvPr>
        </p:nvSpPr>
        <p:spPr>
          <a:xfrm>
            <a:off x="457200" y="0"/>
            <a:ext cx="7772400" cy="1470025"/>
          </a:xfrm>
        </p:spPr>
        <p:txBody>
          <a:bodyPr vert="horz" wrap="square" lIns="91440" tIns="45720" rIns="91440" bIns="45720" anchor="ctr" anchorCtr="0"/>
          <a:p>
            <a:pPr eaLnBrk="1" hangingPunct="1">
              <a:buClrTx/>
              <a:buSzTx/>
              <a:buFontTx/>
            </a:pPr>
            <a:r>
              <a:rPr sz="5400" dirty="0">
                <a:solidFill>
                  <a:srgbClr val="3333CC"/>
                </a:solidFill>
                <a:latin typeface="Comic Sans MS" panose="030F0702030302020204" pitchFamily="66" charset="0"/>
              </a:rPr>
              <a:t>THE LAW OF SUPPLY</a:t>
            </a:r>
            <a:endParaRPr sz="5400" dirty="0">
              <a:solidFill>
                <a:srgbClr val="3333CC"/>
              </a:solidFill>
              <a:latin typeface="Comic Sans MS" panose="030F0702030302020204" pitchFamily="66" charset="0"/>
            </a:endParaRPr>
          </a:p>
        </p:txBody>
      </p:sp>
      <p:sp>
        <p:nvSpPr>
          <p:cNvPr id="4099" name="Rectangle 3"/>
          <p:cNvSpPr>
            <a:spLocks noGrp="1" noChangeArrowheads="1"/>
          </p:cNvSpPr>
          <p:nvPr>
            <p:ph type="subTitle" idx="1"/>
          </p:nvPr>
        </p:nvSpPr>
        <p:spPr>
          <a:xfrm>
            <a:off x="914400" y="1600200"/>
            <a:ext cx="7010400" cy="4572000"/>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80000"/>
              </a:lnSpc>
              <a:spcBef>
                <a:spcPct val="20000"/>
              </a:spcBef>
              <a:spcAft>
                <a:spcPts val="0"/>
              </a:spcAft>
              <a:buClrTx/>
              <a:buSzTx/>
              <a:buFontTx/>
              <a:buChar char="•"/>
              <a:defRPr/>
            </a:pPr>
            <a:endParaRPr kumimoji="0" lang="en-US" sz="2400" b="0" i="0" u="none" strike="noStrike" kern="1200" cap="none" spc="0" normalizeH="0" baseline="0" noProof="0" smtClean="0">
              <a:ln>
                <a:noFill/>
              </a:ln>
              <a:solidFill>
                <a:srgbClr val="FF0000"/>
              </a:solidFill>
              <a:effectLst/>
              <a:uLnTx/>
              <a:uFillTx/>
              <a:latin typeface="+mn-lt"/>
              <a:ea typeface="+mn-ea"/>
              <a:cs typeface="+mn-cs"/>
            </a:endParaRPr>
          </a:p>
          <a:p>
            <a:pPr marL="0" marR="0" lvl="0" indent="0" algn="l" defTabSz="914400" rtl="0" eaLnBrk="1" fontAlgn="auto" latinLnBrk="0" hangingPunct="1">
              <a:lnSpc>
                <a:spcPct val="8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rPr>
              <a:t>‘Law of supply states that </a:t>
            </a:r>
            <a:r>
              <a:rPr kumimoji="0" lang="en-US" sz="2400" b="0" i="0" u="none" strike="noStrike" kern="1200" cap="none" spc="0" normalizeH="0" baseline="0" noProof="0" smtClean="0">
                <a:ln>
                  <a:noFill/>
                </a:ln>
                <a:solidFill>
                  <a:srgbClr val="C00000"/>
                </a:solidFill>
                <a:effectLst/>
                <a:uLnTx/>
                <a:uFillTx/>
                <a:latin typeface="+mn-lt"/>
                <a:ea typeface="+mn-ea"/>
                <a:cs typeface="+mn-cs"/>
              </a:rPr>
              <a:t>other things remaining the same,</a:t>
            </a:r>
            <a:r>
              <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rPr>
              <a:t> the quantity of any commodity that firms will produce and offer for sale rises with rise in price and falls with fall in price.’</a:t>
            </a:r>
            <a:endPar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80000"/>
              </a:lnSpc>
              <a:spcBef>
                <a:spcPct val="20000"/>
              </a:spcBef>
              <a:spcAft>
                <a:spcPts val="0"/>
              </a:spcAft>
              <a:buClrTx/>
              <a:buSzTx/>
              <a:buFontTx/>
              <a:buChar char="•"/>
              <a:defRPr/>
            </a:pPr>
            <a:endPar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l" defTabSz="914400" rtl="0" eaLnBrk="1" fontAlgn="auto" latinLnBrk="0" hangingPunct="1">
              <a:lnSpc>
                <a:spcPct val="80000"/>
              </a:lnSpc>
              <a:spcBef>
                <a:spcPct val="20000"/>
              </a:spcBef>
              <a:spcAft>
                <a:spcPts val="0"/>
              </a:spcAft>
              <a:buClrTx/>
              <a:buSzTx/>
              <a:buFontTx/>
              <a:buChar char="•"/>
              <a:defRPr/>
            </a:pPr>
            <a:r>
              <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rPr>
              <a:t>Higher the price, higher will be quantity supplied and lower the price smaller will be quantity supplied.</a:t>
            </a:r>
            <a:endPar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l" defTabSz="914400" rtl="0" eaLnBrk="1" fontAlgn="auto" latinLnBrk="0" hangingPunct="1">
              <a:lnSpc>
                <a:spcPct val="80000"/>
              </a:lnSpc>
              <a:spcBef>
                <a:spcPct val="20000"/>
              </a:spcBef>
              <a:spcAft>
                <a:spcPts val="0"/>
              </a:spcAft>
              <a:buClrTx/>
              <a:buSzTx/>
              <a:buFontTx/>
              <a:buChar char="•"/>
              <a:defRPr/>
            </a:pPr>
            <a:endPar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l" defTabSz="914400" rtl="0" eaLnBrk="1" fontAlgn="auto" latinLnBrk="0" hangingPunct="1">
              <a:lnSpc>
                <a:spcPct val="80000"/>
              </a:lnSpc>
              <a:spcBef>
                <a:spcPct val="20000"/>
              </a:spcBef>
              <a:spcAft>
                <a:spcPts val="0"/>
              </a:spcAft>
              <a:buClrTx/>
              <a:buSzTx/>
              <a:buFontTx/>
              <a:buChar char="•"/>
              <a:defRPr/>
            </a:pPr>
            <a:r>
              <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rPr>
              <a:t>‘Other things remaining the same’ means determinants other than own price such as technology, goals of the firm, government policy, price of related goods etc. should not change.</a:t>
            </a:r>
            <a:endParaRPr kumimoji="0" lang="en-US" sz="24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80000"/>
              </a:lnSpc>
              <a:spcBef>
                <a:spcPct val="20000"/>
              </a:spcBef>
              <a:spcAft>
                <a:spcPts val="0"/>
              </a:spcAft>
              <a:buClrTx/>
              <a:buSzTx/>
              <a:buFont typeface="Arial" panose="020B0604020202020204" pitchFamily="34" charset="0"/>
              <a:buNone/>
              <a:defRPr/>
            </a:pPr>
            <a:endParaRPr kumimoji="0" lang="en-US" sz="2400" b="0" i="0" u="none" strike="noStrike" kern="1200" cap="none" spc="0" normalizeH="0" baseline="0" noProof="0" smtClean="0">
              <a:ln>
                <a:noFill/>
              </a:ln>
              <a:solidFill>
                <a:srgbClr val="660066"/>
              </a:solidFill>
              <a:effectLst/>
              <a:uLnTx/>
              <a:uFillTx/>
              <a:latin typeface="+mn-lt"/>
              <a:ea typeface="+mn-ea"/>
              <a:cs typeface="+mn-cs"/>
            </a:endParaRPr>
          </a:p>
        </p:txBody>
      </p:sp>
      <p:pic>
        <p:nvPicPr>
          <p:cNvPr id="5" name="~PP1418.WAV">
            <a:hlinkClick r:id="" action="ppaction://media"/>
          </p:cNvPr>
          <p:cNvPicPr>
            <a:picLocks noRot="1" noChangeAspect="1"/>
          </p:cNvPicPr>
          <p:nvPr>
            <a:wavAudioFile r:embed="rId1" name="~PP1418.WAV"/>
          </p:nvPr>
        </p:nvPicPr>
        <p:blipFill>
          <a:blip r:embed="rId2"/>
          <a:stretch>
            <a:fillRect/>
          </a:stretch>
        </p:blipFill>
        <p:spPr>
          <a:xfrm>
            <a:off x="8696325" y="6410325"/>
            <a:ext cx="304800" cy="304800"/>
          </a:xfrm>
          <a:prstGeom prst="rect">
            <a:avLst/>
          </a:prstGeom>
          <a:noFill/>
          <a:ln w="9525">
            <a:noFill/>
          </a:ln>
        </p:spPr>
      </p:pic>
    </p:spTree>
    <p:custDataLst>
      <p:tags r:id="rId3"/>
    </p:custDataLst>
  </p:cSld>
  <p:clrMapOvr>
    <a:masterClrMapping/>
  </p:clrMapOvr>
  <p:transition advTm="1105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par>
                                <p:cTn id="7" presetID="42" presetClass="entr" presetSubtype="0" fill="hold" grpId="0" nodeType="withEffect">
                                  <p:stCondLst>
                                    <p:cond delay="0"/>
                                  </p:stCondLst>
                                  <p:childTnLst>
                                    <p:set>
                                      <p:cBhvr>
                                        <p:cTn id="8" dur="1" fill="hold">
                                          <p:stCondLst>
                                            <p:cond delay="0"/>
                                          </p:stCondLst>
                                        </p:cTn>
                                        <p:tgtEl>
                                          <p:spTgt spid="4099">
                                            <p:txEl>
                                              <p:charRg st="1" end="190"/>
                                            </p:txEl>
                                          </p:spTgt>
                                        </p:tgtEl>
                                        <p:attrNameLst>
                                          <p:attrName>style.visibility</p:attrName>
                                        </p:attrNameLst>
                                      </p:cBhvr>
                                      <p:to>
                                        <p:strVal val="visible"/>
                                      </p:to>
                                    </p:set>
                                    <p:animEffect transition="in" filter="fade">
                                      <p:cBhvr>
                                        <p:cTn id="9" dur="1000"/>
                                        <p:tgtEl>
                                          <p:spTgt spid="4099">
                                            <p:txEl>
                                              <p:charRg st="1" end="190"/>
                                            </p:txEl>
                                          </p:spTgt>
                                        </p:tgtEl>
                                      </p:cBhvr>
                                    </p:animEffect>
                                    <p:anim calcmode="lin" valueType="num">
                                      <p:cBhvr>
                                        <p:cTn id="10" dur="1000" fill="hold"/>
                                        <p:tgtEl>
                                          <p:spTgt spid="4099">
                                            <p:txEl>
                                              <p:charRg st="1" end="190"/>
                                            </p:txEl>
                                          </p:spTgt>
                                        </p:tgtEl>
                                        <p:attrNameLst>
                                          <p:attrName>ppt_x</p:attrName>
                                        </p:attrNameLst>
                                      </p:cBhvr>
                                      <p:tavLst>
                                        <p:tav tm="0">
                                          <p:val>
                                            <p:strVal val="#ppt_x"/>
                                          </p:val>
                                        </p:tav>
                                        <p:tav tm="100000">
                                          <p:val>
                                            <p:strVal val="#ppt_x"/>
                                          </p:val>
                                        </p:tav>
                                      </p:tavLst>
                                    </p:anim>
                                    <p:anim calcmode="lin" valueType="num">
                                      <p:cBhvr>
                                        <p:cTn id="11" dur="1000" fill="hold"/>
                                        <p:tgtEl>
                                          <p:spTgt spid="4099">
                                            <p:txEl>
                                              <p:charRg st="1" end="190"/>
                                            </p:txEl>
                                          </p:spTgt>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4099">
                                            <p:txEl>
                                              <p:charRg st="191" end="297"/>
                                            </p:txEl>
                                          </p:spTgt>
                                        </p:tgtEl>
                                        <p:attrNameLst>
                                          <p:attrName>style.visibility</p:attrName>
                                        </p:attrNameLst>
                                      </p:cBhvr>
                                      <p:to>
                                        <p:strVal val="visible"/>
                                      </p:to>
                                    </p:set>
                                    <p:animEffect transition="in" filter="fade">
                                      <p:cBhvr>
                                        <p:cTn id="16" dur="1000"/>
                                        <p:tgtEl>
                                          <p:spTgt spid="4099">
                                            <p:txEl>
                                              <p:charRg st="191" end="297"/>
                                            </p:txEl>
                                          </p:spTgt>
                                        </p:tgtEl>
                                      </p:cBhvr>
                                    </p:animEffect>
                                    <p:anim calcmode="lin" valueType="num">
                                      <p:cBhvr>
                                        <p:cTn id="17" dur="1000" fill="hold"/>
                                        <p:tgtEl>
                                          <p:spTgt spid="4099">
                                            <p:txEl>
                                              <p:charRg st="191" end="297"/>
                                            </p:txEl>
                                          </p:spTgt>
                                        </p:tgtEl>
                                        <p:attrNameLst>
                                          <p:attrName>ppt_x</p:attrName>
                                        </p:attrNameLst>
                                      </p:cBhvr>
                                      <p:tavLst>
                                        <p:tav tm="0">
                                          <p:val>
                                            <p:strVal val="#ppt_x"/>
                                          </p:val>
                                        </p:tav>
                                        <p:tav tm="100000">
                                          <p:val>
                                            <p:strVal val="#ppt_x"/>
                                          </p:val>
                                        </p:tav>
                                      </p:tavLst>
                                    </p:anim>
                                    <p:anim calcmode="lin" valueType="num">
                                      <p:cBhvr>
                                        <p:cTn id="18" dur="1000" fill="hold"/>
                                        <p:tgtEl>
                                          <p:spTgt spid="4099">
                                            <p:txEl>
                                              <p:charRg st="191" end="297"/>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099">
                                            <p:txEl>
                                              <p:charRg st="298" end="477"/>
                                            </p:txEl>
                                          </p:spTgt>
                                        </p:tgtEl>
                                        <p:attrNameLst>
                                          <p:attrName>style.visibility</p:attrName>
                                        </p:attrNameLst>
                                      </p:cBhvr>
                                      <p:to>
                                        <p:strVal val="visible"/>
                                      </p:to>
                                    </p:set>
                                    <p:animEffect transition="in" filter="fade">
                                      <p:cBhvr>
                                        <p:cTn id="23" dur="1000"/>
                                        <p:tgtEl>
                                          <p:spTgt spid="4099">
                                            <p:txEl>
                                              <p:charRg st="298" end="477"/>
                                            </p:txEl>
                                          </p:spTgt>
                                        </p:tgtEl>
                                      </p:cBhvr>
                                    </p:animEffect>
                                    <p:anim calcmode="lin" valueType="num">
                                      <p:cBhvr>
                                        <p:cTn id="24" dur="1000" fill="hold"/>
                                        <p:tgtEl>
                                          <p:spTgt spid="4099">
                                            <p:txEl>
                                              <p:charRg st="298" end="477"/>
                                            </p:txEl>
                                          </p:spTgt>
                                        </p:tgtEl>
                                        <p:attrNameLst>
                                          <p:attrName>ppt_x</p:attrName>
                                        </p:attrNameLst>
                                      </p:cBhvr>
                                      <p:tavLst>
                                        <p:tav tm="0">
                                          <p:val>
                                            <p:strVal val="#ppt_x"/>
                                          </p:val>
                                        </p:tav>
                                        <p:tav tm="100000">
                                          <p:val>
                                            <p:strVal val="#ppt_x"/>
                                          </p:val>
                                        </p:tav>
                                      </p:tavLst>
                                    </p:anim>
                                    <p:anim calcmode="lin" valueType="num">
                                      <p:cBhvr>
                                        <p:cTn id="25" dur="1000" fill="hold"/>
                                        <p:tgtEl>
                                          <p:spTgt spid="4099">
                                            <p:txEl>
                                              <p:charRg st="298" end="47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26" fill="hold" display="0">
                  <p:stCondLst>
                    <p:cond delay="indefinite"/>
                  </p:stCondLst>
                  <p:endCondLst>
                    <p:cond evt="onPrev" delay="0">
                      <p:tgtEl>
                        <p:sldTgt/>
                      </p:tgtEl>
                    </p:cond>
                    <p:cond evt="onStopAudio" delay="0">
                      <p:tgtEl>
                        <p:sldTgt/>
                      </p:tgtEl>
                    </p:cond>
                  </p:endCondLst>
                </p:cTn>
                <p:tgtEl>
                  <p:spTgt spid="5"/>
                </p:tgtEl>
              </p:cMediaNode>
            </p:audio>
          </p:childTnLst>
        </p:cTn>
      </p:par>
    </p:tnLst>
    <p:bldLst>
      <p:bldP spid="409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1440" tIns="45720" rIns="91440" bIns="45720" anchor="ctr" anchorCtr="0"/>
          <a:p>
            <a:pPr eaLnBrk="1" hangingPunct="1"/>
            <a:r>
              <a:rPr dirty="0"/>
              <a:t>The Supply Curve</a:t>
            </a:r>
            <a:endParaRPr dirty="0"/>
          </a:p>
        </p:txBody>
      </p:sp>
      <p:sp>
        <p:nvSpPr>
          <p:cNvPr id="7171" name="Rectangle 3"/>
          <p:cNvSpPr>
            <a:spLocks noGrp="1"/>
          </p:cNvSpPr>
          <p:nvPr>
            <p:ph idx="1"/>
          </p:nvPr>
        </p:nvSpPr>
        <p:spPr/>
        <p:txBody>
          <a:bodyPr vert="horz" wrap="square" lIns="91440" tIns="45720" rIns="91440" bIns="45720" anchor="t" anchorCtr="0"/>
          <a:p>
            <a:pPr eaLnBrk="1" hangingPunct="1"/>
            <a:r>
              <a:rPr dirty="0"/>
              <a:t>The supply curve is the graphic representation of the law of supply.</a:t>
            </a:r>
            <a:endParaRPr dirty="0"/>
          </a:p>
          <a:p>
            <a:pPr eaLnBrk="1" hangingPunct="1"/>
            <a:r>
              <a:rPr dirty="0"/>
              <a:t>The supply curve slopes upward to the right.</a:t>
            </a:r>
            <a:endParaRPr dirty="0"/>
          </a:p>
          <a:p>
            <a:pPr eaLnBrk="1" hangingPunct="1"/>
            <a:r>
              <a:rPr dirty="0"/>
              <a:t>The slope tells us that the quantity supplied varies directly – in the same direction – with the price.</a:t>
            </a:r>
            <a:endParaRPr dirty="0"/>
          </a:p>
        </p:txBody>
      </p:sp>
      <p:pic>
        <p:nvPicPr>
          <p:cNvPr id="4" name="~PP4074.WAV">
            <a:hlinkClick r:id="" action="ppaction://media"/>
          </p:cNvPr>
          <p:cNvPicPr>
            <a:picLocks noRot="1" noChangeAspect="1"/>
          </p:cNvPicPr>
          <p:nvPr>
            <a:wavAudioFile r:embed="rId1" name="~PP4074.WAV"/>
          </p:nvPr>
        </p:nvPicPr>
        <p:blipFill>
          <a:blip r:embed="rId2"/>
          <a:stretch>
            <a:fillRect/>
          </a:stretch>
        </p:blipFill>
        <p:spPr>
          <a:xfrm>
            <a:off x="8696325" y="6410325"/>
            <a:ext cx="304800" cy="304800"/>
          </a:xfrm>
          <a:prstGeom prst="rect">
            <a:avLst/>
          </a:prstGeom>
          <a:noFill/>
          <a:ln w="9525">
            <a:noFill/>
          </a:ln>
        </p:spPr>
      </p:pic>
    </p:spTree>
    <p:custDataLst>
      <p:tags r:id="rId3"/>
    </p:custDataLst>
  </p:cSld>
  <p:clrMapOvr>
    <a:masterClrMapping/>
  </p:clrMapOvr>
  <p:transition spd="slow" advTm="31018">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171">
                                            <p:txEl>
                                              <p:charRg st="0" end="69"/>
                                            </p:txEl>
                                          </p:spTgt>
                                        </p:tgtEl>
                                        <p:attrNameLst>
                                          <p:attrName>style.visibility</p:attrName>
                                        </p:attrNameLst>
                                      </p:cBhvr>
                                      <p:to>
                                        <p:strVal val="visible"/>
                                      </p:to>
                                    </p:set>
                                    <p:animEffect transition="in" filter="wipe(left)">
                                      <p:cBhvr>
                                        <p:cTn id="11" dur="500"/>
                                        <p:tgtEl>
                                          <p:spTgt spid="7171">
                                            <p:txEl>
                                              <p:charRg st="0" end="69"/>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171">
                                            <p:txEl>
                                              <p:charRg st="69" end="114"/>
                                            </p:txEl>
                                          </p:spTgt>
                                        </p:tgtEl>
                                        <p:attrNameLst>
                                          <p:attrName>style.visibility</p:attrName>
                                        </p:attrNameLst>
                                      </p:cBhvr>
                                      <p:to>
                                        <p:strVal val="visible"/>
                                      </p:to>
                                    </p:set>
                                    <p:animEffect transition="in" filter="wipe(left)">
                                      <p:cBhvr>
                                        <p:cTn id="16" dur="500"/>
                                        <p:tgtEl>
                                          <p:spTgt spid="7171">
                                            <p:txEl>
                                              <p:charRg st="69" end="11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171">
                                            <p:txEl>
                                              <p:charRg st="114" end="218"/>
                                            </p:txEl>
                                          </p:spTgt>
                                        </p:tgtEl>
                                        <p:attrNameLst>
                                          <p:attrName>style.visibility</p:attrName>
                                        </p:attrNameLst>
                                      </p:cBhvr>
                                      <p:to>
                                        <p:strVal val="visible"/>
                                      </p:to>
                                    </p:set>
                                    <p:animEffect transition="in" filter="wipe(left)">
                                      <p:cBhvr>
                                        <p:cTn id="21" dur="500"/>
                                        <p:tgtEl>
                                          <p:spTgt spid="7171">
                                            <p:txEl>
                                              <p:charRg st="114" end="2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22" fill="hold" display="0">
                  <p:stCondLst>
                    <p:cond delay="indefinite"/>
                  </p:stCondLst>
                  <p:endCondLst>
                    <p:cond evt="onPrev" delay="0">
                      <p:tgtEl>
                        <p:sldTgt/>
                      </p:tgtEl>
                    </p:cond>
                    <p:cond evt="onStopAudio" delay="0">
                      <p:tgtEl>
                        <p:sldTgt/>
                      </p:tgtEl>
                    </p:cond>
                  </p:endCondLst>
                </p:cTn>
                <p:tgtEl>
                  <p:spTgt spid="4"/>
                </p:tgtEl>
              </p:cMediaNode>
            </p:audio>
          </p:childTnLst>
        </p:cTn>
      </p:par>
    </p:tnLst>
    <p:bldLst>
      <p:bldP spid="717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p:nvPr/>
        </p:nvSpPr>
        <p:spPr>
          <a:xfrm>
            <a:off x="7508875" y="5902325"/>
            <a:ext cx="195263" cy="98425"/>
          </a:xfrm>
          <a:prstGeom prst="rect">
            <a:avLst/>
          </a:prstGeom>
          <a:noFill/>
          <a:ln w="12700">
            <a:noFill/>
          </a:ln>
        </p:spPr>
        <p:txBody>
          <a:bodyPr wrap="none" anchor="ctr" anchorCtr="0"/>
          <a:p>
            <a:endParaRPr dirty="0">
              <a:latin typeface="Calibri" panose="020F0502020204030204" pitchFamily="34" charset="0"/>
            </a:endParaRPr>
          </a:p>
        </p:txBody>
      </p:sp>
      <p:sp>
        <p:nvSpPr>
          <p:cNvPr id="44035" name="Rectangle 3"/>
          <p:cNvSpPr/>
          <p:nvPr/>
        </p:nvSpPr>
        <p:spPr>
          <a:xfrm>
            <a:off x="2171700" y="5402263"/>
            <a:ext cx="196850" cy="100012"/>
          </a:xfrm>
          <a:prstGeom prst="rect">
            <a:avLst/>
          </a:prstGeom>
          <a:noFill/>
          <a:ln w="12700">
            <a:noFill/>
          </a:ln>
        </p:spPr>
        <p:txBody>
          <a:bodyPr wrap="none" anchor="ctr" anchorCtr="0"/>
          <a:p>
            <a:endParaRPr dirty="0">
              <a:latin typeface="Calibri" panose="020F0502020204030204" pitchFamily="34" charset="0"/>
            </a:endParaRPr>
          </a:p>
        </p:txBody>
      </p:sp>
      <p:grpSp>
        <p:nvGrpSpPr>
          <p:cNvPr id="2" name="Group 4"/>
          <p:cNvGrpSpPr/>
          <p:nvPr/>
        </p:nvGrpSpPr>
        <p:grpSpPr>
          <a:xfrm>
            <a:off x="2714625" y="2492375"/>
            <a:ext cx="4668838" cy="2589213"/>
            <a:chOff x="1710" y="1570"/>
            <a:chExt cx="2941" cy="1631"/>
          </a:xfrm>
        </p:grpSpPr>
        <p:sp>
          <p:nvSpPr>
            <p:cNvPr id="44052" name="Line 5"/>
            <p:cNvSpPr/>
            <p:nvPr/>
          </p:nvSpPr>
          <p:spPr>
            <a:xfrm flipH="1">
              <a:off x="1710" y="1796"/>
              <a:ext cx="2743" cy="1405"/>
            </a:xfrm>
            <a:prstGeom prst="line">
              <a:avLst/>
            </a:prstGeom>
            <a:ln w="38100" cap="flat" cmpd="sng">
              <a:solidFill>
                <a:schemeClr val="accent2"/>
              </a:solidFill>
              <a:prstDash val="solid"/>
              <a:headEnd type="none" w="med" len="med"/>
              <a:tailEnd type="none" w="med" len="med"/>
            </a:ln>
          </p:spPr>
        </p:sp>
        <p:sp>
          <p:nvSpPr>
            <p:cNvPr id="44053" name="Rectangle 6"/>
            <p:cNvSpPr/>
            <p:nvPr/>
          </p:nvSpPr>
          <p:spPr>
            <a:xfrm>
              <a:off x="4409" y="1570"/>
              <a:ext cx="242" cy="286"/>
            </a:xfrm>
            <a:prstGeom prst="rect">
              <a:avLst/>
            </a:prstGeom>
            <a:noFill/>
            <a:ln w="12700">
              <a:noFill/>
            </a:ln>
          </p:spPr>
          <p:txBody>
            <a:bodyPr wrap="none" lIns="90488" tIns="44450" rIns="90488" bIns="44450">
              <a:spAutoFit/>
            </a:bodyPr>
            <a:p>
              <a:pPr eaLnBrk="0" hangingPunct="0"/>
              <a:r>
                <a:rPr sz="2400" i="1" dirty="0">
                  <a:solidFill>
                    <a:srgbClr val="000000"/>
                  </a:solidFill>
                  <a:latin typeface="Calibri" panose="020F0502020204030204" pitchFamily="34" charset="0"/>
                </a:rPr>
                <a:t>S</a:t>
              </a:r>
              <a:endParaRPr sz="2400" i="1" dirty="0">
                <a:solidFill>
                  <a:srgbClr val="000000"/>
                </a:solidFill>
                <a:latin typeface="Calibri" panose="020F0502020204030204" pitchFamily="34" charset="0"/>
              </a:endParaRPr>
            </a:p>
          </p:txBody>
        </p:sp>
      </p:grpSp>
      <p:sp>
        <p:nvSpPr>
          <p:cNvPr id="8199" name="Rectangle 7"/>
          <p:cNvSpPr/>
          <p:nvPr/>
        </p:nvSpPr>
        <p:spPr>
          <a:xfrm>
            <a:off x="4432300" y="3581400"/>
            <a:ext cx="384175" cy="454025"/>
          </a:xfrm>
          <a:prstGeom prst="rect">
            <a:avLst/>
          </a:prstGeom>
          <a:noFill/>
          <a:ln w="12700">
            <a:noFill/>
          </a:ln>
        </p:spPr>
        <p:txBody>
          <a:bodyPr wrap="none" lIns="90488" tIns="44450" rIns="90488" bIns="44450">
            <a:spAutoFit/>
          </a:bodyPr>
          <a:p>
            <a:pPr eaLnBrk="0" hangingPunct="0"/>
            <a:r>
              <a:rPr sz="2400" dirty="0">
                <a:solidFill>
                  <a:srgbClr val="000000"/>
                </a:solidFill>
                <a:latin typeface="Calibri" panose="020F0502020204030204" pitchFamily="34" charset="0"/>
              </a:rPr>
              <a:t>A</a:t>
            </a:r>
            <a:endParaRPr sz="2400" dirty="0">
              <a:solidFill>
                <a:srgbClr val="000000"/>
              </a:solidFill>
              <a:latin typeface="Calibri" panose="020F0502020204030204" pitchFamily="34" charset="0"/>
            </a:endParaRPr>
          </a:p>
        </p:txBody>
      </p:sp>
      <p:sp>
        <p:nvSpPr>
          <p:cNvPr id="44038" name="Rectangle 8"/>
          <p:cNvSpPr/>
          <p:nvPr/>
        </p:nvSpPr>
        <p:spPr>
          <a:xfrm>
            <a:off x="4530725" y="3890963"/>
            <a:ext cx="196850" cy="100012"/>
          </a:xfrm>
          <a:prstGeom prst="rect">
            <a:avLst/>
          </a:prstGeom>
          <a:noFill/>
          <a:ln w="12700">
            <a:noFill/>
          </a:ln>
        </p:spPr>
        <p:txBody>
          <a:bodyPr wrap="none" anchor="ctr" anchorCtr="0"/>
          <a:p>
            <a:endParaRPr dirty="0">
              <a:latin typeface="Calibri" panose="020F0502020204030204" pitchFamily="34" charset="0"/>
            </a:endParaRPr>
          </a:p>
        </p:txBody>
      </p:sp>
      <p:grpSp>
        <p:nvGrpSpPr>
          <p:cNvPr id="3" name="Group 9"/>
          <p:cNvGrpSpPr/>
          <p:nvPr/>
        </p:nvGrpSpPr>
        <p:grpSpPr>
          <a:xfrm>
            <a:off x="1390650" y="2057400"/>
            <a:ext cx="7269163" cy="4097338"/>
            <a:chOff x="876" y="1296"/>
            <a:chExt cx="4579" cy="2581"/>
          </a:xfrm>
        </p:grpSpPr>
        <p:sp>
          <p:nvSpPr>
            <p:cNvPr id="44048" name="Freeform 10"/>
            <p:cNvSpPr/>
            <p:nvPr/>
          </p:nvSpPr>
          <p:spPr>
            <a:xfrm>
              <a:off x="1505" y="1296"/>
              <a:ext cx="3950" cy="2080"/>
            </a:xfrm>
            <a:custGeom>
              <a:avLst/>
              <a:gdLst>
                <a:gd name="txL" fmla="*/ 0 w 3950"/>
                <a:gd name="txT" fmla="*/ 0 h 2080"/>
                <a:gd name="txR" fmla="*/ 3950 w 3950"/>
                <a:gd name="txB" fmla="*/ 2080 h 2080"/>
              </a:gdLst>
              <a:ahLst/>
              <a:cxnLst>
                <a:cxn ang="0">
                  <a:pos x="0" y="0"/>
                </a:cxn>
                <a:cxn ang="0">
                  <a:pos x="0" y="2079"/>
                </a:cxn>
                <a:cxn ang="0">
                  <a:pos x="3949" y="2079"/>
                </a:cxn>
              </a:cxnLst>
              <a:rect l="txL" t="txT" r="txR" b="txB"/>
              <a:pathLst>
                <a:path w="3950" h="2080">
                  <a:moveTo>
                    <a:pt x="0" y="0"/>
                  </a:moveTo>
                  <a:lnTo>
                    <a:pt x="0" y="2079"/>
                  </a:lnTo>
                  <a:lnTo>
                    <a:pt x="3949" y="2079"/>
                  </a:lnTo>
                </a:path>
              </a:pathLst>
            </a:custGeom>
            <a:noFill/>
            <a:ln w="25400" cap="rnd" cmpd="sng">
              <a:solidFill>
                <a:srgbClr val="000000"/>
              </a:solidFill>
              <a:prstDash val="solid"/>
              <a:round/>
              <a:headEnd type="none" w="med" len="med"/>
              <a:tailEnd type="none" w="med" len="med"/>
            </a:ln>
          </p:spPr>
          <p:txBody>
            <a:bodyPr/>
            <a:p>
              <a:endParaRPr dirty="0">
                <a:latin typeface="Calibri" panose="020F0502020204030204" pitchFamily="34" charset="0"/>
              </a:endParaRPr>
            </a:p>
          </p:txBody>
        </p:sp>
        <p:sp>
          <p:nvSpPr>
            <p:cNvPr id="44049" name="Rectangle 11"/>
            <p:cNvSpPr/>
            <p:nvPr/>
          </p:nvSpPr>
          <p:spPr>
            <a:xfrm>
              <a:off x="1952" y="3591"/>
              <a:ext cx="3050" cy="286"/>
            </a:xfrm>
            <a:prstGeom prst="rect">
              <a:avLst/>
            </a:prstGeom>
            <a:noFill/>
            <a:ln w="12700">
              <a:noFill/>
            </a:ln>
          </p:spPr>
          <p:txBody>
            <a:bodyPr wrap="none" lIns="90488" tIns="44450" rIns="90488" bIns="44450">
              <a:spAutoFit/>
            </a:bodyPr>
            <a:p>
              <a:pPr eaLnBrk="0" hangingPunct="0"/>
              <a:r>
                <a:rPr sz="2400" dirty="0">
                  <a:solidFill>
                    <a:srgbClr val="000000"/>
                  </a:solidFill>
                  <a:latin typeface="Calibri" panose="020F0502020204030204" pitchFamily="34" charset="0"/>
                </a:rPr>
                <a:t>Quantity supplied (per unit of time)</a:t>
              </a:r>
              <a:endParaRPr sz="2400" dirty="0">
                <a:solidFill>
                  <a:srgbClr val="000000"/>
                </a:solidFill>
                <a:latin typeface="Calibri" panose="020F0502020204030204" pitchFamily="34" charset="0"/>
              </a:endParaRPr>
            </a:p>
          </p:txBody>
        </p:sp>
        <p:sp>
          <p:nvSpPr>
            <p:cNvPr id="44050" name="Rectangle 12"/>
            <p:cNvSpPr/>
            <p:nvPr/>
          </p:nvSpPr>
          <p:spPr>
            <a:xfrm>
              <a:off x="1268" y="3275"/>
              <a:ext cx="221" cy="286"/>
            </a:xfrm>
            <a:prstGeom prst="rect">
              <a:avLst/>
            </a:prstGeom>
            <a:noFill/>
            <a:ln w="12700">
              <a:noFill/>
            </a:ln>
          </p:spPr>
          <p:txBody>
            <a:bodyPr wrap="none" lIns="90488" tIns="44450" rIns="90488" bIns="44450">
              <a:spAutoFit/>
            </a:bodyPr>
            <a:p>
              <a:pPr eaLnBrk="0" hangingPunct="0"/>
              <a:r>
                <a:rPr sz="2400" dirty="0">
                  <a:solidFill>
                    <a:srgbClr val="000000"/>
                  </a:solidFill>
                  <a:latin typeface="Calibri" panose="020F0502020204030204" pitchFamily="34" charset="0"/>
                </a:rPr>
                <a:t>0</a:t>
              </a:r>
              <a:endParaRPr sz="2400" dirty="0">
                <a:solidFill>
                  <a:srgbClr val="000000"/>
                </a:solidFill>
                <a:latin typeface="Calibri" panose="020F0502020204030204" pitchFamily="34" charset="0"/>
              </a:endParaRPr>
            </a:p>
          </p:txBody>
        </p:sp>
        <p:sp>
          <p:nvSpPr>
            <p:cNvPr id="44051" name="Rectangle 13"/>
            <p:cNvSpPr/>
            <p:nvPr/>
          </p:nvSpPr>
          <p:spPr>
            <a:xfrm rot="-5400000">
              <a:off x="332" y="2080"/>
              <a:ext cx="1374" cy="286"/>
            </a:xfrm>
            <a:prstGeom prst="rect">
              <a:avLst/>
            </a:prstGeom>
            <a:noFill/>
            <a:ln w="12700">
              <a:noFill/>
            </a:ln>
          </p:spPr>
          <p:txBody>
            <a:bodyPr wrap="none" lIns="90488" tIns="44450" rIns="90488" bIns="44450">
              <a:spAutoFit/>
            </a:bodyPr>
            <a:p>
              <a:pPr eaLnBrk="0" hangingPunct="0"/>
              <a:r>
                <a:rPr sz="2400" dirty="0">
                  <a:solidFill>
                    <a:srgbClr val="000000"/>
                  </a:solidFill>
                  <a:latin typeface="Calibri" panose="020F0502020204030204" pitchFamily="34" charset="0"/>
                </a:rPr>
                <a:t>Price (per unit)</a:t>
              </a:r>
              <a:endParaRPr sz="2400" dirty="0">
                <a:solidFill>
                  <a:srgbClr val="000000"/>
                </a:solidFill>
                <a:latin typeface="Calibri" panose="020F0502020204030204" pitchFamily="34" charset="0"/>
              </a:endParaRPr>
            </a:p>
          </p:txBody>
        </p:sp>
      </p:grpSp>
      <p:sp>
        <p:nvSpPr>
          <p:cNvPr id="44040" name="Rectangle 14"/>
          <p:cNvSpPr/>
          <p:nvPr/>
        </p:nvSpPr>
        <p:spPr>
          <a:xfrm rot="-5400000">
            <a:off x="3167063" y="4592638"/>
            <a:ext cx="196850" cy="98425"/>
          </a:xfrm>
          <a:prstGeom prst="rect">
            <a:avLst/>
          </a:prstGeom>
          <a:noFill/>
          <a:ln w="12700">
            <a:noFill/>
          </a:ln>
        </p:spPr>
        <p:txBody>
          <a:bodyPr wrap="none" anchor="ctr" anchorCtr="0"/>
          <a:p>
            <a:endParaRPr dirty="0">
              <a:latin typeface="Calibri" panose="020F0502020204030204" pitchFamily="34" charset="0"/>
            </a:endParaRPr>
          </a:p>
        </p:txBody>
      </p:sp>
      <p:sp>
        <p:nvSpPr>
          <p:cNvPr id="8207" name="Rectangle 15"/>
          <p:cNvSpPr/>
          <p:nvPr/>
        </p:nvSpPr>
        <p:spPr>
          <a:xfrm>
            <a:off x="1846263" y="3805238"/>
            <a:ext cx="519112" cy="454025"/>
          </a:xfrm>
          <a:prstGeom prst="rect">
            <a:avLst/>
          </a:prstGeom>
          <a:noFill/>
          <a:ln w="12700">
            <a:noFill/>
          </a:ln>
        </p:spPr>
        <p:txBody>
          <a:bodyPr wrap="none" lIns="90488" tIns="44450" rIns="90488" bIns="44450">
            <a:spAutoFit/>
          </a:bodyPr>
          <a:p>
            <a:pPr eaLnBrk="0" hangingPunct="0"/>
            <a:r>
              <a:rPr sz="2400" i="1" dirty="0">
                <a:solidFill>
                  <a:srgbClr val="000000"/>
                </a:solidFill>
                <a:latin typeface="Calibri" panose="020F0502020204030204" pitchFamily="34" charset="0"/>
              </a:rPr>
              <a:t>P</a:t>
            </a:r>
            <a:r>
              <a:rPr sz="2400" i="1" baseline="-25000" dirty="0">
                <a:solidFill>
                  <a:srgbClr val="000000"/>
                </a:solidFill>
                <a:latin typeface="Calibri" panose="020F0502020204030204" pitchFamily="34" charset="0"/>
              </a:rPr>
              <a:t>A</a:t>
            </a:r>
            <a:endParaRPr sz="2400" i="1" baseline="-25000" dirty="0">
              <a:solidFill>
                <a:srgbClr val="000000"/>
              </a:solidFill>
              <a:latin typeface="Calibri" panose="020F0502020204030204" pitchFamily="34" charset="0"/>
            </a:endParaRPr>
          </a:p>
        </p:txBody>
      </p:sp>
      <p:grpSp>
        <p:nvGrpSpPr>
          <p:cNvPr id="4" name="Group 16"/>
          <p:cNvGrpSpPr/>
          <p:nvPr/>
        </p:nvGrpSpPr>
        <p:grpSpPr>
          <a:xfrm>
            <a:off x="2398713" y="3979863"/>
            <a:ext cx="2443162" cy="1365250"/>
            <a:chOff x="1511" y="2507"/>
            <a:chExt cx="1539" cy="860"/>
          </a:xfrm>
        </p:grpSpPr>
        <p:sp>
          <p:nvSpPr>
            <p:cNvPr id="44046" name="Freeform 17"/>
            <p:cNvSpPr/>
            <p:nvPr/>
          </p:nvSpPr>
          <p:spPr>
            <a:xfrm>
              <a:off x="2979" y="2507"/>
              <a:ext cx="71" cy="55"/>
            </a:xfrm>
            <a:custGeom>
              <a:avLst/>
              <a:gdLst>
                <a:gd name="txL" fmla="*/ 0 w 71"/>
                <a:gd name="txT" fmla="*/ 0 h 55"/>
                <a:gd name="txR" fmla="*/ 71 w 71"/>
                <a:gd name="txB" fmla="*/ 55 h 55"/>
              </a:gdLst>
              <a:ahLst/>
              <a:cxnLst>
                <a:cxn ang="0">
                  <a:pos x="25" y="53"/>
                </a:cxn>
                <a:cxn ang="0">
                  <a:pos x="19" y="50"/>
                </a:cxn>
                <a:cxn ang="0">
                  <a:pos x="13" y="48"/>
                </a:cxn>
                <a:cxn ang="0">
                  <a:pos x="8" y="44"/>
                </a:cxn>
                <a:cxn ang="0">
                  <a:pos x="5" y="40"/>
                </a:cxn>
                <a:cxn ang="0">
                  <a:pos x="1" y="35"/>
                </a:cxn>
                <a:cxn ang="0">
                  <a:pos x="0" y="30"/>
                </a:cxn>
                <a:cxn ang="0">
                  <a:pos x="0" y="24"/>
                </a:cxn>
                <a:cxn ang="0">
                  <a:pos x="1" y="19"/>
                </a:cxn>
                <a:cxn ang="0">
                  <a:pos x="5" y="14"/>
                </a:cxn>
                <a:cxn ang="0">
                  <a:pos x="8" y="10"/>
                </a:cxn>
                <a:cxn ang="0">
                  <a:pos x="13" y="6"/>
                </a:cxn>
                <a:cxn ang="0">
                  <a:pos x="19" y="4"/>
                </a:cxn>
                <a:cxn ang="0">
                  <a:pos x="25" y="2"/>
                </a:cxn>
                <a:cxn ang="0">
                  <a:pos x="32" y="0"/>
                </a:cxn>
                <a:cxn ang="0">
                  <a:pos x="39" y="0"/>
                </a:cxn>
                <a:cxn ang="0">
                  <a:pos x="46" y="2"/>
                </a:cxn>
                <a:cxn ang="0">
                  <a:pos x="52" y="4"/>
                </a:cxn>
                <a:cxn ang="0">
                  <a:pos x="58" y="6"/>
                </a:cxn>
                <a:cxn ang="0">
                  <a:pos x="63" y="10"/>
                </a:cxn>
                <a:cxn ang="0">
                  <a:pos x="66" y="14"/>
                </a:cxn>
                <a:cxn ang="0">
                  <a:pos x="69" y="19"/>
                </a:cxn>
                <a:cxn ang="0">
                  <a:pos x="70" y="24"/>
                </a:cxn>
                <a:cxn ang="0">
                  <a:pos x="70" y="30"/>
                </a:cxn>
                <a:cxn ang="0">
                  <a:pos x="70" y="35"/>
                </a:cxn>
                <a:cxn ang="0">
                  <a:pos x="66" y="41"/>
                </a:cxn>
                <a:cxn ang="0">
                  <a:pos x="63" y="44"/>
                </a:cxn>
                <a:cxn ang="0">
                  <a:pos x="58" y="48"/>
                </a:cxn>
                <a:cxn ang="0">
                  <a:pos x="52" y="50"/>
                </a:cxn>
                <a:cxn ang="0">
                  <a:pos x="46" y="53"/>
                </a:cxn>
                <a:cxn ang="0">
                  <a:pos x="39" y="54"/>
                </a:cxn>
                <a:cxn ang="0">
                  <a:pos x="32" y="54"/>
                </a:cxn>
                <a:cxn ang="0">
                  <a:pos x="25" y="53"/>
                </a:cxn>
              </a:cxnLst>
              <a:rect l="txL" t="txT" r="txR" b="txB"/>
              <a:pathLst>
                <a:path w="71" h="55">
                  <a:moveTo>
                    <a:pt x="25" y="53"/>
                  </a:moveTo>
                  <a:lnTo>
                    <a:pt x="19" y="50"/>
                  </a:lnTo>
                  <a:lnTo>
                    <a:pt x="13" y="48"/>
                  </a:lnTo>
                  <a:lnTo>
                    <a:pt x="8" y="44"/>
                  </a:lnTo>
                  <a:lnTo>
                    <a:pt x="5" y="40"/>
                  </a:lnTo>
                  <a:lnTo>
                    <a:pt x="1" y="35"/>
                  </a:lnTo>
                  <a:lnTo>
                    <a:pt x="0" y="30"/>
                  </a:lnTo>
                  <a:lnTo>
                    <a:pt x="0" y="24"/>
                  </a:lnTo>
                  <a:lnTo>
                    <a:pt x="1" y="19"/>
                  </a:lnTo>
                  <a:lnTo>
                    <a:pt x="5" y="14"/>
                  </a:lnTo>
                  <a:lnTo>
                    <a:pt x="8" y="10"/>
                  </a:lnTo>
                  <a:lnTo>
                    <a:pt x="13" y="6"/>
                  </a:lnTo>
                  <a:lnTo>
                    <a:pt x="19" y="4"/>
                  </a:lnTo>
                  <a:lnTo>
                    <a:pt x="25" y="2"/>
                  </a:lnTo>
                  <a:lnTo>
                    <a:pt x="32" y="0"/>
                  </a:lnTo>
                  <a:lnTo>
                    <a:pt x="39" y="0"/>
                  </a:lnTo>
                  <a:lnTo>
                    <a:pt x="46" y="2"/>
                  </a:lnTo>
                  <a:lnTo>
                    <a:pt x="52" y="4"/>
                  </a:lnTo>
                  <a:lnTo>
                    <a:pt x="58" y="6"/>
                  </a:lnTo>
                  <a:lnTo>
                    <a:pt x="63" y="10"/>
                  </a:lnTo>
                  <a:lnTo>
                    <a:pt x="66" y="14"/>
                  </a:lnTo>
                  <a:lnTo>
                    <a:pt x="69" y="19"/>
                  </a:lnTo>
                  <a:lnTo>
                    <a:pt x="70" y="24"/>
                  </a:lnTo>
                  <a:lnTo>
                    <a:pt x="70" y="30"/>
                  </a:lnTo>
                  <a:lnTo>
                    <a:pt x="70" y="35"/>
                  </a:lnTo>
                  <a:lnTo>
                    <a:pt x="66" y="41"/>
                  </a:lnTo>
                  <a:lnTo>
                    <a:pt x="63" y="44"/>
                  </a:lnTo>
                  <a:lnTo>
                    <a:pt x="58" y="48"/>
                  </a:lnTo>
                  <a:lnTo>
                    <a:pt x="52" y="50"/>
                  </a:lnTo>
                  <a:lnTo>
                    <a:pt x="46" y="53"/>
                  </a:lnTo>
                  <a:lnTo>
                    <a:pt x="39" y="54"/>
                  </a:lnTo>
                  <a:lnTo>
                    <a:pt x="32" y="54"/>
                  </a:lnTo>
                  <a:lnTo>
                    <a:pt x="25" y="53"/>
                  </a:lnTo>
                </a:path>
              </a:pathLst>
            </a:custGeom>
            <a:solidFill>
              <a:srgbClr val="000000"/>
            </a:solidFill>
            <a:ln w="12700" cap="rnd" cmpd="sng">
              <a:solidFill>
                <a:srgbClr val="000000"/>
              </a:solidFill>
              <a:prstDash val="solid"/>
              <a:round/>
              <a:headEnd type="none" w="med" len="med"/>
              <a:tailEnd type="none" w="med" len="med"/>
            </a:ln>
          </p:spPr>
          <p:txBody>
            <a:bodyPr/>
            <a:p>
              <a:endParaRPr dirty="0">
                <a:latin typeface="Calibri" panose="020F0502020204030204" pitchFamily="34" charset="0"/>
              </a:endParaRPr>
            </a:p>
          </p:txBody>
        </p:sp>
        <p:sp>
          <p:nvSpPr>
            <p:cNvPr id="44047" name="Freeform 18"/>
            <p:cNvSpPr/>
            <p:nvPr/>
          </p:nvSpPr>
          <p:spPr>
            <a:xfrm>
              <a:off x="1511" y="2536"/>
              <a:ext cx="1512" cy="831"/>
            </a:xfrm>
            <a:custGeom>
              <a:avLst/>
              <a:gdLst>
                <a:gd name="txL" fmla="*/ 0 w 1512"/>
                <a:gd name="txT" fmla="*/ 0 h 831"/>
                <a:gd name="txR" fmla="*/ 1512 w 1512"/>
                <a:gd name="txB" fmla="*/ 831 h 831"/>
              </a:gdLst>
              <a:ahLst/>
              <a:cxnLst>
                <a:cxn ang="0">
                  <a:pos x="0" y="0"/>
                </a:cxn>
                <a:cxn ang="0">
                  <a:pos x="1511" y="0"/>
                </a:cxn>
                <a:cxn ang="0">
                  <a:pos x="1511" y="830"/>
                </a:cxn>
              </a:cxnLst>
              <a:rect l="txL" t="txT" r="txR" b="txB"/>
              <a:pathLst>
                <a:path w="1512" h="831">
                  <a:moveTo>
                    <a:pt x="0" y="0"/>
                  </a:moveTo>
                  <a:lnTo>
                    <a:pt x="1511" y="0"/>
                  </a:lnTo>
                  <a:lnTo>
                    <a:pt x="1511" y="830"/>
                  </a:lnTo>
                </a:path>
              </a:pathLst>
            </a:custGeom>
            <a:noFill/>
            <a:ln w="25400" cap="flat" cmpd="sng">
              <a:solidFill>
                <a:srgbClr val="000000"/>
              </a:solidFill>
              <a:prstDash val="dash"/>
              <a:round/>
              <a:headEnd type="none" w="med" len="med"/>
              <a:tailEnd type="none" w="med" len="med"/>
            </a:ln>
          </p:spPr>
          <p:txBody>
            <a:bodyPr/>
            <a:p>
              <a:endParaRPr dirty="0">
                <a:latin typeface="Calibri" panose="020F0502020204030204" pitchFamily="34" charset="0"/>
              </a:endParaRPr>
            </a:p>
          </p:txBody>
        </p:sp>
      </p:grpSp>
      <p:sp>
        <p:nvSpPr>
          <p:cNvPr id="8211" name="Rectangle 19"/>
          <p:cNvSpPr/>
          <p:nvPr/>
        </p:nvSpPr>
        <p:spPr>
          <a:xfrm>
            <a:off x="4510088" y="5356225"/>
            <a:ext cx="552450" cy="454025"/>
          </a:xfrm>
          <a:prstGeom prst="rect">
            <a:avLst/>
          </a:prstGeom>
          <a:noFill/>
          <a:ln w="12700">
            <a:noFill/>
          </a:ln>
        </p:spPr>
        <p:txBody>
          <a:bodyPr wrap="none" lIns="90488" tIns="44450" rIns="90488" bIns="44450">
            <a:spAutoFit/>
          </a:bodyPr>
          <a:p>
            <a:pPr eaLnBrk="0" hangingPunct="0"/>
            <a:r>
              <a:rPr sz="2400" i="1" dirty="0">
                <a:solidFill>
                  <a:srgbClr val="000000"/>
                </a:solidFill>
                <a:latin typeface="Calibri" panose="020F0502020204030204" pitchFamily="34" charset="0"/>
              </a:rPr>
              <a:t>Q</a:t>
            </a:r>
            <a:r>
              <a:rPr sz="2400" i="1" baseline="-25000" dirty="0">
                <a:solidFill>
                  <a:srgbClr val="000000"/>
                </a:solidFill>
                <a:latin typeface="Calibri" panose="020F0502020204030204" pitchFamily="34" charset="0"/>
              </a:rPr>
              <a:t>A</a:t>
            </a:r>
            <a:endParaRPr sz="2400" i="1" dirty="0">
              <a:solidFill>
                <a:srgbClr val="000000"/>
              </a:solidFill>
              <a:latin typeface="Calibri" panose="020F0502020204030204" pitchFamily="34" charset="0"/>
            </a:endParaRPr>
          </a:p>
        </p:txBody>
      </p:sp>
      <p:sp>
        <p:nvSpPr>
          <p:cNvPr id="44044" name="Rectangle 20"/>
          <p:cNvSpPr>
            <a:spLocks noGrp="1"/>
          </p:cNvSpPr>
          <p:nvPr>
            <p:ph type="title"/>
          </p:nvPr>
        </p:nvSpPr>
        <p:spPr/>
        <p:txBody>
          <a:bodyPr vert="horz" wrap="square" lIns="91440" tIns="45720" rIns="91440" bIns="45720" anchor="ctr" anchorCtr="0"/>
          <a:p>
            <a:pPr eaLnBrk="1" hangingPunct="1"/>
            <a:r>
              <a:rPr dirty="0"/>
              <a:t>A Simple Supply Curve</a:t>
            </a:r>
            <a:endParaRPr dirty="0"/>
          </a:p>
        </p:txBody>
      </p:sp>
      <p:pic>
        <p:nvPicPr>
          <p:cNvPr id="22" name="~PP3808.WAV">
            <a:hlinkClick r:id="" action="ppaction://media"/>
          </p:cNvPr>
          <p:cNvPicPr>
            <a:picLocks noRot="1" noChangeAspect="1"/>
          </p:cNvPicPr>
          <p:nvPr>
            <a:wavAudioFile r:embed="rId1" name="~PP3808.WAV"/>
          </p:nvPr>
        </p:nvPicPr>
        <p:blipFill>
          <a:blip r:embed="rId2"/>
          <a:stretch>
            <a:fillRect/>
          </a:stretch>
        </p:blipFill>
        <p:spPr>
          <a:xfrm>
            <a:off x="8696325" y="6410325"/>
            <a:ext cx="304800" cy="304800"/>
          </a:xfrm>
          <a:prstGeom prst="rect">
            <a:avLst/>
          </a:prstGeom>
          <a:noFill/>
          <a:ln w="9525">
            <a:noFill/>
          </a:ln>
        </p:spPr>
      </p:pic>
    </p:spTree>
    <p:custDataLst>
      <p:tags r:id="rId3"/>
    </p:custDataLst>
  </p:cSld>
  <p:clrMapOvr>
    <a:masterClrMapping/>
  </p:clrMapOvr>
  <p:transition spd="slow" advTm="17848">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207"/>
                                        </p:tgtEl>
                                        <p:attrNameLst>
                                          <p:attrName>style.visibility</p:attrName>
                                        </p:attrNameLst>
                                      </p:cBhvr>
                                      <p:to>
                                        <p:strVal val="visible"/>
                                      </p:to>
                                    </p:set>
                                    <p:animEffect transition="in" filter="wipe(left)">
                                      <p:cBhvr>
                                        <p:cTn id="20" dur="500"/>
                                        <p:tgtEl>
                                          <p:spTgt spid="8207"/>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8199"/>
                                        </p:tgtEl>
                                        <p:attrNameLst>
                                          <p:attrName>style.visibility</p:attrName>
                                        </p:attrNameLst>
                                      </p:cBhvr>
                                      <p:to>
                                        <p:strVal val="visible"/>
                                      </p:to>
                                    </p:set>
                                    <p:animEffect transition="in" filter="wipe(left)">
                                      <p:cBhvr>
                                        <p:cTn id="28" dur="500"/>
                                        <p:tgtEl>
                                          <p:spTgt spid="8199"/>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8211"/>
                                        </p:tgtEl>
                                        <p:attrNameLst>
                                          <p:attrName>style.visibility</p:attrName>
                                        </p:attrNameLst>
                                      </p:cBhvr>
                                      <p:to>
                                        <p:strVal val="visible"/>
                                      </p:to>
                                    </p:set>
                                    <p:animEffect transition="in" filter="wipe(left)">
                                      <p:cBhvr>
                                        <p:cTn id="32" dur="500"/>
                                        <p:tgtEl>
                                          <p:spTgt spid="82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33" fill="hold" display="0">
                  <p:stCondLst>
                    <p:cond delay="indefinite"/>
                  </p:stCondLst>
                  <p:endCondLst>
                    <p:cond evt="onPrev" delay="0">
                      <p:tgtEl>
                        <p:sldTgt/>
                      </p:tgtEl>
                    </p:cond>
                    <p:cond evt="onStopAudio" delay="0">
                      <p:tgtEl>
                        <p:sldTgt/>
                      </p:tgtEl>
                    </p:cond>
                  </p:endCondLst>
                </p:cTn>
                <p:tgtEl>
                  <p:spTgt spid="22"/>
                </p:tgtEl>
              </p:cMediaNode>
            </p:audio>
          </p:childTnLst>
        </p:cTn>
      </p:par>
    </p:tnLst>
    <p:bldLst>
      <p:bldP spid="8199" grpId="0"/>
      <p:bldP spid="8207" grpId="0"/>
      <p:bldP spid="82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1"/>
          <p:cNvSpPr>
            <a:spLocks noGrp="1"/>
          </p:cNvSpPr>
          <p:nvPr>
            <p:ph type="title"/>
          </p:nvPr>
        </p:nvSpPr>
        <p:spPr/>
        <p:txBody>
          <a:bodyPr vert="horz" wrap="square" lIns="91440" tIns="45720" rIns="91440" bIns="45720" anchor="ctr" anchorCtr="0"/>
          <a:p>
            <a:pPr eaLnBrk="1" hangingPunct="1"/>
            <a:r>
              <a:rPr dirty="0"/>
              <a:t>Assumptions </a:t>
            </a:r>
            <a:endParaRPr dirty="0"/>
          </a:p>
        </p:txBody>
      </p:sp>
      <p:sp>
        <p:nvSpPr>
          <p:cNvPr id="45059" name="Content Placeholder 2"/>
          <p:cNvSpPr>
            <a:spLocks noGrp="1"/>
          </p:cNvSpPr>
          <p:nvPr>
            <p:ph idx="1"/>
          </p:nvPr>
        </p:nvSpPr>
        <p:spPr/>
        <p:txBody>
          <a:bodyPr vert="horz" wrap="square" lIns="91440" tIns="45720" rIns="91440" bIns="45720" anchor="t" anchorCtr="0"/>
          <a:p>
            <a:pPr eaLnBrk="1" hangingPunct="1"/>
            <a:r>
              <a:rPr dirty="0"/>
              <a:t>Prices of factors of production do not change</a:t>
            </a:r>
            <a:endParaRPr dirty="0"/>
          </a:p>
          <a:p>
            <a:pPr eaLnBrk="1" hangingPunct="1"/>
            <a:r>
              <a:rPr dirty="0"/>
              <a:t>Do not change in technology</a:t>
            </a:r>
            <a:endParaRPr dirty="0"/>
          </a:p>
          <a:p>
            <a:pPr eaLnBrk="1" hangingPunct="1"/>
            <a:r>
              <a:rPr dirty="0"/>
              <a:t>Government taxes do not change </a:t>
            </a:r>
            <a:endParaRPr dirty="0"/>
          </a:p>
          <a:p>
            <a:pPr eaLnBrk="1" hangingPunct="1"/>
            <a:r>
              <a:rPr dirty="0"/>
              <a:t>Weather do not change </a:t>
            </a:r>
            <a:endParaRPr dirty="0"/>
          </a:p>
        </p:txBody>
      </p:sp>
      <p:pic>
        <p:nvPicPr>
          <p:cNvPr id="4" name="~PP1402.WAV">
            <a:hlinkClick r:id="" action="ppaction://media"/>
          </p:cNvPr>
          <p:cNvPicPr>
            <a:picLocks noRot="1" noChangeAspect="1"/>
          </p:cNvPicPr>
          <p:nvPr>
            <a:wavAudioFile r:embed="rId1" name="~PP1402.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832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itle 1"/>
          <p:cNvSpPr>
            <a:spLocks noGrp="1"/>
          </p:cNvSpPr>
          <p:nvPr>
            <p:ph type="title"/>
          </p:nvPr>
        </p:nvSpPr>
        <p:spPr/>
        <p:txBody>
          <a:bodyPr vert="horz" wrap="square" lIns="91440" tIns="45720" rIns="91440" bIns="45720" anchor="ctr" anchorCtr="0"/>
          <a:p>
            <a:pPr eaLnBrk="1" hangingPunct="1"/>
            <a:r>
              <a:rPr dirty="0"/>
              <a:t>Limitations </a:t>
            </a:r>
            <a:endParaRPr dirty="0"/>
          </a:p>
        </p:txBody>
      </p:sp>
      <p:sp>
        <p:nvSpPr>
          <p:cNvPr id="46083" name="Content Placeholder 2"/>
          <p:cNvSpPr>
            <a:spLocks noGrp="1"/>
          </p:cNvSpPr>
          <p:nvPr>
            <p:ph idx="1"/>
          </p:nvPr>
        </p:nvSpPr>
        <p:spPr/>
        <p:txBody>
          <a:bodyPr vert="horz" wrap="square" lIns="91440" tIns="45720" rIns="91440" bIns="45720" anchor="t" anchorCtr="0"/>
          <a:p>
            <a:pPr eaLnBrk="1" hangingPunct="1"/>
            <a:r>
              <a:rPr dirty="0"/>
              <a:t>War period </a:t>
            </a:r>
            <a:endParaRPr dirty="0"/>
          </a:p>
          <a:p>
            <a:pPr eaLnBrk="1" hangingPunct="1"/>
            <a:r>
              <a:rPr dirty="0"/>
              <a:t>Need for money </a:t>
            </a:r>
            <a:endParaRPr dirty="0"/>
          </a:p>
          <a:p>
            <a:pPr eaLnBrk="1" hangingPunct="1"/>
            <a:r>
              <a:rPr dirty="0"/>
              <a:t>Future fear </a:t>
            </a:r>
            <a:endParaRPr dirty="0"/>
          </a:p>
          <a:p>
            <a:pPr eaLnBrk="1" hangingPunct="1"/>
            <a:r>
              <a:rPr dirty="0"/>
              <a:t>Transferability </a:t>
            </a:r>
            <a:endParaRPr dirty="0"/>
          </a:p>
          <a:p>
            <a:pPr eaLnBrk="1" hangingPunct="1"/>
            <a:endParaRPr dirty="0"/>
          </a:p>
        </p:txBody>
      </p:sp>
      <p:pic>
        <p:nvPicPr>
          <p:cNvPr id="4" name="~PP136.WAV">
            <a:hlinkClick r:id="" action="ppaction://media"/>
          </p:cNvPr>
          <p:cNvPicPr>
            <a:picLocks noRot="1" noChangeAspect="1"/>
          </p:cNvPicPr>
          <p:nvPr>
            <a:wavAudioFile r:embed="rId1" name="~PP13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844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04800"/>
            <a:ext cx="8229600" cy="1143000"/>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Comic Sans MS" panose="030F0702030302020204" pitchFamily="66" charset="0"/>
                <a:ea typeface="+mj-ea"/>
                <a:cs typeface="+mj-cs"/>
              </a:rPr>
              <a:t>FACTORS DETERMINING SUPPLY</a:t>
            </a:r>
            <a:endParaRPr kumimoji="0" lang="en-US" sz="4400" b="0" i="0" u="none" strike="noStrike" kern="1200" cap="none" spc="0" normalizeH="0" baseline="0" noProof="0" dirty="0" smtClean="0">
              <a:ln>
                <a:noFill/>
              </a:ln>
              <a:solidFill>
                <a:schemeClr val="tx1"/>
              </a:solidFill>
              <a:effectLst/>
              <a:uLnTx/>
              <a:uFillTx/>
              <a:latin typeface="Comic Sans MS" panose="030F0702030302020204" pitchFamily="66" charset="0"/>
              <a:ea typeface="+mj-ea"/>
              <a:cs typeface="+mj-cs"/>
            </a:endParaRPr>
          </a:p>
        </p:txBody>
      </p:sp>
      <p:sp>
        <p:nvSpPr>
          <p:cNvPr id="47107" name="Content Placeholder 2"/>
          <p:cNvSpPr>
            <a:spLocks noGrp="1"/>
          </p:cNvSpPr>
          <p:nvPr>
            <p:ph idx="1"/>
          </p:nvPr>
        </p:nvSpPr>
        <p:spPr>
          <a:xfrm>
            <a:off x="381000" y="2332038"/>
            <a:ext cx="8229600" cy="4525962"/>
          </a:xfrm>
        </p:spPr>
        <p:txBody>
          <a:bodyPr vert="horz" wrap="square" lIns="91440" tIns="45720" rIns="91440" bIns="45720" anchor="t" anchorCtr="0"/>
          <a:p>
            <a:pPr marL="514350" indent="-514350" eaLnBrk="1" hangingPunct="1">
              <a:buFont typeface="Calibri" panose="020F0502020204030204" pitchFamily="34" charset="0"/>
              <a:buAutoNum type="alphaLcParenR"/>
            </a:pPr>
            <a:r>
              <a:rPr dirty="0"/>
              <a:t>Price of the commodity;</a:t>
            </a:r>
            <a:endParaRPr dirty="0"/>
          </a:p>
          <a:p>
            <a:pPr marL="514350" indent="-514350" eaLnBrk="1" hangingPunct="1">
              <a:buFont typeface="Calibri" panose="020F0502020204030204" pitchFamily="34" charset="0"/>
              <a:buAutoNum type="alphaLcParenR"/>
            </a:pPr>
            <a:r>
              <a:rPr dirty="0"/>
              <a:t>Price of related goods;</a:t>
            </a:r>
            <a:endParaRPr dirty="0"/>
          </a:p>
          <a:p>
            <a:pPr marL="514350" indent="-514350" eaLnBrk="1" hangingPunct="1">
              <a:buFont typeface="Calibri" panose="020F0502020204030204" pitchFamily="34" charset="0"/>
              <a:buAutoNum type="alphaLcParenR"/>
            </a:pPr>
            <a:r>
              <a:rPr dirty="0"/>
              <a:t>State of technology;</a:t>
            </a:r>
            <a:endParaRPr dirty="0"/>
          </a:p>
          <a:p>
            <a:pPr marL="514350" indent="-514350" eaLnBrk="1" hangingPunct="1">
              <a:buFont typeface="Calibri" panose="020F0502020204030204" pitchFamily="34" charset="0"/>
              <a:buAutoNum type="alphaLcParenR"/>
            </a:pPr>
            <a:r>
              <a:rPr dirty="0"/>
              <a:t>Cost of production; and</a:t>
            </a:r>
            <a:endParaRPr dirty="0"/>
          </a:p>
          <a:p>
            <a:pPr marL="514350" indent="-514350" eaLnBrk="1" hangingPunct="1">
              <a:buFont typeface="Calibri" panose="020F0502020204030204" pitchFamily="34" charset="0"/>
              <a:buAutoNum type="alphaLcParenR"/>
            </a:pPr>
            <a:r>
              <a:rPr dirty="0"/>
              <a:t>Government policy.</a:t>
            </a:r>
            <a:endParaRPr dirty="0"/>
          </a:p>
        </p:txBody>
      </p:sp>
      <p:pic>
        <p:nvPicPr>
          <p:cNvPr id="4" name="~PP2412.WAV">
            <a:hlinkClick r:id="" action="ppaction://media"/>
          </p:cNvPr>
          <p:cNvPicPr>
            <a:picLocks noRot="1" noChangeAspect="1"/>
          </p:cNvPicPr>
          <p:nvPr>
            <a:wavAudioFile r:embed="rId1" name="~PP2412.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388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57200"/>
            <a:ext cx="8229600" cy="1143000"/>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rgbClr val="FF0000"/>
                </a:solidFill>
                <a:effectLst/>
                <a:uLnTx/>
                <a:uFillTx/>
                <a:latin typeface="+mj-lt"/>
                <a:ea typeface="+mj-ea"/>
                <a:cs typeface="+mj-cs"/>
              </a:rPr>
              <a:t>CHANGE IN QUANTITY SUPPLIED (MOVEMENT): Expansion or Contraction of supply</a:t>
            </a:r>
            <a:endParaRPr kumimoji="0" lang="en-US" sz="4400" b="0"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12291" name="Content Placeholder 4"/>
          <p:cNvSpPr>
            <a:spLocks noGrp="1"/>
          </p:cNvSpPr>
          <p:nvPr>
            <p:ph idx="1"/>
          </p:nvPr>
        </p:nvSpPr>
        <p:spPr>
          <a:xfrm>
            <a:off x="457200" y="2133600"/>
            <a:ext cx="8229600" cy="4525963"/>
          </a:xfrm>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A movement along the supply curve is caused by changes in the price of the good, other things remaining constant. It is also called </a:t>
            </a:r>
            <a:r>
              <a:rPr kumimoji="0" lang="en-US" sz="3200" b="1" i="0" u="none" strike="noStrike" kern="1200" cap="none" spc="0" normalizeH="0" baseline="0" noProof="0" smtClean="0">
                <a:ln>
                  <a:noFill/>
                </a:ln>
                <a:solidFill>
                  <a:schemeClr val="tx1"/>
                </a:solidFill>
                <a:effectLst/>
                <a:uLnTx/>
                <a:uFillTx/>
                <a:latin typeface="+mn-lt"/>
                <a:ea typeface="+mn-ea"/>
                <a:cs typeface="+mn-cs"/>
              </a:rPr>
              <a:t>change in quantity supplied </a:t>
            </a:r>
            <a:r>
              <a:rPr kumimoji="0" lang="en-US" sz="3200" b="0" i="0" u="none" strike="noStrike" kern="1200" cap="none" spc="0" normalizeH="0" baseline="0" noProof="0" smtClean="0">
                <a:ln>
                  <a:noFill/>
                </a:ln>
                <a:solidFill>
                  <a:schemeClr val="tx1"/>
                </a:solidFill>
                <a:effectLst/>
                <a:uLnTx/>
                <a:uFillTx/>
                <a:latin typeface="+mn-lt"/>
                <a:ea typeface="+mn-ea"/>
                <a:cs typeface="+mn-cs"/>
              </a:rPr>
              <a:t>of the commodity.</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Movement along the supply curve is of two types:</a:t>
            </a:r>
            <a:br>
              <a:rPr kumimoji="0" lang="en-US" sz="3200" b="0" i="0" u="none" strike="noStrike" kern="1200" cap="none" spc="0" normalizeH="0" baseline="0" noProof="0" smtClean="0">
                <a:ln>
                  <a:noFill/>
                </a:ln>
                <a:solidFill>
                  <a:schemeClr val="tx1"/>
                </a:solidFill>
                <a:effectLst/>
                <a:uLnTx/>
                <a:uFillTx/>
                <a:latin typeface="+mn-lt"/>
                <a:ea typeface="+mn-ea"/>
                <a:cs typeface="+mn-cs"/>
              </a:rPr>
            </a:br>
            <a:r>
              <a:rPr kumimoji="0" lang="en-US" sz="3200" b="0" i="0" u="none" strike="noStrike" kern="1200" cap="none" spc="0" normalizeH="0" baseline="0" noProof="0" smtClean="0">
                <a:ln>
                  <a:noFill/>
                </a:ln>
                <a:solidFill>
                  <a:schemeClr val="tx1"/>
                </a:solidFill>
                <a:effectLst/>
                <a:uLnTx/>
                <a:uFillTx/>
                <a:latin typeface="+mn-lt"/>
                <a:ea typeface="+mn-ea"/>
                <a:cs typeface="+mn-cs"/>
              </a:rPr>
              <a:t>1) Expansion of supply, and</a:t>
            </a:r>
            <a:br>
              <a:rPr kumimoji="0" lang="en-US" sz="3200" b="0" i="0" u="none" strike="noStrike" kern="1200" cap="none" spc="0" normalizeH="0" baseline="0" noProof="0" smtClean="0">
                <a:ln>
                  <a:noFill/>
                </a:ln>
                <a:solidFill>
                  <a:schemeClr val="tx1"/>
                </a:solidFill>
                <a:effectLst/>
                <a:uLnTx/>
                <a:uFillTx/>
                <a:latin typeface="+mn-lt"/>
                <a:ea typeface="+mn-ea"/>
                <a:cs typeface="+mn-cs"/>
              </a:rPr>
            </a:br>
            <a:r>
              <a:rPr kumimoji="0" lang="en-US" sz="3200" b="0" i="0" u="none" strike="noStrike" kern="1200" cap="none" spc="0" normalizeH="0" baseline="0" noProof="0" smtClean="0">
                <a:ln>
                  <a:noFill/>
                </a:ln>
                <a:solidFill>
                  <a:schemeClr val="tx1"/>
                </a:solidFill>
                <a:effectLst/>
                <a:uLnTx/>
                <a:uFillTx/>
                <a:latin typeface="+mn-lt"/>
                <a:ea typeface="+mn-ea"/>
                <a:cs typeface="+mn-cs"/>
              </a:rPr>
              <a:t>2) contraction of supply.</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pic>
        <p:nvPicPr>
          <p:cNvPr id="5" name="~PP2695.WAV">
            <a:hlinkClick r:id="" action="ppaction://media"/>
          </p:cNvPr>
          <p:cNvPicPr>
            <a:picLocks noRot="1" noChangeAspect="1"/>
          </p:cNvPicPr>
          <p:nvPr>
            <a:wavAudioFile r:embed="rId1" name="~PP269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32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49155" name="Content Placeholder 4"/>
          <p:cNvSpPr>
            <a:spLocks noGrp="1"/>
          </p:cNvSpPr>
          <p:nvPr>
            <p:ph idx="1"/>
          </p:nvPr>
        </p:nvSpPr>
        <p:spPr>
          <a:xfrm>
            <a:off x="0" y="1066800"/>
            <a:ext cx="6477000" cy="4525963"/>
          </a:xfrm>
        </p:spPr>
        <p:txBody>
          <a:bodyPr vert="horz" wrap="square" lIns="91440" tIns="45720" rIns="91440" bIns="45720" anchor="t" anchorCtr="0"/>
          <a:p>
            <a:pPr eaLnBrk="1" hangingPunct="1">
              <a:buNone/>
            </a:pPr>
            <a:r>
              <a:rPr dirty="0"/>
              <a:t>1) Expansion or Extraction of Supply:</a:t>
            </a:r>
            <a:br>
              <a:rPr dirty="0"/>
            </a:br>
            <a:r>
              <a:rPr dirty="0"/>
              <a:t>- When the quantity supplied rise due to rise in the price, it is extension of supply or increase in quantity supplied.</a:t>
            </a:r>
            <a:br>
              <a:rPr dirty="0"/>
            </a:br>
            <a:r>
              <a:rPr dirty="0"/>
              <a:t>- Here the supply curve moves upward.</a:t>
            </a:r>
            <a:br>
              <a:rPr dirty="0"/>
            </a:br>
            <a:r>
              <a:rPr dirty="0"/>
              <a:t>- It is due to increase in price.</a:t>
            </a:r>
            <a:endParaRPr dirty="0"/>
          </a:p>
          <a:p>
            <a:pPr eaLnBrk="1" hangingPunct="1"/>
            <a:endParaRPr dirty="0"/>
          </a:p>
          <a:p>
            <a:pPr eaLnBrk="1" hangingPunct="1"/>
            <a:endParaRPr dirty="0"/>
          </a:p>
        </p:txBody>
      </p:sp>
      <p:pic>
        <p:nvPicPr>
          <p:cNvPr id="49156" name="Picture 5" descr="elass">
            <a:hlinkClick r:id="rId1"/>
          </p:cNvPr>
          <p:cNvPicPr>
            <a:picLocks noChangeAspect="1"/>
          </p:cNvPicPr>
          <p:nvPr/>
        </p:nvPicPr>
        <p:blipFill>
          <a:blip r:embed="rId2"/>
          <a:stretch>
            <a:fillRect/>
          </a:stretch>
        </p:blipFill>
        <p:spPr>
          <a:xfrm>
            <a:off x="5638800" y="3810000"/>
            <a:ext cx="2800350" cy="2800350"/>
          </a:xfrm>
          <a:prstGeom prst="rect">
            <a:avLst/>
          </a:prstGeom>
          <a:noFill/>
          <a:ln w="9525">
            <a:noFill/>
          </a:ln>
        </p:spPr>
      </p:pic>
      <p:pic>
        <p:nvPicPr>
          <p:cNvPr id="5" name="~PP57.WAV">
            <a:hlinkClick r:id="" action="ppaction://media"/>
          </p:cNvPr>
          <p:cNvPicPr>
            <a:picLocks noRot="1" noChangeAspect="1"/>
          </p:cNvPicPr>
          <p:nvPr>
            <a:wavAudioFile r:embed="rId3" name="~PP57.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502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50179" name="Content Placeholder 2"/>
          <p:cNvSpPr>
            <a:spLocks noGrp="1"/>
          </p:cNvSpPr>
          <p:nvPr>
            <p:ph idx="1"/>
          </p:nvPr>
        </p:nvSpPr>
        <p:spPr>
          <a:xfrm>
            <a:off x="228600" y="228600"/>
            <a:ext cx="8229600" cy="3886200"/>
          </a:xfrm>
        </p:spPr>
        <p:txBody>
          <a:bodyPr vert="horz" wrap="square" lIns="91440" tIns="45720" rIns="91440" bIns="45720" anchor="t" anchorCtr="0"/>
          <a:p>
            <a:pPr eaLnBrk="1" hangingPunct="1">
              <a:buFont typeface="Wingdings 2" panose="05020102010507070707" pitchFamily="18" charset="2"/>
              <a:buNone/>
            </a:pPr>
            <a:r>
              <a:rPr dirty="0"/>
              <a:t>2) Contraction of supply:</a:t>
            </a:r>
            <a:br>
              <a:rPr dirty="0"/>
            </a:br>
            <a:r>
              <a:rPr dirty="0"/>
              <a:t>- When the quantity supplied falls due to a fall in its price, it is called contraction of supply or decrease in quantity supplied.</a:t>
            </a:r>
            <a:br>
              <a:rPr dirty="0"/>
            </a:br>
            <a:r>
              <a:rPr dirty="0"/>
              <a:t>- In this case supply curve moves downwards.</a:t>
            </a:r>
            <a:br>
              <a:rPr dirty="0"/>
            </a:br>
            <a:r>
              <a:rPr dirty="0"/>
              <a:t>- It is due to decrease in price.</a:t>
            </a:r>
            <a:br>
              <a:rPr dirty="0"/>
            </a:br>
            <a:endParaRPr dirty="0"/>
          </a:p>
          <a:p>
            <a:pPr eaLnBrk="1" hangingPunct="1">
              <a:buFont typeface="Arial" panose="020B0604020202020204" pitchFamily="34" charset="0"/>
              <a:buChar char="•"/>
            </a:pPr>
            <a:endParaRPr dirty="0"/>
          </a:p>
        </p:txBody>
      </p:sp>
      <p:sp>
        <p:nvSpPr>
          <p:cNvPr id="50180" name="AutoShape 2" descr="Image result for contraction in supply curve"/>
          <p:cNvSpPr>
            <a:spLocks noChangeAspect="1"/>
          </p:cNvSpPr>
          <p:nvPr/>
        </p:nvSpPr>
        <p:spPr>
          <a:xfrm>
            <a:off x="155575" y="-144462"/>
            <a:ext cx="304800" cy="304800"/>
          </a:xfrm>
          <a:prstGeom prst="rect">
            <a:avLst/>
          </a:prstGeom>
          <a:noFill/>
          <a:ln w="9525">
            <a:noFill/>
          </a:ln>
        </p:spPr>
        <p:txBody>
          <a:bodyPr/>
          <a:p>
            <a:endParaRPr dirty="0">
              <a:latin typeface="Calibri" panose="020F0502020204030204" pitchFamily="34" charset="0"/>
            </a:endParaRPr>
          </a:p>
        </p:txBody>
      </p:sp>
      <p:pic>
        <p:nvPicPr>
          <p:cNvPr id="50181" name="Picture 4" descr="C:\Users\Ch Mohsan\Desktop\2.gif"/>
          <p:cNvPicPr>
            <a:picLocks noChangeAspect="1"/>
          </p:cNvPicPr>
          <p:nvPr/>
        </p:nvPicPr>
        <p:blipFill>
          <a:blip r:embed="rId1"/>
          <a:stretch>
            <a:fillRect/>
          </a:stretch>
        </p:blipFill>
        <p:spPr>
          <a:xfrm>
            <a:off x="2362200" y="4267200"/>
            <a:ext cx="3733800" cy="2362200"/>
          </a:xfrm>
          <a:prstGeom prst="rect">
            <a:avLst/>
          </a:prstGeom>
          <a:noFill/>
          <a:ln w="9525">
            <a:noFill/>
          </a:ln>
        </p:spPr>
      </p:pic>
      <p:pic>
        <p:nvPicPr>
          <p:cNvPr id="6" name="~PP2599.WAV">
            <a:hlinkClick r:id="" action="ppaction://media"/>
          </p:cNvPr>
          <p:cNvPicPr>
            <a:picLocks noRot="1" noChangeAspect="1"/>
          </p:cNvPicPr>
          <p:nvPr>
            <a:wavAudioFile r:embed="rId2" name="~PP2599.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391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rgbClr val="FF0000"/>
                </a:solidFill>
                <a:effectLst/>
                <a:uLnTx/>
                <a:uFillTx/>
                <a:latin typeface="+mj-lt"/>
                <a:ea typeface="+mj-ea"/>
                <a:cs typeface="+mj-cs"/>
              </a:rPr>
              <a:t>CHANGE IN SUPPLY (SHIFT): Increase or Decrease in Supply</a:t>
            </a:r>
            <a:endParaRPr kumimoji="0" lang="en-US" sz="4400" b="0"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51203" name="Content Placeholder 2"/>
          <p:cNvSpPr>
            <a:spLocks noGrp="1"/>
          </p:cNvSpPr>
          <p:nvPr>
            <p:ph idx="1"/>
          </p:nvPr>
        </p:nvSpPr>
        <p:spPr>
          <a:xfrm>
            <a:off x="457200" y="1905000"/>
            <a:ext cx="8229600" cy="4525963"/>
          </a:xfrm>
        </p:spPr>
        <p:txBody>
          <a:bodyPr vert="horz" wrap="square" lIns="91440" tIns="45720" rIns="91440" bIns="45720" anchor="t" anchorCtr="0"/>
          <a:p>
            <a:pPr eaLnBrk="1" hangingPunct="1"/>
            <a:r>
              <a:rPr dirty="0"/>
              <a:t>A shift in supply curve is caused by changes in factors other than the price of good.</a:t>
            </a:r>
            <a:endParaRPr dirty="0"/>
          </a:p>
          <a:p>
            <a:pPr eaLnBrk="1" hangingPunct="1"/>
            <a:r>
              <a:rPr dirty="0"/>
              <a:t>These factors are:</a:t>
            </a:r>
            <a:br>
              <a:rPr dirty="0"/>
            </a:br>
            <a:r>
              <a:rPr dirty="0"/>
              <a:t>a) Price of other commodities</a:t>
            </a:r>
            <a:br>
              <a:rPr dirty="0"/>
            </a:br>
            <a:r>
              <a:rPr dirty="0"/>
              <a:t>b) State of technology</a:t>
            </a:r>
            <a:br>
              <a:rPr dirty="0"/>
            </a:br>
            <a:r>
              <a:rPr dirty="0"/>
              <a:t>c) Cost of production</a:t>
            </a:r>
            <a:br>
              <a:rPr dirty="0"/>
            </a:br>
            <a:r>
              <a:rPr dirty="0"/>
              <a:t>d) Government policy</a:t>
            </a:r>
            <a:br>
              <a:rPr dirty="0"/>
            </a:br>
            <a:endParaRPr dirty="0"/>
          </a:p>
        </p:txBody>
      </p:sp>
      <p:pic>
        <p:nvPicPr>
          <p:cNvPr id="4" name="~PP884.WAV">
            <a:hlinkClick r:id="" action="ppaction://media"/>
          </p:cNvPr>
          <p:cNvPicPr>
            <a:picLocks noRot="1" noChangeAspect="1"/>
          </p:cNvPicPr>
          <p:nvPr>
            <a:wavAudioFile r:embed="rId1" name="~PP884.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71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52227" name="Content Placeholder 2"/>
          <p:cNvSpPr>
            <a:spLocks noGrp="1"/>
          </p:cNvSpPr>
          <p:nvPr>
            <p:ph idx="1"/>
          </p:nvPr>
        </p:nvSpPr>
        <p:spPr>
          <a:xfrm>
            <a:off x="304800" y="990600"/>
            <a:ext cx="8229600" cy="4525963"/>
          </a:xfrm>
        </p:spPr>
        <p:txBody>
          <a:bodyPr vert="horz" wrap="square" lIns="91440" tIns="45720" rIns="91440" bIns="45720" anchor="t" anchorCtr="0"/>
          <a:p>
            <a:pPr eaLnBrk="1" hangingPunct="1"/>
            <a:r>
              <a:rPr dirty="0"/>
              <a:t>A change in any of these factors causes shift in the supply curve. It is also called </a:t>
            </a:r>
            <a:r>
              <a:rPr b="1" dirty="0"/>
              <a:t>change in supply</a:t>
            </a:r>
            <a:r>
              <a:rPr dirty="0"/>
              <a:t>.</a:t>
            </a:r>
            <a:endParaRPr dirty="0"/>
          </a:p>
          <a:p>
            <a:pPr eaLnBrk="1" hangingPunct="1"/>
            <a:r>
              <a:rPr dirty="0"/>
              <a:t>In a shift, a new supply curve is drawn.</a:t>
            </a:r>
            <a:endParaRPr dirty="0"/>
          </a:p>
          <a:p>
            <a:pPr eaLnBrk="1" hangingPunct="1"/>
            <a:r>
              <a:rPr dirty="0"/>
              <a:t>A shift of the supply curve can be of two types:</a:t>
            </a:r>
            <a:br>
              <a:rPr dirty="0"/>
            </a:br>
            <a:r>
              <a:rPr dirty="0"/>
              <a:t>1) Increase in supply, or</a:t>
            </a:r>
            <a:br>
              <a:rPr dirty="0"/>
            </a:br>
            <a:r>
              <a:rPr dirty="0"/>
              <a:t>2) Decrease in supply</a:t>
            </a:r>
            <a:endParaRPr dirty="0"/>
          </a:p>
        </p:txBody>
      </p:sp>
      <p:pic>
        <p:nvPicPr>
          <p:cNvPr id="4" name="~PP3045.WAV">
            <a:hlinkClick r:id="" action="ppaction://media"/>
          </p:cNvPr>
          <p:cNvPicPr>
            <a:picLocks noRot="1" noChangeAspect="1"/>
          </p:cNvPicPr>
          <p:nvPr>
            <a:wavAudioFile r:embed="rId1" name="~PP304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223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53251" name="Content Placeholder 2"/>
          <p:cNvSpPr>
            <a:spLocks noGrp="1"/>
          </p:cNvSpPr>
          <p:nvPr>
            <p:ph idx="1"/>
          </p:nvPr>
        </p:nvSpPr>
        <p:spPr>
          <a:xfrm>
            <a:off x="381000" y="457200"/>
            <a:ext cx="8229600" cy="6096000"/>
          </a:xfrm>
        </p:spPr>
        <p:txBody>
          <a:bodyPr vert="horz" wrap="square" lIns="91440" tIns="45720" rIns="91440" bIns="45720" anchor="t" anchorCtr="0"/>
          <a:p>
            <a:pPr marL="514350" indent="-514350" eaLnBrk="1" hangingPunct="1">
              <a:buFont typeface="Arial" panose="020B0604020202020204" pitchFamily="34" charset="0"/>
              <a:buAutoNum type="arabicParenR"/>
            </a:pPr>
            <a:r>
              <a:rPr dirty="0"/>
              <a:t>Increase in supply:</a:t>
            </a:r>
            <a:br>
              <a:rPr dirty="0"/>
            </a:br>
            <a:r>
              <a:rPr dirty="0"/>
              <a:t>-when supply of a commodity rises due to favorable changes in factors other than price of the commodity, it is called increase in supply.</a:t>
            </a:r>
            <a:endParaRPr dirty="0"/>
          </a:p>
          <a:p>
            <a:pPr marL="514350" indent="-514350" eaLnBrk="1" hangingPunct="1">
              <a:buNone/>
            </a:pPr>
            <a:br>
              <a:rPr dirty="0"/>
            </a:br>
            <a:r>
              <a:rPr dirty="0"/>
              <a:t>- Favorable changes imply:</a:t>
            </a:r>
            <a:br>
              <a:rPr dirty="0"/>
            </a:br>
            <a:r>
              <a:rPr dirty="0"/>
              <a:t>(i) Improvement in technique of production</a:t>
            </a:r>
            <a:br>
              <a:rPr dirty="0"/>
            </a:br>
            <a:r>
              <a:rPr dirty="0"/>
              <a:t>(ii) Fall in the cost of production</a:t>
            </a:r>
            <a:br>
              <a:rPr dirty="0"/>
            </a:br>
            <a:r>
              <a:rPr dirty="0"/>
              <a:t>(iii) Fall in taxes</a:t>
            </a:r>
            <a:endParaRPr dirty="0"/>
          </a:p>
        </p:txBody>
      </p:sp>
      <p:pic>
        <p:nvPicPr>
          <p:cNvPr id="4" name="~PP3750.WAV">
            <a:hlinkClick r:id="" action="ppaction://media"/>
          </p:cNvPr>
          <p:cNvPicPr>
            <a:picLocks noRot="1" noChangeAspect="1"/>
          </p:cNvPicPr>
          <p:nvPr>
            <a:wavAudioFile r:embed="rId1" name="~PP3750.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36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54275" name="AutoShape 2" descr="Image result for increase in supply curve shift"/>
          <p:cNvSpPr>
            <a:spLocks noChangeAspect="1"/>
          </p:cNvSpPr>
          <p:nvPr/>
        </p:nvSpPr>
        <p:spPr>
          <a:xfrm>
            <a:off x="168275" y="-182562"/>
            <a:ext cx="304800" cy="304800"/>
          </a:xfrm>
          <a:prstGeom prst="rect">
            <a:avLst/>
          </a:prstGeom>
          <a:noFill/>
          <a:ln w="9525">
            <a:noFill/>
          </a:ln>
        </p:spPr>
        <p:txBody>
          <a:bodyPr/>
          <a:p>
            <a:endParaRPr dirty="0">
              <a:latin typeface="Calibri" panose="020F0502020204030204" pitchFamily="34" charset="0"/>
            </a:endParaRPr>
          </a:p>
        </p:txBody>
      </p:sp>
      <p:sp>
        <p:nvSpPr>
          <p:cNvPr id="54276" name="AutoShape 4" descr="Image result for increase in supply curve shift"/>
          <p:cNvSpPr>
            <a:spLocks noChangeAspect="1"/>
          </p:cNvSpPr>
          <p:nvPr/>
        </p:nvSpPr>
        <p:spPr>
          <a:xfrm>
            <a:off x="168275" y="-182562"/>
            <a:ext cx="304800" cy="304800"/>
          </a:xfrm>
          <a:prstGeom prst="rect">
            <a:avLst/>
          </a:prstGeom>
          <a:noFill/>
          <a:ln w="9525">
            <a:noFill/>
          </a:ln>
        </p:spPr>
        <p:txBody>
          <a:bodyPr/>
          <a:p>
            <a:endParaRPr dirty="0">
              <a:latin typeface="Calibri" panose="020F0502020204030204" pitchFamily="34" charset="0"/>
            </a:endParaRPr>
          </a:p>
        </p:txBody>
      </p:sp>
      <p:pic>
        <p:nvPicPr>
          <p:cNvPr id="54277" name="Picture 8" descr="http://www.economicsonline.co.uk/How%20markets%20work%20graphs/Supply-to-R.png"/>
          <p:cNvPicPr>
            <a:picLocks noChangeAspect="1"/>
          </p:cNvPicPr>
          <p:nvPr/>
        </p:nvPicPr>
        <p:blipFill>
          <a:blip r:embed="rId1"/>
          <a:stretch>
            <a:fillRect/>
          </a:stretch>
        </p:blipFill>
        <p:spPr>
          <a:xfrm>
            <a:off x="1295400" y="1905000"/>
            <a:ext cx="5486400" cy="4883150"/>
          </a:xfrm>
          <a:prstGeom prst="rect">
            <a:avLst/>
          </a:prstGeom>
          <a:noFill/>
          <a:ln w="9525">
            <a:noFill/>
          </a:ln>
        </p:spPr>
      </p:pic>
      <p:pic>
        <p:nvPicPr>
          <p:cNvPr id="6" name="~PP1484.WAV">
            <a:hlinkClick r:id="" action="ppaction://media"/>
          </p:cNvPr>
          <p:cNvPicPr>
            <a:picLocks noRot="1" noChangeAspect="1"/>
          </p:cNvPicPr>
          <p:nvPr>
            <a:wavAudioFile r:embed="rId2" name="~PP1484.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547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itle 1"/>
          <p:cNvSpPr>
            <a:spLocks noGrp="1"/>
          </p:cNvSpPr>
          <p:nvPr>
            <p:ph type="title"/>
          </p:nvPr>
        </p:nvSpPr>
        <p:spPr/>
        <p:txBody>
          <a:bodyPr vert="horz" wrap="square" lIns="91440" tIns="45720" rIns="91440" bIns="45720" anchor="ctr" anchorCtr="0"/>
          <a:p>
            <a:pPr eaLnBrk="1" hangingPunct="1"/>
            <a:r>
              <a:rPr dirty="0"/>
              <a:t> </a:t>
            </a:r>
            <a:endParaRPr dirty="0"/>
          </a:p>
        </p:txBody>
      </p:sp>
      <p:sp>
        <p:nvSpPr>
          <p:cNvPr id="55299" name="Content Placeholder 2"/>
          <p:cNvSpPr>
            <a:spLocks noGrp="1"/>
          </p:cNvSpPr>
          <p:nvPr>
            <p:ph idx="1"/>
          </p:nvPr>
        </p:nvSpPr>
        <p:spPr>
          <a:xfrm>
            <a:off x="457200" y="533400"/>
            <a:ext cx="8229600" cy="6172200"/>
          </a:xfrm>
        </p:spPr>
        <p:txBody>
          <a:bodyPr vert="horz" wrap="square" lIns="91440" tIns="45720" rIns="91440" bIns="45720" anchor="t" anchorCtr="0"/>
          <a:p>
            <a:pPr eaLnBrk="1" hangingPunct="1">
              <a:buNone/>
            </a:pPr>
            <a:r>
              <a:rPr dirty="0"/>
              <a:t>2) Decrease in supply:</a:t>
            </a:r>
            <a:br>
              <a:rPr dirty="0"/>
            </a:br>
            <a:r>
              <a:rPr dirty="0"/>
              <a:t>-When supply of a commodity falls due to unfavorable changes in factors other than its price, it is called decrease in supply.</a:t>
            </a:r>
            <a:endParaRPr dirty="0"/>
          </a:p>
          <a:p>
            <a:pPr eaLnBrk="1" hangingPunct="1">
              <a:buNone/>
            </a:pPr>
            <a:br>
              <a:rPr dirty="0"/>
            </a:br>
            <a:r>
              <a:rPr dirty="0"/>
              <a:t>-The causes of decrease in supply are:</a:t>
            </a:r>
            <a:br>
              <a:rPr dirty="0"/>
            </a:br>
            <a:r>
              <a:rPr dirty="0"/>
              <a:t>(i) outdated technique of production</a:t>
            </a:r>
            <a:br>
              <a:rPr dirty="0"/>
            </a:br>
            <a:r>
              <a:rPr dirty="0"/>
              <a:t>(ii) Increase in the cost of production</a:t>
            </a:r>
            <a:br>
              <a:rPr dirty="0"/>
            </a:br>
            <a:r>
              <a:rPr dirty="0"/>
              <a:t>(iii) Rise in tax</a:t>
            </a:r>
            <a:endParaRPr dirty="0"/>
          </a:p>
        </p:txBody>
      </p:sp>
      <p:pic>
        <p:nvPicPr>
          <p:cNvPr id="4" name="~PP2868.WAV">
            <a:hlinkClick r:id="" action="ppaction://media"/>
          </p:cNvPr>
          <p:cNvPicPr>
            <a:picLocks noRot="1" noChangeAspect="1"/>
          </p:cNvPicPr>
          <p:nvPr>
            <a:wavAudioFile r:embed="rId1" name="~PP286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20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itle 1"/>
          <p:cNvSpPr>
            <a:spLocks noGrp="1"/>
          </p:cNvSpPr>
          <p:nvPr>
            <p:ph type="title"/>
          </p:nvPr>
        </p:nvSpPr>
        <p:spPr/>
        <p:txBody>
          <a:bodyPr vert="horz" wrap="square" lIns="91440" tIns="45720" rIns="91440" bIns="45720" anchor="ctr" anchorCtr="0"/>
          <a:p>
            <a:pPr eaLnBrk="1" hangingPunct="1"/>
            <a:r>
              <a:rPr dirty="0"/>
              <a:t> </a:t>
            </a:r>
            <a:endParaRPr dirty="0"/>
          </a:p>
        </p:txBody>
      </p:sp>
      <p:pic>
        <p:nvPicPr>
          <p:cNvPr id="56323" name="Picture 2" descr="http://www.economicsonline.co.uk/How%20markets%20work%20graphs/S-shifts-to-L.png"/>
          <p:cNvPicPr>
            <a:picLocks noChangeAspect="1"/>
          </p:cNvPicPr>
          <p:nvPr/>
        </p:nvPicPr>
        <p:blipFill>
          <a:blip r:embed="rId1"/>
          <a:stretch>
            <a:fillRect/>
          </a:stretch>
        </p:blipFill>
        <p:spPr>
          <a:xfrm>
            <a:off x="1066800" y="1752600"/>
            <a:ext cx="5791200" cy="5224463"/>
          </a:xfrm>
          <a:prstGeom prst="rect">
            <a:avLst/>
          </a:prstGeom>
          <a:noFill/>
          <a:ln w="9525">
            <a:noFill/>
          </a:ln>
        </p:spPr>
      </p:pic>
      <p:pic>
        <p:nvPicPr>
          <p:cNvPr id="4" name="~PP4042.WAV">
            <a:hlinkClick r:id="" action="ppaction://media"/>
          </p:cNvPr>
          <p:cNvPicPr>
            <a:picLocks noRot="1" noChangeAspect="1"/>
          </p:cNvPicPr>
          <p:nvPr>
            <a:wavAudioFile r:embed="rId2" name="~PP4042.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254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pPr eaLnBrk="1" hangingPunct="1"/>
            <a:r>
              <a:rPr dirty="0"/>
              <a:t>Market Equilibrium</a:t>
            </a:r>
            <a:endParaRPr dirty="0"/>
          </a:p>
        </p:txBody>
      </p:sp>
      <p:sp>
        <p:nvSpPr>
          <p:cNvPr id="93187" name="Rectangle 3"/>
          <p:cNvSpPr>
            <a:spLocks noGrp="1"/>
          </p:cNvSpPr>
          <p:nvPr>
            <p:ph idx="1"/>
          </p:nvPr>
        </p:nvSpPr>
        <p:spPr>
          <a:xfrm>
            <a:off x="838200" y="1752600"/>
            <a:ext cx="7086600" cy="4648200"/>
          </a:xfrm>
        </p:spPr>
        <p:txBody>
          <a:bodyPr vert="horz" wrap="square" lIns="92075" tIns="46038" rIns="92075" bIns="46038" anchor="t" anchorCtr="0"/>
          <a:p>
            <a:pPr eaLnBrk="1" hangingPunct="1"/>
            <a:r>
              <a:rPr dirty="0">
                <a:solidFill>
                  <a:srgbClr val="000000"/>
                </a:solidFill>
              </a:rPr>
              <a:t>The operation of the market depends on the interaction between buyers and sellers.</a:t>
            </a:r>
            <a:endParaRPr dirty="0">
              <a:solidFill>
                <a:srgbClr val="000000"/>
              </a:solidFill>
            </a:endParaRPr>
          </a:p>
          <a:p>
            <a:pPr eaLnBrk="1" hangingPunct="1"/>
            <a:r>
              <a:rPr dirty="0">
                <a:solidFill>
                  <a:srgbClr val="000000"/>
                </a:solidFill>
              </a:rPr>
              <a:t>An </a:t>
            </a:r>
            <a:r>
              <a:rPr b="1" i="1" dirty="0">
                <a:solidFill>
                  <a:srgbClr val="000000"/>
                </a:solidFill>
              </a:rPr>
              <a:t>equilibrium</a:t>
            </a:r>
            <a:r>
              <a:rPr dirty="0">
                <a:solidFill>
                  <a:srgbClr val="000000"/>
                </a:solidFill>
              </a:rPr>
              <a:t> is the condition that exists when quantity supplied and quantity demanded are equal.</a:t>
            </a:r>
            <a:endParaRPr dirty="0">
              <a:solidFill>
                <a:srgbClr val="000000"/>
              </a:solidFill>
            </a:endParaRPr>
          </a:p>
          <a:p>
            <a:pPr eaLnBrk="1" hangingPunct="1"/>
            <a:r>
              <a:rPr dirty="0">
                <a:solidFill>
                  <a:srgbClr val="000000"/>
                </a:solidFill>
              </a:rPr>
              <a:t>At equilibrium, there is no tendency for the market price to change.</a:t>
            </a:r>
            <a:endParaRPr dirty="0">
              <a:solidFill>
                <a:srgbClr val="000000"/>
              </a:solidFill>
            </a:endParaRPr>
          </a:p>
        </p:txBody>
      </p:sp>
      <p:pic>
        <p:nvPicPr>
          <p:cNvPr id="4" name="~PP2926.WAV">
            <a:hlinkClick r:id="" action="ppaction://media"/>
          </p:cNvPr>
          <p:cNvPicPr>
            <a:picLocks noRot="1" noChangeAspect="1"/>
          </p:cNvPicPr>
          <p:nvPr>
            <a:wavAudioFile r:embed="rId1" name="~PP2926.WAV"/>
          </p:nvPr>
        </p:nvPicPr>
        <p:blipFill>
          <a:blip r:embed="rId2"/>
          <a:stretch>
            <a:fillRect/>
          </a:stretch>
        </p:blipFill>
        <p:spPr>
          <a:xfrm>
            <a:off x="8696325" y="6410325"/>
            <a:ext cx="304800" cy="304800"/>
          </a:xfrm>
          <a:prstGeom prst="rect">
            <a:avLst/>
          </a:prstGeom>
          <a:noFill/>
          <a:ln w="9525">
            <a:noFill/>
          </a:ln>
        </p:spPr>
      </p:pic>
    </p:spTree>
    <p:custDataLst>
      <p:tags r:id="rId3"/>
    </p:custDataLst>
  </p:cSld>
  <p:clrMapOvr>
    <a:masterClrMapping/>
  </p:clrMapOvr>
  <p:transition advTm="395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3187">
                                            <p:txEl>
                                              <p:charRg st="0" end="83"/>
                                            </p:txEl>
                                          </p:spTgt>
                                        </p:tgtEl>
                                        <p:attrNameLst>
                                          <p:attrName>style.visibility</p:attrName>
                                        </p:attrNameLst>
                                      </p:cBhvr>
                                      <p:to>
                                        <p:strVal val="visible"/>
                                      </p:to>
                                    </p:set>
                                    <p:animEffect transition="in" filter="wipe(left)">
                                      <p:cBhvr>
                                        <p:cTn id="11" dur="500"/>
                                        <p:tgtEl>
                                          <p:spTgt spid="93187">
                                            <p:txEl>
                                              <p:charRg st="0" end="8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3187">
                                            <p:txEl>
                                              <p:charRg st="83" end="183"/>
                                            </p:txEl>
                                          </p:spTgt>
                                        </p:tgtEl>
                                        <p:attrNameLst>
                                          <p:attrName>style.visibility</p:attrName>
                                        </p:attrNameLst>
                                      </p:cBhvr>
                                      <p:to>
                                        <p:strVal val="visible"/>
                                      </p:to>
                                    </p:set>
                                    <p:animEffect transition="in" filter="wipe(left)">
                                      <p:cBhvr>
                                        <p:cTn id="16" dur="500"/>
                                        <p:tgtEl>
                                          <p:spTgt spid="93187">
                                            <p:txEl>
                                              <p:charRg st="83" end="18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3187">
                                            <p:txEl>
                                              <p:charRg st="183" end="252"/>
                                            </p:txEl>
                                          </p:spTgt>
                                        </p:tgtEl>
                                        <p:attrNameLst>
                                          <p:attrName>style.visibility</p:attrName>
                                        </p:attrNameLst>
                                      </p:cBhvr>
                                      <p:to>
                                        <p:strVal val="visible"/>
                                      </p:to>
                                    </p:set>
                                    <p:animEffect transition="in" filter="wipe(left)">
                                      <p:cBhvr>
                                        <p:cTn id="21" dur="500"/>
                                        <p:tgtEl>
                                          <p:spTgt spid="93187">
                                            <p:txEl>
                                              <p:charRg st="183" end="2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22" fill="hold" display="0">
                  <p:stCondLst>
                    <p:cond delay="indefinite"/>
                  </p:stCondLst>
                  <p:endCondLst>
                    <p:cond evt="onPrev" delay="0">
                      <p:tgtEl>
                        <p:sldTgt/>
                      </p:tgtEl>
                    </p:cond>
                    <p:cond evt="onStopAudio" delay="0">
                      <p:tgtEl>
                        <p:sldTgt/>
                      </p:tgtEl>
                    </p:cond>
                  </p:endCondLst>
                </p:cTn>
                <p:tgtEl>
                  <p:spTgt spid="4"/>
                </p:tgtEl>
              </p:cMediaNode>
            </p:audio>
          </p:childTnLst>
        </p:cTn>
      </p:par>
    </p:tnLst>
    <p:bldLst>
      <p:bldP spid="93187" grpId="0" bldLvl="2"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2075" tIns="46038" rIns="92075" bIns="46038" anchor="ctr" anchorCtr="0"/>
          <a:p>
            <a:pPr eaLnBrk="1" hangingPunct="1"/>
            <a:r>
              <a:rPr dirty="0"/>
              <a:t>Market Equilibrium</a:t>
            </a:r>
            <a:endParaRPr dirty="0"/>
          </a:p>
        </p:txBody>
      </p:sp>
      <p:sp>
        <p:nvSpPr>
          <p:cNvPr id="97301" name="Rectangle 21"/>
          <p:cNvSpPr>
            <a:spLocks noGrp="1"/>
          </p:cNvSpPr>
          <p:nvPr>
            <p:ph idx="1"/>
          </p:nvPr>
        </p:nvSpPr>
        <p:spPr>
          <a:xfrm>
            <a:off x="4876800" y="1752600"/>
            <a:ext cx="3886200" cy="2438400"/>
          </a:xfrm>
        </p:spPr>
        <p:txBody>
          <a:bodyPr vert="horz" wrap="square" lIns="91440" tIns="45720" rIns="91440" bIns="45720" anchor="t" anchorCtr="0"/>
          <a:p>
            <a:pPr eaLnBrk="1" hangingPunct="1"/>
            <a:r>
              <a:rPr dirty="0"/>
              <a:t>Only in equilibrium is quantity supplied equal to quantity demanded.</a:t>
            </a:r>
            <a:endParaRPr dirty="0"/>
          </a:p>
        </p:txBody>
      </p:sp>
      <p:sp>
        <p:nvSpPr>
          <p:cNvPr id="97302" name="Rectangle 22"/>
          <p:cNvSpPr>
            <a:spLocks noChangeArrowheads="1"/>
          </p:cNvSpPr>
          <p:nvPr/>
        </p:nvSpPr>
        <p:spPr bwMode="auto">
          <a:xfrm>
            <a:off x="4876800" y="3581400"/>
            <a:ext cx="3810000" cy="2438400"/>
          </a:xfrm>
          <a:prstGeom prst="rect">
            <a:avLst/>
          </a:prstGeom>
          <a:noFill/>
          <a:ln w="9525">
            <a:noFill/>
            <a:miter lim="800000"/>
          </a:ln>
          <a:effectLst/>
        </p:spPr>
        <p:txBody>
          <a:bodyPr/>
          <a:lstStyle/>
          <a:p>
            <a:pPr marL="342900" marR="0" lvl="0" indent="-342900" algn="l" defTabSz="914400" rtl="0" eaLnBrk="1" fontAlgn="auto" latinLnBrk="0" hangingPunct="1">
              <a:lnSpc>
                <a:spcPct val="100000"/>
              </a:lnSpc>
              <a:spcBef>
                <a:spcPct val="25000"/>
              </a:spcBef>
              <a:spcAft>
                <a:spcPct val="45000"/>
              </a:spcAft>
              <a:buClrTx/>
              <a:buSzTx/>
              <a:buFontTx/>
              <a:buChar char="•"/>
              <a:defRPr/>
            </a:pPr>
            <a:r>
              <a:rPr kumimoji="0" lang="en-US" sz="2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any price level other than </a:t>
            </a:r>
            <a:r>
              <a:rPr kumimoji="0" lang="en-US" sz="2800" b="0" i="1"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P</a:t>
            </a:r>
            <a:r>
              <a:rPr kumimoji="0" lang="en-US" sz="2800" b="0" i="0" u="none" strike="noStrike" kern="120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0</a:t>
            </a:r>
            <a:r>
              <a:rPr kumimoji="0" lang="en-US" sz="2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the wishes of buyers and sellers do not coincide.</a:t>
            </a:r>
            <a:endParaRPr kumimoji="0" lang="en-US" sz="2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97314" name="Picture 34" descr="C:\Prentice Hall\CaseFair\presentations\Cf03\images\optimized\equilibrium4.gif"/>
          <p:cNvPicPr>
            <a:picLocks noChangeAspect="1"/>
          </p:cNvPicPr>
          <p:nvPr/>
        </p:nvPicPr>
        <p:blipFill>
          <a:blip r:embed="rId1"/>
          <a:stretch>
            <a:fillRect/>
          </a:stretch>
        </p:blipFill>
        <p:spPr>
          <a:xfrm>
            <a:off x="0" y="1752600"/>
            <a:ext cx="5189538" cy="3794125"/>
          </a:xfrm>
          <a:prstGeom prst="rect">
            <a:avLst/>
          </a:prstGeom>
          <a:noFill/>
          <a:ln w="9525">
            <a:noFill/>
          </a:ln>
        </p:spPr>
      </p:pic>
      <p:pic>
        <p:nvPicPr>
          <p:cNvPr id="97315" name="Picture 35" descr="C:\Prentice Hall\CaseFair\presentations\Cf03\images\optimized\equilibrium3.gif"/>
          <p:cNvPicPr>
            <a:picLocks noChangeAspect="1"/>
          </p:cNvPicPr>
          <p:nvPr/>
        </p:nvPicPr>
        <p:blipFill>
          <a:blip r:embed="rId2"/>
          <a:stretch>
            <a:fillRect/>
          </a:stretch>
        </p:blipFill>
        <p:spPr>
          <a:xfrm>
            <a:off x="0" y="1752600"/>
            <a:ext cx="5189538" cy="3794125"/>
          </a:xfrm>
          <a:prstGeom prst="rect">
            <a:avLst/>
          </a:prstGeom>
          <a:noFill/>
          <a:ln w="9525">
            <a:noFill/>
          </a:ln>
        </p:spPr>
      </p:pic>
      <p:pic>
        <p:nvPicPr>
          <p:cNvPr id="97316" name="Picture 36" descr="C:\Prentice Hall\CaseFair\presentations\Cf03\images\optimized\equilibrium.gif"/>
          <p:cNvPicPr>
            <a:picLocks noChangeAspect="1"/>
          </p:cNvPicPr>
          <p:nvPr/>
        </p:nvPicPr>
        <p:blipFill>
          <a:blip r:embed="rId3"/>
          <a:stretch>
            <a:fillRect/>
          </a:stretch>
        </p:blipFill>
        <p:spPr>
          <a:xfrm>
            <a:off x="0" y="1752600"/>
            <a:ext cx="5189538" cy="3794125"/>
          </a:xfrm>
          <a:prstGeom prst="rect">
            <a:avLst/>
          </a:prstGeom>
          <a:noFill/>
          <a:ln w="9525">
            <a:noFill/>
          </a:ln>
        </p:spPr>
      </p:pic>
      <p:pic>
        <p:nvPicPr>
          <p:cNvPr id="97317" name="Picture 37" descr="C:\Prentice Hall\CaseFair\presentations\Cf03\images\optimized\equilibrium7.gif"/>
          <p:cNvPicPr>
            <a:picLocks noChangeAspect="1"/>
          </p:cNvPicPr>
          <p:nvPr/>
        </p:nvPicPr>
        <p:blipFill>
          <a:blip r:embed="rId4"/>
          <a:stretch>
            <a:fillRect/>
          </a:stretch>
        </p:blipFill>
        <p:spPr>
          <a:xfrm>
            <a:off x="0" y="1752600"/>
            <a:ext cx="5189538" cy="3794125"/>
          </a:xfrm>
          <a:prstGeom prst="rect">
            <a:avLst/>
          </a:prstGeom>
          <a:noFill/>
          <a:ln w="9525">
            <a:noFill/>
          </a:ln>
        </p:spPr>
      </p:pic>
      <p:pic>
        <p:nvPicPr>
          <p:cNvPr id="10" name="~PP2587.WAV">
            <a:hlinkClick r:id="" action="ppaction://media"/>
          </p:cNvPr>
          <p:cNvPicPr>
            <a:picLocks noRot="1" noChangeAspect="1"/>
          </p:cNvPicPr>
          <p:nvPr>
            <a:wavAudioFile r:embed="rId5" name="~PP2587.WAV"/>
          </p:nvPr>
        </p:nvPicPr>
        <p:blipFill>
          <a:blip r:embed="rId6"/>
          <a:stretch>
            <a:fillRect/>
          </a:stretch>
        </p:blipFill>
        <p:spPr>
          <a:xfrm>
            <a:off x="8696325" y="6410325"/>
            <a:ext cx="304800" cy="304800"/>
          </a:xfrm>
          <a:prstGeom prst="rect">
            <a:avLst/>
          </a:prstGeom>
          <a:noFill/>
          <a:ln w="9525">
            <a:noFill/>
          </a:ln>
        </p:spPr>
      </p:pic>
    </p:spTree>
    <p:custDataLst>
      <p:tags r:id="rId7"/>
    </p:custDataLst>
  </p:cSld>
  <p:clrMapOvr>
    <a:masterClrMapping/>
  </p:clrMapOvr>
  <p:transition advTm="1531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97314"/>
                                        </p:tgtEl>
                                        <p:attrNameLst>
                                          <p:attrName>style.visibility</p:attrName>
                                        </p:attrNameLst>
                                      </p:cBhvr>
                                      <p:to>
                                        <p:strVal val="visible"/>
                                      </p:to>
                                    </p:set>
                                    <p:animEffect transition="in" filter="box(out)">
                                      <p:cBhvr>
                                        <p:cTn id="11" dur="500"/>
                                        <p:tgtEl>
                                          <p:spTgt spid="973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7301">
                                            <p:txEl>
                                              <p:charRg st="0" end="69"/>
                                            </p:txEl>
                                          </p:spTgt>
                                        </p:tgtEl>
                                        <p:attrNameLst>
                                          <p:attrName>style.visibility</p:attrName>
                                        </p:attrNameLst>
                                      </p:cBhvr>
                                      <p:to>
                                        <p:strVal val="visible"/>
                                      </p:to>
                                    </p:set>
                                    <p:animEffect transition="in" filter="wipe(left)">
                                      <p:cBhvr>
                                        <p:cTn id="16" dur="500"/>
                                        <p:tgtEl>
                                          <p:spTgt spid="97301">
                                            <p:txEl>
                                              <p:charRg st="0" end="6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97315"/>
                                        </p:tgtEl>
                                        <p:attrNameLst>
                                          <p:attrName>style.visibility</p:attrName>
                                        </p:attrNameLst>
                                      </p:cBhvr>
                                      <p:to>
                                        <p:strVal val="visible"/>
                                      </p:to>
                                    </p:set>
                                    <p:animEffect transition="in" filter="box(out)">
                                      <p:cBhvr>
                                        <p:cTn id="21" dur="500"/>
                                        <p:tgtEl>
                                          <p:spTgt spid="9731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97316"/>
                                        </p:tgtEl>
                                        <p:attrNameLst>
                                          <p:attrName>style.visibility</p:attrName>
                                        </p:attrNameLst>
                                      </p:cBhvr>
                                      <p:to>
                                        <p:strVal val="visible"/>
                                      </p:to>
                                    </p:set>
                                    <p:animEffect transition="in" filter="box(out)">
                                      <p:cBhvr>
                                        <p:cTn id="26" dur="500"/>
                                        <p:tgtEl>
                                          <p:spTgt spid="973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7302"/>
                                        </p:tgtEl>
                                        <p:attrNameLst>
                                          <p:attrName>style.visibility</p:attrName>
                                        </p:attrNameLst>
                                      </p:cBhvr>
                                      <p:to>
                                        <p:strVal val="visible"/>
                                      </p:to>
                                    </p:set>
                                    <p:animEffect transition="in" filter="wipe(left)">
                                      <p:cBhvr>
                                        <p:cTn id="31" dur="500"/>
                                        <p:tgtEl>
                                          <p:spTgt spid="97302"/>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97317"/>
                                        </p:tgtEl>
                                        <p:attrNameLst>
                                          <p:attrName>style.visibility</p:attrName>
                                        </p:attrNameLst>
                                      </p:cBhvr>
                                      <p:to>
                                        <p:strVal val="visible"/>
                                      </p:to>
                                    </p:set>
                                    <p:animEffect transition="in" filter="box(out)">
                                      <p:cBhvr>
                                        <p:cTn id="36" dur="500"/>
                                        <p:tgtEl>
                                          <p:spTgt spid="9731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37" fill="hold" display="0">
                  <p:stCondLst>
                    <p:cond delay="indefinite"/>
                  </p:stCondLst>
                  <p:endCondLst>
                    <p:cond evt="onPrev" delay="0">
                      <p:tgtEl>
                        <p:sldTgt/>
                      </p:tgtEl>
                    </p:cond>
                    <p:cond evt="onStopAudio" delay="0">
                      <p:tgtEl>
                        <p:sldTgt/>
                      </p:tgtEl>
                    </p:cond>
                  </p:endCondLst>
                </p:cTn>
                <p:tgtEl>
                  <p:spTgt spid="10"/>
                </p:tgtEl>
              </p:cMediaNode>
            </p:audio>
          </p:childTnLst>
        </p:cTn>
      </p:par>
    </p:tnLst>
    <p:bldLst>
      <p:bldP spid="97301" grpId="0" bldLvl="2" build="p"/>
      <p:bldP spid="9730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2075" tIns="46038" rIns="92075" bIns="46038" anchor="ctr" anchorCtr="0"/>
          <a:p>
            <a:pPr eaLnBrk="1" hangingPunct="1"/>
            <a:r>
              <a:rPr dirty="0"/>
              <a:t>Market Disequilibria</a:t>
            </a:r>
            <a:endParaRPr dirty="0"/>
          </a:p>
        </p:txBody>
      </p:sp>
      <p:sp>
        <p:nvSpPr>
          <p:cNvPr id="101390" name="Rectangle 14"/>
          <p:cNvSpPr>
            <a:spLocks noGrp="1"/>
          </p:cNvSpPr>
          <p:nvPr>
            <p:ph idx="1"/>
          </p:nvPr>
        </p:nvSpPr>
        <p:spPr>
          <a:xfrm>
            <a:off x="4876800" y="1752600"/>
            <a:ext cx="4038600" cy="2971800"/>
          </a:xfrm>
        </p:spPr>
        <p:txBody>
          <a:bodyPr vert="horz" wrap="square" lIns="91440" tIns="45720" rIns="91440" bIns="45720" anchor="t" anchorCtr="0"/>
          <a:p>
            <a:pPr eaLnBrk="1" hangingPunct="1"/>
            <a:r>
              <a:rPr sz="2400" b="1" i="1" dirty="0">
                <a:solidFill>
                  <a:srgbClr val="000000"/>
                </a:solidFill>
              </a:rPr>
              <a:t>Excess demand</a:t>
            </a:r>
            <a:r>
              <a:rPr sz="2400" dirty="0">
                <a:solidFill>
                  <a:srgbClr val="000000"/>
                </a:solidFill>
              </a:rPr>
              <a:t>, or shortage, is the condition that exists when quantity demanded exceeds quantity supplied at the current price.</a:t>
            </a:r>
            <a:endParaRPr dirty="0"/>
          </a:p>
        </p:txBody>
      </p:sp>
      <p:sp>
        <p:nvSpPr>
          <p:cNvPr id="101397" name="Rectangle 21"/>
          <p:cNvSpPr>
            <a:spLocks noChangeArrowheads="1"/>
          </p:cNvSpPr>
          <p:nvPr/>
        </p:nvSpPr>
        <p:spPr bwMode="auto">
          <a:xfrm>
            <a:off x="5105400" y="4495800"/>
            <a:ext cx="4038600" cy="2590800"/>
          </a:xfrm>
          <a:prstGeom prst="rect">
            <a:avLst/>
          </a:prstGeom>
          <a:noFill/>
          <a:ln w="9525">
            <a:noFill/>
            <a:miter lim="800000"/>
          </a:ln>
          <a:effectLst/>
        </p:spPr>
        <p:txBody>
          <a:bodyPr/>
          <a:lstStyle/>
          <a:p>
            <a:pPr marL="342900" marR="0" lvl="0" indent="-342900" algn="l" defTabSz="914400" rtl="0" eaLnBrk="1" fontAlgn="auto" latinLnBrk="0" hangingPunct="1">
              <a:lnSpc>
                <a:spcPct val="100000"/>
              </a:lnSpc>
              <a:spcBef>
                <a:spcPct val="25000"/>
              </a:spcBef>
              <a:spcAft>
                <a:spcPct val="45000"/>
              </a:spcAft>
              <a:buClrTx/>
              <a:buSzTx/>
              <a:buFont typeface="Arial" panose="020B0604020202020204" pitchFamily="34" charset="0"/>
              <a:buChar char="•"/>
              <a:defRPr/>
            </a:pPr>
            <a:r>
              <a:rPr kumimoji="0" lang="en-US" sz="2400" b="0" i="1" u="none" strike="noStrike" kern="1200" cap="none" spc="0" normalizeH="0" baseline="0" noProof="0" dirty="0">
                <a:ln>
                  <a:noFill/>
                </a:ln>
                <a:solidFill>
                  <a:srgbClr val="000000"/>
                </a:solidFill>
                <a:effectLst/>
                <a:uLnTx/>
                <a:uFillTx/>
                <a:latin typeface="+mn-lt"/>
                <a:ea typeface="+mn-ea"/>
                <a:cs typeface="+mn-cs"/>
              </a:rPr>
              <a:t>When quantity demanded exceeds quantity supplied, price tends to rise until equilibrium is restored</a:t>
            </a:r>
            <a:r>
              <a:rPr kumimoji="0" lang="en-US" sz="1800" b="0" i="0" u="none" strike="noStrike" kern="1200" cap="none" spc="0" normalizeH="0" baseline="0" noProof="0" dirty="0">
                <a:ln>
                  <a:noFill/>
                </a:ln>
                <a:solidFill>
                  <a:schemeClr val="bg1"/>
                </a:solidFill>
                <a:effectLst>
                  <a:outerShdw blurRad="38100" dist="38100" dir="2700000" algn="tl">
                    <a:srgbClr val="C0C0C0"/>
                  </a:outerShdw>
                </a:effectLst>
                <a:uLnTx/>
                <a:uFillTx/>
                <a:latin typeface="+mn-lt"/>
                <a:ea typeface="+mn-ea"/>
                <a:cs typeface="+mn-cs"/>
              </a:rPr>
              <a:t>.</a:t>
            </a:r>
            <a:endParaRPr kumimoji="0" lang="en-US" sz="2800" b="0" i="0" u="none" strike="noStrike" kern="1200" cap="none" spc="0" normalizeH="0" baseline="0" noProof="0" dirty="0">
              <a:ln>
                <a:noFill/>
              </a:ln>
              <a:solidFill>
                <a:schemeClr val="bg1"/>
              </a:solidFill>
              <a:effectLst>
                <a:outerShdw blurRad="38100" dist="38100" dir="2700000" algn="tl">
                  <a:srgbClr val="C0C0C0"/>
                </a:outerShdw>
              </a:effectLst>
              <a:uLnTx/>
              <a:uFillTx/>
              <a:latin typeface="+mn-lt"/>
              <a:ea typeface="+mn-ea"/>
              <a:cs typeface="+mn-cs"/>
            </a:endParaRPr>
          </a:p>
        </p:txBody>
      </p:sp>
      <p:pic>
        <p:nvPicPr>
          <p:cNvPr id="59397" name="Picture 22" descr="C:\Prentice Hall\CaseFair\presentations\Cf03\images\optimized\excessdmd2-2.gif"/>
          <p:cNvPicPr>
            <a:picLocks noChangeAspect="1"/>
          </p:cNvPicPr>
          <p:nvPr/>
        </p:nvPicPr>
        <p:blipFill>
          <a:blip r:embed="rId1"/>
          <a:stretch>
            <a:fillRect/>
          </a:stretch>
        </p:blipFill>
        <p:spPr>
          <a:xfrm>
            <a:off x="609600" y="1752600"/>
            <a:ext cx="4040188" cy="3354388"/>
          </a:xfrm>
          <a:prstGeom prst="rect">
            <a:avLst/>
          </a:prstGeom>
          <a:noFill/>
          <a:ln w="9525">
            <a:noFill/>
          </a:ln>
        </p:spPr>
      </p:pic>
      <p:pic>
        <p:nvPicPr>
          <p:cNvPr id="101399" name="Picture 23" descr="C:\Prentice Hall\CaseFair\presentations\Cf03\images\optimized\excessdmd2-3.gif"/>
          <p:cNvPicPr>
            <a:picLocks noChangeAspect="1"/>
          </p:cNvPicPr>
          <p:nvPr/>
        </p:nvPicPr>
        <p:blipFill>
          <a:blip r:embed="rId2"/>
          <a:stretch>
            <a:fillRect/>
          </a:stretch>
        </p:blipFill>
        <p:spPr>
          <a:xfrm>
            <a:off x="609600" y="1752600"/>
            <a:ext cx="4040188" cy="3354388"/>
          </a:xfrm>
          <a:prstGeom prst="rect">
            <a:avLst/>
          </a:prstGeom>
          <a:noFill/>
          <a:ln w="9525">
            <a:noFill/>
          </a:ln>
        </p:spPr>
      </p:pic>
      <p:pic>
        <p:nvPicPr>
          <p:cNvPr id="101400" name="Picture 24" descr="C:\Prentice Hall\CaseFair\presentations\Cf03\images\optimized\excessdmd2-4.gif"/>
          <p:cNvPicPr>
            <a:picLocks noChangeAspect="1"/>
          </p:cNvPicPr>
          <p:nvPr/>
        </p:nvPicPr>
        <p:blipFill>
          <a:blip r:embed="rId3"/>
          <a:stretch>
            <a:fillRect/>
          </a:stretch>
        </p:blipFill>
        <p:spPr>
          <a:xfrm>
            <a:off x="609600" y="1752600"/>
            <a:ext cx="4040188" cy="3354388"/>
          </a:xfrm>
          <a:prstGeom prst="rect">
            <a:avLst/>
          </a:prstGeom>
          <a:noFill/>
          <a:ln w="9525">
            <a:noFill/>
          </a:ln>
        </p:spPr>
      </p:pic>
      <p:pic>
        <p:nvPicPr>
          <p:cNvPr id="101401" name="Picture 25" descr="C:\Prentice Hall\CaseFair\presentations\Cf03\images\optimized\excessdmd2-1.gif"/>
          <p:cNvPicPr>
            <a:picLocks noChangeAspect="1"/>
          </p:cNvPicPr>
          <p:nvPr/>
        </p:nvPicPr>
        <p:blipFill>
          <a:blip r:embed="rId4"/>
          <a:stretch>
            <a:fillRect/>
          </a:stretch>
        </p:blipFill>
        <p:spPr>
          <a:xfrm>
            <a:off x="609600" y="1752600"/>
            <a:ext cx="4038600" cy="3354388"/>
          </a:xfrm>
          <a:prstGeom prst="rect">
            <a:avLst/>
          </a:prstGeom>
          <a:noFill/>
          <a:ln w="9525">
            <a:noFill/>
          </a:ln>
        </p:spPr>
      </p:pic>
      <p:pic>
        <p:nvPicPr>
          <p:cNvPr id="10" name="~PP3767.WAV">
            <a:hlinkClick r:id="" action="ppaction://media"/>
          </p:cNvPr>
          <p:cNvPicPr>
            <a:picLocks noRot="1" noChangeAspect="1"/>
          </p:cNvPicPr>
          <p:nvPr>
            <a:wavAudioFile r:embed="rId5" name="~PP3767.WAV"/>
          </p:nvPr>
        </p:nvPicPr>
        <p:blipFill>
          <a:blip r:embed="rId6"/>
          <a:stretch>
            <a:fillRect/>
          </a:stretch>
        </p:blipFill>
        <p:spPr>
          <a:xfrm>
            <a:off x="8696325" y="6410325"/>
            <a:ext cx="304800" cy="304800"/>
          </a:xfrm>
          <a:prstGeom prst="rect">
            <a:avLst/>
          </a:prstGeom>
          <a:noFill/>
          <a:ln w="9525">
            <a:noFill/>
          </a:ln>
        </p:spPr>
      </p:pic>
    </p:spTree>
    <p:custDataLst>
      <p:tags r:id="rId7"/>
    </p:custDataLst>
  </p:cSld>
  <p:clrMapOvr>
    <a:masterClrMapping/>
  </p:clrMapOvr>
  <p:transition advTm="704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1390">
                                            <p:txEl>
                                              <p:charRg st="0" end="128"/>
                                            </p:txEl>
                                          </p:spTgt>
                                        </p:tgtEl>
                                        <p:attrNameLst>
                                          <p:attrName>style.visibility</p:attrName>
                                        </p:attrNameLst>
                                      </p:cBhvr>
                                      <p:to>
                                        <p:strVal val="visible"/>
                                      </p:to>
                                    </p:set>
                                    <p:animEffect transition="in" filter="wipe(left)">
                                      <p:cBhvr>
                                        <p:cTn id="11" dur="500"/>
                                        <p:tgtEl>
                                          <p:spTgt spid="101390">
                                            <p:txEl>
                                              <p:charRg st="0" end="128"/>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01399"/>
                                        </p:tgtEl>
                                        <p:attrNameLst>
                                          <p:attrName>style.visibility</p:attrName>
                                        </p:attrNameLst>
                                      </p:cBhvr>
                                      <p:to>
                                        <p:strVal val="visible"/>
                                      </p:to>
                                    </p:set>
                                    <p:animEffect transition="in" filter="box(out)">
                                      <p:cBhvr>
                                        <p:cTn id="16" dur="500"/>
                                        <p:tgtEl>
                                          <p:spTgt spid="10139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01400"/>
                                        </p:tgtEl>
                                        <p:attrNameLst>
                                          <p:attrName>style.visibility</p:attrName>
                                        </p:attrNameLst>
                                      </p:cBhvr>
                                      <p:to>
                                        <p:strVal val="visible"/>
                                      </p:to>
                                    </p:set>
                                    <p:animEffect transition="in" filter="box(out)">
                                      <p:cBhvr>
                                        <p:cTn id="21" dur="500"/>
                                        <p:tgtEl>
                                          <p:spTgt spid="10140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1397"/>
                                        </p:tgtEl>
                                        <p:attrNameLst>
                                          <p:attrName>style.visibility</p:attrName>
                                        </p:attrNameLst>
                                      </p:cBhvr>
                                      <p:to>
                                        <p:strVal val="visible"/>
                                      </p:to>
                                    </p:set>
                                    <p:animEffect transition="in" filter="wipe(left)">
                                      <p:cBhvr>
                                        <p:cTn id="26" dur="500"/>
                                        <p:tgtEl>
                                          <p:spTgt spid="101397"/>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01401"/>
                                        </p:tgtEl>
                                        <p:attrNameLst>
                                          <p:attrName>style.visibility</p:attrName>
                                        </p:attrNameLst>
                                      </p:cBhvr>
                                      <p:to>
                                        <p:strVal val="visible"/>
                                      </p:to>
                                    </p:set>
                                    <p:animEffect transition="in" filter="box(out)">
                                      <p:cBhvr>
                                        <p:cTn id="31" dur="500"/>
                                        <p:tgtEl>
                                          <p:spTgt spid="10140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32" fill="hold" display="0">
                  <p:stCondLst>
                    <p:cond delay="indefinite"/>
                  </p:stCondLst>
                  <p:endCondLst>
                    <p:cond evt="onPrev" delay="0">
                      <p:tgtEl>
                        <p:sldTgt/>
                      </p:tgtEl>
                    </p:cond>
                    <p:cond evt="onStopAudio" delay="0">
                      <p:tgtEl>
                        <p:sldTgt/>
                      </p:tgtEl>
                    </p:cond>
                  </p:endCondLst>
                </p:cTn>
                <p:tgtEl>
                  <p:spTgt spid="10"/>
                </p:tgtEl>
              </p:cMediaNode>
            </p:audio>
          </p:childTnLst>
        </p:cTn>
      </p:par>
    </p:tnLst>
    <p:bldLst>
      <p:bldP spid="101390" grpId="0" bldLvl="2" build="p"/>
      <p:bldP spid="10139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p:txBody>
          <a:bodyPr vert="horz" wrap="square" lIns="92075" tIns="46038" rIns="92075" bIns="46038" anchor="ctr" anchorCtr="0"/>
          <a:p>
            <a:pPr eaLnBrk="1" hangingPunct="1"/>
            <a:r>
              <a:rPr dirty="0"/>
              <a:t>Market Disequilibria</a:t>
            </a:r>
            <a:endParaRPr dirty="0"/>
          </a:p>
        </p:txBody>
      </p:sp>
      <p:sp>
        <p:nvSpPr>
          <p:cNvPr id="177155" name="Rectangle 3"/>
          <p:cNvSpPr>
            <a:spLocks noGrp="1" noChangeArrowheads="1"/>
          </p:cNvSpPr>
          <p:nvPr>
            <p:ph idx="1"/>
          </p:nvPr>
        </p:nvSpPr>
        <p:spPr>
          <a:xfrm>
            <a:off x="4876800" y="1752600"/>
            <a:ext cx="4038600" cy="1981200"/>
          </a:xfrm>
        </p:spPr>
        <p:txBody>
          <a:bodyPr vert="horz" wrap="square" lIns="92075" tIns="46038" rIns="92075" bIns="46038" numCol="1" rtlCol="0" anchor="t" anchorCtr="0" compatLnSpc="1">
            <a:normAutofit lnSpcReduction="10000"/>
          </a:bodyPr>
          <a:lstStyle/>
          <a:p>
            <a:pPr marL="420370" marR="0" lvl="0" indent="-384175" algn="l" defTabSz="914400" rtl="0" eaLnBrk="1" fontAlgn="auto" latinLnBrk="0" hangingPunct="1">
              <a:lnSpc>
                <a:spcPct val="90000"/>
              </a:lnSpc>
              <a:spcBef>
                <a:spcPct val="20000"/>
              </a:spcBef>
              <a:spcAft>
                <a:spcPts val="0"/>
              </a:spcAft>
              <a:buClrTx/>
              <a:buSzTx/>
              <a:buFont typeface="Wingdings 2" panose="05020102010507070707"/>
              <a:buChar char=""/>
              <a:defRPr/>
            </a:pPr>
            <a:r>
              <a:rPr kumimoji="0" lang="en-US" sz="2400" b="1" i="1" u="none" strike="noStrike" kern="1200" cap="none" spc="0" normalizeH="0" baseline="0" noProof="0" smtClean="0">
                <a:ln>
                  <a:noFill/>
                </a:ln>
                <a:solidFill>
                  <a:srgbClr val="000000"/>
                </a:solidFill>
                <a:effectLst/>
                <a:uLnTx/>
                <a:uFillTx/>
                <a:latin typeface="+mn-lt"/>
                <a:ea typeface="+mn-ea"/>
                <a:cs typeface="+mn-cs"/>
              </a:rPr>
              <a:t>Excess supply</a:t>
            </a:r>
            <a:r>
              <a:rPr kumimoji="0" lang="en-US" sz="2400" b="0" i="0" u="none" strike="noStrike" kern="1200" cap="none" spc="0" normalizeH="0" baseline="0" noProof="0" smtClean="0">
                <a:ln>
                  <a:noFill/>
                </a:ln>
                <a:solidFill>
                  <a:srgbClr val="000000"/>
                </a:solidFill>
                <a:effectLst/>
                <a:uLnTx/>
                <a:uFillTx/>
                <a:latin typeface="+mn-lt"/>
                <a:ea typeface="+mn-ea"/>
                <a:cs typeface="+mn-cs"/>
              </a:rPr>
              <a:t>, or surplus, is the condition that exists when quantity supplied exceeds quantity demanded at the current price.</a:t>
            </a:r>
            <a:endParaRPr kumimoji="0" lang="en-US" sz="2400" b="0" i="0" u="none" strike="noStrike" kern="1200" cap="none" spc="0" normalizeH="0" baseline="0" noProof="0" smtClean="0">
              <a:ln>
                <a:noFill/>
              </a:ln>
              <a:solidFill>
                <a:srgbClr val="000000"/>
              </a:solidFill>
              <a:effectLst/>
              <a:uLnTx/>
              <a:uFillTx/>
              <a:latin typeface="+mn-lt"/>
              <a:ea typeface="+mn-ea"/>
              <a:cs typeface="+mn-cs"/>
            </a:endParaRPr>
          </a:p>
        </p:txBody>
      </p:sp>
      <p:sp>
        <p:nvSpPr>
          <p:cNvPr id="177159" name="Rectangle 7"/>
          <p:cNvSpPr/>
          <p:nvPr/>
        </p:nvSpPr>
        <p:spPr>
          <a:xfrm>
            <a:off x="5029200" y="4114800"/>
            <a:ext cx="3886200" cy="2590800"/>
          </a:xfrm>
          <a:prstGeom prst="rect">
            <a:avLst/>
          </a:prstGeom>
          <a:noFill/>
          <a:ln w="9525">
            <a:noFill/>
          </a:ln>
        </p:spPr>
        <p:txBody>
          <a:bodyPr/>
          <a:p>
            <a:pPr marL="342900" indent="-342900">
              <a:spcBef>
                <a:spcPct val="25000"/>
              </a:spcBef>
              <a:spcAft>
                <a:spcPct val="45000"/>
              </a:spcAft>
              <a:buChar char="•"/>
            </a:pPr>
            <a:r>
              <a:rPr sz="2400" b="1" i="1" dirty="0">
                <a:solidFill>
                  <a:srgbClr val="000000"/>
                </a:solidFill>
                <a:latin typeface="Calibri" panose="020F0502020204030204" pitchFamily="34" charset="0"/>
              </a:rPr>
              <a:t>When quantity supplied exceeds quantity demanded, price tends to fall until equilibrium is restored.</a:t>
            </a:r>
            <a:endParaRPr sz="2400" b="1" i="1" dirty="0">
              <a:solidFill>
                <a:srgbClr val="000000"/>
              </a:solidFill>
              <a:latin typeface="Calibri" panose="020F0502020204030204" pitchFamily="34" charset="0"/>
            </a:endParaRPr>
          </a:p>
        </p:txBody>
      </p:sp>
      <p:pic>
        <p:nvPicPr>
          <p:cNvPr id="177165" name="Picture 13" descr="C:\Prentice Hall\CaseFair\presentations\Cf03\images\optimized\excesssply.gif"/>
          <p:cNvPicPr>
            <a:picLocks noChangeAspect="1"/>
          </p:cNvPicPr>
          <p:nvPr/>
        </p:nvPicPr>
        <p:blipFill>
          <a:blip r:embed="rId1"/>
          <a:stretch>
            <a:fillRect/>
          </a:stretch>
        </p:blipFill>
        <p:spPr>
          <a:xfrm>
            <a:off x="0" y="1752600"/>
            <a:ext cx="5189538" cy="3794125"/>
          </a:xfrm>
          <a:prstGeom prst="rect">
            <a:avLst/>
          </a:prstGeom>
          <a:noFill/>
          <a:ln w="9525">
            <a:noFill/>
          </a:ln>
        </p:spPr>
      </p:pic>
      <p:pic>
        <p:nvPicPr>
          <p:cNvPr id="177166" name="Picture 14" descr="C:\Prentice Hall\CaseFair\presentations\Cf03\images\optimized\excesssply1.gif"/>
          <p:cNvPicPr>
            <a:picLocks noChangeAspect="1"/>
          </p:cNvPicPr>
          <p:nvPr/>
        </p:nvPicPr>
        <p:blipFill>
          <a:blip r:embed="rId2"/>
          <a:stretch>
            <a:fillRect/>
          </a:stretch>
        </p:blipFill>
        <p:spPr>
          <a:xfrm>
            <a:off x="0" y="1752600"/>
            <a:ext cx="5189538" cy="3794125"/>
          </a:xfrm>
          <a:prstGeom prst="rect">
            <a:avLst/>
          </a:prstGeom>
          <a:noFill/>
          <a:ln w="9525">
            <a:noFill/>
          </a:ln>
        </p:spPr>
      </p:pic>
      <p:pic>
        <p:nvPicPr>
          <p:cNvPr id="177167" name="Picture 15" descr="C:\Prentice Hall\CaseFair\presentations\Cf03\images\optimized\excesssply2.gif"/>
          <p:cNvPicPr>
            <a:picLocks noChangeAspect="1"/>
          </p:cNvPicPr>
          <p:nvPr/>
        </p:nvPicPr>
        <p:blipFill>
          <a:blip r:embed="rId3"/>
          <a:stretch>
            <a:fillRect/>
          </a:stretch>
        </p:blipFill>
        <p:spPr>
          <a:xfrm>
            <a:off x="0" y="1752600"/>
            <a:ext cx="5189538" cy="3794125"/>
          </a:xfrm>
          <a:prstGeom prst="rect">
            <a:avLst/>
          </a:prstGeom>
          <a:noFill/>
          <a:ln w="9525">
            <a:noFill/>
          </a:ln>
        </p:spPr>
      </p:pic>
      <p:pic>
        <p:nvPicPr>
          <p:cNvPr id="8" name="~PP1452.WAV">
            <a:hlinkClick r:id="" action="ppaction://media"/>
          </p:cNvPr>
          <p:cNvPicPr>
            <a:picLocks noRot="1" noChangeAspect="1"/>
          </p:cNvPicPr>
          <p:nvPr>
            <a:wavAudioFile r:embed="rId4" name="~PP1452.WAV"/>
          </p:nvPr>
        </p:nvPicPr>
        <p:blipFill>
          <a:blip r:embed="rId5"/>
          <a:stretch>
            <a:fillRect/>
          </a:stretch>
        </p:blipFill>
        <p:spPr>
          <a:xfrm>
            <a:off x="8696325" y="6410325"/>
            <a:ext cx="304800" cy="304800"/>
          </a:xfrm>
          <a:prstGeom prst="rect">
            <a:avLst/>
          </a:prstGeom>
          <a:noFill/>
          <a:ln w="9525">
            <a:noFill/>
          </a:ln>
        </p:spPr>
      </p:pic>
    </p:spTree>
    <p:custDataLst>
      <p:tags r:id="rId6"/>
    </p:custDataLst>
  </p:cSld>
  <p:clrMapOvr>
    <a:masterClrMapping/>
  </p:clrMapOvr>
  <p:transition advTm="587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177165"/>
                                        </p:tgtEl>
                                        <p:attrNameLst>
                                          <p:attrName>style.visibility</p:attrName>
                                        </p:attrNameLst>
                                      </p:cBhvr>
                                      <p:to>
                                        <p:strVal val="visible"/>
                                      </p:to>
                                    </p:set>
                                    <p:animEffect transition="in" filter="box(out)">
                                      <p:cBhvr>
                                        <p:cTn id="11" dur="500"/>
                                        <p:tgtEl>
                                          <p:spTgt spid="1771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7155">
                                            <p:txEl>
                                              <p:charRg st="0" end="127"/>
                                            </p:txEl>
                                          </p:spTgt>
                                        </p:tgtEl>
                                        <p:attrNameLst>
                                          <p:attrName>style.visibility</p:attrName>
                                        </p:attrNameLst>
                                      </p:cBhvr>
                                      <p:to>
                                        <p:strVal val="visible"/>
                                      </p:to>
                                    </p:set>
                                    <p:animEffect transition="in" filter="wipe(left)">
                                      <p:cBhvr>
                                        <p:cTn id="16" dur="500"/>
                                        <p:tgtEl>
                                          <p:spTgt spid="177155">
                                            <p:txEl>
                                              <p:charRg st="0" end="12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7159"/>
                                        </p:tgtEl>
                                        <p:attrNameLst>
                                          <p:attrName>style.visibility</p:attrName>
                                        </p:attrNameLst>
                                      </p:cBhvr>
                                      <p:to>
                                        <p:strVal val="visible"/>
                                      </p:to>
                                    </p:set>
                                    <p:animEffect transition="in" filter="wipe(left)">
                                      <p:cBhvr>
                                        <p:cTn id="21" dur="500"/>
                                        <p:tgtEl>
                                          <p:spTgt spid="177159"/>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77166"/>
                                        </p:tgtEl>
                                        <p:attrNameLst>
                                          <p:attrName>style.visibility</p:attrName>
                                        </p:attrNameLst>
                                      </p:cBhvr>
                                      <p:to>
                                        <p:strVal val="visible"/>
                                      </p:to>
                                    </p:set>
                                    <p:animEffect transition="in" filter="box(out)">
                                      <p:cBhvr>
                                        <p:cTn id="26" dur="500"/>
                                        <p:tgtEl>
                                          <p:spTgt spid="177166"/>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77167"/>
                                        </p:tgtEl>
                                        <p:attrNameLst>
                                          <p:attrName>style.visibility</p:attrName>
                                        </p:attrNameLst>
                                      </p:cBhvr>
                                      <p:to>
                                        <p:strVal val="visible"/>
                                      </p:to>
                                    </p:set>
                                    <p:animEffect transition="in" filter="box(out)">
                                      <p:cBhvr>
                                        <p:cTn id="31" dur="500"/>
                                        <p:tgtEl>
                                          <p:spTgt spid="17716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32" fill="hold" display="0">
                  <p:stCondLst>
                    <p:cond delay="indefinite"/>
                  </p:stCondLst>
                  <p:endCondLst>
                    <p:cond evt="onPrev" delay="0">
                      <p:tgtEl>
                        <p:sldTgt/>
                      </p:tgtEl>
                    </p:cond>
                    <p:cond evt="onStopAudio" delay="0">
                      <p:tgtEl>
                        <p:sldTgt/>
                      </p:tgtEl>
                    </p:cond>
                  </p:endCondLst>
                </p:cTn>
                <p:tgtEl>
                  <p:spTgt spid="8"/>
                </p:tgtEl>
              </p:cMediaNode>
            </p:audio>
          </p:childTnLst>
        </p:cTn>
      </p:par>
    </p:tnLst>
    <p:bldLst>
      <p:bldP spid="177155" grpId="0" bldLvl="2" build="p"/>
      <p:bldP spid="17715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1440" tIns="45720" rIns="91440" bIns="45720" anchor="ctr" anchorCtr="0"/>
          <a:p>
            <a:pPr eaLnBrk="1" hangingPunct="1"/>
            <a:r>
              <a:rPr dirty="0"/>
              <a:t>Increases in Demand and Supply</a:t>
            </a:r>
            <a:endParaRPr dirty="0"/>
          </a:p>
        </p:txBody>
      </p:sp>
      <p:sp>
        <p:nvSpPr>
          <p:cNvPr id="159747" name="Rectangle 3"/>
          <p:cNvSpPr>
            <a:spLocks noGrp="1"/>
          </p:cNvSpPr>
          <p:nvPr>
            <p:ph sz="half" idx="1"/>
          </p:nvPr>
        </p:nvSpPr>
        <p:spPr>
          <a:xfrm>
            <a:off x="381000" y="5257800"/>
            <a:ext cx="4457700" cy="1447800"/>
          </a:xfrm>
        </p:spPr>
        <p:txBody>
          <a:bodyPr vert="horz" wrap="square" lIns="91440" tIns="45720" rIns="91440" bIns="45720" anchor="t" anchorCtr="0"/>
          <a:p>
            <a:pPr eaLnBrk="1" hangingPunct="1">
              <a:buClrTx/>
              <a:buSzTx/>
            </a:pPr>
            <a:r>
              <a:rPr sz="2400" b="1" i="1" kern="1200" dirty="0">
                <a:latin typeface="+mn-lt"/>
                <a:ea typeface="+mn-ea"/>
                <a:cs typeface="+mn-cs"/>
              </a:rPr>
              <a:t>Higher demand</a:t>
            </a:r>
            <a:r>
              <a:rPr sz="2400" kern="1200" dirty="0">
                <a:latin typeface="+mn-lt"/>
                <a:ea typeface="+mn-ea"/>
                <a:cs typeface="+mn-cs"/>
              </a:rPr>
              <a:t> leads to higher equilibrium price and higher equilibrium quantity.</a:t>
            </a:r>
            <a:endParaRPr sz="2400" kern="1200" dirty="0">
              <a:latin typeface="+mn-lt"/>
              <a:ea typeface="+mn-ea"/>
              <a:cs typeface="+mn-cs"/>
            </a:endParaRPr>
          </a:p>
        </p:txBody>
      </p:sp>
      <p:sp>
        <p:nvSpPr>
          <p:cNvPr id="159754" name="Rectangle 10"/>
          <p:cNvSpPr>
            <a:spLocks noGrp="1"/>
          </p:cNvSpPr>
          <p:nvPr>
            <p:ph sz="half" idx="2"/>
          </p:nvPr>
        </p:nvSpPr>
        <p:spPr>
          <a:xfrm>
            <a:off x="4876800" y="5257800"/>
            <a:ext cx="4267200" cy="1524000"/>
          </a:xfrm>
        </p:spPr>
        <p:txBody>
          <a:bodyPr vert="horz" wrap="square" lIns="91440" tIns="45720" rIns="91440" bIns="45720" anchor="t" anchorCtr="0"/>
          <a:p>
            <a:pPr eaLnBrk="1" hangingPunct="1">
              <a:buClrTx/>
              <a:buSzTx/>
            </a:pPr>
            <a:r>
              <a:rPr sz="2400" b="1" i="1" kern="1200" dirty="0">
                <a:latin typeface="+mn-lt"/>
                <a:ea typeface="+mn-ea"/>
                <a:cs typeface="+mn-cs"/>
              </a:rPr>
              <a:t>Higher supply</a:t>
            </a:r>
            <a:r>
              <a:rPr sz="2400" kern="1200" dirty="0">
                <a:latin typeface="+mn-lt"/>
                <a:ea typeface="+mn-ea"/>
                <a:cs typeface="+mn-cs"/>
              </a:rPr>
              <a:t> leads to lower equilibrium price and higher equilibrium quantity.</a:t>
            </a:r>
            <a:endParaRPr sz="2400" kern="1200" dirty="0">
              <a:latin typeface="+mn-lt"/>
              <a:ea typeface="+mn-ea"/>
              <a:cs typeface="+mn-cs"/>
            </a:endParaRPr>
          </a:p>
        </p:txBody>
      </p:sp>
      <p:pic>
        <p:nvPicPr>
          <p:cNvPr id="61445" name="Picture 29" descr="C:\Prentice Hall\CaseFair\presentations\Cf03\images\optimized\S&amp;D1-2.gif"/>
          <p:cNvPicPr>
            <a:picLocks noChangeAspect="1"/>
          </p:cNvPicPr>
          <p:nvPr/>
        </p:nvPicPr>
        <p:blipFill>
          <a:blip r:embed="rId1"/>
          <a:stretch>
            <a:fillRect/>
          </a:stretch>
        </p:blipFill>
        <p:spPr>
          <a:xfrm>
            <a:off x="609600" y="1752600"/>
            <a:ext cx="3749675" cy="3440113"/>
          </a:xfrm>
          <a:prstGeom prst="rect">
            <a:avLst/>
          </a:prstGeom>
          <a:noFill/>
          <a:ln w="9525">
            <a:noFill/>
          </a:ln>
        </p:spPr>
      </p:pic>
      <p:pic>
        <p:nvPicPr>
          <p:cNvPr id="159774" name="Picture 30" descr="C:\Prentice Hall\CaseFair\presentations\Cf03\images\optimized\S&amp;D1-1.gif"/>
          <p:cNvPicPr>
            <a:picLocks noChangeAspect="1"/>
          </p:cNvPicPr>
          <p:nvPr/>
        </p:nvPicPr>
        <p:blipFill>
          <a:blip r:embed="rId2"/>
          <a:stretch>
            <a:fillRect/>
          </a:stretch>
        </p:blipFill>
        <p:spPr>
          <a:xfrm>
            <a:off x="609600" y="1752600"/>
            <a:ext cx="3749675" cy="3440113"/>
          </a:xfrm>
          <a:prstGeom prst="rect">
            <a:avLst/>
          </a:prstGeom>
          <a:noFill/>
          <a:ln w="9525">
            <a:noFill/>
          </a:ln>
        </p:spPr>
      </p:pic>
      <p:pic>
        <p:nvPicPr>
          <p:cNvPr id="159775" name="Picture 31" descr="C:\Prentice Hall\CaseFair\presentations\Cf03\images\optimized\S&amp;d1.gif"/>
          <p:cNvPicPr>
            <a:picLocks noChangeAspect="1"/>
          </p:cNvPicPr>
          <p:nvPr/>
        </p:nvPicPr>
        <p:blipFill>
          <a:blip r:embed="rId3"/>
          <a:stretch>
            <a:fillRect/>
          </a:stretch>
        </p:blipFill>
        <p:spPr>
          <a:xfrm>
            <a:off x="609600" y="1752600"/>
            <a:ext cx="3749675" cy="3440113"/>
          </a:xfrm>
          <a:prstGeom prst="rect">
            <a:avLst/>
          </a:prstGeom>
          <a:noFill/>
          <a:ln w="9525">
            <a:noFill/>
          </a:ln>
        </p:spPr>
      </p:pic>
      <p:pic>
        <p:nvPicPr>
          <p:cNvPr id="61448" name="Picture 32" descr="C:\Prentice Hall\CaseFair\presentations\Cf03\images\optimized\S&amp;d2-2.gif"/>
          <p:cNvPicPr>
            <a:picLocks noChangeAspect="1"/>
          </p:cNvPicPr>
          <p:nvPr/>
        </p:nvPicPr>
        <p:blipFill>
          <a:blip r:embed="rId4"/>
          <a:stretch>
            <a:fillRect/>
          </a:stretch>
        </p:blipFill>
        <p:spPr>
          <a:xfrm>
            <a:off x="4876800" y="1752600"/>
            <a:ext cx="3749675" cy="3440113"/>
          </a:xfrm>
          <a:prstGeom prst="rect">
            <a:avLst/>
          </a:prstGeom>
          <a:noFill/>
          <a:ln w="9525">
            <a:noFill/>
          </a:ln>
        </p:spPr>
      </p:pic>
      <p:pic>
        <p:nvPicPr>
          <p:cNvPr id="159777" name="Picture 33" descr="C:\Prentice Hall\CaseFair\presentations\Cf03\images\optimized\S&amp;d2-1.gif"/>
          <p:cNvPicPr>
            <a:picLocks noChangeAspect="1"/>
          </p:cNvPicPr>
          <p:nvPr/>
        </p:nvPicPr>
        <p:blipFill>
          <a:blip r:embed="rId5"/>
          <a:stretch>
            <a:fillRect/>
          </a:stretch>
        </p:blipFill>
        <p:spPr>
          <a:xfrm>
            <a:off x="4876800" y="1752600"/>
            <a:ext cx="3749675" cy="3440113"/>
          </a:xfrm>
          <a:prstGeom prst="rect">
            <a:avLst/>
          </a:prstGeom>
          <a:noFill/>
          <a:ln w="9525">
            <a:noFill/>
          </a:ln>
        </p:spPr>
      </p:pic>
      <p:pic>
        <p:nvPicPr>
          <p:cNvPr id="159779" name="Picture 35" descr="C:\Prentice Hall\CaseFair\presentations\Cf03\images\optimized\S&amp;d2.gif"/>
          <p:cNvPicPr>
            <a:picLocks noChangeAspect="1"/>
          </p:cNvPicPr>
          <p:nvPr/>
        </p:nvPicPr>
        <p:blipFill>
          <a:blip r:embed="rId6"/>
          <a:stretch>
            <a:fillRect/>
          </a:stretch>
        </p:blipFill>
        <p:spPr>
          <a:xfrm>
            <a:off x="4876800" y="1752600"/>
            <a:ext cx="3749675" cy="3440113"/>
          </a:xfrm>
          <a:prstGeom prst="rect">
            <a:avLst/>
          </a:prstGeom>
          <a:noFill/>
          <a:ln w="9525">
            <a:noFill/>
          </a:ln>
        </p:spPr>
      </p:pic>
    </p:spTree>
    <p:custDataLst>
      <p:tags r:id="rId7"/>
    </p:custDataLst>
  </p:cSld>
  <p:clrMapOvr>
    <a:masterClrMapping/>
  </p:clrMapOvr>
  <p:transition advTm="8439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7">
                                            <p:txEl>
                                              <p:charRg st="0" end="81"/>
                                            </p:txEl>
                                          </p:spTgt>
                                        </p:tgtEl>
                                        <p:attrNameLst>
                                          <p:attrName>style.visibility</p:attrName>
                                        </p:attrNameLst>
                                      </p:cBhvr>
                                      <p:to>
                                        <p:strVal val="visible"/>
                                      </p:to>
                                    </p:set>
                                    <p:animEffect transition="in" filter="wipe(left)">
                                      <p:cBhvr>
                                        <p:cTn id="7" dur="500"/>
                                        <p:tgtEl>
                                          <p:spTgt spid="159747">
                                            <p:txEl>
                                              <p:charRg st="0"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9774"/>
                                        </p:tgtEl>
                                        <p:attrNameLst>
                                          <p:attrName>style.visibility</p:attrName>
                                        </p:attrNameLst>
                                      </p:cBhvr>
                                      <p:to>
                                        <p:strVal val="visible"/>
                                      </p:to>
                                    </p:set>
                                    <p:animEffect transition="in" filter="box(out)">
                                      <p:cBhvr>
                                        <p:cTn id="12" dur="500"/>
                                        <p:tgtEl>
                                          <p:spTgt spid="15977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59775"/>
                                        </p:tgtEl>
                                        <p:attrNameLst>
                                          <p:attrName>style.visibility</p:attrName>
                                        </p:attrNameLst>
                                      </p:cBhvr>
                                      <p:to>
                                        <p:strVal val="visible"/>
                                      </p:to>
                                    </p:set>
                                    <p:animEffect transition="in" filter="box(out)">
                                      <p:cBhvr>
                                        <p:cTn id="17" dur="500"/>
                                        <p:tgtEl>
                                          <p:spTgt spid="1597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9754">
                                            <p:txEl>
                                              <p:charRg st="0" end="80"/>
                                            </p:txEl>
                                          </p:spTgt>
                                        </p:tgtEl>
                                        <p:attrNameLst>
                                          <p:attrName>style.visibility</p:attrName>
                                        </p:attrNameLst>
                                      </p:cBhvr>
                                      <p:to>
                                        <p:strVal val="visible"/>
                                      </p:to>
                                    </p:set>
                                    <p:animEffect transition="in" filter="wipe(left)">
                                      <p:cBhvr>
                                        <p:cTn id="22" dur="500"/>
                                        <p:tgtEl>
                                          <p:spTgt spid="159754">
                                            <p:txEl>
                                              <p:charRg st="0" end="8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59777"/>
                                        </p:tgtEl>
                                        <p:attrNameLst>
                                          <p:attrName>style.visibility</p:attrName>
                                        </p:attrNameLst>
                                      </p:cBhvr>
                                      <p:to>
                                        <p:strVal val="visible"/>
                                      </p:to>
                                    </p:set>
                                    <p:animEffect transition="in" filter="box(out)">
                                      <p:cBhvr>
                                        <p:cTn id="27" dur="500"/>
                                        <p:tgtEl>
                                          <p:spTgt spid="15977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59779"/>
                                        </p:tgtEl>
                                        <p:attrNameLst>
                                          <p:attrName>style.visibility</p:attrName>
                                        </p:attrNameLst>
                                      </p:cBhvr>
                                      <p:to>
                                        <p:strVal val="visible"/>
                                      </p:to>
                                    </p:set>
                                    <p:animEffect transition="in" filter="box(out)">
                                      <p:cBhvr>
                                        <p:cTn id="32" dur="500"/>
                                        <p:tgtEl>
                                          <p:spTgt spid="159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ldLvl="2" build="p"/>
      <p:bldP spid="159754" grpId="0" bldLvl="2"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p:txBody>
          <a:bodyPr vert="horz" wrap="square" lIns="91440" tIns="45720" rIns="91440" bIns="45720" anchor="ctr" anchorCtr="0"/>
          <a:p>
            <a:pPr eaLnBrk="1" hangingPunct="1"/>
            <a:r>
              <a:rPr dirty="0"/>
              <a:t>Decreases in Demand and Supply</a:t>
            </a:r>
            <a:endParaRPr dirty="0"/>
          </a:p>
        </p:txBody>
      </p:sp>
      <p:sp>
        <p:nvSpPr>
          <p:cNvPr id="160771" name="Rectangle 3"/>
          <p:cNvSpPr>
            <a:spLocks noGrp="1"/>
          </p:cNvSpPr>
          <p:nvPr>
            <p:ph sz="half" idx="1"/>
          </p:nvPr>
        </p:nvSpPr>
        <p:spPr>
          <a:xfrm>
            <a:off x="876300" y="5257800"/>
            <a:ext cx="4000500" cy="1295400"/>
          </a:xfrm>
        </p:spPr>
        <p:txBody>
          <a:bodyPr vert="horz" wrap="square" lIns="91440" tIns="45720" rIns="91440" bIns="45720" anchor="t" anchorCtr="0"/>
          <a:p>
            <a:pPr eaLnBrk="1" hangingPunct="1">
              <a:buClrTx/>
              <a:buSzTx/>
            </a:pPr>
            <a:r>
              <a:rPr sz="2400" b="1" i="1" kern="1200" dirty="0">
                <a:latin typeface="+mn-lt"/>
                <a:ea typeface="+mn-ea"/>
                <a:cs typeface="+mn-cs"/>
              </a:rPr>
              <a:t>Lower demand</a:t>
            </a:r>
            <a:r>
              <a:rPr sz="2400" kern="1200" dirty="0">
                <a:latin typeface="+mn-lt"/>
                <a:ea typeface="+mn-ea"/>
                <a:cs typeface="+mn-cs"/>
              </a:rPr>
              <a:t> leads to lower price and lower quantity exchanged.</a:t>
            </a:r>
            <a:endParaRPr sz="2400" kern="1200" dirty="0">
              <a:latin typeface="+mn-lt"/>
              <a:ea typeface="+mn-ea"/>
              <a:cs typeface="+mn-cs"/>
            </a:endParaRPr>
          </a:p>
        </p:txBody>
      </p:sp>
      <p:sp>
        <p:nvSpPr>
          <p:cNvPr id="160772" name="Rectangle 4"/>
          <p:cNvSpPr>
            <a:spLocks noGrp="1"/>
          </p:cNvSpPr>
          <p:nvPr>
            <p:ph sz="half" idx="2"/>
          </p:nvPr>
        </p:nvSpPr>
        <p:spPr>
          <a:xfrm>
            <a:off x="4876800" y="5257800"/>
            <a:ext cx="4000500" cy="1219200"/>
          </a:xfrm>
        </p:spPr>
        <p:txBody>
          <a:bodyPr vert="horz" wrap="square" lIns="91440" tIns="45720" rIns="91440" bIns="45720" anchor="t" anchorCtr="0"/>
          <a:p>
            <a:pPr eaLnBrk="1" hangingPunct="1">
              <a:buClrTx/>
              <a:buSzTx/>
            </a:pPr>
            <a:r>
              <a:rPr sz="2400" b="1" i="1" kern="1200" dirty="0">
                <a:latin typeface="+mn-lt"/>
                <a:ea typeface="+mn-ea"/>
                <a:cs typeface="+mn-cs"/>
              </a:rPr>
              <a:t>Lower supply</a:t>
            </a:r>
            <a:r>
              <a:rPr sz="2400" kern="1200" dirty="0">
                <a:latin typeface="+mn-lt"/>
                <a:ea typeface="+mn-ea"/>
                <a:cs typeface="+mn-cs"/>
              </a:rPr>
              <a:t> leads to higher price and lower quantity exchanged.</a:t>
            </a:r>
            <a:endParaRPr sz="2400" kern="1200" dirty="0">
              <a:latin typeface="+mn-lt"/>
              <a:ea typeface="+mn-ea"/>
              <a:cs typeface="+mn-cs"/>
            </a:endParaRPr>
          </a:p>
        </p:txBody>
      </p:sp>
      <p:pic>
        <p:nvPicPr>
          <p:cNvPr id="62469" name="Picture 24" descr="C:\Prentice Hall\CaseFair\presentations\Cf03\images\optimized\S&amp;d3-2.gif"/>
          <p:cNvPicPr>
            <a:picLocks noChangeAspect="1"/>
          </p:cNvPicPr>
          <p:nvPr/>
        </p:nvPicPr>
        <p:blipFill>
          <a:blip r:embed="rId1"/>
          <a:stretch>
            <a:fillRect/>
          </a:stretch>
        </p:blipFill>
        <p:spPr>
          <a:xfrm>
            <a:off x="609600" y="1752600"/>
            <a:ext cx="3749675" cy="3440113"/>
          </a:xfrm>
          <a:prstGeom prst="rect">
            <a:avLst/>
          </a:prstGeom>
          <a:noFill/>
          <a:ln w="9525">
            <a:noFill/>
          </a:ln>
        </p:spPr>
      </p:pic>
      <p:pic>
        <p:nvPicPr>
          <p:cNvPr id="160793" name="Picture 25" descr="C:\Prentice Hall\CaseFair\presentations\Cf03\images\optimized\S&amp;d3-1.gif"/>
          <p:cNvPicPr>
            <a:picLocks noChangeAspect="1"/>
          </p:cNvPicPr>
          <p:nvPr/>
        </p:nvPicPr>
        <p:blipFill>
          <a:blip r:embed="rId2"/>
          <a:stretch>
            <a:fillRect/>
          </a:stretch>
        </p:blipFill>
        <p:spPr>
          <a:xfrm>
            <a:off x="609600" y="1752600"/>
            <a:ext cx="3749675" cy="3440113"/>
          </a:xfrm>
          <a:prstGeom prst="rect">
            <a:avLst/>
          </a:prstGeom>
          <a:noFill/>
          <a:ln w="9525">
            <a:noFill/>
          </a:ln>
        </p:spPr>
      </p:pic>
      <p:pic>
        <p:nvPicPr>
          <p:cNvPr id="160794" name="Picture 26" descr="C:\Prentice Hall\CaseFair\presentations\Cf03\images\optimized\S&amp;d3.gif"/>
          <p:cNvPicPr>
            <a:picLocks noChangeAspect="1"/>
          </p:cNvPicPr>
          <p:nvPr/>
        </p:nvPicPr>
        <p:blipFill>
          <a:blip r:embed="rId3"/>
          <a:stretch>
            <a:fillRect/>
          </a:stretch>
        </p:blipFill>
        <p:spPr>
          <a:xfrm>
            <a:off x="609600" y="1752600"/>
            <a:ext cx="3749675" cy="3440113"/>
          </a:xfrm>
          <a:prstGeom prst="rect">
            <a:avLst/>
          </a:prstGeom>
          <a:noFill/>
          <a:ln w="9525">
            <a:noFill/>
          </a:ln>
        </p:spPr>
      </p:pic>
      <p:pic>
        <p:nvPicPr>
          <p:cNvPr id="62472" name="Picture 27" descr="C:\Prentice Hall\CaseFair\presentations\Cf03\images\optimized\S&amp;d4-2.gif"/>
          <p:cNvPicPr>
            <a:picLocks noChangeAspect="1"/>
          </p:cNvPicPr>
          <p:nvPr/>
        </p:nvPicPr>
        <p:blipFill>
          <a:blip r:embed="rId4"/>
          <a:stretch>
            <a:fillRect/>
          </a:stretch>
        </p:blipFill>
        <p:spPr>
          <a:xfrm>
            <a:off x="4876800" y="1752600"/>
            <a:ext cx="3749675" cy="3440113"/>
          </a:xfrm>
          <a:prstGeom prst="rect">
            <a:avLst/>
          </a:prstGeom>
          <a:noFill/>
          <a:ln w="9525">
            <a:noFill/>
          </a:ln>
        </p:spPr>
      </p:pic>
      <p:pic>
        <p:nvPicPr>
          <p:cNvPr id="160796" name="Picture 28" descr="C:\Prentice Hall\CaseFair\presentations\Cf03\images\optimized\S&amp;d4-1.gif"/>
          <p:cNvPicPr>
            <a:picLocks noChangeAspect="1"/>
          </p:cNvPicPr>
          <p:nvPr/>
        </p:nvPicPr>
        <p:blipFill>
          <a:blip r:embed="rId5"/>
          <a:stretch>
            <a:fillRect/>
          </a:stretch>
        </p:blipFill>
        <p:spPr>
          <a:xfrm>
            <a:off x="4876800" y="1752600"/>
            <a:ext cx="3749675" cy="3440113"/>
          </a:xfrm>
          <a:prstGeom prst="rect">
            <a:avLst/>
          </a:prstGeom>
          <a:noFill/>
          <a:ln w="9525">
            <a:noFill/>
          </a:ln>
        </p:spPr>
      </p:pic>
      <p:pic>
        <p:nvPicPr>
          <p:cNvPr id="160797" name="Picture 29" descr="C:\Prentice Hall\CaseFair\presentations\Cf03\images\optimized\S&amp;d4.gif"/>
          <p:cNvPicPr>
            <a:picLocks noChangeAspect="1"/>
          </p:cNvPicPr>
          <p:nvPr/>
        </p:nvPicPr>
        <p:blipFill>
          <a:blip r:embed="rId6"/>
          <a:stretch>
            <a:fillRect/>
          </a:stretch>
        </p:blipFill>
        <p:spPr>
          <a:xfrm>
            <a:off x="4876800" y="1752600"/>
            <a:ext cx="3749675" cy="3440113"/>
          </a:xfrm>
          <a:prstGeom prst="rect">
            <a:avLst/>
          </a:prstGeom>
          <a:noFill/>
          <a:ln w="9525">
            <a:noFill/>
          </a:ln>
        </p:spPr>
      </p:pic>
    </p:spTree>
    <p:custDataLst>
      <p:tags r:id="rId7"/>
    </p:custDataLst>
  </p:cSld>
  <p:clrMapOvr>
    <a:masterClrMapping/>
  </p:clrMapOvr>
  <p:transition advTm="5839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1">
                                            <p:txEl>
                                              <p:charRg st="0" end="64"/>
                                            </p:txEl>
                                          </p:spTgt>
                                        </p:tgtEl>
                                        <p:attrNameLst>
                                          <p:attrName>style.visibility</p:attrName>
                                        </p:attrNameLst>
                                      </p:cBhvr>
                                      <p:to>
                                        <p:strVal val="visible"/>
                                      </p:to>
                                    </p:set>
                                    <p:animEffect transition="in" filter="wipe(left)">
                                      <p:cBhvr>
                                        <p:cTn id="7" dur="500"/>
                                        <p:tgtEl>
                                          <p:spTgt spid="160771">
                                            <p:txEl>
                                              <p:charRg st="0"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0793"/>
                                        </p:tgtEl>
                                        <p:attrNameLst>
                                          <p:attrName>style.visibility</p:attrName>
                                        </p:attrNameLst>
                                      </p:cBhvr>
                                      <p:to>
                                        <p:strVal val="visible"/>
                                      </p:to>
                                    </p:set>
                                    <p:animEffect transition="in" filter="box(out)">
                                      <p:cBhvr>
                                        <p:cTn id="12" dur="500"/>
                                        <p:tgtEl>
                                          <p:spTgt spid="16079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60794"/>
                                        </p:tgtEl>
                                        <p:attrNameLst>
                                          <p:attrName>style.visibility</p:attrName>
                                        </p:attrNameLst>
                                      </p:cBhvr>
                                      <p:to>
                                        <p:strVal val="visible"/>
                                      </p:to>
                                    </p:set>
                                    <p:animEffect transition="in" filter="box(out)">
                                      <p:cBhvr>
                                        <p:cTn id="17" dur="500"/>
                                        <p:tgtEl>
                                          <p:spTgt spid="1607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772">
                                            <p:txEl>
                                              <p:charRg st="0" end="65"/>
                                            </p:txEl>
                                          </p:spTgt>
                                        </p:tgtEl>
                                        <p:attrNameLst>
                                          <p:attrName>style.visibility</p:attrName>
                                        </p:attrNameLst>
                                      </p:cBhvr>
                                      <p:to>
                                        <p:strVal val="visible"/>
                                      </p:to>
                                    </p:set>
                                    <p:animEffect transition="in" filter="wipe(left)">
                                      <p:cBhvr>
                                        <p:cTn id="22" dur="500"/>
                                        <p:tgtEl>
                                          <p:spTgt spid="160772">
                                            <p:txEl>
                                              <p:charRg st="0" end="6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60796"/>
                                        </p:tgtEl>
                                        <p:attrNameLst>
                                          <p:attrName>style.visibility</p:attrName>
                                        </p:attrNameLst>
                                      </p:cBhvr>
                                      <p:to>
                                        <p:strVal val="visible"/>
                                      </p:to>
                                    </p:set>
                                    <p:animEffect transition="in" filter="box(out)">
                                      <p:cBhvr>
                                        <p:cTn id="27" dur="500"/>
                                        <p:tgtEl>
                                          <p:spTgt spid="16079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60797"/>
                                        </p:tgtEl>
                                        <p:attrNameLst>
                                          <p:attrName>style.visibility</p:attrName>
                                        </p:attrNameLst>
                                      </p:cBhvr>
                                      <p:to>
                                        <p:strVal val="visible"/>
                                      </p:to>
                                    </p:set>
                                    <p:animEffect transition="in" filter="box(out)">
                                      <p:cBhvr>
                                        <p:cTn id="32" dur="500"/>
                                        <p:tgtEl>
                                          <p:spTgt spid="160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ldLvl="2" build="p"/>
      <p:bldP spid="160772" grpId="0" bldLvl="2"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itle 1"/>
          <p:cNvSpPr>
            <a:spLocks noGrp="1"/>
          </p:cNvSpPr>
          <p:nvPr>
            <p:ph type="ctrTitle"/>
          </p:nvPr>
        </p:nvSpPr>
        <p:spPr/>
        <p:txBody>
          <a:bodyPr vert="horz" wrap="square" lIns="91440" tIns="45720" rIns="91440" bIns="45720" anchor="ctr" anchorCtr="0"/>
          <a:p>
            <a:pPr marL="484505" indent="0" eaLnBrk="1" hangingPunct="1">
              <a:buClrTx/>
              <a:buSzTx/>
              <a:buFontTx/>
            </a:pPr>
            <a:r>
              <a:rPr dirty="0">
                <a:solidFill>
                  <a:srgbClr val="FF0000"/>
                </a:solidFill>
              </a:rPr>
              <a:t>Efficiency </a:t>
            </a:r>
            <a:endParaRPr dirty="0">
              <a:solidFill>
                <a:srgbClr val="FF0000"/>
              </a:solidFill>
            </a:endParaRPr>
          </a:p>
        </p:txBody>
      </p:sp>
    </p:spTree>
  </p:cSld>
  <p:clrMapOvr>
    <a:masterClrMapping/>
  </p:clrMapOvr>
  <p:transition advTm="3088"/>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1" i="0" u="none" strike="noStrike" kern="1200" cap="none" spc="0" normalizeH="0" baseline="0" noProof="0" dirty="0" smtClean="0">
                <a:ln>
                  <a:noFill/>
                </a:ln>
                <a:solidFill>
                  <a:schemeClr val="accent1">
                    <a:tint val="83000"/>
                    <a:satMod val="150000"/>
                  </a:schemeClr>
                </a:solidFill>
                <a:effectLst/>
                <a:uLnTx/>
                <a:uFillTx/>
                <a:latin typeface="+mj-lt"/>
                <a:ea typeface="+mj-ea"/>
                <a:cs typeface="+mj-cs"/>
              </a:rPr>
              <a:t>Types of Efficiency</a:t>
            </a:r>
            <a:br>
              <a:rPr kumimoji="0" lang="en-US" sz="4400" b="1" i="0" u="none" strike="noStrike" kern="1200" cap="none" spc="0" normalizeH="0" baseline="0" noProof="0" dirty="0" smtClean="0">
                <a:ln>
                  <a:noFill/>
                </a:ln>
                <a:solidFill>
                  <a:schemeClr val="accent1">
                    <a:tint val="83000"/>
                    <a:satMod val="150000"/>
                  </a:schemeClr>
                </a:solidFill>
                <a:effectLst/>
                <a:uLnTx/>
                <a:uFillTx/>
                <a:latin typeface="+mj-lt"/>
                <a:ea typeface="+mj-ea"/>
                <a:cs typeface="+mj-cs"/>
              </a:rPr>
            </a:br>
            <a:endParaRPr kumimoji="0" lang="en-US" sz="4400" b="0" i="0" u="none" strike="noStrike" kern="1200" cap="none" spc="0" normalizeH="0" baseline="0" noProof="0" dirty="0">
              <a:ln>
                <a:noFill/>
              </a:ln>
              <a:solidFill>
                <a:schemeClr val="accent1">
                  <a:tint val="83000"/>
                  <a:satMod val="150000"/>
                </a:schemeClr>
              </a:solidFill>
              <a:effectLst/>
              <a:uLnTx/>
              <a:uFillTx/>
              <a:latin typeface="+mj-lt"/>
              <a:ea typeface="+mj-ea"/>
              <a:cs typeface="+mj-cs"/>
            </a:endParaRPr>
          </a:p>
        </p:txBody>
      </p:sp>
      <p:sp>
        <p:nvSpPr>
          <p:cNvPr id="64515" name="Content Placeholder 2"/>
          <p:cNvSpPr>
            <a:spLocks noGrp="1"/>
          </p:cNvSpPr>
          <p:nvPr>
            <p:ph idx="1"/>
          </p:nvPr>
        </p:nvSpPr>
        <p:spPr>
          <a:xfrm>
            <a:off x="457200" y="1882775"/>
            <a:ext cx="8229600" cy="4572000"/>
          </a:xfrm>
        </p:spPr>
        <p:txBody>
          <a:bodyPr vert="horz" wrap="square" lIns="91440" tIns="45720" rIns="91440" bIns="45720" anchor="t" anchorCtr="0"/>
          <a:p>
            <a:pPr eaLnBrk="1" hangingPunct="1"/>
            <a:r>
              <a:rPr dirty="0"/>
              <a:t>Efficiency of a system is generally defined as </a:t>
            </a:r>
            <a:r>
              <a:rPr dirty="0">
                <a:solidFill>
                  <a:srgbClr val="FF0000"/>
                </a:solidFill>
              </a:rPr>
              <a:t>the ratio of its output to input</a:t>
            </a:r>
            <a:r>
              <a:rPr dirty="0"/>
              <a:t>. </a:t>
            </a:r>
            <a:endParaRPr dirty="0"/>
          </a:p>
          <a:p>
            <a:pPr eaLnBrk="1" hangingPunct="1"/>
            <a:r>
              <a:rPr dirty="0"/>
              <a:t>The efficiency can be classified into:</a:t>
            </a:r>
            <a:endParaRPr dirty="0"/>
          </a:p>
          <a:p>
            <a:pPr lvl="2" eaLnBrk="1" hangingPunct="1"/>
            <a:r>
              <a:rPr sz="3200" i="1" dirty="0">
                <a:solidFill>
                  <a:srgbClr val="0070C0"/>
                </a:solidFill>
              </a:rPr>
              <a:t>Technical efficiency </a:t>
            </a:r>
            <a:r>
              <a:rPr sz="3200" dirty="0">
                <a:solidFill>
                  <a:srgbClr val="0070C0"/>
                </a:solidFill>
              </a:rPr>
              <a:t>and </a:t>
            </a:r>
            <a:endParaRPr sz="3200" dirty="0">
              <a:solidFill>
                <a:srgbClr val="0070C0"/>
              </a:solidFill>
            </a:endParaRPr>
          </a:p>
          <a:p>
            <a:pPr lvl="2" eaLnBrk="1" hangingPunct="1"/>
            <a:r>
              <a:rPr sz="3200" i="1" dirty="0">
                <a:solidFill>
                  <a:srgbClr val="0070C0"/>
                </a:solidFill>
              </a:rPr>
              <a:t>Economic efficiency</a:t>
            </a:r>
            <a:r>
              <a:rPr sz="3200" dirty="0">
                <a:solidFill>
                  <a:srgbClr val="0070C0"/>
                </a:solidFill>
              </a:rPr>
              <a:t>. </a:t>
            </a:r>
            <a:br>
              <a:rPr dirty="0"/>
            </a:br>
            <a:endParaRPr dirty="0"/>
          </a:p>
        </p:txBody>
      </p:sp>
    </p:spTree>
  </p:cSld>
  <p:clrMapOvr>
    <a:masterClrMapping/>
  </p:clrMapOvr>
  <p:transition advTm="21348"/>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1" i="0" u="none" strike="noStrike" kern="1200" cap="none" spc="0" normalizeH="0" baseline="0" noProof="0" dirty="0" smtClean="0">
                <a:ln>
                  <a:noFill/>
                </a:ln>
                <a:solidFill>
                  <a:schemeClr val="accent1">
                    <a:tint val="83000"/>
                    <a:satMod val="150000"/>
                  </a:schemeClr>
                </a:solidFill>
                <a:effectLst/>
                <a:uLnTx/>
                <a:uFillTx/>
                <a:latin typeface="+mj-lt"/>
                <a:ea typeface="+mj-ea"/>
                <a:cs typeface="+mj-cs"/>
              </a:rPr>
              <a:t>Technical efficiency</a:t>
            </a:r>
            <a:endParaRPr kumimoji="0" lang="en-US" sz="4400" b="0" i="0" u="none" strike="noStrike" kern="1200" cap="none" spc="0" normalizeH="0" baseline="0" noProof="0" dirty="0">
              <a:ln>
                <a:noFill/>
              </a:ln>
              <a:solidFill>
                <a:schemeClr val="accent1">
                  <a:tint val="83000"/>
                  <a:satMod val="150000"/>
                </a:schemeClr>
              </a:solidFill>
              <a:effectLst/>
              <a:uLnTx/>
              <a:uFillTx/>
              <a:latin typeface="+mj-lt"/>
              <a:ea typeface="+mj-ea"/>
              <a:cs typeface="+mj-cs"/>
            </a:endParaRPr>
          </a:p>
        </p:txBody>
      </p:sp>
      <p:sp>
        <p:nvSpPr>
          <p:cNvPr id="3" name="Content Placeholder 2"/>
          <p:cNvSpPr>
            <a:spLocks noGrp="1"/>
          </p:cNvSpPr>
          <p:nvPr>
            <p:ph idx="1"/>
          </p:nvPr>
        </p:nvSpPr>
        <p:spPr>
          <a:xfrm>
            <a:off x="457200" y="1882775"/>
            <a:ext cx="8229600" cy="4572000"/>
          </a:xfrm>
        </p:spPr>
        <p:txBody>
          <a:bodyPr vert="horz" wrap="square" lIns="91440" tIns="45720" rIns="91440" bIns="45720" numCol="1" rtlCol="0" anchor="t" anchorCtr="0" compatLnSpc="1">
            <a:normAutofit fontScale="70000" lnSpcReduction="20000"/>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It </a:t>
            </a:r>
            <a:r>
              <a:rPr kumimoji="0" lang="en-US" sz="3200" b="0" i="0" u="none" strike="noStrike" kern="1200" cap="none" spc="0" normalizeH="0" baseline="0" noProof="0" dirty="0">
                <a:ln>
                  <a:noFill/>
                </a:ln>
                <a:solidFill>
                  <a:schemeClr val="tx1"/>
                </a:solidFill>
                <a:effectLst/>
                <a:uLnTx/>
                <a:uFillTx/>
                <a:latin typeface="+mn-lt"/>
                <a:ea typeface="+mn-ea"/>
                <a:cs typeface="+mn-cs"/>
              </a:rPr>
              <a:t>is the ratio of the output to input of a physical system. The physical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system may </a:t>
            </a:r>
            <a:r>
              <a:rPr kumimoji="0" lang="en-US" sz="3200" b="0" i="0" u="none" strike="noStrike" kern="1200" cap="none" spc="0" normalizeH="0" baseline="0" noProof="0" dirty="0">
                <a:ln>
                  <a:noFill/>
                </a:ln>
                <a:solidFill>
                  <a:schemeClr val="tx1"/>
                </a:solidFill>
                <a:effectLst/>
                <a:uLnTx/>
                <a:uFillTx/>
                <a:latin typeface="+mn-lt"/>
                <a:ea typeface="+mn-ea"/>
                <a:cs typeface="+mn-cs"/>
              </a:rPr>
              <a:t>be a diesel engine, a machine working in a shop floor, a furnace, etc</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3200" b="0" i="0" u="none" strike="noStrike" kern="1200" cap="none" spc="0" normalizeH="0" baseline="0" noProof="0" dirty="0">
                <a:ln>
                  <a:noFill/>
                </a:ln>
                <a:solidFill>
                  <a:schemeClr val="tx1"/>
                </a:solidFill>
                <a:effectLst/>
                <a:uLnTx/>
                <a:uFillTx/>
                <a:latin typeface="+mn-lt"/>
                <a:ea typeface="+mn-ea"/>
                <a:cs typeface="+mn-cs"/>
              </a:rPr>
              <a:t>technical efficiency of a diesel engine is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as follows</a:t>
            </a:r>
            <a:r>
              <a:rPr kumimoji="0" lang="en-US" sz="3200" b="0" i="0" u="none" strike="noStrike" kern="1200" cap="none" spc="0" normalizeH="0" baseline="0" noProof="0" dirty="0">
                <a:ln>
                  <a:noFill/>
                </a:ln>
                <a:solidFill>
                  <a:schemeClr val="tx1"/>
                </a:solidFill>
                <a:effectLst/>
                <a:uLnTx/>
                <a:uFillTx/>
                <a:latin typeface="+mn-lt"/>
                <a:ea typeface="+mn-ea"/>
                <a:cs typeface="+mn-cs"/>
              </a:rPr>
              <a:t>:</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Wingdings 2" panose="05020102010507070707"/>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Wingdings 2" panose="05020102010507070707"/>
              <a:buNone/>
              <a:defRPr/>
            </a:pPr>
            <a:br>
              <a:rPr kumimoji="0" lang="en-US" sz="3200" b="0" i="0" u="none" strike="noStrike" kern="1200" cap="none" spc="0" normalizeH="0" baseline="0" noProof="0" dirty="0" smtClean="0">
                <a:ln>
                  <a:noFill/>
                </a:ln>
                <a:solidFill>
                  <a:schemeClr val="tx1"/>
                </a:solidFill>
                <a:effectLst/>
                <a:uLnTx/>
                <a:uFillTx/>
                <a:latin typeface="+mn-lt"/>
                <a:ea typeface="+mn-ea"/>
                <a:cs typeface="+mn-cs"/>
              </a:rPr>
            </a:br>
            <a:br>
              <a:rPr kumimoji="0" lang="en-US" sz="3200" b="0" i="0" u="none" strike="noStrike" kern="1200" cap="none" spc="0" normalizeH="0" baseline="0" noProof="0" dirty="0" smtClean="0">
                <a:ln>
                  <a:noFill/>
                </a:ln>
                <a:solidFill>
                  <a:schemeClr val="tx1"/>
                </a:solidFill>
                <a:effectLst/>
                <a:uLnTx/>
                <a:uFillTx/>
                <a:latin typeface="+mn-lt"/>
                <a:ea typeface="+mn-ea"/>
                <a:cs typeface="+mn-cs"/>
              </a:rPr>
            </a:b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65540" name="Picture 2"/>
          <p:cNvPicPr>
            <a:picLocks noChangeAspect="1"/>
          </p:cNvPicPr>
          <p:nvPr/>
        </p:nvPicPr>
        <p:blipFill>
          <a:blip r:embed="rId1"/>
          <a:stretch>
            <a:fillRect/>
          </a:stretch>
        </p:blipFill>
        <p:spPr>
          <a:xfrm>
            <a:off x="990600" y="2992438"/>
            <a:ext cx="3810000" cy="762000"/>
          </a:xfrm>
          <a:prstGeom prst="rect">
            <a:avLst/>
          </a:prstGeom>
          <a:noFill/>
          <a:ln w="9525">
            <a:noFill/>
          </a:ln>
        </p:spPr>
      </p:pic>
      <p:pic>
        <p:nvPicPr>
          <p:cNvPr id="65541" name="Picture 3"/>
          <p:cNvPicPr>
            <a:picLocks noChangeAspect="1"/>
          </p:cNvPicPr>
          <p:nvPr/>
        </p:nvPicPr>
        <p:blipFill>
          <a:blip r:embed="rId2"/>
          <a:stretch>
            <a:fillRect/>
          </a:stretch>
        </p:blipFill>
        <p:spPr>
          <a:xfrm>
            <a:off x="990600" y="5237163"/>
            <a:ext cx="5791200" cy="1066800"/>
          </a:xfrm>
          <a:prstGeom prst="rect">
            <a:avLst/>
          </a:prstGeom>
          <a:noFill/>
          <a:ln w="9525">
            <a:noFill/>
          </a:ln>
        </p:spPr>
      </p:pic>
    </p:spTree>
  </p:cSld>
  <p:clrMapOvr>
    <a:masterClrMapping/>
  </p:clrMapOvr>
  <p:transition advTm="68938"/>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1" i="0" u="none" strike="noStrike" kern="1200" cap="none" spc="0" normalizeH="0" baseline="0" noProof="0" dirty="0" smtClean="0">
                <a:ln>
                  <a:noFill/>
                </a:ln>
                <a:solidFill>
                  <a:schemeClr val="accent1">
                    <a:tint val="83000"/>
                    <a:satMod val="150000"/>
                  </a:schemeClr>
                </a:solidFill>
                <a:effectLst/>
                <a:uLnTx/>
                <a:uFillTx/>
                <a:latin typeface="+mj-lt"/>
                <a:ea typeface="+mj-ea"/>
                <a:cs typeface="+mj-cs"/>
              </a:rPr>
              <a:t>Economic efficiency</a:t>
            </a:r>
            <a:endParaRPr kumimoji="0" lang="en-US" sz="4400" b="0" i="0" u="none" strike="noStrike" kern="1200" cap="none" spc="0" normalizeH="0" baseline="0" noProof="0" dirty="0">
              <a:ln>
                <a:noFill/>
              </a:ln>
              <a:solidFill>
                <a:schemeClr val="accent1">
                  <a:tint val="83000"/>
                  <a:satMod val="150000"/>
                </a:schemeClr>
              </a:solidFill>
              <a:effectLst/>
              <a:uLnTx/>
              <a:uFillTx/>
              <a:latin typeface="+mj-lt"/>
              <a:ea typeface="+mj-ea"/>
              <a:cs typeface="+mj-cs"/>
            </a:endParaRPr>
          </a:p>
        </p:txBody>
      </p:sp>
      <p:sp>
        <p:nvSpPr>
          <p:cNvPr id="3" name="Content Placeholder 2"/>
          <p:cNvSpPr>
            <a:spLocks noGrp="1"/>
          </p:cNvSpPr>
          <p:nvPr>
            <p:ph idx="1"/>
          </p:nvPr>
        </p:nvSpPr>
        <p:spPr>
          <a:xfrm>
            <a:off x="457200" y="1295400"/>
            <a:ext cx="8229600" cy="4830763"/>
          </a:xfrm>
        </p:spPr>
        <p:txBody>
          <a:bodyPr vert="horz" wrap="square" lIns="91440" tIns="45720" rIns="91440" bIns="45720" numCol="1" rtlCol="0" anchor="t" anchorCtr="0" compatLnSpc="1">
            <a:noAutofit/>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Economic </a:t>
            </a:r>
            <a:r>
              <a:rPr kumimoji="0" lang="en-US" sz="2800" b="0" i="0" u="none" strike="noStrike" kern="1200" cap="none" spc="0" normalizeH="0" baseline="0" noProof="0" dirty="0">
                <a:ln>
                  <a:noFill/>
                </a:ln>
                <a:solidFill>
                  <a:schemeClr val="tx1"/>
                </a:solidFill>
                <a:effectLst/>
                <a:uLnTx/>
                <a:uFillTx/>
                <a:latin typeface="+mn-lt"/>
                <a:ea typeface="+mn-ea"/>
                <a:cs typeface="+mn-cs"/>
              </a:rPr>
              <a:t>efficiency is the ratio of output to input of a business system</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800" b="0" i="0" u="none" strike="noStrike" kern="1200" cap="none" spc="0" normalizeH="0" baseline="0" noProof="0" dirty="0">
                <a:ln>
                  <a:noFill/>
                </a:ln>
                <a:solidFill>
                  <a:schemeClr val="tx1"/>
                </a:solidFill>
                <a:effectLst/>
                <a:uLnTx/>
                <a:uFillTx/>
                <a:latin typeface="+mn-lt"/>
                <a:ea typeface="+mn-ea"/>
                <a:cs typeface="+mn-cs"/>
              </a:rPr>
              <a:t>Worth’ is the annual revenue generated by way of operating the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business and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800" b="0" i="0" u="none" strike="noStrike" kern="1200" cap="none" spc="0" normalizeH="0" baseline="0" noProof="0" dirty="0">
                <a:ln>
                  <a:noFill/>
                </a:ln>
                <a:solidFill>
                  <a:schemeClr val="tx1"/>
                </a:solidFill>
                <a:effectLst/>
                <a:uLnTx/>
                <a:uFillTx/>
                <a:latin typeface="+mn-lt"/>
                <a:ea typeface="+mn-ea"/>
                <a:cs typeface="+mn-cs"/>
              </a:rPr>
              <a:t>cost’ is the total annual expenses incurred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in carrying </a:t>
            </a:r>
            <a:r>
              <a:rPr kumimoji="0" lang="en-US" sz="2800" b="0" i="0" u="none" strike="noStrike" kern="1200" cap="none" spc="0" normalizeH="0" baseline="0" noProof="0" dirty="0">
                <a:ln>
                  <a:noFill/>
                </a:ln>
                <a:solidFill>
                  <a:schemeClr val="tx1"/>
                </a:solidFill>
                <a:effectLst/>
                <a:uLnTx/>
                <a:uFillTx/>
                <a:latin typeface="+mn-lt"/>
                <a:ea typeface="+mn-ea"/>
                <a:cs typeface="+mn-cs"/>
              </a:rPr>
              <a:t>out the business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br>
              <a:rPr kumimoji="0" lang="en-US" sz="2800" b="0" i="0" u="none" strike="noStrike" kern="1200" cap="none" spc="0" normalizeH="0" baseline="0" noProof="0" dirty="0" smtClean="0">
                <a:ln>
                  <a:noFill/>
                </a:ln>
                <a:solidFill>
                  <a:schemeClr val="tx1"/>
                </a:solidFill>
                <a:effectLst/>
                <a:uLnTx/>
                <a:uFillTx/>
                <a:latin typeface="+mn-lt"/>
                <a:ea typeface="+mn-ea"/>
                <a:cs typeface="+mn-cs"/>
              </a:rPr>
            </a:b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br>
              <a:rPr kumimoji="0" lang="en-US" sz="2800" b="0" i="0" u="none" strike="noStrike" kern="1200" cap="none" spc="0" normalizeH="0" baseline="0" noProof="0" dirty="0" smtClean="0">
                <a:ln>
                  <a:noFill/>
                </a:ln>
                <a:solidFill>
                  <a:schemeClr val="tx1"/>
                </a:solidFill>
                <a:effectLst/>
                <a:uLnTx/>
                <a:uFillTx/>
                <a:latin typeface="+mn-lt"/>
                <a:ea typeface="+mn-ea"/>
                <a:cs typeface="+mn-cs"/>
              </a:rPr>
            </a:b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pic>
        <p:nvPicPr>
          <p:cNvPr id="66564" name="Picture 2"/>
          <p:cNvPicPr>
            <a:picLocks noChangeAspect="1"/>
          </p:cNvPicPr>
          <p:nvPr/>
        </p:nvPicPr>
        <p:blipFill>
          <a:blip r:embed="rId1"/>
          <a:stretch>
            <a:fillRect/>
          </a:stretch>
        </p:blipFill>
        <p:spPr>
          <a:xfrm>
            <a:off x="815975" y="2425700"/>
            <a:ext cx="7010400" cy="966788"/>
          </a:xfrm>
          <a:prstGeom prst="rect">
            <a:avLst/>
          </a:prstGeom>
          <a:noFill/>
          <a:ln w="9525">
            <a:noFill/>
          </a:ln>
        </p:spPr>
      </p:pic>
    </p:spTree>
  </p:cSld>
  <p:clrMapOvr>
    <a:masterClrMapping/>
  </p:clrMapOvr>
  <p:transition advTm="73228"/>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p:txBody>
          <a:bodyPr vert="horz" wrap="square" lIns="91440" tIns="45720" rIns="91440" bIns="45720" numCol="1" rtlCol="0" anchor="ctr" anchorCtr="0" compatLnSpc="1">
            <a:normAutofit fontScale="90000"/>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smtClean="0">
                <a:ln>
                  <a:noFill/>
                </a:ln>
                <a:solidFill>
                  <a:srgbClr val="0070C0"/>
                </a:solidFill>
                <a:effectLst/>
                <a:uLnTx/>
                <a:uFillTx/>
                <a:latin typeface="+mj-lt"/>
                <a:ea typeface="+mj-ea"/>
                <a:cs typeface="+mj-cs"/>
              </a:rPr>
              <a:t>How to improve economic efficiency? </a:t>
            </a:r>
            <a:endParaRPr kumimoji="0" lang="en-US" sz="4400" b="0" i="0" u="none" strike="noStrike" kern="1200" cap="none" spc="0" normalizeH="0" baseline="0" noProof="0" smtClean="0">
              <a:ln>
                <a:noFill/>
              </a:ln>
              <a:solidFill>
                <a:srgbClr val="0070C0"/>
              </a:solidFill>
              <a:effectLst/>
              <a:uLnTx/>
              <a:uFillTx/>
              <a:latin typeface="+mj-lt"/>
              <a:ea typeface="+mj-ea"/>
              <a:cs typeface="+mj-cs"/>
            </a:endParaRPr>
          </a:p>
        </p:txBody>
      </p:sp>
      <p:sp>
        <p:nvSpPr>
          <p:cNvPr id="3" name="Content Placeholder 2"/>
          <p:cNvSpPr>
            <a:spLocks noGrp="1"/>
          </p:cNvSpPr>
          <p:nvPr>
            <p:ph idx="1"/>
          </p:nvPr>
        </p:nvSpPr>
        <p:spPr>
          <a:xfrm>
            <a:off x="457200" y="1600200"/>
            <a:ext cx="8229600" cy="4800600"/>
          </a:xfrm>
        </p:spPr>
        <p:txBody>
          <a:bodyPr vert="horz" wrap="square" lIns="91440" tIns="45720" rIns="91440" bIns="45720" numCol="1" rtlCol="0" anchor="t" anchorCtr="0" compatLnSpc="1">
            <a:normAutofit lnSpcReduction="10000"/>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Economic efficiency is also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called ‘productivity</a:t>
            </a:r>
            <a:r>
              <a:rPr kumimoji="0" lang="en-US" sz="2800" b="0" i="0" u="none" strike="noStrike" kern="1200" cap="none" spc="0" normalizeH="0" baseline="0" noProof="0" dirty="0">
                <a:ln>
                  <a:noFill/>
                </a:ln>
                <a:solidFill>
                  <a:schemeClr val="tx1"/>
                </a:solidFill>
                <a:effectLst/>
                <a:uLnTx/>
                <a:uFillTx/>
                <a:latin typeface="+mn-lt"/>
                <a:ea typeface="+mn-ea"/>
                <a:cs typeface="+mn-cs"/>
              </a:rPr>
              <a:t>’. There are several ways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of improving </a:t>
            </a:r>
            <a:r>
              <a:rPr kumimoji="0" lang="en-US" sz="2800" b="0" i="0" u="none" strike="noStrike" kern="1200" cap="none" spc="0" normalizeH="0" baseline="0" noProof="0" dirty="0">
                <a:ln>
                  <a:noFill/>
                </a:ln>
                <a:solidFill>
                  <a:schemeClr val="tx1"/>
                </a:solidFill>
                <a:effectLst/>
                <a:uLnTx/>
                <a:uFillTx/>
                <a:latin typeface="+mn-lt"/>
                <a:ea typeface="+mn-ea"/>
                <a:cs typeface="+mn-cs"/>
              </a:rPr>
              <a:t>productivity</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Tx/>
              <a:buSzTx/>
              <a:buFont typeface="+mj-lt"/>
              <a:buAutoNum type="romanUcPeriod"/>
              <a:defRPr/>
            </a:pPr>
            <a:r>
              <a:rPr kumimoji="0" lang="en-US" sz="2400" b="0" i="0" u="none" strike="noStrike" kern="1200" cap="none" spc="0" normalizeH="0" baseline="0" noProof="0" dirty="0">
                <a:ln>
                  <a:noFill/>
                </a:ln>
                <a:solidFill>
                  <a:schemeClr val="tx1"/>
                </a:solidFill>
                <a:effectLst/>
                <a:uLnTx/>
                <a:uFillTx/>
                <a:latin typeface="+mn-lt"/>
                <a:ea typeface="+mn-ea"/>
                <a:cs typeface="+mn-cs"/>
              </a:rPr>
              <a:t>Increased output for the same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input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Tx/>
              <a:buSzTx/>
              <a:buFont typeface="+mj-lt"/>
              <a:buAutoNum type="romanUcPeriod"/>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Decreased </a:t>
            </a:r>
            <a:r>
              <a:rPr kumimoji="0" lang="en-US" sz="2400" b="0" i="0" u="none" strike="noStrike" kern="1200" cap="none" spc="0" normalizeH="0" baseline="0" noProof="0" dirty="0">
                <a:ln>
                  <a:noFill/>
                </a:ln>
                <a:solidFill>
                  <a:schemeClr val="tx1"/>
                </a:solidFill>
                <a:effectLst/>
                <a:uLnTx/>
                <a:uFillTx/>
                <a:latin typeface="+mn-lt"/>
                <a:ea typeface="+mn-ea"/>
                <a:cs typeface="+mn-cs"/>
              </a:rPr>
              <a:t>input for the same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output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Tx/>
              <a:buSzTx/>
              <a:buFont typeface="+mj-lt"/>
              <a:buAutoNum type="romanUcPeriod"/>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By </a:t>
            </a:r>
            <a:r>
              <a:rPr kumimoji="0" lang="en-US" sz="2400" b="0" i="0" u="none" strike="noStrike" kern="1200" cap="none" spc="0" normalizeH="0" baseline="0" noProof="0" dirty="0">
                <a:ln>
                  <a:noFill/>
                </a:ln>
                <a:solidFill>
                  <a:schemeClr val="tx1"/>
                </a:solidFill>
                <a:effectLst/>
                <a:uLnTx/>
                <a:uFillTx/>
                <a:latin typeface="+mn-lt"/>
                <a:ea typeface="+mn-ea"/>
                <a:cs typeface="+mn-cs"/>
              </a:rPr>
              <a:t>a proportionate increase in the output which is more than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proportionate </a:t>
            </a:r>
            <a:r>
              <a:rPr kumimoji="0" lang="en-US" sz="2400" b="0" i="0" u="none" strike="noStrike" kern="1200" cap="none" spc="0" normalizeH="0" baseline="0" noProof="0" dirty="0">
                <a:ln>
                  <a:noFill/>
                </a:ln>
                <a:solidFill>
                  <a:schemeClr val="tx1"/>
                </a:solidFill>
                <a:effectLst/>
                <a:uLnTx/>
                <a:uFillTx/>
                <a:latin typeface="+mn-lt"/>
                <a:ea typeface="+mn-ea"/>
                <a:cs typeface="+mn-cs"/>
              </a:rPr>
              <a:t>increase in the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input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Tx/>
              <a:buSzTx/>
              <a:buFont typeface="+mj-lt"/>
              <a:buAutoNum type="romanUcPeriod"/>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By </a:t>
            </a:r>
            <a:r>
              <a:rPr kumimoji="0" lang="en-US" sz="2400" b="0" i="0" u="none" strike="noStrike" kern="1200" cap="none" spc="0" normalizeH="0" baseline="0" noProof="0" dirty="0">
                <a:ln>
                  <a:noFill/>
                </a:ln>
                <a:solidFill>
                  <a:schemeClr val="tx1"/>
                </a:solidFill>
                <a:effectLst/>
                <a:uLnTx/>
                <a:uFillTx/>
                <a:latin typeface="+mn-lt"/>
                <a:ea typeface="+mn-ea"/>
                <a:cs typeface="+mn-cs"/>
              </a:rPr>
              <a:t>a proportionate decrease in the input which is more than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proportionate </a:t>
            </a:r>
            <a:r>
              <a:rPr kumimoji="0" lang="en-US" sz="2400" b="0" i="0" u="none" strike="noStrike" kern="1200" cap="none" spc="0" normalizeH="0" baseline="0" noProof="0" dirty="0">
                <a:ln>
                  <a:noFill/>
                </a:ln>
                <a:solidFill>
                  <a:schemeClr val="tx1"/>
                </a:solidFill>
                <a:effectLst/>
                <a:uLnTx/>
                <a:uFillTx/>
                <a:latin typeface="+mn-lt"/>
                <a:ea typeface="+mn-ea"/>
                <a:cs typeface="+mn-cs"/>
              </a:rPr>
              <a:t>decrease in the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output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Tx/>
              <a:buSzTx/>
              <a:buFont typeface="+mj-lt"/>
              <a:buAutoNum type="romanUcPeriod"/>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Through </a:t>
            </a:r>
            <a:r>
              <a:rPr kumimoji="0" lang="en-US" sz="2400" b="0" i="0" u="none" strike="noStrike" kern="1200" cap="none" spc="0" normalizeH="0" baseline="0" noProof="0" dirty="0">
                <a:ln>
                  <a:noFill/>
                </a:ln>
                <a:solidFill>
                  <a:schemeClr val="tx1"/>
                </a:solidFill>
                <a:effectLst/>
                <a:uLnTx/>
                <a:uFillTx/>
                <a:latin typeface="+mn-lt"/>
                <a:ea typeface="+mn-ea"/>
                <a:cs typeface="+mn-cs"/>
              </a:rPr>
              <a:t>simultaneous increase in the output with decrease in the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input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a:buNone/>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br>
              <a:rPr kumimoji="0" lang="en-US" sz="2800" b="0" i="0" u="none" strike="noStrike" kern="1200" cap="none" spc="0" normalizeH="0" baseline="0" noProof="0" dirty="0" smtClean="0">
                <a:ln>
                  <a:noFill/>
                </a:ln>
                <a:solidFill>
                  <a:schemeClr val="tx1"/>
                </a:solidFill>
                <a:effectLst/>
                <a:uLnTx/>
                <a:uFillTx/>
                <a:latin typeface="+mn-lt"/>
                <a:ea typeface="+mn-ea"/>
                <a:cs typeface="+mn-cs"/>
              </a:rPr>
            </a:br>
            <a:endParaRPr kumimoji="0" lang="en-US" sz="2800" b="0" i="0" u="sng"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105978"/>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Content Placeholder 2"/>
          <p:cNvSpPr>
            <a:spLocks noGrp="1"/>
          </p:cNvSpPr>
          <p:nvPr>
            <p:ph idx="1"/>
          </p:nvPr>
        </p:nvSpPr>
        <p:spPr>
          <a:xfrm>
            <a:off x="457200" y="1882775"/>
            <a:ext cx="8229600" cy="4572000"/>
          </a:xfrm>
        </p:spPr>
        <p:txBody>
          <a:bodyPr vert="horz" wrap="square" lIns="91440" tIns="45720" rIns="91440" bIns="45720" anchor="t" anchorCtr="0"/>
          <a:p>
            <a:pPr algn="just" eaLnBrk="1" hangingPunct="1"/>
            <a:r>
              <a:rPr u="sng" dirty="0">
                <a:solidFill>
                  <a:srgbClr val="FF0000"/>
                </a:solidFill>
              </a:rPr>
              <a:t>Improved output for the same input</a:t>
            </a:r>
            <a:r>
              <a:rPr dirty="0">
                <a:solidFill>
                  <a:srgbClr val="FF0000"/>
                </a:solidFill>
              </a:rPr>
              <a:t> </a:t>
            </a:r>
            <a:r>
              <a:rPr dirty="0"/>
              <a:t>(In this strategy, the output is increased  while keeping the input constant.)</a:t>
            </a:r>
            <a:endParaRPr dirty="0"/>
          </a:p>
          <a:p>
            <a:pPr algn="just" eaLnBrk="1" hangingPunct="1"/>
            <a:r>
              <a:rPr u="sng" dirty="0">
                <a:solidFill>
                  <a:srgbClr val="FF0000"/>
                </a:solidFill>
              </a:rPr>
              <a:t>Decreased input for the same output</a:t>
            </a:r>
            <a:r>
              <a:rPr dirty="0">
                <a:solidFill>
                  <a:srgbClr val="FF0000"/>
                </a:solidFill>
              </a:rPr>
              <a:t>  </a:t>
            </a:r>
            <a:r>
              <a:rPr dirty="0"/>
              <a:t>(In this strategy, the input is decreased to produce the same output.)</a:t>
            </a:r>
            <a:endParaRPr dirty="0"/>
          </a:p>
          <a:p>
            <a:pPr algn="just" eaLnBrk="1" hangingPunct="1"/>
            <a:endParaRPr dirty="0"/>
          </a:p>
        </p:txBody>
      </p:sp>
    </p:spTree>
  </p:cSld>
  <p:clrMapOvr>
    <a:masterClrMapping/>
  </p:clrMapOvr>
  <p:transition advTm="157068"/>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228600"/>
            <a:ext cx="8229600" cy="6629400"/>
          </a:xfrm>
        </p:spPr>
        <p:txBody>
          <a:bodyPr vert="horz" wrap="square" lIns="91440" tIns="45720" rIns="91440" bIns="45720" numCol="1" rtlCol="0" anchor="t" anchorCtr="0" compatLnSpc="1">
            <a:normAutofit fontScale="77500" lnSpcReduction="20000"/>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1" i="0" u="sng" strike="noStrike" kern="1200" cap="none" spc="0" normalizeH="0" baseline="0" noProof="0" dirty="0">
                <a:ln>
                  <a:noFill/>
                </a:ln>
                <a:solidFill>
                  <a:srgbClr val="FF0000"/>
                </a:solidFill>
                <a:effectLst/>
                <a:uLnTx/>
                <a:uFillTx/>
                <a:latin typeface="+mn-lt"/>
                <a:ea typeface="+mn-ea"/>
                <a:cs typeface="+mn-cs"/>
              </a:rPr>
              <a:t>By a proportionate increase in the output which is more than the proportionate increase in the input</a:t>
            </a:r>
            <a:r>
              <a:rPr kumimoji="0" lang="en-US" sz="3200" b="1" i="0" u="none" strike="noStrike" kern="1200" cap="none" spc="0" normalizeH="0" baseline="0" noProof="0" dirty="0">
                <a:ln>
                  <a:noFill/>
                </a:ln>
                <a:solidFill>
                  <a:srgbClr val="FF0000"/>
                </a:solidFill>
                <a:effectLst/>
                <a:uLnTx/>
                <a:uFillTx/>
                <a:latin typeface="+mn-lt"/>
                <a:ea typeface="+mn-ea"/>
                <a:cs typeface="+mn-cs"/>
              </a:rPr>
              <a:t> </a:t>
            </a:r>
            <a:r>
              <a:rPr kumimoji="0" lang="en-US" sz="3200" b="0" i="0" u="none" strike="noStrike" kern="1200" cap="none" spc="0" normalizeH="0" baseline="0" noProof="0" dirty="0">
                <a:ln>
                  <a:noFill/>
                </a:ln>
                <a:solidFill>
                  <a:schemeClr val="tx1"/>
                </a:solidFill>
                <a:effectLst/>
                <a:uLnTx/>
                <a:uFillTx/>
                <a:latin typeface="+mn-lt"/>
                <a:ea typeface="+mn-ea"/>
                <a:cs typeface="+mn-cs"/>
              </a:rPr>
              <a:t>(Consider the example of introducing a new product into the existing product mix of an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organization). </a:t>
            </a:r>
            <a:r>
              <a:rPr kumimoji="0" lang="en-US" sz="3200" b="0" i="0" u="none" strike="noStrike" kern="1200" cap="none" spc="0" normalizeH="0" baseline="0" noProof="0" dirty="0">
                <a:ln>
                  <a:noFill/>
                </a:ln>
                <a:solidFill>
                  <a:schemeClr val="tx1"/>
                </a:solidFill>
                <a:effectLst/>
                <a:uLnTx/>
                <a:uFillTx/>
                <a:latin typeface="+mn-lt"/>
                <a:ea typeface="+mn-ea"/>
                <a:cs typeface="+mn-cs"/>
              </a:rPr>
              <a:t>Let us assume that the existing facilities are not fully utilized and the R&amp;D wing of the company has identified a new product which has a very good market and which can be manufactured with the surplus facilities of the organization. If the new product is taken up for production, it will lead to—</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an increase in the revenue of the organization by way of selling the new product in addition to the existing product mix and</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an increase in the material cost and operation and maintenance cost of  machineries because of producing the new product.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If </a:t>
            </a:r>
            <a:r>
              <a:rPr kumimoji="0" lang="en-US" sz="3200" b="0" i="0" u="none" strike="noStrike" kern="1200" cap="none" spc="0" normalizeH="0" baseline="0" noProof="0" dirty="0">
                <a:ln>
                  <a:noFill/>
                </a:ln>
                <a:solidFill>
                  <a:schemeClr val="tx1"/>
                </a:solidFill>
                <a:effectLst/>
                <a:uLnTx/>
                <a:uFillTx/>
                <a:latin typeface="+mn-lt"/>
                <a:ea typeface="+mn-ea"/>
                <a:cs typeface="+mn-cs"/>
              </a:rPr>
              <a:t>we examine these two increases closely, the proportionate increase in the revenue will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be more </a:t>
            </a:r>
            <a:r>
              <a:rPr kumimoji="0" lang="en-US" sz="3200" b="0" i="0" u="none" strike="noStrike" kern="1200" cap="none" spc="0" normalizeH="0" baseline="0" noProof="0" dirty="0">
                <a:ln>
                  <a:noFill/>
                </a:ln>
                <a:solidFill>
                  <a:schemeClr val="tx1"/>
                </a:solidFill>
                <a:effectLst/>
                <a:uLnTx/>
                <a:uFillTx/>
                <a:latin typeface="+mn-lt"/>
                <a:ea typeface="+mn-ea"/>
                <a:cs typeface="+mn-cs"/>
              </a:rPr>
              <a:t>than the   proportionate increase in the input cost. Hence, there will be a net increase in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3200" b="0" i="0" u="none" strike="noStrike" kern="1200" cap="none" spc="0" normalizeH="0" baseline="0" noProof="0" dirty="0">
                <a:ln>
                  <a:noFill/>
                </a:ln>
                <a:solidFill>
                  <a:schemeClr val="tx1"/>
                </a:solidFill>
                <a:effectLst/>
                <a:uLnTx/>
                <a:uFillTx/>
                <a:latin typeface="+mn-lt"/>
                <a:ea typeface="+mn-ea"/>
                <a:cs typeface="+mn-cs"/>
              </a:rPr>
              <a:t>productivity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ratio.</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111568"/>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609600"/>
            <a:ext cx="8229600" cy="5516563"/>
          </a:xfrm>
        </p:spPr>
        <p:txBody>
          <a:bodyPr vert="horz" wrap="square" lIns="91440" tIns="45720" rIns="91440" bIns="45720" numCol="1" rtlCol="0" anchor="t" anchorCtr="0" compatLnSpc="1">
            <a:normAutofit fontScale="92500" lnSpcReduction="20000"/>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sng" strike="noStrike" kern="1200" cap="none" spc="0" normalizeH="0" baseline="0" noProof="0" dirty="0">
                <a:ln>
                  <a:noFill/>
                </a:ln>
                <a:solidFill>
                  <a:srgbClr val="FF0000"/>
                </a:solidFill>
                <a:effectLst/>
                <a:uLnTx/>
                <a:uFillTx/>
                <a:latin typeface="+mn-lt"/>
                <a:ea typeface="+mn-ea"/>
                <a:cs typeface="+mn-cs"/>
              </a:rPr>
              <a:t>By a proportionate decrease  in the input which is more than the proportionate  decrease in the output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3200" b="0" i="0" u="none" strike="noStrike" kern="1200" cap="none" spc="0" normalizeH="0" baseline="0" noProof="0" dirty="0">
                <a:ln>
                  <a:noFill/>
                </a:ln>
                <a:solidFill>
                  <a:schemeClr val="tx1"/>
                </a:solidFill>
                <a:effectLst/>
                <a:uLnTx/>
                <a:uFillTx/>
                <a:latin typeface="+mn-lt"/>
                <a:ea typeface="+mn-ea"/>
                <a:cs typeface="+mn-cs"/>
              </a:rPr>
              <a:t>Let us consider the converse of the previous example, i.e. dropping an uneconomical product from the existing product mix. This will result in the following:</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 decrease in the revenue of the organization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 decrease in the material cost, and operation and maintenance cost of machinery</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If </a:t>
            </a:r>
            <a:r>
              <a:rPr kumimoji="0" lang="en-US" sz="3200" b="0" i="0" u="none" strike="noStrike" kern="1200" cap="none" spc="0" normalizeH="0" baseline="0" noProof="0" dirty="0">
                <a:ln>
                  <a:noFill/>
                </a:ln>
                <a:solidFill>
                  <a:schemeClr val="tx1"/>
                </a:solidFill>
                <a:effectLst/>
                <a:uLnTx/>
                <a:uFillTx/>
                <a:latin typeface="+mn-lt"/>
                <a:ea typeface="+mn-ea"/>
                <a:cs typeface="+mn-cs"/>
              </a:rPr>
              <a:t>we closely examine these two decreases, we will see that the proportionate decrease in the input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cost will </a:t>
            </a:r>
            <a:r>
              <a:rPr kumimoji="0" lang="en-US" sz="3200" b="0" i="0" u="none" strike="noStrike" kern="1200" cap="none" spc="0" normalizeH="0" baseline="0" noProof="0" dirty="0">
                <a:ln>
                  <a:noFill/>
                </a:ln>
                <a:solidFill>
                  <a:schemeClr val="tx1"/>
                </a:solidFill>
                <a:effectLst/>
                <a:uLnTx/>
                <a:uFillTx/>
                <a:latin typeface="+mn-lt"/>
                <a:ea typeface="+mn-ea"/>
                <a:cs typeface="+mn-cs"/>
              </a:rPr>
              <a:t>be  more than the proportionate decrease in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revenue</a:t>
            </a:r>
            <a:r>
              <a:rPr kumimoji="0" lang="en-US" sz="3200" b="0" i="0" u="none" strike="noStrike" kern="1200" cap="none" spc="0" normalizeH="0" baseline="0" noProof="0" dirty="0">
                <a:ln>
                  <a:noFill/>
                </a:ln>
                <a:solidFill>
                  <a:schemeClr val="tx1"/>
                </a:solidFill>
                <a:effectLst/>
                <a:uLnTx/>
                <a:uFillTx/>
                <a:latin typeface="+mn-lt"/>
                <a:ea typeface="+mn-ea"/>
                <a:cs typeface="+mn-cs"/>
              </a:rPr>
              <a:t>. Hence, there will be a net increase in the productivity ratio.</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89778"/>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533400"/>
            <a:ext cx="8229600" cy="5943600"/>
          </a:xfrm>
        </p:spPr>
        <p:txBody>
          <a:bodyPr vert="horz" wrap="square" lIns="91440" tIns="45720" rIns="91440" bIns="45720" numCol="1" rtlCol="0" anchor="t" anchorCtr="0" compatLnSpc="1">
            <a:normAutofit fontScale="85000" lnSpcReduction="20000"/>
          </a:bodyPr>
          <a:lstStyle/>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sng" strike="noStrike" kern="1200" cap="none" spc="0" normalizeH="0" baseline="0" noProof="0" dirty="0">
                <a:ln>
                  <a:noFill/>
                </a:ln>
                <a:solidFill>
                  <a:srgbClr val="FF0000"/>
                </a:solidFill>
                <a:effectLst/>
                <a:uLnTx/>
                <a:uFillTx/>
                <a:latin typeface="+mn-lt"/>
                <a:ea typeface="+mn-ea"/>
                <a:cs typeface="+mn-cs"/>
              </a:rPr>
              <a:t>Through simultaneous increase in the output with decrease in the input</a:t>
            </a:r>
            <a:r>
              <a:rPr kumimoji="0" lang="en-US" sz="3200" b="0" i="0" u="sng" strike="noStrike" kern="1200" cap="none" spc="0" normalizeH="0" baseline="0" noProof="0" dirty="0" smtClean="0">
                <a:ln>
                  <a:noFill/>
                </a:ln>
                <a:solidFill>
                  <a:srgbClr val="FF0000"/>
                </a:solidFill>
                <a:effectLst/>
                <a:uLnTx/>
                <a:uFillTx/>
                <a:latin typeface="+mn-lt"/>
                <a:ea typeface="+mn-ea"/>
                <a:cs typeface="+mn-cs"/>
              </a:rPr>
              <a:t>.</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3200" b="0" i="0" u="none" strike="noStrike" kern="1200" cap="none" spc="0" normalizeH="0" baseline="0" noProof="0" dirty="0">
                <a:ln>
                  <a:noFill/>
                </a:ln>
                <a:solidFill>
                  <a:schemeClr val="tx1"/>
                </a:solidFill>
                <a:effectLst/>
                <a:uLnTx/>
                <a:uFillTx/>
                <a:latin typeface="+mn-lt"/>
                <a:ea typeface="+mn-ea"/>
                <a:cs typeface="+mn-cs"/>
              </a:rPr>
              <a:t>Let us assume that  there are advanced automated technologies like robots and automated guided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vehicle system     (AGVS), available in the market which can be employed in the organization we are interested in.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448310" marR="0" lvl="0" indent="-384175" algn="just" defTabSz="914400" rtl="0" eaLnBrk="1" fontAlgn="auto" latinLnBrk="0" hangingPunct="1">
              <a:lnSpc>
                <a:spcPct val="100000"/>
              </a:lnSpc>
              <a:spcBef>
                <a:spcPct val="20000"/>
              </a:spcBef>
              <a:spcAft>
                <a:spcPts val="0"/>
              </a:spcAft>
              <a:buClrTx/>
              <a:buSzTx/>
              <a:buFont typeface="Wingdings 2" panose="05020102010507070707"/>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If </a:t>
            </a:r>
            <a:r>
              <a:rPr kumimoji="0" lang="en-US" sz="3200" b="0" i="0" u="none" strike="noStrike" kern="1200" cap="none" spc="0" normalizeH="0" baseline="0" noProof="0" dirty="0">
                <a:ln>
                  <a:noFill/>
                </a:ln>
                <a:solidFill>
                  <a:schemeClr val="tx1"/>
                </a:solidFill>
                <a:effectLst/>
                <a:uLnTx/>
                <a:uFillTx/>
                <a:latin typeface="+mn-lt"/>
                <a:ea typeface="+mn-ea"/>
                <a:cs typeface="+mn-cs"/>
              </a:rPr>
              <a:t>we employ these modern tools, then:</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There will be a drastic reduction in the operation cost. Initially, the cost on equipment would be very high. But, in the long run, the reduction in the operation cost would break-even the high initial investment and offer more savings on the input.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just"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These advanced facilities would help in producing more products because they do not experience fatigue. The increased production will yield more   revenue. In this example, in the long run, there is an increase in the revenue and a decrease in the input. Hence, the productivity ratio will increase at a faster rate.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448310" marR="0" lvl="0" indent="-384175" algn="l" defTabSz="914400" rtl="0" eaLnBrk="1" fontAlgn="auto" latinLnBrk="0" hangingPunct="1">
              <a:lnSpc>
                <a:spcPct val="100000"/>
              </a:lnSpc>
              <a:spcBef>
                <a:spcPct val="20000"/>
              </a:spcBef>
              <a:spcAft>
                <a:spcPts val="0"/>
              </a:spcAft>
              <a:buClrTx/>
              <a:buSzTx/>
              <a:buFont typeface="Wingdings 2" panose="05020102010507070707"/>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91578"/>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1" i="0" u="none" strike="noStrike" kern="1200" cap="none" spc="0" normalizeH="0" baseline="0" noProof="0" dirty="0">
                <a:ln>
                  <a:noFill/>
                </a:ln>
                <a:solidFill>
                  <a:schemeClr val="accent1">
                    <a:tint val="83000"/>
                    <a:satMod val="150000"/>
                  </a:schemeClr>
                </a:solidFill>
                <a:effectLst/>
                <a:uLnTx/>
                <a:uFillTx/>
                <a:latin typeface="+mj-lt"/>
                <a:ea typeface="+mj-ea"/>
                <a:cs typeface="+mj-cs"/>
              </a:rPr>
              <a:t>Definition and Scope of </a:t>
            </a:r>
            <a:r>
              <a:rPr kumimoji="0" lang="en-US" sz="4400" b="1" i="0" u="none" strike="noStrike" kern="1200" cap="none" spc="0" normalizeH="0" baseline="0" noProof="0" dirty="0" smtClean="0">
                <a:ln>
                  <a:noFill/>
                </a:ln>
                <a:solidFill>
                  <a:schemeClr val="accent1">
                    <a:tint val="83000"/>
                    <a:satMod val="150000"/>
                  </a:schemeClr>
                </a:solidFill>
                <a:effectLst/>
                <a:uLnTx/>
                <a:uFillTx/>
                <a:latin typeface="+mj-lt"/>
                <a:ea typeface="+mj-ea"/>
                <a:cs typeface="+mj-cs"/>
              </a:rPr>
              <a:t>Engineering Economics</a:t>
            </a:r>
            <a:endParaRPr kumimoji="0" lang="en-US" sz="4400" b="0" i="0" u="none" strike="noStrike" kern="1200" cap="none" spc="0" normalizeH="0" baseline="0" noProof="0" dirty="0">
              <a:ln>
                <a:noFill/>
              </a:ln>
              <a:solidFill>
                <a:schemeClr val="accent1">
                  <a:tint val="83000"/>
                  <a:satMod val="150000"/>
                </a:schemeClr>
              </a:solidFill>
              <a:effectLst/>
              <a:uLnTx/>
              <a:uFillTx/>
              <a:latin typeface="+mj-lt"/>
              <a:ea typeface="+mj-ea"/>
              <a:cs typeface="+mj-cs"/>
            </a:endParaRPr>
          </a:p>
        </p:txBody>
      </p:sp>
      <p:sp>
        <p:nvSpPr>
          <p:cNvPr id="88067" name="Content Placeholder 2"/>
          <p:cNvSpPr>
            <a:spLocks noGrp="1"/>
          </p:cNvSpPr>
          <p:nvPr>
            <p:ph idx="1"/>
          </p:nvPr>
        </p:nvSpPr>
        <p:spPr>
          <a:xfrm>
            <a:off x="457200" y="1905000"/>
            <a:ext cx="8229600" cy="4572000"/>
          </a:xfrm>
        </p:spPr>
        <p:txBody>
          <a:bodyPr vert="horz" wrap="square" lIns="91440" tIns="45720" rIns="91440" bIns="45720" numCol="1" rtlCol="0" anchor="t" anchorCtr="0" compatLnSpc="1">
            <a:normAutofit/>
          </a:bodyPr>
          <a:lstStyle/>
          <a:p>
            <a:pPr marL="0" marR="0" lvl="0" indent="0" algn="just" defTabSz="914400" rtl="0" eaLnBrk="1" fontAlgn="auto" latinLnBrk="0" hangingPunct="1">
              <a:lnSpc>
                <a:spcPct val="100000"/>
              </a:lnSpc>
              <a:spcBef>
                <a:spcPct val="20000"/>
              </a:spcBef>
              <a:spcAft>
                <a:spcPts val="0"/>
              </a:spcAft>
              <a:buClrTx/>
              <a:buSzTx/>
              <a:buFont typeface="Wingdings 2" panose="05020102010507070707" pitchFamily="18" charset="2"/>
              <a:buNone/>
              <a:defRPr/>
            </a:pPr>
            <a:r>
              <a:rPr kumimoji="0" lang="en-US" sz="3200" b="1" i="0" u="none" strike="noStrike" kern="1200" cap="none" spc="0" normalizeH="0" baseline="0" noProof="0" dirty="0" smtClean="0">
                <a:ln>
                  <a:noFill/>
                </a:ln>
                <a:solidFill>
                  <a:schemeClr val="accent1">
                    <a:tint val="83000"/>
                    <a:satMod val="150000"/>
                  </a:schemeClr>
                </a:solidFill>
                <a:effectLst/>
                <a:uLnTx/>
                <a:uFillTx/>
                <a:latin typeface="+mn-lt"/>
                <a:ea typeface="+mn-ea"/>
                <a:cs typeface="+mn-cs"/>
              </a:rPr>
              <a:t>Definition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pitchFamily="18" charset="2"/>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Engineering economics deals with the methods that enable one to take economic decisions towards minimizing costs and/or maximizing benefits to business organizations.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Wingdings 2" panose="05020102010507070707" pitchFamily="18" charset="2"/>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br>
              <a:rPr kumimoji="0" lang="en-US" sz="3200" b="0" i="0" u="none" strike="noStrike" kern="1200" cap="none" spc="0" normalizeH="0" baseline="0" noProof="0" dirty="0" smtClean="0">
                <a:ln>
                  <a:noFill/>
                </a:ln>
                <a:solidFill>
                  <a:schemeClr val="tx1"/>
                </a:solidFill>
                <a:effectLst/>
                <a:uLnTx/>
                <a:uFillTx/>
                <a:latin typeface="+mn-lt"/>
                <a:ea typeface="+mn-ea"/>
                <a:cs typeface="+mn-cs"/>
              </a:rPr>
            </a:b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Tm="26088"/>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a:bodyPr>
          <a:lstStyle/>
          <a:p>
            <a:pPr marL="484505" marR="0" lvl="0" indent="0" algn="ctr" defTabSz="914400" rtl="0" eaLnBrk="1" fontAlgn="auto" latinLnBrk="0" hangingPunct="1">
              <a:lnSpc>
                <a:spcPct val="100000"/>
              </a:lnSpc>
              <a:spcBef>
                <a:spcPct val="0"/>
              </a:spcBef>
              <a:spcAft>
                <a:spcPts val="0"/>
              </a:spcAft>
              <a:buClrTx/>
              <a:buSzTx/>
              <a:buFontTx/>
              <a:buNone/>
              <a:defRPr/>
            </a:pPr>
            <a:r>
              <a:rPr kumimoji="0" lang="en-US" sz="4400" b="1" i="0" u="none" strike="noStrike" kern="1200" cap="none" spc="0" normalizeH="0" baseline="0" noProof="0" dirty="0">
                <a:ln>
                  <a:noFill/>
                </a:ln>
                <a:solidFill>
                  <a:schemeClr val="accent1">
                    <a:tint val="83000"/>
                    <a:satMod val="150000"/>
                  </a:schemeClr>
                </a:solidFill>
                <a:effectLst/>
                <a:uLnTx/>
                <a:uFillTx/>
                <a:latin typeface="+mj-lt"/>
                <a:ea typeface="+mj-ea"/>
                <a:cs typeface="+mj-cs"/>
              </a:rPr>
              <a:t>Scope</a:t>
            </a:r>
            <a:endParaRPr kumimoji="0" lang="en-US" sz="4400" b="0" i="0" u="none" strike="noStrike" kern="1200" cap="none" spc="0" normalizeH="0" baseline="0" noProof="0" dirty="0">
              <a:ln>
                <a:noFill/>
              </a:ln>
              <a:solidFill>
                <a:schemeClr val="accent1">
                  <a:tint val="83000"/>
                  <a:satMod val="150000"/>
                </a:schemeClr>
              </a:solidFill>
              <a:effectLst/>
              <a:uLnTx/>
              <a:uFillTx/>
              <a:latin typeface="+mj-lt"/>
              <a:ea typeface="+mj-ea"/>
              <a:cs typeface="+mj-cs"/>
            </a:endParaRPr>
          </a:p>
        </p:txBody>
      </p:sp>
      <p:sp>
        <p:nvSpPr>
          <p:cNvPr id="3" name="Content Placeholder 2"/>
          <p:cNvSpPr>
            <a:spLocks noGrp="1"/>
          </p:cNvSpPr>
          <p:nvPr>
            <p:ph idx="1"/>
          </p:nvPr>
        </p:nvSpPr>
        <p:spPr>
          <a:xfrm>
            <a:off x="457200" y="1882775"/>
            <a:ext cx="8229600" cy="4572000"/>
          </a:xfrm>
        </p:spPr>
        <p:txBody>
          <a:bodyPr vert="horz" wrap="square" lIns="91440" tIns="45720" rIns="91440" bIns="45720" numCol="1" rtlCol="0" anchor="t" anchorCtr="0" compatLnSpc="1">
            <a:normAutofit fontScale="77500" lnSpcReduction="20000"/>
          </a:bodyPr>
          <a:lstStyle/>
          <a:p>
            <a:pPr marL="0" marR="0" lvl="0" indent="0" algn="l" defTabSz="914400" rtl="0" eaLnBrk="1" fontAlgn="auto" latinLnBrk="0" hangingPunct="1">
              <a:lnSpc>
                <a:spcPct val="100000"/>
              </a:lnSpc>
              <a:spcBef>
                <a:spcPct val="20000"/>
              </a:spcBef>
              <a:spcAft>
                <a:spcPts val="0"/>
              </a:spcAft>
              <a:buClrTx/>
              <a:buSzTx/>
              <a:buFont typeface="Wingdings 2" panose="05020102010507070707"/>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3200" b="0" i="0" u="none" strike="noStrike" kern="1200" cap="none" spc="0" normalizeH="0" baseline="0" noProof="0" dirty="0">
                <a:ln>
                  <a:noFill/>
                </a:ln>
                <a:solidFill>
                  <a:schemeClr val="tx1"/>
                </a:solidFill>
                <a:effectLst/>
                <a:uLnTx/>
                <a:uFillTx/>
                <a:latin typeface="+mn-lt"/>
                <a:ea typeface="+mn-ea"/>
                <a:cs typeface="+mn-cs"/>
              </a:rPr>
              <a:t>issues that are covered in this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course are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elementary </a:t>
            </a:r>
            <a:r>
              <a:rPr kumimoji="0" lang="en-US" sz="2800" b="0" i="0" u="none" strike="noStrike" kern="1200" cap="none" spc="0" normalizeH="0" baseline="0" noProof="0" dirty="0">
                <a:ln>
                  <a:noFill/>
                </a:ln>
                <a:solidFill>
                  <a:schemeClr val="tx1"/>
                </a:solidFill>
                <a:effectLst/>
                <a:uLnTx/>
                <a:uFillTx/>
                <a:latin typeface="+mn-lt"/>
                <a:ea typeface="+mn-ea"/>
                <a:cs typeface="+mn-cs"/>
              </a:rPr>
              <a:t>economic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analysis,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interest </a:t>
            </a:r>
            <a:r>
              <a:rPr kumimoji="0" lang="en-US" sz="2800" b="0" i="0" u="none" strike="noStrike" kern="1200" cap="none" spc="0" normalizeH="0" baseline="0" noProof="0" dirty="0">
                <a:ln>
                  <a:noFill/>
                </a:ln>
                <a:solidFill>
                  <a:schemeClr val="tx1"/>
                </a:solidFill>
                <a:effectLst/>
                <a:uLnTx/>
                <a:uFillTx/>
                <a:latin typeface="+mn-lt"/>
                <a:ea typeface="+mn-ea"/>
                <a:cs typeface="+mn-cs"/>
              </a:rPr>
              <a:t>formulae,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bases </a:t>
            </a:r>
            <a:r>
              <a:rPr kumimoji="0" lang="en-US" sz="2800" b="0" i="0" u="none" strike="noStrike" kern="1200" cap="none" spc="0" normalizeH="0" baseline="0" noProof="0" dirty="0">
                <a:ln>
                  <a:noFill/>
                </a:ln>
                <a:solidFill>
                  <a:schemeClr val="tx1"/>
                </a:solidFill>
                <a:effectLst/>
                <a:uLnTx/>
                <a:uFillTx/>
                <a:latin typeface="+mn-lt"/>
                <a:ea typeface="+mn-ea"/>
                <a:cs typeface="+mn-cs"/>
              </a:rPr>
              <a:t>for comparing alternatives,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present </a:t>
            </a:r>
            <a:r>
              <a:rPr kumimoji="0" lang="en-US" sz="2800" b="0" i="0" u="none" strike="noStrike" kern="1200" cap="none" spc="0" normalizeH="0" baseline="0" noProof="0" dirty="0">
                <a:ln>
                  <a:noFill/>
                </a:ln>
                <a:solidFill>
                  <a:schemeClr val="tx1"/>
                </a:solidFill>
                <a:effectLst/>
                <a:uLnTx/>
                <a:uFillTx/>
                <a:latin typeface="+mn-lt"/>
                <a:ea typeface="+mn-ea"/>
                <a:cs typeface="+mn-cs"/>
              </a:rPr>
              <a:t>worth method,</a:t>
            </a:r>
            <a:br>
              <a:rPr kumimoji="0" lang="en-US" sz="2800" b="0" i="0" u="none" strike="noStrike" kern="1200" cap="none" spc="0" normalizeH="0" baseline="0" noProof="0" dirty="0">
                <a:ln>
                  <a:noFill/>
                </a:ln>
                <a:solidFill>
                  <a:schemeClr val="tx1"/>
                </a:solidFill>
                <a:effectLst/>
                <a:uLnTx/>
                <a:uFillTx/>
                <a:latin typeface="+mn-lt"/>
                <a:ea typeface="+mn-ea"/>
                <a:cs typeface="+mn-cs"/>
              </a:rPr>
            </a:br>
            <a:r>
              <a:rPr kumimoji="0" lang="en-US" sz="2800" b="0" i="0" u="none" strike="noStrike" kern="1200" cap="none" spc="0" normalizeH="0" baseline="0" noProof="0" dirty="0">
                <a:ln>
                  <a:noFill/>
                </a:ln>
                <a:solidFill>
                  <a:schemeClr val="tx1"/>
                </a:solidFill>
                <a:effectLst/>
                <a:uLnTx/>
                <a:uFillTx/>
                <a:latin typeface="+mn-lt"/>
                <a:ea typeface="+mn-ea"/>
                <a:cs typeface="+mn-cs"/>
              </a:rPr>
              <a:t>future worth method,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annual </a:t>
            </a:r>
            <a:r>
              <a:rPr kumimoji="0" lang="en-US" sz="2800" b="0" i="0" u="none" strike="noStrike" kern="1200" cap="none" spc="0" normalizeH="0" baseline="0" noProof="0" dirty="0">
                <a:ln>
                  <a:noFill/>
                </a:ln>
                <a:solidFill>
                  <a:schemeClr val="tx1"/>
                </a:solidFill>
                <a:effectLst/>
                <a:uLnTx/>
                <a:uFillTx/>
                <a:latin typeface="+mn-lt"/>
                <a:ea typeface="+mn-ea"/>
                <a:cs typeface="+mn-cs"/>
              </a:rPr>
              <a:t>equivalent method,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rate </a:t>
            </a:r>
            <a:r>
              <a:rPr kumimoji="0" lang="en-US" sz="2800" b="0" i="0" u="none" strike="noStrike" kern="1200" cap="none" spc="0" normalizeH="0" baseline="0" noProof="0" dirty="0">
                <a:ln>
                  <a:noFill/>
                </a:ln>
                <a:solidFill>
                  <a:schemeClr val="tx1"/>
                </a:solidFill>
                <a:effectLst/>
                <a:uLnTx/>
                <a:uFillTx/>
                <a:latin typeface="+mn-lt"/>
                <a:ea typeface="+mn-ea"/>
                <a:cs typeface="+mn-cs"/>
              </a:rPr>
              <a:t>of return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method,</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replacement </a:t>
            </a:r>
            <a:r>
              <a:rPr kumimoji="0" lang="en-US" sz="2800" b="0" i="0" u="none" strike="noStrike" kern="1200" cap="none" spc="0" normalizeH="0" baseline="0" noProof="0" dirty="0">
                <a:ln>
                  <a:noFill/>
                </a:ln>
                <a:solidFill>
                  <a:schemeClr val="tx1"/>
                </a:solidFill>
                <a:effectLst/>
                <a:uLnTx/>
                <a:uFillTx/>
                <a:latin typeface="+mn-lt"/>
                <a:ea typeface="+mn-ea"/>
                <a:cs typeface="+mn-cs"/>
              </a:rPr>
              <a:t>analysis,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depreciation</a:t>
            </a:r>
            <a:r>
              <a:rPr kumimoji="0" lang="en-US" sz="2800" b="0" i="0" u="none" strike="noStrike" kern="1200" cap="none" spc="0" normalizeH="0" baseline="0" noProof="0" dirty="0">
                <a:ln>
                  <a:noFill/>
                </a:ln>
                <a:solidFill>
                  <a:schemeClr val="tx1"/>
                </a:solidFill>
                <a:effectLst/>
                <a:uLnTx/>
                <a:uFillTx/>
                <a:latin typeface="+mn-lt"/>
                <a:ea typeface="+mn-ea"/>
                <a:cs typeface="+mn-cs"/>
              </a:rPr>
              <a:t>,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Inflation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822960" marR="0" lvl="1" indent="-285750" algn="l" defTabSz="914400" rtl="0" eaLnBrk="1" fontAlgn="auto" latinLnBrk="0" hangingPunct="1">
              <a:lnSpc>
                <a:spcPct val="100000"/>
              </a:lnSpc>
              <a:spcBef>
                <a:spcPct val="20000"/>
              </a:spcBef>
              <a:spcAft>
                <a:spcPts val="0"/>
              </a:spcAft>
              <a:buClrTx/>
              <a:buSzTx/>
              <a:buFont typeface="Verdana" panose="020B0604030504040204"/>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inventory </a:t>
            </a:r>
            <a:r>
              <a:rPr kumimoji="0" lang="en-US" sz="2800" b="0" i="0" u="none" strike="noStrike" kern="1200" cap="none" spc="0" normalizeH="0" baseline="0" noProof="0" dirty="0">
                <a:ln>
                  <a:noFill/>
                </a:ln>
                <a:solidFill>
                  <a:schemeClr val="tx1"/>
                </a:solidFill>
                <a:effectLst/>
                <a:uLnTx/>
                <a:uFillTx/>
                <a:latin typeface="+mn-lt"/>
                <a:ea typeface="+mn-ea"/>
                <a:cs typeface="+mn-cs"/>
              </a:rPr>
              <a:t>control</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etc. </a:t>
            </a:r>
            <a:br>
              <a:rPr kumimoji="0" lang="en-US" sz="2800" b="0" i="0" u="none" strike="noStrike" kern="1200" cap="none" spc="0" normalizeH="0" baseline="0" noProof="0" dirty="0">
                <a:ln>
                  <a:noFill/>
                </a:ln>
                <a:solidFill>
                  <a:schemeClr val="tx1"/>
                </a:solidFill>
                <a:effectLst/>
                <a:uLnTx/>
                <a:uFillTx/>
                <a:latin typeface="+mn-lt"/>
                <a:ea typeface="+mn-ea"/>
                <a:cs typeface="+mn-cs"/>
              </a:rPr>
            </a:b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Tm="44678"/>
</p:sld>
</file>

<file path=ppt/tags/tag1.xml><?xml version="1.0" encoding="utf-8"?>
<p:tagLst xmlns:p="http://schemas.openxmlformats.org/presentationml/2006/main">
  <p:tag name="TIMING" val="|19.8|6.7|9.4|12.5"/>
</p:tagLst>
</file>

<file path=ppt/tags/tag2.xml><?xml version="1.0" encoding="utf-8"?>
<p:tagLst xmlns:p="http://schemas.openxmlformats.org/presentationml/2006/main">
  <p:tag name="TIMING" val="|13|16.9|35.4|9.8"/>
</p:tagLst>
</file>

<file path=ppt/tags/tag3.xml><?xml version="1.0" encoding="utf-8"?>
<p:tagLst xmlns:p="http://schemas.openxmlformats.org/presentationml/2006/main">
  <p:tag name="TIMING" val="|32.7|21.1"/>
</p:tagLst>
</file>

<file path=ppt/tags/tag4.xml><?xml version="1.0" encoding="utf-8"?>
<p:tagLst xmlns:p="http://schemas.openxmlformats.org/presentationml/2006/main">
  <p:tag name="TIMING" val="|1.7|4.9|11.9"/>
</p:tagLst>
</file>

<file path=ppt/tags/tag5.xml><?xml version="1.0" encoding="utf-8"?>
<p:tagLst xmlns:p="http://schemas.openxmlformats.org/presentationml/2006/main">
  <p:tag name="TIMING" val="|2|5.8"/>
</p:tagLst>
</file>

<file path=ppt/tags/tag6.xml><?xml version="1.0" encoding="utf-8"?>
<p:tagLst xmlns:p="http://schemas.openxmlformats.org/presentationml/2006/main">
  <p:tag name="TIMING" val="|2.3|7.5|11.9"/>
</p:tagLst>
</file>

<file path=ppt/tags/tag7.xml><?xml version="1.0" encoding="utf-8"?>
<p:tagLst xmlns:p="http://schemas.openxmlformats.org/presentationml/2006/main">
  <p:tag name="TIMING" val="|31.3|5.1|5.2|7.6|22.3|14.2"/>
</p:tagLst>
</file>

<file path=ppt/tags/tag8.xml><?xml version="1.0" encoding="utf-8"?>
<p:tagLst xmlns:p="http://schemas.openxmlformats.org/presentationml/2006/main">
  <p:tag name="TIMING" val="|5.1|6.1|36.7|8.3|10.8"/>
</p:tagLst>
</file>

<file path=ppt/tags/tag9.xml><?xml version="1.0" encoding="utf-8"?>
<p:tagLst xmlns:p="http://schemas.openxmlformats.org/presentationml/2006/main">
  <p:tag name="TIMING" val="|1.2|1.9|40.2|6.8|1.7"/>
</p:tagLst>
</file>

<file path=ppt/tags/tag10.xml><?xml version="1.0" encoding="utf-8"?>
<p:tagLst xmlns:p="http://schemas.openxmlformats.org/presentationml/2006/main">
  <p:tag name="TIMING" val="|14.7|20.4|11.9|14.3|5.4|4.5"/>
</p:tagLst>
</file>

<file path=ppt/tags/tag11.xml><?xml version="1.0" encoding="utf-8"?>
<p:tagLst xmlns:p="http://schemas.openxmlformats.org/presentationml/2006/main">
  <p:tag name="TIMING" val="|10|5.1|6.1|5.4|6.2|6.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15885</Words>
  <Application>WPS Presentation</Application>
  <PresentationFormat/>
  <Paragraphs>474</Paragraphs>
  <Slides>70</Slides>
  <Notes>6</Notes>
  <HiddenSlides>0</HiddenSlides>
  <MMClips>20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70</vt:i4>
      </vt:variant>
    </vt:vector>
  </HeadingPairs>
  <TitlesOfParts>
    <vt:vector size="85" baseType="lpstr">
      <vt:lpstr>Arial</vt:lpstr>
      <vt:lpstr>SimSun</vt:lpstr>
      <vt:lpstr>Wingdings</vt:lpstr>
      <vt:lpstr>Calibri</vt:lpstr>
      <vt:lpstr>Times New Roman</vt:lpstr>
      <vt:lpstr>Calibri</vt:lpstr>
      <vt:lpstr>Times New Roman</vt:lpstr>
      <vt:lpstr>Lucida Sans</vt:lpstr>
      <vt:lpstr>Wingdings 2</vt:lpstr>
      <vt:lpstr>Microsoft YaHei</vt:lpstr>
      <vt:lpstr>Arial Unicode MS</vt:lpstr>
      <vt:lpstr>Wingdings 2</vt:lpstr>
      <vt:lpstr>Comic Sans MS</vt:lpstr>
      <vt:lpstr>Verdana</vt:lpstr>
      <vt:lpstr>Office Theme</vt:lpstr>
      <vt:lpstr>Introduction </vt:lpstr>
      <vt:lpstr>PowerPoint 演示文稿</vt:lpstr>
      <vt:lpstr>PowerPoint 演示文稿</vt:lpstr>
      <vt:lpstr>Reference Books </vt:lpstr>
      <vt:lpstr>WHAT IS ECONOMICS?</vt:lpstr>
      <vt:lpstr>Needs and Wants</vt:lpstr>
      <vt:lpstr>Economic Questions</vt:lpstr>
      <vt:lpstr>Economics </vt:lpstr>
      <vt:lpstr>Definition of Economics </vt:lpstr>
      <vt:lpstr>PRODUCTION, cont.</vt:lpstr>
      <vt:lpstr>Factors of Production</vt:lpstr>
      <vt:lpstr>4 Factors of Production</vt:lpstr>
      <vt:lpstr>Production Process</vt:lpstr>
      <vt:lpstr>Consumption </vt:lpstr>
      <vt:lpstr>Distribution </vt:lpstr>
      <vt:lpstr>Exchange of wealth</vt:lpstr>
      <vt:lpstr>So, we can say that</vt:lpstr>
      <vt:lpstr>Flow in an Economy 2 Sector Economy </vt:lpstr>
      <vt:lpstr>Flow in an Economy 3 Sector Economy  </vt:lpstr>
      <vt:lpstr>Micro Economics </vt:lpstr>
      <vt:lpstr>PowerPoint 演示文稿</vt:lpstr>
      <vt:lpstr>Macro Economics </vt:lpstr>
      <vt:lpstr>Demand </vt:lpstr>
      <vt:lpstr>PowerPoint 演示文稿</vt:lpstr>
      <vt:lpstr>PowerPoint 演示文稿</vt:lpstr>
      <vt:lpstr>Types of demand </vt:lpstr>
      <vt:lpstr>Price demand</vt:lpstr>
      <vt:lpstr>Income demand </vt:lpstr>
      <vt:lpstr>Cross demand </vt:lpstr>
      <vt:lpstr>Law of demand </vt:lpstr>
      <vt:lpstr>PowerPoint 演示文稿</vt:lpstr>
      <vt:lpstr>Factors influencing demand </vt:lpstr>
      <vt:lpstr>Assumptions of law of demand </vt:lpstr>
      <vt:lpstr>Limitation </vt:lpstr>
      <vt:lpstr>   It is positively sloped as  Price ↑ than quantity of demand ↑ Price ↓ than quantity of demand ↓ </vt:lpstr>
      <vt:lpstr>PowerPoint 演示文稿</vt:lpstr>
      <vt:lpstr>A movement in Demand curve Versus a shift of Demand curve</vt:lpstr>
      <vt:lpstr>SUPPLY</vt:lpstr>
      <vt:lpstr>THE LAW OF SUPPLY</vt:lpstr>
      <vt:lpstr>The Supply Curve</vt:lpstr>
      <vt:lpstr>A Simple Supply Curve</vt:lpstr>
      <vt:lpstr>Assumptions </vt:lpstr>
      <vt:lpstr>Limitations </vt:lpstr>
      <vt:lpstr>FACTORS DETERMINING SUPPLY</vt:lpstr>
      <vt:lpstr>CHANGE IN QUANTITY SUPPLIED (MOVEMENT): Expansion or Contraction of supply</vt:lpstr>
      <vt:lpstr> </vt:lpstr>
      <vt:lpstr>  </vt:lpstr>
      <vt:lpstr>CHANGE IN SUPPLY (SHIFT): Increase or Decrease in Supply</vt:lpstr>
      <vt:lpstr> </vt:lpstr>
      <vt:lpstr> </vt:lpstr>
      <vt:lpstr> </vt:lpstr>
      <vt:lpstr> </vt:lpstr>
      <vt:lpstr> </vt:lpstr>
      <vt:lpstr>Market Equilibrium</vt:lpstr>
      <vt:lpstr>Market Equilibrium</vt:lpstr>
      <vt:lpstr>Market Disequilibria</vt:lpstr>
      <vt:lpstr>Market Disequilibria</vt:lpstr>
      <vt:lpstr>Increases in Demand and Supply</vt:lpstr>
      <vt:lpstr>Decreases in Demand and Supply</vt:lpstr>
      <vt:lpstr>Efficiency </vt:lpstr>
      <vt:lpstr>Types of Efficiency </vt:lpstr>
      <vt:lpstr>Technical efficiency</vt:lpstr>
      <vt:lpstr>Economic efficiency</vt:lpstr>
      <vt:lpstr>How to improve economic efficiency? </vt:lpstr>
      <vt:lpstr>PowerPoint 演示文稿</vt:lpstr>
      <vt:lpstr>PowerPoint 演示文稿</vt:lpstr>
      <vt:lpstr>PowerPoint 演示文稿</vt:lpstr>
      <vt:lpstr>PowerPoint 演示文稿</vt:lpstr>
      <vt:lpstr>Definition and Scope of Engineering Economics</vt:lpstr>
      <vt:lpstr>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85</cp:revision>
  <dcterms:created xsi:type="dcterms:W3CDTF">2016-12-08T14:29:00Z</dcterms:created>
  <dcterms:modified xsi:type="dcterms:W3CDTF">2025-09-01T05:06:37Z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47A8DC6CF6C342FFA6BCEE925A39566D_13</vt:lpwstr>
  </property>
  <property fmtid="{D5CDD505-2E9C-101B-9397-08002B2CF9AE}" pid="3" name="KSOProductBuildVer">
    <vt:lpwstr>1033-12.2.0.21931</vt:lpwstr>
  </property>
</Properties>
</file>