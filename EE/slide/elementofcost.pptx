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xls" ContentType="application/vnd.ms-excel"/>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3"/>
    <p:sldId id="257" r:id="rId4"/>
    <p:sldId id="258" r:id="rId5"/>
    <p:sldId id="303" r:id="rId6"/>
    <p:sldId id="304" r:id="rId7"/>
    <p:sldId id="261" r:id="rId8"/>
    <p:sldId id="284" r:id="rId9"/>
    <p:sldId id="285" r:id="rId10"/>
    <p:sldId id="286" r:id="rId11"/>
    <p:sldId id="262" r:id="rId12"/>
    <p:sldId id="263" r:id="rId13"/>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87" r:id="rId28"/>
    <p:sldId id="293" r:id="rId29"/>
    <p:sldId id="277" r:id="rId30"/>
    <p:sldId id="278" r:id="rId31"/>
    <p:sldId id="294" r:id="rId32"/>
    <p:sldId id="279" r:id="rId33"/>
    <p:sldId id="298" r:id="rId34"/>
    <p:sldId id="299" r:id="rId35"/>
    <p:sldId id="297" r:id="rId36"/>
    <p:sldId id="288" r:id="rId37"/>
    <p:sldId id="295" r:id="rId38"/>
    <p:sldId id="280" r:id="rId39"/>
    <p:sldId id="301" r:id="rId40"/>
    <p:sldId id="281" r:id="rId41"/>
    <p:sldId id="302" r:id="rId42"/>
    <p:sldId id="282" r:id="rId43"/>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sorterViewPr showFormatting="0">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notesMaster" Target="notesMasters/notesMaster1.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7.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8.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white">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1DE31B8-12AF-483A-A568-46BCECCA5B73}" type="datetimeFigureOut">
              <a:rPr kumimoji="0" lang="en-US" sz="1200" b="0" i="0" u="none" strike="noStrike" kern="1200" cap="none" spc="0" normalizeH="0" baseline="0" noProof="0">
                <a:ln>
                  <a:noFill/>
                </a:ln>
                <a:solidFill>
                  <a:schemeClr val="tx1"/>
                </a:solidFill>
                <a:effectLst/>
                <a:uLnTx/>
                <a:uFillTx/>
                <a:latin typeface="+mn-lt"/>
                <a:ea typeface="+mn-ea"/>
                <a:cs typeface="+mn-cs"/>
              </a:rPr>
            </a:fld>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smtClean="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p>
            <a:pPr lvl="0" algn="r" eaLnBrk="1" hangingPunct="1">
              <a:buNone/>
            </a:pPr>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Slide Image Placeholder 1"/>
          <p:cNvSpPr>
            <a:spLocks noGrp="1" noRot="1" noChangeAspect="1" noTextEdit="1"/>
          </p:cNvSpPr>
          <p:nvPr>
            <p:ph type="sldImg"/>
          </p:nvPr>
        </p:nvSpPr>
        <p:spPr>
          <a:ln>
            <a:solidFill>
              <a:srgbClr val="000000">
                <a:alpha val="100000"/>
              </a:srgbClr>
            </a:solidFill>
            <a:miter lim="800000"/>
          </a:ln>
        </p:spPr>
      </p:sp>
      <p:sp>
        <p:nvSpPr>
          <p:cNvPr id="5529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Introduction:  </a:t>
            </a:r>
            <a:endParaRPr dirty="0"/>
          </a:p>
          <a:p>
            <a:pPr lvl="0" eaLnBrk="1" hangingPunct="1">
              <a:spcBef>
                <a:spcPct val="0"/>
              </a:spcBef>
            </a:pPr>
            <a:r>
              <a:rPr dirty="0"/>
              <a:t>What is breakeven?</a:t>
            </a:r>
            <a:endParaRPr dirty="0"/>
          </a:p>
          <a:p>
            <a:pPr lvl="0" eaLnBrk="1" hangingPunct="1">
              <a:spcBef>
                <a:spcPct val="0"/>
              </a:spcBef>
            </a:pPr>
            <a:r>
              <a:rPr dirty="0"/>
              <a:t>What is its purpose?  Why should we learn it?</a:t>
            </a:r>
            <a:endParaRPr dirty="0"/>
          </a:p>
        </p:txBody>
      </p:sp>
      <p:sp>
        <p:nvSpPr>
          <p:cNvPr id="4813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Slide Image Placeholder 1"/>
          <p:cNvSpPr>
            <a:spLocks noGrp="1" noRot="1" noChangeAspect="1" noTextEdit="1"/>
          </p:cNvSpPr>
          <p:nvPr>
            <p:ph type="sldImg"/>
          </p:nvPr>
        </p:nvSpPr>
        <p:spPr>
          <a:ln>
            <a:solidFill>
              <a:srgbClr val="000000">
                <a:alpha val="100000"/>
              </a:srgbClr>
            </a:solidFill>
            <a:miter lim="800000"/>
          </a:ln>
        </p:spPr>
      </p:sp>
      <p:sp>
        <p:nvSpPr>
          <p:cNvPr id="5632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a:t>
            </a:r>
            <a:endParaRPr dirty="0"/>
          </a:p>
          <a:p>
            <a:pPr lvl="0" eaLnBrk="1" hangingPunct="1">
              <a:spcBef>
                <a:spcPct val="0"/>
              </a:spcBef>
            </a:pPr>
            <a:r>
              <a:rPr dirty="0"/>
              <a:t>The breakeven equation is based on the income statement equation:  Revenues – Operating Costs = Profit</a:t>
            </a:r>
            <a:endParaRPr dirty="0"/>
          </a:p>
        </p:txBody>
      </p:sp>
      <p:sp>
        <p:nvSpPr>
          <p:cNvPr id="4915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Slide Image Placeholder 1"/>
          <p:cNvSpPr>
            <a:spLocks noGrp="1" noRot="1" noChangeAspect="1" noTextEdit="1"/>
          </p:cNvSpPr>
          <p:nvPr>
            <p:ph type="sldImg"/>
          </p:nvPr>
        </p:nvSpPr>
        <p:spPr>
          <a:ln>
            <a:solidFill>
              <a:srgbClr val="000000">
                <a:alpha val="100000"/>
              </a:srgbClr>
            </a:solidFill>
            <a:miter lim="800000"/>
          </a:ln>
        </p:spPr>
      </p:sp>
      <p:sp>
        <p:nvSpPr>
          <p:cNvPr id="5734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 (cont’d)</a:t>
            </a:r>
            <a:endParaRPr dirty="0"/>
          </a:p>
          <a:p>
            <a:pPr lvl="0" eaLnBrk="1" hangingPunct="1">
              <a:spcBef>
                <a:spcPct val="0"/>
              </a:spcBef>
            </a:pPr>
            <a:endParaRPr dirty="0"/>
          </a:p>
          <a:p>
            <a:pPr lvl="0" eaLnBrk="1" hangingPunct="1">
              <a:spcBef>
                <a:spcPct val="0"/>
              </a:spcBef>
            </a:pPr>
            <a:r>
              <a:rPr dirty="0"/>
              <a:t>Operating costs can be divided into two components:  Variable and Fixed</a:t>
            </a:r>
            <a:endParaRPr dirty="0"/>
          </a:p>
        </p:txBody>
      </p:sp>
      <p:sp>
        <p:nvSpPr>
          <p:cNvPr id="5018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Slide Image Placeholder 1"/>
          <p:cNvSpPr>
            <a:spLocks noGrp="1" noRot="1" noChangeAspect="1" noTextEdit="1"/>
          </p:cNvSpPr>
          <p:nvPr>
            <p:ph type="sldImg"/>
          </p:nvPr>
        </p:nvSpPr>
        <p:spPr>
          <a:ln>
            <a:solidFill>
              <a:srgbClr val="000000">
                <a:alpha val="100000"/>
              </a:srgbClr>
            </a:solidFill>
            <a:miter lim="800000"/>
          </a:ln>
        </p:spPr>
      </p:sp>
      <p:sp>
        <p:nvSpPr>
          <p:cNvPr id="5837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 (cont’d)</a:t>
            </a:r>
            <a:endParaRPr dirty="0"/>
          </a:p>
          <a:p>
            <a:pPr lvl="0" eaLnBrk="1" hangingPunct="1">
              <a:spcBef>
                <a:spcPct val="0"/>
              </a:spcBef>
            </a:pPr>
            <a:endParaRPr dirty="0"/>
          </a:p>
          <a:p>
            <a:pPr lvl="0" eaLnBrk="1" hangingPunct="1">
              <a:spcBef>
                <a:spcPct val="0"/>
              </a:spcBef>
            </a:pPr>
            <a:r>
              <a:rPr dirty="0"/>
              <a:t>Breakeven point is where profit equals zero, or </a:t>
            </a:r>
            <a:r>
              <a:rPr b="1" dirty="0"/>
              <a:t>Revenue – VC – FC = Profit.</a:t>
            </a:r>
            <a:endParaRPr b="1" dirty="0"/>
          </a:p>
          <a:p>
            <a:pPr lvl="0" eaLnBrk="1" hangingPunct="1">
              <a:spcBef>
                <a:spcPct val="0"/>
              </a:spcBef>
            </a:pPr>
            <a:r>
              <a:rPr b="1" dirty="0"/>
              <a:t>Memorization is not emphasized in this course, but if you want to memorize a formula, this is the one to memorize.  All breakeven formulas used in accounting textbooks are derived from this one equation.</a:t>
            </a:r>
            <a:endParaRPr b="1" dirty="0"/>
          </a:p>
          <a:p>
            <a:pPr lvl="0" eaLnBrk="1" hangingPunct="1">
              <a:spcBef>
                <a:spcPct val="0"/>
              </a:spcBef>
            </a:pPr>
            <a:r>
              <a:rPr dirty="0"/>
              <a:t>Breakeven Point is where Profit = 0 or Revenue – VC – FC = 0</a:t>
            </a:r>
            <a:endParaRPr dirty="0"/>
          </a:p>
          <a:p>
            <a:pPr lvl="0" eaLnBrk="1" hangingPunct="1">
              <a:spcBef>
                <a:spcPct val="0"/>
              </a:spcBef>
            </a:pPr>
            <a:r>
              <a:rPr dirty="0"/>
              <a:t>Another way of stating this is that Revenue = VC + FC</a:t>
            </a: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p:txBody>
      </p:sp>
      <p:sp>
        <p:nvSpPr>
          <p:cNvPr id="5120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Slide Image Placeholder 1"/>
          <p:cNvSpPr>
            <a:spLocks noGrp="1" noRot="1" noChangeAspect="1" noTextEdit="1"/>
          </p:cNvSpPr>
          <p:nvPr>
            <p:ph type="sldImg"/>
          </p:nvPr>
        </p:nvSpPr>
        <p:spPr>
          <a:ln>
            <a:solidFill>
              <a:srgbClr val="000000">
                <a:alpha val="100000"/>
              </a:srgbClr>
            </a:solidFill>
            <a:miter lim="800000"/>
          </a:ln>
        </p:spPr>
      </p:sp>
      <p:sp>
        <p:nvSpPr>
          <p:cNvPr id="5939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the key variables in the breakeven equation. (cont’d)</a:t>
            </a: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a:p>
            <a:pPr lvl="0" eaLnBrk="1" hangingPunct="1">
              <a:spcBef>
                <a:spcPct val="0"/>
              </a:spcBef>
            </a:pPr>
            <a:endParaRPr dirty="0"/>
          </a:p>
        </p:txBody>
      </p:sp>
      <p:sp>
        <p:nvSpPr>
          <p:cNvPr id="5222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Slide Image Placeholder 1"/>
          <p:cNvSpPr>
            <a:spLocks noGrp="1" noRot="1" noChangeAspect="1" noTextEdit="1"/>
          </p:cNvSpPr>
          <p:nvPr>
            <p:ph type="sldImg"/>
          </p:nvPr>
        </p:nvSpPr>
        <p:spPr>
          <a:ln>
            <a:solidFill>
              <a:srgbClr val="000000">
                <a:alpha val="100000"/>
              </a:srgbClr>
            </a:solidFill>
            <a:miter lim="800000"/>
          </a:ln>
        </p:spPr>
      </p:sp>
      <p:sp>
        <p:nvSpPr>
          <p:cNvPr id="6041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r>
              <a:rPr dirty="0"/>
              <a:t>The purple line represents revenue.  Revenue when zero units are sold is zero dollars.</a:t>
            </a:r>
            <a:endParaRPr dirty="0"/>
          </a:p>
        </p:txBody>
      </p:sp>
      <p:sp>
        <p:nvSpPr>
          <p:cNvPr id="5325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Slide Image Placeholder 1"/>
          <p:cNvSpPr>
            <a:spLocks noGrp="1" noRot="1" noChangeAspect="1" noTextEdit="1"/>
          </p:cNvSpPr>
          <p:nvPr>
            <p:ph type="sldImg"/>
          </p:nvPr>
        </p:nvSpPr>
        <p:spPr>
          <a:ln>
            <a:solidFill>
              <a:srgbClr val="000000">
                <a:alpha val="100000"/>
              </a:srgbClr>
            </a:solidFill>
            <a:miter lim="800000"/>
          </a:ln>
        </p:spPr>
      </p:sp>
      <p:sp>
        <p:nvSpPr>
          <p:cNvPr id="6144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red line represents variable cost.  VC when zero units are sold is zero dollars.</a:t>
            </a:r>
            <a:endParaRPr dirty="0"/>
          </a:p>
          <a:p>
            <a:pPr lvl="0" eaLnBrk="1" hangingPunct="1">
              <a:spcBef>
                <a:spcPct val="0"/>
              </a:spcBef>
            </a:pPr>
            <a:endParaRPr dirty="0"/>
          </a:p>
        </p:txBody>
      </p:sp>
      <p:sp>
        <p:nvSpPr>
          <p:cNvPr id="5427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Slide Image Placeholder 1"/>
          <p:cNvSpPr>
            <a:spLocks noGrp="1" noRot="1" noChangeAspect="1" noTextEdit="1"/>
          </p:cNvSpPr>
          <p:nvPr>
            <p:ph type="sldImg"/>
          </p:nvPr>
        </p:nvSpPr>
        <p:spPr>
          <a:ln>
            <a:solidFill>
              <a:srgbClr val="000000">
                <a:alpha val="100000"/>
              </a:srgbClr>
            </a:solidFill>
            <a:miter lim="800000"/>
          </a:ln>
        </p:spPr>
      </p:sp>
      <p:sp>
        <p:nvSpPr>
          <p:cNvPr id="6246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 (cont’d)</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blue line represents fixed cost.  FC, by definition, remains the same regardless of number of units sold</a:t>
            </a:r>
            <a:endParaRPr dirty="0"/>
          </a:p>
          <a:p>
            <a:pPr lvl="0" eaLnBrk="1" hangingPunct="1">
              <a:spcBef>
                <a:spcPct val="0"/>
              </a:spcBef>
            </a:pPr>
            <a:endParaRPr dirty="0"/>
          </a:p>
        </p:txBody>
      </p:sp>
      <p:sp>
        <p:nvSpPr>
          <p:cNvPr id="55300"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Slide Image Placeholder 1"/>
          <p:cNvSpPr>
            <a:spLocks noGrp="1" noRot="1" noChangeAspect="1" noTextEdit="1"/>
          </p:cNvSpPr>
          <p:nvPr>
            <p:ph type="sldImg"/>
          </p:nvPr>
        </p:nvSpPr>
        <p:spPr>
          <a:ln>
            <a:solidFill>
              <a:srgbClr val="000000">
                <a:alpha val="100000"/>
              </a:srgbClr>
            </a:solidFill>
            <a:miter lim="800000"/>
          </a:ln>
        </p:spPr>
      </p:sp>
      <p:sp>
        <p:nvSpPr>
          <p:cNvPr id="63491"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 (cont’d)</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green line represents total cost, which is the sum of VC and FC.</a:t>
            </a:r>
            <a:endParaRPr dirty="0"/>
          </a:p>
          <a:p>
            <a:pPr lvl="0" eaLnBrk="1" hangingPunct="1">
              <a:spcBef>
                <a:spcPct val="0"/>
              </a:spcBef>
            </a:pPr>
            <a:endParaRPr dirty="0"/>
          </a:p>
        </p:txBody>
      </p:sp>
      <p:sp>
        <p:nvSpPr>
          <p:cNvPr id="56324"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Slide Image Placeholder 1"/>
          <p:cNvSpPr>
            <a:spLocks noGrp="1" noRot="1" noChangeAspect="1" noTextEdit="1"/>
          </p:cNvSpPr>
          <p:nvPr>
            <p:ph type="sldImg"/>
          </p:nvPr>
        </p:nvSpPr>
        <p:spPr>
          <a:ln>
            <a:solidFill>
              <a:srgbClr val="000000">
                <a:alpha val="100000"/>
              </a:srgbClr>
            </a:solidFill>
            <a:miter lim="800000"/>
          </a:ln>
        </p:spPr>
      </p:sp>
      <p:sp>
        <p:nvSpPr>
          <p:cNvPr id="64515"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The Point at which Total Cost and Revenue intersect (are equal) is the point at which profit = zero</a:t>
            </a:r>
            <a:endParaRPr dirty="0"/>
          </a:p>
        </p:txBody>
      </p:sp>
      <p:sp>
        <p:nvSpPr>
          <p:cNvPr id="57348"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Slide Image Placeholder 1"/>
          <p:cNvSpPr>
            <a:spLocks noGrp="1" noRot="1" noChangeAspect="1" noTextEdit="1"/>
          </p:cNvSpPr>
          <p:nvPr>
            <p:ph type="sldImg"/>
          </p:nvPr>
        </p:nvSpPr>
        <p:spPr>
          <a:ln>
            <a:solidFill>
              <a:srgbClr val="000000">
                <a:alpha val="100000"/>
              </a:srgbClr>
            </a:solidFill>
            <a:miter lim="800000"/>
          </a:ln>
        </p:spPr>
      </p:sp>
      <p:sp>
        <p:nvSpPr>
          <p:cNvPr id="65539"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Revenue above the breakeven point results in profit (represented by the green shaded area)</a:t>
            </a:r>
            <a:endParaRPr dirty="0"/>
          </a:p>
          <a:p>
            <a:pPr lvl="0" eaLnBrk="1" hangingPunct="1">
              <a:spcBef>
                <a:spcPct val="0"/>
              </a:spcBef>
            </a:pPr>
            <a:endParaRPr dirty="0"/>
          </a:p>
        </p:txBody>
      </p:sp>
      <p:sp>
        <p:nvSpPr>
          <p:cNvPr id="58372"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Slide Image Placeholder 1"/>
          <p:cNvSpPr>
            <a:spLocks noGrp="1" noRot="1" noChangeAspect="1" noTextEdit="1"/>
          </p:cNvSpPr>
          <p:nvPr>
            <p:ph type="sldImg"/>
          </p:nvPr>
        </p:nvSpPr>
        <p:spPr>
          <a:ln>
            <a:solidFill>
              <a:srgbClr val="000000">
                <a:alpha val="100000"/>
              </a:srgbClr>
            </a:solidFill>
            <a:miter lim="800000"/>
          </a:ln>
        </p:spPr>
      </p:sp>
      <p:sp>
        <p:nvSpPr>
          <p:cNvPr id="66563"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dirty="0"/>
              <a:t>Activity Step 3 Identify key variables in the breakeven equation.</a:t>
            </a:r>
            <a:endParaRPr dirty="0"/>
          </a:p>
          <a:p>
            <a:pPr lvl="0" eaLnBrk="1" hangingPunct="1">
              <a:spcBef>
                <a:spcPct val="0"/>
              </a:spcBef>
            </a:pPr>
            <a:r>
              <a:rPr dirty="0"/>
              <a:t>Identify the lines on the graph.  </a:t>
            </a:r>
            <a:endParaRPr dirty="0"/>
          </a:p>
          <a:p>
            <a:pPr lvl="0" eaLnBrk="1" hangingPunct="1">
              <a:spcBef>
                <a:spcPct val="0"/>
              </a:spcBef>
            </a:pPr>
            <a:endParaRPr dirty="0"/>
          </a:p>
          <a:p>
            <a:pPr lvl="0" eaLnBrk="1" hangingPunct="1">
              <a:spcBef>
                <a:spcPct val="0"/>
              </a:spcBef>
            </a:pPr>
            <a:r>
              <a:rPr dirty="0"/>
              <a:t>Revenue below the breakeven point results in loss (represented by the red shaded area)</a:t>
            </a:r>
            <a:endParaRPr dirty="0"/>
          </a:p>
          <a:p>
            <a:pPr lvl="0" eaLnBrk="1" hangingPunct="1">
              <a:spcBef>
                <a:spcPct val="0"/>
              </a:spcBef>
            </a:pPr>
            <a:endParaRPr dirty="0"/>
          </a:p>
        </p:txBody>
      </p:sp>
      <p:sp>
        <p:nvSpPr>
          <p:cNvPr id="59396" name="Slide Number Placeholder 3"/>
          <p:cNvSpPr txBox="1">
            <a:spLocks noGrp="1"/>
          </p:cNvSpPr>
          <p:nvPr>
            <p:ph type="sldNum" sz="quarter"/>
          </p:nvPr>
        </p:nvSpPr>
        <p:spPr bwMode="auto">
          <a:noFill/>
          <a:ln>
            <a:noFill/>
            <a:miter lim="800000"/>
          </a:ln>
        </p:spPr>
        <p:txBody>
          <a:bodyPr wrap="square" lIns="91440" tIns="45720" rIns="91440" bIns="45720" numCol="1" rtlCol="0" anchor="b" anchorCtr="0" compatLnSpc="1"/>
          <a:p>
            <a:pPr lvl="0" algn="r" eaLnBrk="1" hangingPunct="1"/>
            <a:fld id="{9A0DB2DC-4C9A-4742-B13C-FB6460FD3503}" type="slidenum">
              <a:rPr lang="en-US" sz="1200" dirty="0">
                <a:latin typeface="Calibri" panose="020F0502020204030204" pitchFamily="34" charset="0"/>
              </a:rPr>
            </a:fld>
            <a:endParaRPr lang="en-US" sz="1200" dirty="0">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A3E3D8A-386E-4F1F-A43E-40E2E6FAE486}"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683EA02-2C3F-4C6B-B4B9-3C105B43F779}"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E14421-1838-42AE-9BEF-48BA141B6ADD}"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54296" y="1600200"/>
            <a:ext cx="4032504"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1"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CBE2FC7-0D95-4CA6-BBCF-1C5BD0C02A7E}"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9" name="Slide Number Placeholder 8"/>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4" name="Footer Placeholder 3"/>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Slide Number Placeholder 4"/>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79F5559C-0269-4292-A4A2-391FCA3E7CC9}"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598DC98-64D4-46CA-9C62-600AD72E1C65}"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74317C7-4554-4135-897D-253EED1531FD}"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Footer Placeholder 5"/>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7" name="Slide Number Placeholder 6"/>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timing>
    <p:tnLst>
      <p:par>
        <p:cTn id="1" dur="indefinite" restart="never" nodeType="tmRoot"/>
      </p:par>
    </p:tn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5293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93265055-ADDE-44D2-9C65-F79B2079494A}"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lstStyle/>
          <a:p>
            <a:pPr algn="r">
              <a:buNone/>
            </a:pPr>
            <a:fld id="{9A0DB2DC-4C9A-4742-B13C-FB6460FD3503}" type="slidenum">
              <a:rPr lang="en-US" dirty="0">
                <a:latin typeface="Franklin Gothic Book" panose="020B0503020102020204" pitchFamily="34" charset="0"/>
              </a:rPr>
            </a:fld>
            <a:endParaRPr lang="en-US" dirty="0">
              <a:latin typeface="Franklin Gothic Book" panose="020B0503020102020204" pitchFamily="34" charset="0"/>
            </a:endParaRPr>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100000"/>
          </a:schemeClr>
        </a:solidFill>
        <a:effectLst/>
      </p:bgPr>
    </p:bg>
    <p:spTree>
      <p:nvGrpSpPr>
        <p:cNvPr id="1" name=""/>
        <p:cNvGrpSpPr/>
        <p:nvPr/>
      </p:nvGrpSpPr>
      <p:grpSpPr/>
      <p:sp>
        <p:nvSpPr>
          <p:cNvPr id="1026" name="Title 1025"/>
          <p:cNvSpPr/>
          <p:nvPr>
            <p:ph type="title"/>
          </p:nvPr>
        </p:nvSpPr>
        <p:spPr>
          <a:xfrm>
            <a:off x="457200" y="274638"/>
            <a:ext cx="8229600" cy="1143000"/>
          </a:xfrm>
          <a:prstGeom prst="rect">
            <a:avLst/>
          </a:prstGeom>
          <a:noFill/>
          <a:ln w="9525">
            <a:noFill/>
          </a:ln>
        </p:spPr>
        <p:txBody>
          <a:bodyPr anchor="ctr" anchorCtr="0"/>
          <a:p>
            <a:pPr lvl="0"/>
            <a:r>
              <a:t>Click to edit Master title style</a:t>
            </a:r>
          </a:p>
        </p:txBody>
      </p:sp>
      <p:sp>
        <p:nvSpPr>
          <p:cNvPr id="1027" name="Text Placeholder 1026"/>
          <p:cNvSpPr/>
          <p:nvPr>
            <p:ph type="body" idx="1"/>
          </p:nvPr>
        </p:nvSpPr>
        <p:spPr>
          <a:xfrm>
            <a:off x="457200" y="1600200"/>
            <a:ext cx="8229600" cy="4525963"/>
          </a:xfrm>
          <a:prstGeom prst="rect">
            <a:avLst/>
          </a:prstGeom>
          <a:noFill/>
          <a:ln w="9525">
            <a:noFill/>
          </a:ln>
        </p:spPr>
        <p:txBody>
          <a:bodyPr/>
          <a:p>
            <a:pPr lvl="0"/>
            <a:r>
              <a:t>Click to edit Master text styles</a:t>
            </a:r>
          </a:p>
          <a:p>
            <a:pPr lvl="1"/>
            <a:r>
              <a:t>Second level</a:t>
            </a:r>
          </a:p>
          <a:p>
            <a:pPr lvl="2"/>
            <a:r>
              <a:t>Third level</a:t>
            </a:r>
          </a:p>
          <a:p>
            <a:pPr lvl="3"/>
            <a:r>
              <a:t>Fourth level</a:t>
            </a:r>
          </a:p>
          <a:p>
            <a:pPr lvl="4"/>
            <a:r>
              <a:t>Fifth level</a:t>
            </a:r>
          </a:p>
        </p:txBody>
      </p:sp>
      <p:sp>
        <p:nvSpPr>
          <p:cNvPr id="1028" name="Date Placeholder 1027"/>
          <p:cNvSpPr/>
          <p:nvPr>
            <p:ph type="dt" sz="half" idx="2"/>
          </p:nvPr>
        </p:nvSpPr>
        <p:spPr>
          <a:xfrm>
            <a:off x="457200" y="6245225"/>
            <a:ext cx="2133600" cy="476250"/>
          </a:xfrm>
          <a:prstGeom prst="rect">
            <a:avLst/>
          </a:prstGeom>
          <a:noFill/>
          <a:ln w="9525">
            <a:noFill/>
          </a:ln>
        </p:spPr>
        <p:txBody>
          <a:bodyPr/>
          <a:lstStyle>
            <a:lvl1pPr>
              <a:defRPr sz="1400"/>
            </a:lvl1pPr>
          </a:lstStyle>
          <a:p>
            <a:pPr marL="0" marR="0" lvl="0" indent="0" algn="l" defTabSz="914400" rtl="0" eaLnBrk="1" fontAlgn="auto" latinLnBrk="0" hangingPunct="1">
              <a:lnSpc>
                <a:spcPct val="100000"/>
              </a:lnSpc>
              <a:spcBef>
                <a:spcPts val="0"/>
              </a:spcBef>
              <a:spcAft>
                <a:spcPts val="0"/>
              </a:spcAft>
              <a:buClrTx/>
              <a:buSzTx/>
              <a:buFontTx/>
              <a:buNone/>
              <a:defRPr/>
            </a:pPr>
            <a:fld id="{099C0829-9FB4-48B6-9B16-FE2BF70F59E0}" type="datetimeFigureOut">
              <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rPr>
            </a:fld>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1029" name="Footer Placeholder 1028"/>
          <p:cNvSpPr/>
          <p:nvPr>
            <p:ph type="ftr" sz="quarter" idx="3"/>
          </p:nvPr>
        </p:nvSpPr>
        <p:spPr>
          <a:xfrm>
            <a:off x="3124200" y="6245225"/>
            <a:ext cx="2895600" cy="476250"/>
          </a:xfrm>
          <a:prstGeom prst="rect">
            <a:avLst/>
          </a:prstGeom>
          <a:noFill/>
          <a:ln w="9525">
            <a:noFill/>
          </a:ln>
        </p:spPr>
        <p:txBody>
          <a:bodyPr/>
          <a:lstStyle>
            <a:lvl1pPr algn="ctr">
              <a:defRPr sz="1400"/>
            </a:lvl1pPr>
          </a:lstStyle>
          <a:p>
            <a:pPr marL="0" marR="0" lvl="0" indent="0" algn="r"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schemeClr val="accent1">
                  <a:shade val="75000"/>
                </a:schemeClr>
              </a:solidFill>
              <a:effectLst/>
              <a:uLnTx/>
              <a:uFillTx/>
              <a:latin typeface="+mn-lt"/>
              <a:ea typeface="+mn-ea"/>
              <a:cs typeface="+mn-cs"/>
            </a:endParaRPr>
          </a:p>
        </p:txBody>
      </p:sp>
      <p:sp>
        <p:nvSpPr>
          <p:cNvPr id="1030" name="Slide Number Placeholder 1029"/>
          <p:cNvSpPr/>
          <p:nvPr>
            <p:ph type="sldNum" sz="quarter" idx="4"/>
          </p:nvPr>
        </p:nvSpPr>
        <p:spPr>
          <a:xfrm>
            <a:off x="6553200" y="6245225"/>
            <a:ext cx="2133600" cy="476250"/>
          </a:xfrm>
          <a:prstGeom prst="rect">
            <a:avLst/>
          </a:prstGeom>
          <a:noFill/>
          <a:ln w="9525">
            <a:noFill/>
          </a:ln>
        </p:spPr>
        <p:txBody>
          <a:bodyPr/>
          <a:lstStyle>
            <a:lvl1pPr algn="r">
              <a:defRPr sz="1400"/>
            </a:lvl1pPr>
          </a:lstStyle>
          <a:p>
            <a:pPr lvl="0" eaLnBrk="1" hangingPunct="1">
              <a:buNone/>
            </a:pPr>
            <a:fld id="{9A0DB2DC-4C9A-4742-B13C-FB6460FD3503}" type="slidenum">
              <a:rPr lang="en-US" dirty="0"/>
            </a:fld>
            <a:endParaRPr lang="en-US" dirty="0">
              <a:latin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ctr" defTabSz="914400" eaLnBrk="1" fontAlgn="base" latinLnBrk="0" hangingPunct="1">
        <a:lnSpc>
          <a:spcPct val="100000"/>
        </a:lnSpc>
        <a:spcBef>
          <a:spcPct val="0"/>
        </a:spcBef>
        <a:spcAft>
          <a:spcPct val="0"/>
        </a:spcAft>
        <a:buNone/>
        <a:defRPr sz="4400" b="0" i="0" u="none" kern="1200" baseline="0">
          <a:solidFill>
            <a:schemeClr val="tx2"/>
          </a:solidFill>
          <a:latin typeface="+mj-lt"/>
          <a:ea typeface="+mj-ea"/>
          <a:cs typeface="+mj-cs"/>
        </a:defRPr>
      </a:lvl1pPr>
    </p:titleStyle>
    <p:bodyStyle>
      <a:lvl1pPr marL="342900" lvl="0" indent="-342900" algn="l" defTabSz="914400" eaLnBrk="1" fontAlgn="base" latinLnBrk="0" hangingPunct="1">
        <a:lnSpc>
          <a:spcPct val="100000"/>
        </a:lnSpc>
        <a:spcBef>
          <a:spcPct val="20000"/>
        </a:spcBef>
        <a:spcAft>
          <a:spcPct val="0"/>
        </a:spcAft>
        <a:buChar char="•"/>
        <a:defRPr sz="3200" b="0" i="0" u="none" kern="1200" baseline="0">
          <a:solidFill>
            <a:schemeClr val="tx1"/>
          </a:solidFill>
          <a:latin typeface="+mn-lt"/>
          <a:ea typeface="+mn-ea"/>
          <a:cs typeface="+mn-cs"/>
        </a:defRPr>
      </a:lvl1pPr>
      <a:lvl2pPr marL="742950" lvl="1" indent="-285750" algn="l" defTabSz="914400" eaLnBrk="1" fontAlgn="base" latinLnBrk="0" hangingPunct="1">
        <a:lnSpc>
          <a:spcPct val="100000"/>
        </a:lnSpc>
        <a:spcBef>
          <a:spcPct val="20000"/>
        </a:spcBef>
        <a:spcAft>
          <a:spcPct val="0"/>
        </a:spcAft>
        <a:buChar char="–"/>
        <a:defRPr sz="2800" b="0" i="0" u="none" kern="1200" baseline="0">
          <a:solidFill>
            <a:schemeClr val="tx1"/>
          </a:solidFill>
          <a:latin typeface="+mn-lt"/>
          <a:ea typeface="+mn-ea"/>
          <a:cs typeface="+mn-cs"/>
        </a:defRPr>
      </a:lvl2pPr>
      <a:lvl3pPr marL="1143000" lvl="2" indent="-228600" algn="l" defTabSz="914400" eaLnBrk="1" fontAlgn="base" latinLnBrk="0" hangingPunct="1">
        <a:lnSpc>
          <a:spcPct val="100000"/>
        </a:lnSpc>
        <a:spcBef>
          <a:spcPct val="20000"/>
        </a:spcBef>
        <a:spcAft>
          <a:spcPct val="0"/>
        </a:spcAft>
        <a:buChar char="•"/>
        <a:defRPr sz="2400" b="0" i="0" u="none" kern="1200" baseline="0">
          <a:solidFill>
            <a:schemeClr val="tx1"/>
          </a:solidFill>
          <a:latin typeface="+mn-lt"/>
          <a:ea typeface="+mn-ea"/>
          <a:cs typeface="+mn-cs"/>
        </a:defRPr>
      </a:lvl3pPr>
      <a:lvl4pPr marL="1600200" lvl="3"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4pPr>
      <a:lvl5pPr marL="2057400" lvl="4"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5pPr>
      <a:lvl6pPr marL="2514600" lvl="5"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6pPr>
      <a:lvl7pPr marL="2971800" lvl="6"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7pPr>
      <a:lvl8pPr marL="3429000" lvl="7"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8pPr>
      <a:lvl9pPr marL="3886200" lvl="8" indent="-228600" algn="l" defTabSz="914400" eaLnBrk="1" fontAlgn="base" latinLnBrk="0" hangingPunct="1">
        <a:lnSpc>
          <a:spcPct val="100000"/>
        </a:lnSpc>
        <a:spcBef>
          <a:spcPct val="20000"/>
        </a:spcBef>
        <a:spcAft>
          <a:spcPct val="0"/>
        </a:spcAft>
        <a:buChar char="»"/>
        <a:defRPr sz="2000" b="0" i="0" u="none" kern="1200" baseline="0">
          <a:solidFill>
            <a:schemeClr val="tx1"/>
          </a:solidFill>
          <a:latin typeface="+mn-lt"/>
          <a:ea typeface="+mn-ea"/>
          <a:cs typeface="+mn-cs"/>
        </a:defRPr>
      </a:lvl9pPr>
    </p:bodyStyle>
    <p:otherStyle>
      <a:lvl1pPr marL="0" lvl="0" indent="0" algn="l" defTabSz="914400" eaLnBrk="1" fontAlgn="base" latinLnBrk="0" hangingPunct="1">
        <a:lnSpc>
          <a:spcPct val="100000"/>
        </a:lnSpc>
        <a:spcBef>
          <a:spcPct val="0"/>
        </a:spcBef>
        <a:spcAft>
          <a:spcPct val="0"/>
        </a:spcAft>
        <a:buFont typeface="Arial" panose="020B0604020202020204" pitchFamily="34" charset="0"/>
        <a:buNone/>
        <a:defRPr sz="1800" b="0" i="0" u="none" kern="1200" baseline="0">
          <a:solidFill>
            <a:schemeClr val="tx1"/>
          </a:solidFill>
          <a:latin typeface="+mn-lt"/>
          <a:ea typeface="+mn-ea"/>
          <a:cs typeface="+mn-cs"/>
        </a:defRPr>
      </a:lvl1pPr>
      <a:lvl2pPr marL="457200" lvl="1"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2pPr>
      <a:lvl3pPr marL="914400" lvl="2"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3pPr>
      <a:lvl4pPr marL="1371600" lvl="3"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4pPr>
      <a:lvl5pPr marL="1828800" lvl="4"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5pPr>
      <a:lvl6pPr marL="2286000" lvl="5"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6pPr>
      <a:lvl7pPr marL="2743200" lvl="6"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7pPr>
      <a:lvl8pPr marL="3200400" lvl="7"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8pPr>
      <a:lvl9pPr marL="3657600" lvl="8" indent="0" algn="l" defTabSz="91440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Arial" panose="020B0604020202020204" pitchFamily="34" charset="0"/>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wav"/></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audio" Target="../media/audio3.wav"/></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4.wav"/></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5.wav"/></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6.wav"/></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7.wav"/></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8.wav"/></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9.wav"/></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0.wav"/></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1.wav"/></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2.wav"/></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13.wav"/></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4.wav"/><Relationship Id="rId2" Type="http://schemas.openxmlformats.org/officeDocument/2006/relationships/image" Target="../media/image4.png"/><Relationship Id="rId1" Type="http://schemas.openxmlformats.org/officeDocument/2006/relationships/oleObject" Target="../embeddings/Workbook1.xls"/></Relationships>
</file>

<file path=ppt/slides/_rels/slide1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5.wav"/><Relationship Id="rId2" Type="http://schemas.openxmlformats.org/officeDocument/2006/relationships/image" Target="../media/image5.png"/><Relationship Id="rId1" Type="http://schemas.openxmlformats.org/officeDocument/2006/relationships/oleObject" Target="../embeddings/Workbook2.xls"/></Relationships>
</file>

<file path=ppt/slides/_rels/slide1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6.wav"/><Relationship Id="rId2" Type="http://schemas.openxmlformats.org/officeDocument/2006/relationships/image" Target="../media/image6.png"/><Relationship Id="rId1" Type="http://schemas.openxmlformats.org/officeDocument/2006/relationships/oleObject" Target="../embeddings/Workbook3.xls"/></Relationships>
</file>

<file path=ppt/slides/_rels/slide19.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7.wav"/><Relationship Id="rId2" Type="http://schemas.openxmlformats.org/officeDocument/2006/relationships/image" Target="../media/image7.png"/><Relationship Id="rId1" Type="http://schemas.openxmlformats.org/officeDocument/2006/relationships/oleObject" Target="../embeddings/Workbook4.xls"/></Relationships>
</file>

<file path=ppt/slides/_rels/slide20.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8.wav"/><Relationship Id="rId2" Type="http://schemas.openxmlformats.org/officeDocument/2006/relationships/image" Target="../media/image7.png"/><Relationship Id="rId1" Type="http://schemas.openxmlformats.org/officeDocument/2006/relationships/oleObject" Target="../embeddings/Workbook5.xls"/></Relationships>
</file>

<file path=ppt/slides/_rels/slide2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19.wav"/><Relationship Id="rId2" Type="http://schemas.openxmlformats.org/officeDocument/2006/relationships/image" Target="../media/image8.png"/><Relationship Id="rId1" Type="http://schemas.openxmlformats.org/officeDocument/2006/relationships/oleObject" Target="../embeddings/Workbook6.xls"/></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12.xml"/><Relationship Id="rId6" Type="http://schemas.openxmlformats.org/officeDocument/2006/relationships/vmlDrawing" Target="../drawings/vmlDrawing7.vml"/><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audio" Target="../media/audio20.wav"/><Relationship Id="rId2" Type="http://schemas.openxmlformats.org/officeDocument/2006/relationships/image" Target="../media/image8.png"/><Relationship Id="rId1" Type="http://schemas.openxmlformats.org/officeDocument/2006/relationships/oleObject" Target="../embeddings/Workbook7.xls"/></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1.wav"/></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2.wav"/></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audio" Target="../media/audio23.wav"/></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4.wav"/></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25.wav"/><Relationship Id="rId1" Type="http://schemas.openxmlformats.org/officeDocument/2006/relationships/image" Target="../media/image9.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26.wav"/></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27.wav"/><Relationship Id="rId1" Type="http://schemas.openxmlformats.org/officeDocument/2006/relationships/image" Target="../media/image10.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28.wav"/><Relationship Id="rId1" Type="http://schemas.openxmlformats.org/officeDocument/2006/relationships/image" Target="../media/image1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29.wav"/><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30.wav"/><Relationship Id="rId1" Type="http://schemas.openxmlformats.org/officeDocument/2006/relationships/image" Target="../media/image13.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1.wav"/><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audio" Target="../media/audio32.wav"/></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3.wav"/><Relationship Id="rId1" Type="http://schemas.openxmlformats.org/officeDocument/2006/relationships/image" Target="../media/image15.png"/></Relationships>
</file>

<file path=ppt/slides/_rels/slide3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4.wav"/><Relationship Id="rId1" Type="http://schemas.openxmlformats.org/officeDocument/2006/relationships/image" Target="../media/image16.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35.wav"/><Relationship Id="rId1" Type="http://schemas.openxmlformats.org/officeDocument/2006/relationships/image" Target="../media/image17.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6.wav"/><Relationship Id="rId1" Type="http://schemas.openxmlformats.org/officeDocument/2006/relationships/image" Target="../media/image18.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png"/><Relationship Id="rId2" Type="http://schemas.openxmlformats.org/officeDocument/2006/relationships/audio" Target="../media/audio37.wav"/><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audio" Target="../media/audio38.wav"/><Relationship Id="rId1"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noFill/>
          <a:ln>
            <a:noFill/>
          </a:ln>
          <a:effectLst/>
          <a:scene3d>
            <a:camera prst="orthographicFront"/>
            <a:lightRig rig="balanced" dir="t"/>
          </a:scene3d>
          <a:sp3d prstMaterial="plastic"/>
        </p:spPr>
        <p:txBody>
          <a:bodyPr vert="horz" anchor="t">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Element of cost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 name="~PP2155.WAV">
            <a:hlinkClick r:id="" action="ppaction://media"/>
          </p:cNvPr>
          <p:cNvPicPr>
            <a:picLocks noRot="1" noChangeAspect="1"/>
          </p:cNvPicPr>
          <p:nvPr>
            <a:wavAudioFile r:embed="rId1" name="~PP215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03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Element of cost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a:ln>
                  <a:noFill/>
                </a:ln>
                <a:solidFill>
                  <a:schemeClr val="tx2"/>
                </a:solidFill>
                <a:effectLst/>
                <a:uLnTx/>
                <a:uFillTx/>
                <a:latin typeface="+mn-lt"/>
                <a:ea typeface="+mn-ea"/>
                <a:cs typeface="+mn-cs"/>
              </a:rPr>
              <a:t>Cost can be broadly classified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into: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romanUcPeriod"/>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variable </a:t>
            </a:r>
            <a:r>
              <a:rPr kumimoji="0" lang="en-US" sz="3200" b="0" i="1" u="none" strike="noStrike" kern="1200" cap="none" spc="0" normalizeH="0" baseline="0" noProof="0" dirty="0">
                <a:ln>
                  <a:noFill/>
                </a:ln>
                <a:solidFill>
                  <a:schemeClr val="tx2"/>
                </a:solidFill>
                <a:effectLst/>
                <a:uLnTx/>
                <a:uFillTx/>
                <a:latin typeface="+mn-lt"/>
                <a:ea typeface="+mn-ea"/>
                <a:cs typeface="+mn-cs"/>
              </a:rPr>
              <a:t>cost and </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romanUcPeriod"/>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overhead </a:t>
            </a:r>
            <a:r>
              <a:rPr kumimoji="0" lang="en-US" sz="3200" b="0" i="1" u="none" strike="noStrike" kern="1200" cap="none" spc="0" normalizeH="0" baseline="0" noProof="0" dirty="0">
                <a:ln>
                  <a:noFill/>
                </a:ln>
                <a:solidFill>
                  <a:schemeClr val="tx2"/>
                </a:solidFill>
                <a:effectLst/>
                <a:uLnTx/>
                <a:uFillTx/>
                <a:latin typeface="+mn-lt"/>
                <a:ea typeface="+mn-ea"/>
                <a:cs typeface="+mn-cs"/>
              </a:rPr>
              <a:t>cost. </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anose="05000000000000000000" pitchFamily="2" charset="2"/>
              <a:buChar char="Ø"/>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Variable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cost </a:t>
            </a:r>
            <a:r>
              <a:rPr kumimoji="0" lang="en-US" sz="3200" b="0" i="0" u="none" strike="noStrike" kern="1200" cap="none" spc="0" normalizeH="0" baseline="0" noProof="0" dirty="0">
                <a:ln>
                  <a:noFill/>
                </a:ln>
                <a:solidFill>
                  <a:schemeClr val="tx2"/>
                </a:solidFill>
                <a:effectLst/>
                <a:uLnTx/>
                <a:uFillTx/>
                <a:latin typeface="+mn-lt"/>
                <a:ea typeface="+mn-ea"/>
                <a:cs typeface="+mn-cs"/>
              </a:rPr>
              <a:t>varies with the volume of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production, while,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panose="05000000000000000000" pitchFamily="2" charset="2"/>
              <a:buChar char="Ø"/>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overhead </a:t>
            </a:r>
            <a:r>
              <a:rPr kumimoji="0" lang="en-US" sz="3200" b="0" i="0" u="none" strike="noStrike" kern="1200" cap="none" spc="0" normalizeH="0" baseline="0" noProof="0" dirty="0">
                <a:ln>
                  <a:noFill/>
                </a:ln>
                <a:solidFill>
                  <a:schemeClr val="tx2"/>
                </a:solidFill>
                <a:effectLst/>
                <a:uLnTx/>
                <a:uFillTx/>
                <a:latin typeface="+mn-lt"/>
                <a:ea typeface="+mn-ea"/>
                <a:cs typeface="+mn-cs"/>
              </a:rPr>
              <a:t>cost is </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fixed, irrespective </a:t>
            </a:r>
            <a:r>
              <a:rPr kumimoji="0" lang="en-US" sz="3200" b="0" i="0" u="none" strike="noStrike" kern="1200" cap="none" spc="0" normalizeH="0" baseline="0" noProof="0" dirty="0">
                <a:ln>
                  <a:noFill/>
                </a:ln>
                <a:solidFill>
                  <a:schemeClr val="tx2"/>
                </a:solidFill>
                <a:effectLst/>
                <a:uLnTx/>
                <a:uFillTx/>
                <a:latin typeface="+mn-lt"/>
                <a:ea typeface="+mn-ea"/>
                <a:cs typeface="+mn-cs"/>
              </a:rPr>
              <a:t>of the production volume</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3804.WAV">
            <a:hlinkClick r:id="" action="ppaction://media"/>
          </p:cNvPr>
          <p:cNvPicPr>
            <a:picLocks noRot="1" noChangeAspect="1"/>
          </p:cNvPicPr>
          <p:nvPr>
            <a:wavAudioFile r:embed="rId1" name="~PP3804.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318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85800"/>
            <a:ext cx="8229600" cy="1143000"/>
          </a:xfrm>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Variable cost can be further classified into :</a:t>
            </a:r>
            <a:b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b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fontScale="92500"/>
          </a:bodyPr>
          <a:lstStyle/>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Direct material cost: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1371600" marR="0" lvl="2" indent="-5715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400" b="1" i="0" u="none" strike="noStrike" kern="1200" cap="none" spc="0" normalizeH="0" baseline="0" noProof="0" dirty="0" smtClean="0">
                <a:ln>
                  <a:noFill/>
                </a:ln>
                <a:solidFill>
                  <a:schemeClr val="tx2"/>
                </a:solidFill>
                <a:effectLst/>
                <a:uLnTx/>
                <a:uFillTx/>
                <a:latin typeface="+mn-lt"/>
                <a:ea typeface="+mn-ea"/>
                <a:cs typeface="+mn-cs"/>
              </a:rPr>
              <a:t>It i</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s the </a:t>
            </a:r>
            <a:r>
              <a:rPr kumimoji="0" lang="en-US" sz="2400" b="1" i="0" u="none" strike="noStrike" kern="1200" cap="none" spc="0" normalizeH="0" baseline="0" noProof="0" dirty="0" smtClean="0">
                <a:ln>
                  <a:noFill/>
                </a:ln>
                <a:solidFill>
                  <a:schemeClr val="tx2"/>
                </a:solidFill>
                <a:effectLst/>
                <a:uLnTx/>
                <a:uFillTx/>
                <a:latin typeface="+mn-lt"/>
                <a:ea typeface="+mn-ea"/>
                <a:cs typeface="+mn-cs"/>
              </a:rPr>
              <a:t>cost</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 of the raw </a:t>
            </a:r>
            <a:r>
              <a:rPr kumimoji="0" lang="en-US" sz="2400" b="1" i="0" u="none" strike="noStrike" kern="1200" cap="none" spc="0" normalizeH="0" baseline="0" noProof="0" dirty="0" smtClean="0">
                <a:ln>
                  <a:noFill/>
                </a:ln>
                <a:solidFill>
                  <a:schemeClr val="tx2"/>
                </a:solidFill>
                <a:effectLst/>
                <a:uLnTx/>
                <a:uFillTx/>
                <a:latin typeface="+mn-lt"/>
                <a:ea typeface="+mn-ea"/>
                <a:cs typeface="+mn-cs"/>
              </a:rPr>
              <a:t>materials</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 and components used to create a product. </a:t>
            </a:r>
            <a:endParaRPr kumimoji="0" lang="en-US" sz="2400" b="0" i="0"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Direct </a:t>
            </a:r>
            <a:r>
              <a:rPr kumimoji="0" lang="en-US" sz="3200" b="0" i="0" u="none" strike="noStrike" kern="1200" cap="none" spc="0" normalizeH="0" baseline="0" noProof="0" dirty="0" err="1" smtClean="0">
                <a:ln>
                  <a:noFill/>
                </a:ln>
                <a:solidFill>
                  <a:schemeClr val="tx2"/>
                </a:solidFill>
                <a:effectLst/>
                <a:uLnTx/>
                <a:uFillTx/>
                <a:latin typeface="+mn-lt"/>
                <a:ea typeface="+mn-ea"/>
                <a:cs typeface="+mn-cs"/>
              </a:rPr>
              <a:t>labour</a:t>
            </a:r>
            <a:r>
              <a:rPr kumimoji="0" lang="en-US" sz="3200" b="0" i="0" u="none" strike="noStrike" kern="1200" cap="none" spc="0" normalizeH="0" baseline="0" noProof="0" dirty="0" smtClean="0">
                <a:ln>
                  <a:noFill/>
                </a:ln>
                <a:solidFill>
                  <a:schemeClr val="tx2"/>
                </a:solidFill>
                <a:effectLst/>
                <a:uLnTx/>
                <a:uFillTx/>
                <a:latin typeface="+mn-lt"/>
                <a:ea typeface="+mn-ea"/>
                <a:cs typeface="+mn-cs"/>
              </a:rPr>
              <a:t> cost: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2"/>
                </a:solidFill>
                <a:effectLst/>
                <a:uLnTx/>
                <a:uFillTx/>
                <a:latin typeface="+mn-lt"/>
                <a:ea typeface="+mn-ea"/>
                <a:cs typeface="+mn-cs"/>
              </a:rPr>
              <a:t>It is the wages that are earned in order to produce specific goods or provide specific services to customers.</a:t>
            </a:r>
            <a:endParaRPr kumimoji="0" lang="en-US" sz="2400" b="0" i="0" u="none" strike="noStrike" kern="1200" cap="none" spc="0" normalizeH="0" baseline="0" noProof="0" dirty="0" smtClean="0">
              <a:ln>
                <a:noFill/>
              </a:ln>
              <a:solidFill>
                <a:schemeClr val="tx2"/>
              </a:solidFill>
              <a:effectLst/>
              <a:uLnTx/>
              <a:uFillTx/>
              <a:latin typeface="+mn-lt"/>
              <a:ea typeface="+mn-ea"/>
              <a:cs typeface="+mn-cs"/>
            </a:endParaRPr>
          </a:p>
          <a:p>
            <a:pPr marL="571500" marR="0" lvl="0" indent="-571500" algn="l" defTabSz="914400" rtl="0" eaLnBrk="1" fontAlgn="auto" latinLnBrk="0" hangingPunct="1">
              <a:lnSpc>
                <a:spcPct val="100000"/>
              </a:lnSpc>
              <a:spcBef>
                <a:spcPct val="20000"/>
              </a:spcBef>
              <a:spcAft>
                <a:spcPts val="0"/>
              </a:spcAft>
              <a:buClr>
                <a:schemeClr val="accent1"/>
              </a:buClr>
              <a:buSzPct val="70000"/>
              <a:buFont typeface="+mj-lt"/>
              <a:buAutoNum type="alphaLcPeriod"/>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Direct expenses:</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1371600" marR="0" lvl="2" indent="-5715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400" b="0" i="0" u="none" strike="noStrike" kern="1200" cap="none" spc="0" normalizeH="0" baseline="0" noProof="0" dirty="0" smtClean="0">
                <a:ln>
                  <a:noFill/>
                </a:ln>
                <a:solidFill>
                  <a:schemeClr val="tx2"/>
                </a:solidFill>
                <a:effectLst/>
                <a:uLnTx/>
                <a:uFillTx/>
                <a:latin typeface="+mn-lt"/>
                <a:ea typeface="+mn-ea"/>
                <a:cs typeface="+mn-cs"/>
              </a:rPr>
              <a:t>Expenses connected with purchases of goods are known as </a:t>
            </a:r>
            <a:r>
              <a:rPr kumimoji="0" lang="en-US" sz="2400" b="1" i="0" u="none" strike="noStrike" kern="1200" cap="none" spc="0" normalizeH="0" baseline="0" noProof="0" dirty="0" smtClean="0">
                <a:ln>
                  <a:noFill/>
                </a:ln>
                <a:solidFill>
                  <a:schemeClr val="tx2"/>
                </a:solidFill>
                <a:effectLst/>
                <a:uLnTx/>
                <a:uFillTx/>
                <a:latin typeface="+mn-lt"/>
                <a:ea typeface="+mn-ea"/>
                <a:cs typeface="+mn-cs"/>
              </a:rPr>
              <a:t>direct expenses</a:t>
            </a:r>
            <a:r>
              <a:rPr kumimoji="0" lang="en-US" sz="2400" b="0" i="0" u="none" strike="noStrike" kern="1200" cap="none" spc="0" normalizeH="0" baseline="0" noProof="0" dirty="0" smtClean="0">
                <a:ln>
                  <a:noFill/>
                </a:ln>
                <a:solidFill>
                  <a:schemeClr val="tx2"/>
                </a:solidFill>
                <a:effectLst/>
                <a:uLnTx/>
                <a:uFillTx/>
                <a:latin typeface="+mn-lt"/>
                <a:ea typeface="+mn-ea"/>
                <a:cs typeface="+mn-cs"/>
              </a:rPr>
              <a:t>. For example, freight, insurance of goods in transport, carriage, wages, import duty, etc.</a:t>
            </a:r>
            <a:endParaRPr kumimoji="0" lang="en-US" sz="24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5" name="~PP242.WAV">
            <a:hlinkClick r:id="" action="ppaction://media"/>
          </p:cNvPr>
          <p:cNvPicPr>
            <a:picLocks noRot="1" noChangeAspect="1"/>
          </p:cNvPicPr>
          <p:nvPr>
            <a:wavAudioFile r:embed="rId1" name="~PP242.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960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pPr algn="l"/>
            <a:r>
              <a:rPr lang="en-US" altLang="en-US">
                <a:sym typeface="+mn-ea"/>
              </a:rPr>
              <a:t>Overhead cost</a:t>
            </a:r>
            <a:endParaRPr lang="en-US"/>
          </a:p>
        </p:txBody>
      </p:sp>
      <p:sp>
        <p:nvSpPr>
          <p:cNvPr id="3" name="Content Placeholder 2"/>
          <p:cNvSpPr>
            <a:spLocks noGrp="1"/>
          </p:cNvSpPr>
          <p:nvPr>
            <p:ph idx="1"/>
          </p:nvPr>
        </p:nvSpPr>
        <p:spPr/>
        <p:txBody>
          <a:bodyPr/>
          <a:p>
            <a:pPr algn="just"/>
            <a:r>
              <a:rPr lang="en-US" altLang="en-US" sz="2800"/>
              <a:t>Overhead cost is the aggregate of indirect material costs, indirect labour costs and indirect expenses. </a:t>
            </a:r>
            <a:endParaRPr lang="en-US" altLang="en-US" sz="2800"/>
          </a:p>
          <a:p>
            <a:pPr algn="just"/>
            <a:endParaRPr lang="en-US" altLang="en-US" sz="2800"/>
          </a:p>
          <a:p>
            <a:pPr algn="just"/>
            <a:r>
              <a:rPr lang="en-US" altLang="en-US" sz="2800" b="1"/>
              <a:t>Administration overhead</a:t>
            </a:r>
            <a:r>
              <a:rPr lang="en-US" altLang="en-US" sz="2800"/>
              <a:t> includes all the costs that are incurred in administering the business.Examples: legal fees, audit fees, stationery, office rent, etc.</a:t>
            </a:r>
            <a:endParaRPr lang="en-US" altLang="en-US" sz="2800"/>
          </a:p>
          <a:p>
            <a:pPr algn="just"/>
            <a:endParaRPr lang="en-US" altLang="en-US"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382270"/>
            <a:ext cx="8229600" cy="5744210"/>
          </a:xfrm>
        </p:spPr>
        <p:txBody>
          <a:bodyPr/>
          <a:p>
            <a:pPr algn="just"/>
            <a:r>
              <a:rPr lang="en-US" altLang="en-US" b="1">
                <a:sym typeface="+mn-ea"/>
              </a:rPr>
              <a:t>Selling overhead </a:t>
            </a:r>
            <a:r>
              <a:rPr lang="en-US" altLang="en-US">
                <a:sym typeface="+mn-ea"/>
              </a:rPr>
              <a:t>is the total expense that is incurred in the promotional activities and the expenses relating to sales force. Examples: advertising, salesmen’s salaries, commission, showroom expenses, etc.</a:t>
            </a:r>
            <a:endParaRPr lang="en-US" altLang="en-US">
              <a:sym typeface="+mn-ea"/>
            </a:endParaRPr>
          </a:p>
          <a:p>
            <a:pPr algn="just"/>
            <a:endParaRPr lang="en-US" altLang="en-US"/>
          </a:p>
          <a:p>
            <a:pPr algn="just"/>
            <a:r>
              <a:rPr lang="en-US" altLang="en-US" b="1">
                <a:sym typeface="+mn-ea"/>
              </a:rPr>
              <a:t>Distribution overhead</a:t>
            </a:r>
            <a:r>
              <a:rPr lang="en-US" altLang="en-US">
                <a:sym typeface="+mn-ea"/>
              </a:rPr>
              <a:t> is the total cost of shipping the items from the factory site to the customer sites. </a:t>
            </a:r>
            <a:r>
              <a:rPr lang="en-US" altLang="en-US"/>
              <a:t>Examples: packing, transportation, warehouse rent, delivery van fuel, etc.</a:t>
            </a:r>
            <a:endParaRPr lang="en-US" altLang="en-US"/>
          </a:p>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OTHER COSTS/REVENUES</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5603" name="Content Placeholder 2"/>
          <p:cNvSpPr>
            <a:spLocks noGrp="1"/>
          </p:cNvSpPr>
          <p:nvPr>
            <p:ph idx="1"/>
          </p:nvPr>
        </p:nvSpPr>
        <p:spPr/>
        <p:txBody>
          <a:bodyPr vert="horz" wrap="square" lIns="91440" tIns="45720" rIns="91440" bIns="45720" anchor="t" anchorCtr="0"/>
          <a:p>
            <a:pPr eaLnBrk="1" hangingPunct="1"/>
            <a:r>
              <a:rPr dirty="0"/>
              <a:t>Marginal cost</a:t>
            </a:r>
            <a:endParaRPr dirty="0"/>
          </a:p>
          <a:p>
            <a:pPr eaLnBrk="1" hangingPunct="1"/>
            <a:r>
              <a:rPr dirty="0"/>
              <a:t> Marginal revenue</a:t>
            </a:r>
            <a:endParaRPr dirty="0"/>
          </a:p>
          <a:p>
            <a:pPr eaLnBrk="1" hangingPunct="1"/>
            <a:r>
              <a:rPr dirty="0"/>
              <a:t> Sunk cost</a:t>
            </a:r>
            <a:endParaRPr dirty="0"/>
          </a:p>
          <a:p>
            <a:pPr eaLnBrk="1" hangingPunct="1"/>
            <a:r>
              <a:rPr dirty="0"/>
              <a:t> Opportunity cost</a:t>
            </a:r>
            <a:endParaRPr dirty="0"/>
          </a:p>
        </p:txBody>
      </p:sp>
      <p:pic>
        <p:nvPicPr>
          <p:cNvPr id="4" name="~PP1448.WAV">
            <a:hlinkClick r:id="" action="ppaction://media"/>
          </p:cNvPr>
          <p:cNvPicPr>
            <a:picLocks noRot="1" noChangeAspect="1"/>
          </p:cNvPicPr>
          <p:nvPr>
            <a:wavAudioFile r:embed="rId1" name="~PP144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15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304800" y="1295400"/>
            <a:ext cx="8686800" cy="4784725"/>
          </a:xfrm>
        </p:spPr>
        <p:txBody>
          <a:bodyPr vert="horz" wrap="square" lIns="91440" tIns="45720" rIns="91440" bIns="45720" numCol="1" anchor="t" anchorCtr="0" compatLnSpc="1">
            <a:normAutofit fontScale="92500" lnSpcReduction="10000"/>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1" i="0" u="none" strike="noStrike" kern="1200" cap="none" spc="0" normalizeH="0" baseline="0" noProof="0" dirty="0" smtClean="0">
                <a:ln>
                  <a:noFill/>
                </a:ln>
                <a:solidFill>
                  <a:schemeClr val="tx2"/>
                </a:solidFill>
                <a:effectLst/>
                <a:uLnTx/>
                <a:uFillTx/>
                <a:latin typeface="+mn-lt"/>
                <a:ea typeface="+mn-ea"/>
                <a:cs typeface="+mn-cs"/>
              </a:rPr>
              <a:t>Marginal Cost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Marginal cost is defined as rate of change in total cost. It is change in TC due to one additional unit of output produced.</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MC = Change in TC/Change in output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1" i="0" u="none" strike="noStrike" kern="1200" cap="none" spc="0" normalizeH="0" baseline="0" noProof="0" dirty="0" smtClean="0">
                <a:ln>
                  <a:noFill/>
                </a:ln>
                <a:solidFill>
                  <a:schemeClr val="tx2"/>
                </a:solidFill>
                <a:effectLst/>
                <a:uLnTx/>
                <a:uFillTx/>
                <a:latin typeface="+mn-lt"/>
                <a:ea typeface="+mn-ea"/>
                <a:cs typeface="+mn-cs"/>
              </a:rPr>
              <a:t>Marginal Revenue</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Marginal revenue is defined as rate of change in total revenue. It is change in TR due to one additional unit of output sold.</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			MR = Change in TR/Change in output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2861.WAV">
            <a:hlinkClick r:id="" action="ppaction://media"/>
          </p:cNvPr>
          <p:cNvPicPr>
            <a:picLocks noRot="1" noChangeAspect="1"/>
          </p:cNvPicPr>
          <p:nvPr>
            <a:wavAudioFile r:embed="rId1" name="~PP286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748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Sunk Cost</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fontScale="85000" lnSpcReduction="10000"/>
          </a:bodyPr>
          <a:lstStyle/>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This is known as the past cost of an equipment/asset. </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Let us assume that an equipment has been purchased for Rs. 1,00,000 about three years back. If it is considered for replacement, then its present value is not Rs. 1,00,000. Instead, its present market value should be taken as the present value of the equipment for further analysis. So, the purchase value of the equipment in the past is known as its sunk cost. The sunk cost should not be considered for any analysis done from now onwards.</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1235.WAV">
            <a:hlinkClick r:id="" action="ppaction://media"/>
          </p:cNvPr>
          <p:cNvPicPr>
            <a:picLocks noRot="1" noChangeAspect="1"/>
          </p:cNvPicPr>
          <p:nvPr>
            <a:wavAudioFile r:embed="rId1" name="~PP1235.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54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Opportunity Cost</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 name="Content Placeholder 2"/>
          <p:cNvSpPr>
            <a:spLocks noGrp="1"/>
          </p:cNvSpPr>
          <p:nvPr>
            <p:ph idx="1"/>
          </p:nvPr>
        </p:nvSpPr>
        <p:spPr>
          <a:xfrm>
            <a:off x="304800" y="1554163"/>
            <a:ext cx="8686800" cy="4525963"/>
          </a:xfrm>
        </p:spPr>
        <p:txBody>
          <a:bodyPr vert="horz" wrap="square" lIns="91440" tIns="45720" rIns="91440" bIns="45720" numCol="1" anchor="t" anchorCtr="0" compatLnSpc="1">
            <a:normAutofit fontScale="92500" lnSpcReduction="10000"/>
          </a:bodyPr>
          <a:lstStyle/>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Opportunity cost play important role in decision making. We go for the choice whose opportunity cost is minimum. It is the cost of best alternative foregone.</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just"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For example the opportunity cost of the government spending nearly 10 billion on investment in National Health Service might be that 10 billion less is available for spending on education or the transport network.</a:t>
            </a:r>
            <a:endParaRPr kumimoji="0" lang="en-US" sz="32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2780.WAV">
            <a:hlinkClick r:id="" action="ppaction://media"/>
          </p:cNvPr>
          <p:cNvPicPr>
            <a:picLocks noRot="1" noChangeAspect="1"/>
          </p:cNvPicPr>
          <p:nvPr>
            <a:wavAudioFile r:embed="rId1" name="~PP2780.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626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Analysis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29699" name="Content Placeholder 2"/>
          <p:cNvSpPr>
            <a:spLocks noGrp="1"/>
          </p:cNvSpPr>
          <p:nvPr>
            <p:ph idx="1"/>
          </p:nvPr>
        </p:nvSpPr>
        <p:spPr/>
        <p:txBody>
          <a:bodyPr vert="horz" wrap="square" lIns="91440" tIns="45720" rIns="91440" bIns="45720" anchor="t" anchorCtr="0"/>
          <a:p>
            <a:pPr eaLnBrk="1" hangingPunct="1"/>
            <a:r>
              <a:rPr dirty="0"/>
              <a:t>The main objective of break-even analysis is to find the cut-off production</a:t>
            </a:r>
            <a:endParaRPr dirty="0"/>
          </a:p>
          <a:p>
            <a:pPr eaLnBrk="1" hangingPunct="1"/>
            <a:endParaRPr dirty="0"/>
          </a:p>
        </p:txBody>
      </p:sp>
      <p:pic>
        <p:nvPicPr>
          <p:cNvPr id="5" name="~PP3238.WAV">
            <a:hlinkClick r:id="" action="ppaction://media"/>
          </p:cNvPr>
          <p:cNvPicPr>
            <a:picLocks noRot="1" noChangeAspect="1"/>
          </p:cNvPicPr>
          <p:nvPr>
            <a:wavAudioFile r:embed="rId1" name="~PP323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90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6" name="Rectangle 2"/>
          <p:cNvSpPr>
            <a:spLocks noGrp="1" noChangeArrowheads="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What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is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1027" name="Rectangle 3"/>
          <p:cNvSpPr>
            <a:spLocks noGrp="1" noChangeArrowheads="1"/>
          </p:cNvSpPr>
          <p:nvPr>
            <p:ph idx="1"/>
          </p:nvPr>
        </p:nvSpPr>
        <p:spPr>
          <a:xfrm>
            <a:off x="304800" y="1554163"/>
            <a:ext cx="8686800" cy="4525963"/>
          </a:xfrm>
        </p:spPr>
        <p:txBody>
          <a:bodyPr vert="horz" wrap="square" lIns="91440" tIns="45720" rIns="91440" bIns="45720" numCol="1" anchor="t" anchorCtr="0" compatLnSpc="1">
            <a:normAutofit lnSpcReduction="10000"/>
          </a:bodyPr>
          <a:lstStyle/>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The Point at which Revenues = Costs</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Revenues above the breakeven point result in profit</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Revenues below the breakeven point result in loss</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Char char=""/>
              <a:defRPr/>
            </a:pPr>
            <a:r>
              <a:rPr kumimoji="0" lang="en-US" sz="3200" b="0" i="0" u="none" strike="noStrike" kern="1200" cap="none" spc="0" normalizeH="0" baseline="0" noProof="0" dirty="0" smtClean="0">
                <a:ln>
                  <a:noFill/>
                </a:ln>
                <a:solidFill>
                  <a:schemeClr val="tx2"/>
                </a:solidFill>
                <a:effectLst/>
                <a:uLnTx/>
                <a:uFillTx/>
                <a:latin typeface="+mn-lt"/>
                <a:ea typeface="+mn-ea"/>
                <a:cs typeface="+mn-cs"/>
              </a:rPr>
              <a:t>volume from where a firm will make profit. Let</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 s = selling price per unit</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v = variable cost per unit</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FC = fixed cost per period</a:t>
            </a:r>
            <a:endParaRPr kumimoji="0" lang="en-US" sz="3200" b="0" i="1"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3200" b="0" i="1" u="none" strike="noStrike" kern="1200" cap="none" spc="0" normalizeH="0" baseline="0" noProof="0" dirty="0" smtClean="0">
                <a:ln>
                  <a:noFill/>
                </a:ln>
                <a:solidFill>
                  <a:schemeClr val="tx2"/>
                </a:solidFill>
                <a:effectLst/>
                <a:uLnTx/>
                <a:uFillTx/>
                <a:latin typeface="+mn-lt"/>
                <a:ea typeface="+mn-ea"/>
                <a:cs typeface="+mn-cs"/>
              </a:rPr>
              <a:t>Q = volume of production</a:t>
            </a: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l"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endParaRPr kumimoji="0" lang="en-US" sz="32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4" name="~PP2834.WAV">
            <a:hlinkClick r:id="" action="ppaction://media"/>
          </p:cNvPr>
          <p:cNvPicPr>
            <a:picLocks noRot="1" noChangeAspect="1"/>
          </p:cNvPicPr>
          <p:nvPr>
            <a:wavAudioFile r:embed="rId1" name="~PP2834.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24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1747" name="Rectangle 3"/>
          <p:cNvSpPr>
            <a:spLocks noGrp="1"/>
          </p:cNvSpPr>
          <p:nvPr>
            <p:ph idx="1"/>
          </p:nvPr>
        </p:nvSpPr>
        <p:spPr>
          <a:xfrm>
            <a:off x="304800" y="1752600"/>
            <a:ext cx="8458200" cy="4343400"/>
          </a:xfrm>
        </p:spPr>
        <p:txBody>
          <a:bodyPr vert="horz" wrap="square" lIns="91440" tIns="45720" rIns="91440" bIns="45720" anchor="t" anchorCtr="0"/>
          <a:p>
            <a:pPr algn="ctr" eaLnBrk="1" hangingPunct="1">
              <a:lnSpc>
                <a:spcPct val="120000"/>
              </a:lnSpc>
              <a:buFont typeface="Symbol" panose="05050102010706020507" pitchFamily="18" charset="2"/>
              <a:buNone/>
            </a:pPr>
            <a:r>
              <a:rPr sz="2800" dirty="0"/>
              <a:t>Revenue – Costs = Profit</a:t>
            </a:r>
            <a:endParaRPr sz="2800" dirty="0"/>
          </a:p>
        </p:txBody>
      </p:sp>
      <p:pic>
        <p:nvPicPr>
          <p:cNvPr id="4" name="~PP1510.WAV">
            <a:hlinkClick r:id="" action="ppaction://media"/>
          </p:cNvPr>
          <p:cNvPicPr>
            <a:picLocks noRot="1" noChangeAspect="1"/>
          </p:cNvPicPr>
          <p:nvPr>
            <a:wavAudioFile r:embed="rId1" name="~PP1510.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88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6147" name="Rectangle 3"/>
          <p:cNvSpPr>
            <a:spLocks noGrp="1" noChangeArrowheads="1"/>
          </p:cNvSpPr>
          <p:nvPr>
            <p:ph idx="1"/>
          </p:nvPr>
        </p:nvSpPr>
        <p:spPr>
          <a:xfrm>
            <a:off x="304800" y="1752600"/>
            <a:ext cx="8458200" cy="4343400"/>
          </a:xfrm>
        </p:spPr>
        <p:txBody>
          <a:bodyPr vert="horz" wrap="square" lIns="91440" tIns="45720" rIns="91440" bIns="45720" numCol="1" anchor="t" anchorCtr="0" compatLnSpc="1">
            <a:normAutofit/>
          </a:bodyPr>
          <a:lstStyle/>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–Costs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a:t>
            </a:r>
            <a:r>
              <a:rPr kumimoji="0" lang="en-US" sz="2800" b="0" i="0" u="none" strike="noStrike" kern="1200" cap="none" spc="0" normalizeH="0" baseline="0" noProof="0" dirty="0">
                <a:ln>
                  <a:noFill/>
                </a:ln>
                <a:solidFill>
                  <a:schemeClr val="tx2"/>
                </a:solidFill>
                <a:effectLst/>
                <a:uLnTx/>
                <a:uFillTx/>
                <a:latin typeface="+mn-lt"/>
                <a:ea typeface="+mn-ea"/>
                <a:cs typeface="+mn-cs"/>
              </a:rPr>
              <a:t>-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Variable </a:t>
            </a:r>
            <a:r>
              <a:rPr kumimoji="0" lang="en-US" sz="2800" b="0" i="0" u="none" strike="noStrike" kern="1200" cap="none" spc="0" normalizeH="0" baseline="0" noProof="0" dirty="0">
                <a:ln>
                  <a:noFill/>
                </a:ln>
                <a:solidFill>
                  <a:schemeClr val="tx2"/>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Fixed </a:t>
            </a:r>
            <a:r>
              <a:rPr kumimoji="0" lang="en-US" sz="2800" b="0" i="0" u="none" strike="noStrike" kern="1200" cap="none" spc="0" normalizeH="0" baseline="0" noProof="0" dirty="0">
                <a:ln>
                  <a:noFill/>
                </a:ln>
                <a:solidFill>
                  <a:schemeClr val="tx2"/>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Profit</a:t>
            </a:r>
            <a:endParaRPr kumimoji="0" lang="en-US" sz="28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3673.WAV">
            <a:hlinkClick r:id="" action="ppaction://media"/>
          </p:cNvPr>
          <p:cNvPicPr>
            <a:picLocks noRot="1" noChangeAspect="1"/>
          </p:cNvPicPr>
          <p:nvPr>
            <a:wavAudioFile r:embed="rId1" name="~PP3673.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182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6147" name="Rectangle 3"/>
          <p:cNvSpPr>
            <a:spLocks noGrp="1" noChangeArrowheads="1"/>
          </p:cNvSpPr>
          <p:nvPr>
            <p:ph idx="1"/>
          </p:nvPr>
        </p:nvSpPr>
        <p:spPr>
          <a:xfrm>
            <a:off x="304800" y="1752600"/>
            <a:ext cx="8458200" cy="4343400"/>
          </a:xfrm>
        </p:spPr>
        <p:txBody>
          <a:bodyPr vert="horz" wrap="square" lIns="91440" tIns="45720" rIns="91440" bIns="45720" numCol="1" anchor="t" anchorCtr="0" compatLnSpc="1">
            <a:normAutofit/>
          </a:bodyPr>
          <a:lstStyle/>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–Costs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Variable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Fixed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Breakeven </a:t>
            </a:r>
            <a:r>
              <a:rPr kumimoji="0" lang="en-US" sz="2800" b="0" i="0" u="none" strike="noStrike" kern="1200" cap="none" spc="0" normalizeH="0" baseline="0" noProof="0" dirty="0">
                <a:ln>
                  <a:noFill/>
                </a:ln>
                <a:solidFill>
                  <a:schemeClr val="tx2"/>
                </a:solidFill>
                <a:effectLst/>
                <a:uLnTx/>
                <a:uFillTx/>
                <a:latin typeface="+mn-lt"/>
                <a:ea typeface="+mn-ea"/>
                <a:cs typeface="+mn-cs"/>
              </a:rPr>
              <a:t>Point is where Profit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0</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 Variable Cost - Fixed Cost = 0</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 Variable Cost + Fixed Cost</a:t>
            </a:r>
            <a:endParaRPr kumimoji="0" lang="en-US" sz="2800" b="0" i="0" u="none" strike="noStrike" kern="1200" cap="none" spc="0" normalizeH="0" baseline="0" noProof="0" dirty="0" smtClean="0">
              <a:ln>
                <a:noFill/>
              </a:ln>
              <a:solidFill>
                <a:schemeClr val="tx2"/>
              </a:solidFill>
              <a:effectLst/>
              <a:uLnTx/>
              <a:uFillTx/>
              <a:latin typeface="+mn-lt"/>
              <a:ea typeface="+mn-ea"/>
              <a:cs typeface="+mn-cs"/>
            </a:endParaRPr>
          </a:p>
        </p:txBody>
      </p:sp>
      <p:pic>
        <p:nvPicPr>
          <p:cNvPr id="4" name="~PP2751.WAV">
            <a:hlinkClick r:id="" action="ppaction://media"/>
          </p:cNvPr>
          <p:cNvPicPr>
            <a:picLocks noRot="1" noChangeAspect="1"/>
          </p:cNvPicPr>
          <p:nvPr>
            <a:wavAudioFile r:embed="rId1" name="~PP275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274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noChangeArrowheads="1"/>
          </p:cNvSpPr>
          <p:nvPr>
            <p:ph type="title"/>
          </p:nvPr>
        </p:nvSpPr>
        <p:spPr>
          <a:xfrm>
            <a:off x="609600" y="609600"/>
            <a:ext cx="7848600" cy="1143000"/>
          </a:xfrm>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The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Breakeven </a:t>
            </a:r>
            <a:r>
              <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rPr>
              <a:t>Equation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6147" name="Rectangle 3"/>
          <p:cNvSpPr>
            <a:spLocks noGrp="1" noChangeArrowheads="1"/>
          </p:cNvSpPr>
          <p:nvPr>
            <p:ph idx="1"/>
          </p:nvPr>
        </p:nvSpPr>
        <p:spPr>
          <a:xfrm>
            <a:off x="304800" y="1752600"/>
            <a:ext cx="8458200" cy="4343400"/>
          </a:xfrm>
        </p:spPr>
        <p:txBody>
          <a:bodyPr vert="horz" wrap="square" lIns="91440" tIns="45720" rIns="91440" bIns="45720" numCol="1" anchor="t" anchorCtr="0" compatLnSpc="1">
            <a:normAutofit/>
          </a:bodyPr>
          <a:lstStyle/>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–Costs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Variable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Fixed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Cost = Profit</a:t>
            </a:r>
            <a:endPar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Breakeven </a:t>
            </a:r>
            <a:r>
              <a:rPr kumimoji="0" lang="en-US" sz="2800" b="0" i="0" u="none" strike="noStrike" kern="1200" cap="none" spc="0" normalizeH="0" baseline="0" noProof="0" dirty="0">
                <a:ln>
                  <a:noFill/>
                </a:ln>
                <a:solidFill>
                  <a:schemeClr val="bg1">
                    <a:lumMod val="65000"/>
                  </a:schemeClr>
                </a:solidFill>
                <a:effectLst/>
                <a:uLnTx/>
                <a:uFillTx/>
                <a:latin typeface="+mn-lt"/>
                <a:ea typeface="+mn-ea"/>
                <a:cs typeface="+mn-cs"/>
              </a:rPr>
              <a:t>Point is where Profit = </a:t>
            </a: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0</a:t>
            </a:r>
            <a:endPar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2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 Variable Cost - Fixed Cost = 0</a:t>
            </a:r>
            <a:endPar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
                <a:schemeClr val="accent1"/>
              </a:buClr>
              <a:buSzPct val="70000"/>
              <a:buFont typeface="Wingdings 2" panose="05020102010507070707"/>
              <a:buNone/>
              <a:defRPr/>
            </a:pPr>
            <a:r>
              <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rPr>
              <a:t>Revenue = Variable Cost + Fixed Cost</a:t>
            </a:r>
            <a:endParaRPr kumimoji="0" lang="en-US" sz="2800" b="0" i="0" u="none" strike="noStrike" kern="1200" cap="none" spc="0" normalizeH="0" baseline="0" noProof="0" dirty="0" smtClean="0">
              <a:ln>
                <a:noFill/>
              </a:ln>
              <a:solidFill>
                <a:schemeClr val="bg1">
                  <a:lumMod val="65000"/>
                </a:schemeClr>
              </a:solidFill>
              <a:effectLst/>
              <a:uLnTx/>
              <a:uFillTx/>
              <a:latin typeface="+mn-lt"/>
              <a:ea typeface="+mn-ea"/>
              <a:cs typeface="+mn-cs"/>
            </a:endParaRPr>
          </a:p>
          <a:p>
            <a:pPr marL="342900" marR="0" lvl="0" indent="-342900" algn="ctr" defTabSz="914400" rtl="0" eaLnBrk="1" fontAlgn="auto" latinLnBrk="0" hangingPunct="1">
              <a:lnSpc>
                <a:spcPct val="110000"/>
              </a:lnSpc>
              <a:spcBef>
                <a:spcPct val="20000"/>
              </a:spcBef>
              <a:spcAft>
                <a:spcPts val="0"/>
              </a:spcAft>
              <a:buClr>
                <a:schemeClr val="accent1"/>
              </a:buClr>
              <a:buSzPct val="70000"/>
              <a:buFont typeface="Symbol" panose="05050102010706020507" pitchFamily="18" charset="2"/>
              <a:buNone/>
              <a:defRPr/>
            </a:pPr>
            <a:r>
              <a:rPr kumimoji="0" lang="en-US" sz="2800" b="0" i="0" u="none" strike="noStrike" kern="1200" cap="none" spc="0" normalizeH="0" baseline="0" noProof="0" dirty="0" smtClean="0">
                <a:ln>
                  <a:noFill/>
                </a:ln>
                <a:solidFill>
                  <a:schemeClr val="tx2"/>
                </a:solidFill>
                <a:effectLst/>
                <a:uLnTx/>
                <a:uFillTx/>
                <a:latin typeface="+mn-lt"/>
                <a:ea typeface="+mn-ea"/>
                <a:cs typeface="+mn-cs"/>
              </a:rPr>
              <a:t>Revenue </a:t>
            </a:r>
            <a:r>
              <a:rPr kumimoji="0" lang="en-US" sz="2800" b="0" i="0" u="none" strike="noStrike" kern="1200" cap="none" spc="0" normalizeH="0" baseline="0" noProof="0" dirty="0">
                <a:ln>
                  <a:noFill/>
                </a:ln>
                <a:solidFill>
                  <a:schemeClr val="tx2"/>
                </a:solidFill>
                <a:effectLst/>
                <a:uLnTx/>
                <a:uFillTx/>
                <a:latin typeface="+mn-lt"/>
                <a:ea typeface="+mn-ea"/>
                <a:cs typeface="+mn-cs"/>
              </a:rPr>
              <a:t>= #Units Sold * </a:t>
            </a:r>
            <a:r>
              <a:rPr kumimoji="0" lang="en-US" sz="2800" b="0" i="0" u="none" strike="noStrike" kern="1200" cap="none" spc="0" normalizeH="0" baseline="0" noProof="0" dirty="0" smtClean="0">
                <a:ln>
                  <a:noFill/>
                </a:ln>
                <a:solidFill>
                  <a:schemeClr val="tx2"/>
                </a:solidFill>
                <a:effectLst/>
                <a:uLnTx/>
                <a:uFillTx/>
                <a:latin typeface="+mn-lt"/>
                <a:ea typeface="+mn-ea"/>
                <a:cs typeface="+mn-cs"/>
              </a:rPr>
              <a:t>Selling Price $/Unit</a:t>
            </a:r>
            <a:endParaRPr kumimoji="0" lang="en-US" sz="2800" b="0" i="0" u="none" strike="noStrike" kern="1200" cap="none" spc="0" normalizeH="0" baseline="0" noProof="0" dirty="0">
              <a:ln>
                <a:noFill/>
              </a:ln>
              <a:solidFill>
                <a:schemeClr val="tx2"/>
              </a:solidFill>
              <a:effectLst/>
              <a:uLnTx/>
              <a:uFillTx/>
              <a:latin typeface="+mn-lt"/>
              <a:ea typeface="+mn-ea"/>
              <a:cs typeface="+mn-cs"/>
            </a:endParaRPr>
          </a:p>
        </p:txBody>
      </p:sp>
      <p:pic>
        <p:nvPicPr>
          <p:cNvPr id="4" name="~PP2438.WAV">
            <a:hlinkClick r:id="" action="ppaction://media"/>
          </p:cNvPr>
          <p:cNvPicPr>
            <a:picLocks noRot="1" noChangeAspect="1"/>
          </p:cNvPicPr>
          <p:nvPr>
            <a:wavAudioFile r:embed="rId1" name="~PP243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2801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1026"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80" name="" r:id="rId1" imgW="8686800" imgH="4523105" progId="Excel.Chart.8">
                  <p:embed/>
                </p:oleObj>
              </mc:Choice>
              <mc:Fallback>
                <p:oleObj name="" r:id="rId1" imgW="8686800" imgH="4523105" progId="Excel.Chart.8">
                  <p:embed/>
                  <p:pic>
                    <p:nvPicPr>
                      <p:cNvPr id="0" name="Picture 3079"/>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1028"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1029"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6" name="~PP3818.WAV">
            <a:hlinkClick r:id="" action="ppaction://media"/>
          </p:cNvPr>
          <p:cNvPicPr>
            <a:picLocks noRot="1" noChangeAspect="1"/>
          </p:cNvPicPr>
          <p:nvPr>
            <a:wavAudioFile r:embed="rId3" name="~PP3818.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215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2050"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77" name="" r:id="rId1" imgW="8686800" imgH="4523105" progId="Excel.Chart.8">
                  <p:embed/>
                </p:oleObj>
              </mc:Choice>
              <mc:Fallback>
                <p:oleObj name="" r:id="rId1" imgW="8686800" imgH="4523105" progId="Excel.Chart.8">
                  <p:embed/>
                  <p:pic>
                    <p:nvPicPr>
                      <p:cNvPr id="0" name="Picture 3076"/>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2052"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2053"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6" name="~PP2376.WAV">
            <a:hlinkClick r:id="" action="ppaction://media"/>
          </p:cNvPr>
          <p:cNvPicPr>
            <a:picLocks noRot="1" noChangeAspect="1"/>
          </p:cNvPicPr>
          <p:nvPr>
            <a:wavAudioFile r:embed="rId3" name="~PP2376.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643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3074"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 name="" r:id="rId1" imgW="8686800" imgH="4523105" progId="Excel.Chart.8">
                  <p:embed/>
                </p:oleObj>
              </mc:Choice>
              <mc:Fallback>
                <p:oleObj name="" r:id="rId1" imgW="8686800" imgH="4523105" progId="Excel.Chart.8">
                  <p:embed/>
                  <p:pic>
                    <p:nvPicPr>
                      <p:cNvPr id="0" name="Picture 2"/>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3076"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sp>
        <p:nvSpPr>
          <p:cNvPr id="3077" name="TextBox 8"/>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pic>
        <p:nvPicPr>
          <p:cNvPr id="6" name="~PP1358.WAV">
            <a:hlinkClick r:id="" action="ppaction://media"/>
          </p:cNvPr>
          <p:cNvPicPr>
            <a:picLocks noRot="1" noChangeAspect="1"/>
          </p:cNvPicPr>
          <p:nvPr>
            <a:wavAudioFile r:embed="rId3" name="~PP1358.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27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4098"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81" name="" r:id="rId1" imgW="8686800" imgH="4523105" progId="Excel.Chart.8">
                  <p:embed/>
                </p:oleObj>
              </mc:Choice>
              <mc:Fallback>
                <p:oleObj name="" r:id="rId1" imgW="8686800" imgH="4523105" progId="Excel.Chart.8">
                  <p:embed/>
                  <p:pic>
                    <p:nvPicPr>
                      <p:cNvPr id="0" name="Picture 3080"/>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4100"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sp>
        <p:nvSpPr>
          <p:cNvPr id="4101" name="TextBox 8"/>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pic>
        <p:nvPicPr>
          <p:cNvPr id="6" name="~PP2742.WAV">
            <a:hlinkClick r:id="" action="ppaction://media"/>
          </p:cNvPr>
          <p:cNvPicPr>
            <a:picLocks noRot="1" noChangeAspect="1"/>
          </p:cNvPicPr>
          <p:nvPr>
            <a:wavAudioFile r:embed="rId3" name="~PP2742.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133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5122"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82" name="" r:id="rId1" imgW="8686800" imgH="4523105" progId="Excel.Chart.8">
                  <p:embed/>
                </p:oleObj>
              </mc:Choice>
              <mc:Fallback>
                <p:oleObj name="" r:id="rId1" imgW="8686800" imgH="4523105" progId="Excel.Chart.8">
                  <p:embed/>
                  <p:pic>
                    <p:nvPicPr>
                      <p:cNvPr id="0" name="Picture 3081"/>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5" name="5-Point Star 4"/>
          <p:cNvSpPr/>
          <p:nvPr/>
        </p:nvSpPr>
        <p:spPr>
          <a:xfrm>
            <a:off x="4800600" y="3200400"/>
            <a:ext cx="152400" cy="152400"/>
          </a:xfrm>
          <a:prstGeom prst="star5">
            <a:avLst/>
          </a:prstGeom>
          <a:solidFill>
            <a:srgbClr val="FF0000"/>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125"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5126"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7" name="~PP3615.WAV">
            <a:hlinkClick r:id="" action="ppaction://media"/>
          </p:cNvPr>
          <p:cNvPicPr>
            <a:picLocks noRot="1" noChangeAspect="1"/>
          </p:cNvPicPr>
          <p:nvPr>
            <a:wavAudioFile r:embed="rId3" name="~PP3615.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46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7"/>
                </p:tgtEl>
              </p:cMediaNode>
            </p:audi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Freeform 16"/>
          <p:cNvSpPr/>
          <p:nvPr/>
        </p:nvSpPr>
        <p:spPr>
          <a:xfrm>
            <a:off x="4995081" y="2198427"/>
            <a:ext cx="1705970" cy="1078173"/>
          </a:xfrm>
          <a:custGeom>
            <a:avLst/>
            <a:gdLst>
              <a:gd name="connsiteX0" fmla="*/ 0 w 1705970"/>
              <a:gd name="connsiteY0" fmla="*/ 1078173 h 1078173"/>
              <a:gd name="connsiteX1" fmla="*/ 1705970 w 1705970"/>
              <a:gd name="connsiteY1" fmla="*/ 0 h 1078173"/>
              <a:gd name="connsiteX2" fmla="*/ 1705970 w 1705970"/>
              <a:gd name="connsiteY2" fmla="*/ 750627 h 1078173"/>
              <a:gd name="connsiteX3" fmla="*/ 0 w 1705970"/>
              <a:gd name="connsiteY3" fmla="*/ 1078173 h 1078173"/>
            </a:gdLst>
            <a:ahLst/>
            <a:cxnLst>
              <a:cxn ang="0">
                <a:pos x="connsiteX0" y="connsiteY0"/>
              </a:cxn>
              <a:cxn ang="0">
                <a:pos x="connsiteX1" y="connsiteY1"/>
              </a:cxn>
              <a:cxn ang="0">
                <a:pos x="connsiteX2" y="connsiteY2"/>
              </a:cxn>
              <a:cxn ang="0">
                <a:pos x="connsiteX3" y="connsiteY3"/>
              </a:cxn>
            </a:cxnLst>
            <a:rect l="l" t="t" r="r" b="b"/>
            <a:pathLst>
              <a:path w="1705970" h="1078173">
                <a:moveTo>
                  <a:pt x="0" y="1078173"/>
                </a:moveTo>
                <a:lnTo>
                  <a:pt x="1705970" y="0"/>
                </a:lnTo>
                <a:lnTo>
                  <a:pt x="1705970" y="750627"/>
                </a:lnTo>
                <a:lnTo>
                  <a:pt x="0" y="1078173"/>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6146"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78" name="" r:id="rId1" imgW="8686800" imgH="4523105" progId="Excel.Chart.8">
                  <p:embed/>
                </p:oleObj>
              </mc:Choice>
              <mc:Fallback>
                <p:oleObj name="" r:id="rId1" imgW="8686800" imgH="4523105" progId="Excel.Chart.8">
                  <p:embed/>
                  <p:pic>
                    <p:nvPicPr>
                      <p:cNvPr id="0" name="Picture 3077"/>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5" name="5-Point Star 4"/>
          <p:cNvSpPr/>
          <p:nvPr/>
        </p:nvSpPr>
        <p:spPr>
          <a:xfrm>
            <a:off x="4800600" y="3200400"/>
            <a:ext cx="152400" cy="152400"/>
          </a:xfrm>
          <a:prstGeom prst="star5">
            <a:avLst/>
          </a:prstGeom>
          <a:solidFill>
            <a:srgbClr val="FF0000"/>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52"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6153"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8" name="~PP356.WAV">
            <a:hlinkClick r:id="" action="ppaction://media"/>
          </p:cNvPr>
          <p:cNvPicPr>
            <a:picLocks noRot="1" noChangeAspect="1"/>
          </p:cNvPicPr>
          <p:nvPr>
            <a:wavAudioFile r:embed="rId3" name="~PP356.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128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8"/>
                </p:tgtEl>
              </p:cMediaNode>
            </p:audio>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 name="Freeform 16"/>
          <p:cNvSpPr/>
          <p:nvPr/>
        </p:nvSpPr>
        <p:spPr>
          <a:xfrm>
            <a:off x="4995081" y="2198427"/>
            <a:ext cx="1705970" cy="1078173"/>
          </a:xfrm>
          <a:custGeom>
            <a:avLst/>
            <a:gdLst>
              <a:gd name="connsiteX0" fmla="*/ 0 w 1705970"/>
              <a:gd name="connsiteY0" fmla="*/ 1078173 h 1078173"/>
              <a:gd name="connsiteX1" fmla="*/ 1705970 w 1705970"/>
              <a:gd name="connsiteY1" fmla="*/ 0 h 1078173"/>
              <a:gd name="connsiteX2" fmla="*/ 1705970 w 1705970"/>
              <a:gd name="connsiteY2" fmla="*/ 750627 h 1078173"/>
              <a:gd name="connsiteX3" fmla="*/ 0 w 1705970"/>
              <a:gd name="connsiteY3" fmla="*/ 1078173 h 1078173"/>
            </a:gdLst>
            <a:ahLst/>
            <a:cxnLst>
              <a:cxn ang="0">
                <a:pos x="connsiteX0" y="connsiteY0"/>
              </a:cxn>
              <a:cxn ang="0">
                <a:pos x="connsiteX1" y="connsiteY1"/>
              </a:cxn>
              <a:cxn ang="0">
                <a:pos x="connsiteX2" y="connsiteY2"/>
              </a:cxn>
              <a:cxn ang="0">
                <a:pos x="connsiteX3" y="connsiteY3"/>
              </a:cxn>
            </a:cxnLst>
            <a:rect l="l" t="t" r="r" b="b"/>
            <a:pathLst>
              <a:path w="1705970" h="1078173">
                <a:moveTo>
                  <a:pt x="0" y="1078173"/>
                </a:moveTo>
                <a:lnTo>
                  <a:pt x="1705970" y="0"/>
                </a:lnTo>
                <a:lnTo>
                  <a:pt x="1705970" y="750627"/>
                </a:lnTo>
                <a:lnTo>
                  <a:pt x="0" y="1078173"/>
                </a:lnTo>
                <a:close/>
              </a:path>
            </a:pathLst>
          </a:cu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path path="circle">
              <a:fillToRect t="100000" r="100000"/>
            </a:path>
            <a:tileRect l="-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Freeform 15"/>
          <p:cNvSpPr/>
          <p:nvPr/>
        </p:nvSpPr>
        <p:spPr>
          <a:xfrm>
            <a:off x="1228725" y="3343275"/>
            <a:ext cx="3575050" cy="2238375"/>
          </a:xfrm>
          <a:custGeom>
            <a:avLst/>
            <a:gdLst>
              <a:gd name="connsiteX0" fmla="*/ 3575713 w 3575713"/>
              <a:gd name="connsiteY0" fmla="*/ 0 h 2238233"/>
              <a:gd name="connsiteX1" fmla="*/ 0 w 3575713"/>
              <a:gd name="connsiteY1" fmla="*/ 2238233 h 2238233"/>
              <a:gd name="connsiteX2" fmla="*/ 0 w 3575713"/>
              <a:gd name="connsiteY2" fmla="*/ 736980 h 2238233"/>
              <a:gd name="connsiteX3" fmla="*/ 3575713 w 3575713"/>
              <a:gd name="connsiteY3" fmla="*/ 0 h 2238233"/>
            </a:gdLst>
            <a:ahLst/>
            <a:cxnLst>
              <a:cxn ang="0">
                <a:pos x="connsiteX0" y="connsiteY0"/>
              </a:cxn>
              <a:cxn ang="0">
                <a:pos x="connsiteX1" y="connsiteY1"/>
              </a:cxn>
              <a:cxn ang="0">
                <a:pos x="connsiteX2" y="connsiteY2"/>
              </a:cxn>
              <a:cxn ang="0">
                <a:pos x="connsiteX3" y="connsiteY3"/>
              </a:cxn>
            </a:cxnLst>
            <a:rect l="l" t="t" r="r" b="b"/>
            <a:pathLst>
              <a:path w="3575713" h="2238233">
                <a:moveTo>
                  <a:pt x="3575713" y="0"/>
                </a:moveTo>
                <a:lnTo>
                  <a:pt x="0" y="2238233"/>
                </a:lnTo>
                <a:lnTo>
                  <a:pt x="0" y="736980"/>
                </a:lnTo>
                <a:lnTo>
                  <a:pt x="3575713" y="0"/>
                </a:lnTo>
                <a:close/>
              </a:path>
            </a:pathLst>
          </a:custGeom>
          <a:gradFill flip="none" rotWithShape="1">
            <a:gsLst>
              <a:gs pos="0">
                <a:srgbClr val="FF0000">
                  <a:tint val="66000"/>
                  <a:satMod val="160000"/>
                </a:srgbClr>
              </a:gs>
              <a:gs pos="50000">
                <a:srgbClr val="FF0000">
                  <a:tint val="44500"/>
                  <a:satMod val="160000"/>
                </a:srgbClr>
              </a:gs>
              <a:gs pos="100000">
                <a:srgbClr val="FF0000">
                  <a:tint val="23500"/>
                  <a:satMod val="160000"/>
                </a:srgb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Graphic Depiction of Breakeven</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graphicFrame>
        <p:nvGraphicFramePr>
          <p:cNvPr id="7170" name="Content Placeholder 3"/>
          <p:cNvGraphicFramePr>
            <a:graphicFrameLocks noGrp="1"/>
          </p:cNvGraphicFramePr>
          <p:nvPr>
            <p:ph idx="1"/>
          </p:nvPr>
        </p:nvGraphicFramePr>
        <p:xfrm>
          <a:off x="304800" y="1554163"/>
          <a:ext cx="8686800" cy="4525962"/>
        </p:xfrm>
        <a:graphic>
          <a:graphicData uri="http://schemas.openxmlformats.org/presentationml/2006/ole">
            <mc:AlternateContent xmlns:mc="http://schemas.openxmlformats.org/markup-compatibility/2006">
              <mc:Choice xmlns:v="urn:schemas-microsoft-com:vml" Requires="v">
                <p:oleObj spid="_x0000_s3079" name="" r:id="rId1" imgW="8686800" imgH="4523105" progId="Excel.Chart.8">
                  <p:embed/>
                </p:oleObj>
              </mc:Choice>
              <mc:Fallback>
                <p:oleObj name="" r:id="rId1" imgW="8686800" imgH="4523105" progId="Excel.Chart.8">
                  <p:embed/>
                  <p:pic>
                    <p:nvPicPr>
                      <p:cNvPr id="0" name="Picture 3078"/>
                      <p:cNvPicPr/>
                      <p:nvPr/>
                    </p:nvPicPr>
                    <p:blipFill>
                      <a:blip r:embed="rId2"/>
                      <a:srcRect/>
                      <a:stretch>
                        <a:fillRect/>
                      </a:stretch>
                    </p:blipFill>
                    <p:spPr>
                      <a:xfrm>
                        <a:off x="304800" y="1554163"/>
                        <a:ext cx="8686800" cy="4525962"/>
                      </a:xfrm>
                      <a:prstGeom prst="rect">
                        <a:avLst/>
                      </a:prstGeom>
                      <a:noFill/>
                      <a:ln w="38100">
                        <a:miter/>
                      </a:ln>
                    </p:spPr>
                  </p:pic>
                </p:oleObj>
              </mc:Fallback>
            </mc:AlternateContent>
          </a:graphicData>
        </a:graphic>
      </p:graphicFrame>
      <p:sp>
        <p:nvSpPr>
          <p:cNvPr id="5" name="5-Point Star 4"/>
          <p:cNvSpPr/>
          <p:nvPr/>
        </p:nvSpPr>
        <p:spPr>
          <a:xfrm>
            <a:off x="4800600" y="3200400"/>
            <a:ext cx="152400" cy="152400"/>
          </a:xfrm>
          <a:prstGeom prst="star5">
            <a:avLst/>
          </a:prstGeom>
          <a:solidFill>
            <a:srgbClr val="FF0000"/>
          </a:solidFill>
          <a:ln w="3175">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177" name="TextBox 2"/>
          <p:cNvSpPr txBox="1"/>
          <p:nvPr/>
        </p:nvSpPr>
        <p:spPr>
          <a:xfrm>
            <a:off x="228600" y="1611313"/>
            <a:ext cx="454025" cy="369887"/>
          </a:xfrm>
          <a:prstGeom prst="rect">
            <a:avLst/>
          </a:prstGeom>
          <a:noFill/>
          <a:ln w="9525">
            <a:noFill/>
          </a:ln>
        </p:spPr>
        <p:txBody>
          <a:bodyPr>
            <a:spAutoFit/>
          </a:bodyPr>
          <a:p>
            <a:r>
              <a:rPr dirty="0">
                <a:latin typeface="Franklin Gothic Book" panose="020B0503020102020204" pitchFamily="34" charset="0"/>
              </a:rPr>
              <a:t>$</a:t>
            </a:r>
            <a:endParaRPr dirty="0">
              <a:latin typeface="Franklin Gothic Book" panose="020B0503020102020204" pitchFamily="34" charset="0"/>
            </a:endParaRPr>
          </a:p>
        </p:txBody>
      </p:sp>
      <p:sp>
        <p:nvSpPr>
          <p:cNvPr id="7178" name="TextBox 5"/>
          <p:cNvSpPr txBox="1"/>
          <p:nvPr/>
        </p:nvSpPr>
        <p:spPr>
          <a:xfrm>
            <a:off x="4191000" y="6216650"/>
            <a:ext cx="1128713" cy="368300"/>
          </a:xfrm>
          <a:prstGeom prst="rect">
            <a:avLst/>
          </a:prstGeom>
          <a:noFill/>
          <a:ln w="9525">
            <a:noFill/>
          </a:ln>
        </p:spPr>
        <p:txBody>
          <a:bodyPr wrap="none">
            <a:spAutoFit/>
          </a:bodyPr>
          <a:p>
            <a:r>
              <a:rPr dirty="0">
                <a:latin typeface="Franklin Gothic Book" panose="020B0503020102020204" pitchFamily="34" charset="0"/>
              </a:rPr>
              <a:t>Units Sold</a:t>
            </a:r>
            <a:endParaRPr dirty="0">
              <a:latin typeface="Franklin Gothic Book" panose="020B0503020102020204" pitchFamily="34" charset="0"/>
            </a:endParaRPr>
          </a:p>
        </p:txBody>
      </p:sp>
      <p:pic>
        <p:nvPicPr>
          <p:cNvPr id="9" name="~PP3460.WAV">
            <a:hlinkClick r:id="" action="ppaction://media"/>
          </p:cNvPr>
          <p:cNvPicPr>
            <a:picLocks noRot="1" noChangeAspect="1"/>
          </p:cNvPicPr>
          <p:nvPr>
            <a:wavAudioFile r:embed="rId3" name="~PP3460.WAV"/>
          </p:nvPr>
        </p:nvPicPr>
        <p:blipFill>
          <a:blip r:embed="rId4"/>
          <a:stretch>
            <a:fillRect/>
          </a:stretch>
        </p:blipFill>
        <p:spPr>
          <a:xfrm>
            <a:off x="8696325" y="6410325"/>
            <a:ext cx="304800" cy="304800"/>
          </a:xfrm>
          <a:prstGeom prst="rect">
            <a:avLst/>
          </a:prstGeom>
          <a:noFill/>
          <a:ln w="9525">
            <a:noFill/>
          </a:ln>
        </p:spPr>
      </p:pic>
    </p:spTree>
  </p:cSld>
  <p:clrMapOvr>
    <a:masterClrMapping/>
  </p:clrMapOvr>
  <p:transition advTm="109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9"/>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Content Placeholder 2"/>
          <p:cNvSpPr>
            <a:spLocks noGrp="1"/>
          </p:cNvSpPr>
          <p:nvPr>
            <p:ph idx="1"/>
          </p:nvPr>
        </p:nvSpPr>
        <p:spPr/>
        <p:txBody>
          <a:bodyPr vert="horz" wrap="square" lIns="91440" tIns="45720" rIns="91440" bIns="45720" anchor="t" anchorCtr="0"/>
          <a:p>
            <a:pPr eaLnBrk="1" hangingPunct="1"/>
            <a:r>
              <a:rPr dirty="0"/>
              <a:t>The total sales revenue (</a:t>
            </a:r>
            <a:r>
              <a:rPr i="1" dirty="0"/>
              <a:t>S) of the firm is given by the following formula:</a:t>
            </a:r>
            <a:endParaRPr i="1" dirty="0"/>
          </a:p>
          <a:p>
            <a:pPr eaLnBrk="1" hangingPunct="1"/>
            <a:r>
              <a:rPr i="1" dirty="0"/>
              <a:t>S = s x Q</a:t>
            </a:r>
            <a:endParaRPr i="1" dirty="0"/>
          </a:p>
          <a:p>
            <a:pPr eaLnBrk="1" hangingPunct="1"/>
            <a:r>
              <a:rPr dirty="0"/>
              <a:t>The total cost of the firm for a given production volume is given as</a:t>
            </a:r>
            <a:endParaRPr dirty="0"/>
          </a:p>
          <a:p>
            <a:pPr eaLnBrk="1" hangingPunct="1">
              <a:buNone/>
            </a:pPr>
            <a:r>
              <a:rPr i="1" dirty="0"/>
              <a:t>     TC = Total variable cost + Fixed cost</a:t>
            </a:r>
            <a:endParaRPr i="1" dirty="0"/>
          </a:p>
          <a:p>
            <a:pPr eaLnBrk="1" hangingPunct="1">
              <a:buNone/>
            </a:pPr>
            <a:r>
              <a:rPr dirty="0"/>
              <a:t>      TC= </a:t>
            </a:r>
            <a:r>
              <a:rPr i="1" dirty="0"/>
              <a:t>TVC+ TFC</a:t>
            </a:r>
            <a:endParaRPr dirty="0"/>
          </a:p>
        </p:txBody>
      </p:sp>
      <p:pic>
        <p:nvPicPr>
          <p:cNvPr id="3" name="~PP1058.WAV">
            <a:hlinkClick r:id="" action="ppaction://media"/>
          </p:cNvPr>
          <p:cNvPicPr>
            <a:picLocks noRot="1" noChangeAspect="1"/>
          </p:cNvPicPr>
          <p:nvPr>
            <a:wavAudioFile r:embed="rId1" name="~PP1058.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64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3"/>
                </p:tgtEl>
              </p:cMediaNode>
            </p:audio>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endParaRPr kumimoji="0" lang="en-US" sz="3600" b="0" i="0" u="none" strike="noStrike" kern="1200" cap="all" spc="0" normalizeH="0" baseline="0" noProof="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6867" name="Content Placeholder 2"/>
          <p:cNvSpPr>
            <a:spLocks noGrp="1"/>
          </p:cNvSpPr>
          <p:nvPr>
            <p:ph idx="1"/>
          </p:nvPr>
        </p:nvSpPr>
        <p:spPr/>
        <p:txBody>
          <a:bodyPr vert="horz" wrap="square" lIns="91440" tIns="45720" rIns="91440" bIns="45720" anchor="t" anchorCtr="0"/>
          <a:p>
            <a:pPr eaLnBrk="1" hangingPunct="1"/>
            <a:r>
              <a:rPr dirty="0"/>
              <a:t>For any production quantity which is more than the break-even quantity, the total revenue will be more than the total cost. Hence, the firm will be making profit.</a:t>
            </a:r>
            <a:endParaRPr dirty="0"/>
          </a:p>
          <a:p>
            <a:pPr eaLnBrk="1" hangingPunct="1"/>
            <a:r>
              <a:rPr dirty="0"/>
              <a:t>Profit = Sales – (Fixed cost + Variable costs)</a:t>
            </a:r>
            <a:endParaRPr dirty="0"/>
          </a:p>
          <a:p>
            <a:pPr eaLnBrk="1" hangingPunct="1"/>
            <a:r>
              <a:rPr lang="pt-BR" altLang="x-none" dirty="0"/>
              <a:t>= </a:t>
            </a:r>
            <a:r>
              <a:rPr lang="pt-BR" altLang="x-none" i="1" dirty="0"/>
              <a:t>s X Q – (FC + VC)</a:t>
            </a:r>
            <a:endParaRPr dirty="0"/>
          </a:p>
        </p:txBody>
      </p:sp>
      <p:pic>
        <p:nvPicPr>
          <p:cNvPr id="4" name="~PP4083.WAV">
            <a:hlinkClick r:id="" action="ppaction://media"/>
          </p:cNvPr>
          <p:cNvPicPr>
            <a:picLocks noRot="1" noChangeAspect="1"/>
          </p:cNvPicPr>
          <p:nvPr>
            <a:wavAudioFile r:embed="rId1" name="~PP4083.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436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28600" y="544195"/>
            <a:ext cx="8686800" cy="1358265"/>
          </a:xfrm>
          <a:noFill/>
          <a:ln>
            <a:noFill/>
          </a:ln>
          <a:effectLst/>
          <a:scene3d>
            <a:camera prst="orthographicFront"/>
            <a:lightRig rig="balanced" dir="t"/>
          </a:scene3d>
          <a:sp3d prstMaterial="plastic"/>
        </p:spPr>
        <p:txBody>
          <a:bodyPr vert="horz" anchor="ctr">
            <a:normAutofit fontScale="90000"/>
          </a:bodyPr>
          <a:lstStyle/>
          <a:p>
            <a:pPr marL="0" marR="0" lvl="0" indent="0" algn="just" defTabSz="914400" rtl="0" eaLnBrk="1" fontAlgn="auto" latinLnBrk="0" hangingPunct="1">
              <a:lnSpc>
                <a:spcPct val="150000"/>
              </a:lnSpc>
              <a:spcBef>
                <a:spcPct val="0"/>
              </a:spcBef>
              <a:spcAft>
                <a:spcPts val="0"/>
              </a:spcAft>
              <a:buClrTx/>
              <a:buSzTx/>
              <a:buFontTx/>
              <a:buNone/>
              <a:defRPr/>
            </a:pPr>
            <a:r>
              <a:rPr kumimoji="0" lang="en-US" sz="20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Find out the total cost and Sales of the firm and also find out the profit of the firm when the price of product is $50, and also describe it diagrammatically where break even point is? and also find out the MR and MC. </a:t>
            </a:r>
            <a:endParaRPr kumimoji="0" lang="en-US" sz="2000" b="1"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endParaRPr>
          </a:p>
        </p:txBody>
      </p:sp>
      <p:pic>
        <p:nvPicPr>
          <p:cNvPr id="5" name="~PP4071.WAV">
            <a:hlinkClick r:id="" action="ppaction://media"/>
          </p:cNvPr>
          <p:cNvPicPr>
            <a:picLocks noRot="1" noChangeAspect="1"/>
          </p:cNvPicPr>
          <p:nvPr>
            <a:wavAudioFile r:embed="rId1" name="~PP4071.WAV"/>
          </p:nvPr>
        </p:nvPicPr>
        <p:blipFill>
          <a:blip r:embed="rId2"/>
          <a:stretch>
            <a:fillRect/>
          </a:stretch>
        </p:blipFill>
        <p:spPr>
          <a:xfrm>
            <a:off x="8696325" y="6410325"/>
            <a:ext cx="304800" cy="304800"/>
          </a:xfrm>
          <a:prstGeom prst="rect">
            <a:avLst/>
          </a:prstGeom>
          <a:noFill/>
          <a:ln w="9525">
            <a:noFill/>
          </a:ln>
        </p:spPr>
      </p:pic>
      <p:graphicFrame>
        <p:nvGraphicFramePr>
          <p:cNvPr id="8" name="Content Placeholder 7"/>
          <p:cNvGraphicFramePr/>
          <p:nvPr>
            <p:ph idx="1"/>
            <p:custDataLst>
              <p:tags r:id="rId3"/>
            </p:custDataLst>
          </p:nvPr>
        </p:nvGraphicFramePr>
        <p:xfrm>
          <a:off x="407670" y="2677160"/>
          <a:ext cx="8279130" cy="3581400"/>
        </p:xfrm>
        <a:graphic>
          <a:graphicData uri="http://schemas.openxmlformats.org/drawingml/2006/table">
            <a:tbl>
              <a:tblPr firstRow="1" bandRow="1">
                <a:tableStyleId>{5C22544A-7EE6-4342-B048-85BDC9FD1C3A}</a:tableStyleId>
              </a:tblPr>
              <a:tblGrid>
                <a:gridCol w="2759710"/>
                <a:gridCol w="2759710"/>
                <a:gridCol w="2759710"/>
              </a:tblGrid>
              <a:tr h="447675">
                <a:tc>
                  <a:txBody>
                    <a:bodyPr/>
                    <a:p>
                      <a:pPr>
                        <a:buNone/>
                      </a:pPr>
                      <a:r>
                        <a:rPr lang="en-US">
                          <a:solidFill>
                            <a:schemeClr val="tx1"/>
                          </a:solidFill>
                        </a:rPr>
                        <a:t>Output (Q)</a:t>
                      </a:r>
                      <a:endParaRPr lang="en-US">
                        <a:solidFill>
                          <a:schemeClr val="tx1"/>
                        </a:solidFill>
                      </a:endParaRPr>
                    </a:p>
                  </a:txBody>
                  <a:tcPr/>
                </a:tc>
                <a:tc>
                  <a:txBody>
                    <a:bodyPr/>
                    <a:p>
                      <a:pPr>
                        <a:buNone/>
                      </a:pPr>
                      <a:r>
                        <a:rPr lang="en-US">
                          <a:solidFill>
                            <a:schemeClr val="tx1"/>
                          </a:solidFill>
                        </a:rPr>
                        <a:t>Total Variable Cost (TVC)</a:t>
                      </a:r>
                      <a:endParaRPr lang="en-US">
                        <a:solidFill>
                          <a:schemeClr val="tx1"/>
                        </a:solidFill>
                      </a:endParaRPr>
                    </a:p>
                  </a:txBody>
                  <a:tcPr/>
                </a:tc>
                <a:tc>
                  <a:txBody>
                    <a:bodyPr/>
                    <a:p>
                      <a:pPr>
                        <a:buNone/>
                      </a:pPr>
                      <a:r>
                        <a:rPr lang="en-US">
                          <a:solidFill>
                            <a:schemeClr val="tx1"/>
                          </a:solidFill>
                        </a:rPr>
                        <a:t>Total Fixed Cost (TFC)</a:t>
                      </a:r>
                      <a:endParaRPr lang="en-US">
                        <a:solidFill>
                          <a:schemeClr val="tx1"/>
                        </a:solidFill>
                      </a:endParaRPr>
                    </a:p>
                  </a:txBody>
                  <a:tcPr/>
                </a:tc>
              </a:tr>
              <a:tr h="447675">
                <a:tc>
                  <a:txBody>
                    <a:bodyPr/>
                    <a:p>
                      <a:pPr>
                        <a:buNone/>
                      </a:pPr>
                      <a:r>
                        <a:rPr lang="en-US"/>
                        <a:t>0</a:t>
                      </a:r>
                      <a:endParaRPr lang="en-US"/>
                    </a:p>
                  </a:txBody>
                  <a:tcPr/>
                </a:tc>
                <a:tc>
                  <a:txBody>
                    <a:bodyPr/>
                    <a:p>
                      <a:pPr>
                        <a:buNone/>
                      </a:pPr>
                      <a:r>
                        <a:rPr lang="en-US"/>
                        <a:t>0</a:t>
                      </a:r>
                      <a:endParaRPr lang="en-US"/>
                    </a:p>
                  </a:txBody>
                  <a:tcPr/>
                </a:tc>
                <a:tc>
                  <a:txBody>
                    <a:bodyPr/>
                    <a:p>
                      <a:pPr>
                        <a:buNone/>
                      </a:pPr>
                      <a:r>
                        <a:rPr lang="en-US"/>
                        <a:t>500</a:t>
                      </a:r>
                      <a:endParaRPr lang="en-US"/>
                    </a:p>
                  </a:txBody>
                  <a:tcPr/>
                </a:tc>
              </a:tr>
              <a:tr h="447675">
                <a:tc>
                  <a:txBody>
                    <a:bodyPr/>
                    <a:p>
                      <a:pPr>
                        <a:buNone/>
                      </a:pPr>
                      <a:r>
                        <a:rPr lang="en-US"/>
                        <a:t>10</a:t>
                      </a:r>
                      <a:endParaRPr lang="en-US"/>
                    </a:p>
                  </a:txBody>
                  <a:tcPr/>
                </a:tc>
                <a:tc>
                  <a:txBody>
                    <a:bodyPr/>
                    <a:p>
                      <a:pPr>
                        <a:buNone/>
                      </a:pPr>
                      <a:r>
                        <a:rPr lang="en-US"/>
                        <a:t>300</a:t>
                      </a:r>
                      <a:endParaRPr lang="en-US"/>
                    </a:p>
                  </a:txBody>
                  <a:tcPr/>
                </a:tc>
                <a:tc>
                  <a:txBody>
                    <a:bodyPr/>
                    <a:p>
                      <a:pPr>
                        <a:buNone/>
                      </a:pPr>
                      <a:r>
                        <a:rPr lang="en-US"/>
                        <a:t>500</a:t>
                      </a:r>
                      <a:endParaRPr lang="en-US"/>
                    </a:p>
                  </a:txBody>
                  <a:tcPr/>
                </a:tc>
              </a:tr>
              <a:tr h="447675">
                <a:tc>
                  <a:txBody>
                    <a:bodyPr/>
                    <a:p>
                      <a:pPr>
                        <a:buNone/>
                      </a:pPr>
                      <a:r>
                        <a:rPr lang="en-US"/>
                        <a:t>20</a:t>
                      </a:r>
                      <a:endParaRPr lang="en-US"/>
                    </a:p>
                  </a:txBody>
                  <a:tcPr/>
                </a:tc>
                <a:tc>
                  <a:txBody>
                    <a:bodyPr/>
                    <a:p>
                      <a:pPr>
                        <a:buNone/>
                      </a:pPr>
                      <a:r>
                        <a:rPr lang="en-US"/>
                        <a:t>600</a:t>
                      </a:r>
                      <a:endParaRPr lang="en-US"/>
                    </a:p>
                  </a:txBody>
                  <a:tcPr/>
                </a:tc>
                <a:tc>
                  <a:txBody>
                    <a:bodyPr/>
                    <a:p>
                      <a:pPr>
                        <a:buNone/>
                      </a:pPr>
                      <a:r>
                        <a:rPr lang="en-US"/>
                        <a:t>500</a:t>
                      </a:r>
                      <a:endParaRPr lang="en-US"/>
                    </a:p>
                  </a:txBody>
                  <a:tcPr/>
                </a:tc>
              </a:tr>
              <a:tr h="447675">
                <a:tc>
                  <a:txBody>
                    <a:bodyPr/>
                    <a:p>
                      <a:pPr>
                        <a:buNone/>
                      </a:pPr>
                      <a:r>
                        <a:rPr lang="en-US"/>
                        <a:t>25</a:t>
                      </a:r>
                      <a:endParaRPr lang="en-US"/>
                    </a:p>
                  </a:txBody>
                  <a:tcPr/>
                </a:tc>
                <a:tc>
                  <a:txBody>
                    <a:bodyPr/>
                    <a:p>
                      <a:pPr>
                        <a:buNone/>
                      </a:pPr>
                      <a:r>
                        <a:rPr lang="en-US"/>
                        <a:t>750</a:t>
                      </a:r>
                      <a:endParaRPr lang="en-US"/>
                    </a:p>
                  </a:txBody>
                  <a:tcPr/>
                </a:tc>
                <a:tc>
                  <a:txBody>
                    <a:bodyPr/>
                    <a:p>
                      <a:pPr>
                        <a:buNone/>
                      </a:pPr>
                      <a:r>
                        <a:rPr lang="en-US"/>
                        <a:t>500</a:t>
                      </a:r>
                      <a:endParaRPr lang="en-US"/>
                    </a:p>
                  </a:txBody>
                  <a:tcPr/>
                </a:tc>
              </a:tr>
              <a:tr h="447675">
                <a:tc>
                  <a:txBody>
                    <a:bodyPr/>
                    <a:p>
                      <a:pPr>
                        <a:buNone/>
                      </a:pPr>
                      <a:r>
                        <a:rPr lang="en-US"/>
                        <a:t>30</a:t>
                      </a:r>
                      <a:endParaRPr lang="en-US"/>
                    </a:p>
                  </a:txBody>
                  <a:tcPr/>
                </a:tc>
                <a:tc>
                  <a:txBody>
                    <a:bodyPr/>
                    <a:p>
                      <a:pPr>
                        <a:buNone/>
                      </a:pPr>
                      <a:r>
                        <a:rPr lang="en-US"/>
                        <a:t>900</a:t>
                      </a:r>
                      <a:endParaRPr lang="en-US"/>
                    </a:p>
                  </a:txBody>
                  <a:tcPr/>
                </a:tc>
                <a:tc>
                  <a:txBody>
                    <a:bodyPr/>
                    <a:p>
                      <a:pPr>
                        <a:buNone/>
                      </a:pPr>
                      <a:r>
                        <a:rPr lang="en-US"/>
                        <a:t>500</a:t>
                      </a:r>
                      <a:endParaRPr lang="en-US"/>
                    </a:p>
                  </a:txBody>
                  <a:tcPr/>
                </a:tc>
              </a:tr>
              <a:tr h="447675">
                <a:tc>
                  <a:txBody>
                    <a:bodyPr/>
                    <a:p>
                      <a:pPr>
                        <a:buNone/>
                      </a:pPr>
                      <a:r>
                        <a:rPr lang="en-US"/>
                        <a:t>40</a:t>
                      </a:r>
                      <a:endParaRPr lang="en-US"/>
                    </a:p>
                  </a:txBody>
                  <a:tcPr/>
                </a:tc>
                <a:tc>
                  <a:txBody>
                    <a:bodyPr/>
                    <a:p>
                      <a:pPr>
                        <a:buNone/>
                      </a:pPr>
                      <a:r>
                        <a:rPr lang="en-US"/>
                        <a:t>1200</a:t>
                      </a:r>
                      <a:endParaRPr lang="en-US"/>
                    </a:p>
                  </a:txBody>
                  <a:tcPr/>
                </a:tc>
                <a:tc>
                  <a:txBody>
                    <a:bodyPr/>
                    <a:p>
                      <a:pPr>
                        <a:buNone/>
                      </a:pPr>
                      <a:r>
                        <a:rPr lang="en-US"/>
                        <a:t>500</a:t>
                      </a:r>
                      <a:endParaRPr lang="en-US"/>
                    </a:p>
                  </a:txBody>
                  <a:tcPr/>
                </a:tc>
              </a:tr>
              <a:tr h="447675">
                <a:tc>
                  <a:txBody>
                    <a:bodyPr/>
                    <a:p>
                      <a:pPr>
                        <a:buNone/>
                      </a:pPr>
                      <a:r>
                        <a:rPr lang="en-US"/>
                        <a:t>50</a:t>
                      </a:r>
                      <a:endParaRPr lang="en-US"/>
                    </a:p>
                  </a:txBody>
                  <a:tcPr/>
                </a:tc>
                <a:tc>
                  <a:txBody>
                    <a:bodyPr/>
                    <a:p>
                      <a:pPr>
                        <a:buNone/>
                      </a:pPr>
                      <a:r>
                        <a:rPr lang="en-US"/>
                        <a:t>1500</a:t>
                      </a:r>
                      <a:endParaRPr lang="en-US"/>
                    </a:p>
                  </a:txBody>
                  <a:tcPr/>
                </a:tc>
                <a:tc>
                  <a:txBody>
                    <a:bodyPr/>
                    <a:p>
                      <a:pPr>
                        <a:buNone/>
                      </a:pPr>
                      <a:r>
                        <a:rPr lang="en-US"/>
                        <a:t>500</a:t>
                      </a:r>
                      <a:endParaRPr lang="en-US"/>
                    </a:p>
                  </a:txBody>
                  <a:tcPr/>
                </a:tc>
              </a:tr>
            </a:tbl>
          </a:graphicData>
        </a:graphic>
      </p:graphicFrame>
    </p:spTree>
  </p:cSld>
  <p:clrMapOvr>
    <a:masterClrMapping/>
  </p:clrMapOvr>
  <p:transition advTm="1348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break-even quantity and break-even sales quantity</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38915" name="Content Placeholder 2"/>
          <p:cNvSpPr>
            <a:spLocks noGrp="1"/>
          </p:cNvSpPr>
          <p:nvPr>
            <p:ph idx="1"/>
          </p:nvPr>
        </p:nvSpPr>
        <p:spPr/>
        <p:txBody>
          <a:bodyPr vert="horz" wrap="square" lIns="91440" tIns="45720" rIns="91440" bIns="45720" anchor="t" anchorCtr="0"/>
          <a:p>
            <a:r>
              <a:rPr b="1" dirty="0"/>
              <a:t>Break</a:t>
            </a:r>
            <a:r>
              <a:rPr dirty="0"/>
              <a:t>-</a:t>
            </a:r>
            <a:r>
              <a:rPr b="1" dirty="0"/>
              <a:t>even quantity</a:t>
            </a:r>
            <a:r>
              <a:rPr dirty="0"/>
              <a:t> refers to the number of units a Firm must sell to cover all its costs.</a:t>
            </a:r>
            <a:endParaRPr dirty="0"/>
          </a:p>
          <a:p>
            <a:r>
              <a:rPr b="1" dirty="0"/>
              <a:t>Break even sales </a:t>
            </a:r>
            <a:r>
              <a:rPr dirty="0"/>
              <a:t>a sales with no profit or loss, also called </a:t>
            </a:r>
            <a:r>
              <a:rPr i="1" dirty="0"/>
              <a:t>breakeven point</a:t>
            </a:r>
            <a:r>
              <a:rPr dirty="0"/>
              <a:t>. It is the sales volume, in </a:t>
            </a:r>
            <a:r>
              <a:rPr i="1" dirty="0"/>
              <a:t>units </a:t>
            </a:r>
            <a:r>
              <a:rPr dirty="0"/>
              <a:t>or in </a:t>
            </a:r>
            <a:r>
              <a:rPr i="1" dirty="0"/>
              <a:t>rupees</a:t>
            </a:r>
            <a:r>
              <a:rPr dirty="0"/>
              <a:t>, where total sales revenue equals total costs. Thus, zero profit results.</a:t>
            </a:r>
            <a:endParaRPr dirty="0"/>
          </a:p>
          <a:p>
            <a:endParaRPr dirty="0"/>
          </a:p>
        </p:txBody>
      </p:sp>
      <p:pic>
        <p:nvPicPr>
          <p:cNvPr id="4" name="~PP3506.WAV">
            <a:hlinkClick r:id="" action="ppaction://media"/>
          </p:cNvPr>
          <p:cNvPicPr>
            <a:picLocks noRot="1" noChangeAspect="1"/>
          </p:cNvPicPr>
          <p:nvPr>
            <a:wavAudioFile r:embed="rId1" name="~PP3506.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891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just" defTabSz="914400" rtl="0" eaLnBrk="1" fontAlgn="auto" latinLnBrk="0" hangingPunct="1">
              <a:lnSpc>
                <a:spcPct val="100000"/>
              </a:lnSpc>
              <a:spcBef>
                <a:spcPct val="0"/>
              </a:spcBef>
              <a:spcAft>
                <a:spcPts val="0"/>
              </a:spcAft>
              <a:buClrTx/>
              <a:buSzTx/>
              <a:buFontTx/>
              <a:buNone/>
              <a:defRPr/>
            </a:pPr>
            <a:r>
              <a:rPr kumimoji="0" lang="en-US" sz="24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The formulae to find the break-even quantity and break-even sales </a:t>
            </a:r>
            <a:r>
              <a:rPr kumimoji="0" lang="en-US" sz="24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rPr>
              <a:t>quantity:</a:t>
            </a:r>
            <a:endParaRPr kumimoji="0" lang="en-US" sz="24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Times New Roman" panose="02020603050405020304" pitchFamily="18" charset="0"/>
              <a:ea typeface="+mj-ea"/>
              <a:cs typeface="Times New Roman" panose="02020603050405020304" pitchFamily="18" charset="0"/>
            </a:endParaRPr>
          </a:p>
        </p:txBody>
      </p:sp>
      <p:pic>
        <p:nvPicPr>
          <p:cNvPr id="39939" name="Picture 3"/>
          <p:cNvPicPr>
            <a:picLocks noGrp="1" noChangeAspect="1"/>
          </p:cNvPicPr>
          <p:nvPr>
            <p:ph idx="1"/>
          </p:nvPr>
        </p:nvPicPr>
        <p:blipFill>
          <a:blip r:embed="rId1"/>
          <a:srcRect/>
          <a:stretch>
            <a:fillRect/>
          </a:stretch>
        </p:blipFill>
        <p:spPr>
          <a:xfrm>
            <a:off x="1924050" y="2678113"/>
            <a:ext cx="5448300" cy="2276475"/>
          </a:xfrm>
        </p:spPr>
      </p:pic>
      <p:pic>
        <p:nvPicPr>
          <p:cNvPr id="4" name="~PP443.WAV">
            <a:hlinkClick r:id="" action="ppaction://media"/>
          </p:cNvPr>
          <p:cNvPicPr>
            <a:picLocks noRot="1" noChangeAspect="1"/>
          </p:cNvPicPr>
          <p:nvPr>
            <a:wavAudioFile r:embed="rId2" name="~PP443.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539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Title 1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Contribution and margin of safety </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40963" name="Text Placeholder 10"/>
          <p:cNvSpPr>
            <a:spLocks noGrp="1"/>
          </p:cNvSpPr>
          <p:nvPr>
            <p:ph idx="1"/>
          </p:nvPr>
        </p:nvSpPr>
        <p:spPr/>
        <p:txBody>
          <a:bodyPr vert="horz" wrap="square" lIns="91440" tIns="45720" rIns="91440" bIns="45720" anchor="t" anchorCtr="0"/>
          <a:p>
            <a:pPr algn="just" eaLnBrk="1" hangingPunct="1"/>
            <a:r>
              <a:rPr dirty="0"/>
              <a:t>The </a:t>
            </a:r>
            <a:r>
              <a:rPr b="1" dirty="0"/>
              <a:t>contribution</a:t>
            </a:r>
            <a:r>
              <a:rPr dirty="0"/>
              <a:t> is the difference between the sales and the variable costs. It is the amount of money a company has to cover its fixed costs after it pays all of its variable expenses</a:t>
            </a:r>
            <a:endParaRPr dirty="0"/>
          </a:p>
          <a:p>
            <a:pPr algn="just" eaLnBrk="1" hangingPunct="1"/>
            <a:r>
              <a:rPr dirty="0"/>
              <a:t>The </a:t>
            </a:r>
            <a:r>
              <a:rPr b="1" dirty="0"/>
              <a:t>margin of safety</a:t>
            </a:r>
            <a:r>
              <a:rPr dirty="0"/>
              <a:t> is how much output or sales level can fall before a business reaches its breakeven point. It is the sales over and above the break-even sales. </a:t>
            </a:r>
            <a:endParaRPr dirty="0"/>
          </a:p>
          <a:p>
            <a:pPr eaLnBrk="1" hangingPunct="1"/>
            <a:endParaRPr dirty="0"/>
          </a:p>
        </p:txBody>
      </p:sp>
      <p:pic>
        <p:nvPicPr>
          <p:cNvPr id="8" name="~PP2641.WAV">
            <a:hlinkClick r:id="" action="ppaction://media"/>
          </p:cNvPr>
          <p:cNvPicPr>
            <a:picLocks noRot="1" noChangeAspect="1"/>
          </p:cNvPicPr>
          <p:nvPr>
            <a:wavAudioFile r:embed="rId1" name="~PP2641.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729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8"/>
                </p:tgtEl>
              </p:cMediaNode>
            </p:audi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The formulae to compute these values are:</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1987" name="Content Placeholder 3"/>
          <p:cNvPicPr>
            <a:picLocks noGrp="1" noChangeAspect="1"/>
          </p:cNvPicPr>
          <p:nvPr>
            <p:ph idx="1"/>
          </p:nvPr>
        </p:nvPicPr>
        <p:blipFill>
          <a:blip r:embed="rId1"/>
          <a:srcRect/>
          <a:stretch>
            <a:fillRect/>
          </a:stretch>
        </p:blipFill>
        <p:spPr>
          <a:xfrm>
            <a:off x="2200275" y="2133600"/>
            <a:ext cx="4895850" cy="3124200"/>
          </a:xfrm>
        </p:spPr>
      </p:pic>
      <p:pic>
        <p:nvPicPr>
          <p:cNvPr id="6" name="~PP1317.WAV">
            <a:hlinkClick r:id="" action="ppaction://media"/>
          </p:cNvPr>
          <p:cNvPicPr>
            <a:picLocks noRot="1" noChangeAspect="1"/>
          </p:cNvPicPr>
          <p:nvPr>
            <a:wavAudioFile r:embed="rId2" name="~PP1317.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762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itle 4"/>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1</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3011" name="Picture 2"/>
          <p:cNvPicPr>
            <a:picLocks noChangeAspect="1"/>
          </p:cNvPicPr>
          <p:nvPr/>
        </p:nvPicPr>
        <p:blipFill>
          <a:blip r:embed="rId1"/>
          <a:stretch>
            <a:fillRect/>
          </a:stretch>
        </p:blipFill>
        <p:spPr>
          <a:xfrm>
            <a:off x="762000" y="1981200"/>
            <a:ext cx="6858000" cy="3657600"/>
          </a:xfrm>
          <a:prstGeom prst="rect">
            <a:avLst/>
          </a:prstGeom>
          <a:noFill/>
          <a:ln w="9525">
            <a:noFill/>
          </a:ln>
        </p:spPr>
      </p:pic>
      <p:pic>
        <p:nvPicPr>
          <p:cNvPr id="7" name="~PP2339.WAV">
            <a:hlinkClick r:id="" action="ppaction://media"/>
          </p:cNvPr>
          <p:cNvPicPr>
            <a:picLocks noRot="1" noChangeAspect="1"/>
          </p:cNvPicPr>
          <p:nvPr>
            <a:wavAudioFile r:embed="rId2" name="~PP2339.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457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7"/>
                </p:tgtEl>
              </p:cMediaNode>
            </p:audio>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4034"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6" name="~PP2774.WAV">
            <a:hlinkClick r:id="" action="ppaction://media"/>
          </p:cNvPr>
          <p:cNvPicPr>
            <a:picLocks noRot="1" noChangeAspect="1"/>
          </p:cNvPicPr>
          <p:nvPr>
            <a:wavAudioFile r:embed="rId2" name="~PP2774.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1188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6"/>
                </p:tgtEl>
              </p:cMediaNode>
            </p:audio>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5058"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3" name="~PP3911.WAV">
            <a:hlinkClick r:id="" action="ppaction://media"/>
          </p:cNvPr>
          <p:cNvPicPr>
            <a:picLocks noRot="1" noChangeAspect="1"/>
          </p:cNvPicPr>
          <p:nvPr>
            <a:wavAudioFile r:embed="rId2" name="~PP3911.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1196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3"/>
                </p:tgtEl>
              </p:cMediaNode>
            </p:audio>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2</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6083" name="Picture 2"/>
          <p:cNvPicPr>
            <a:picLocks noGrp="1" noChangeAspect="1"/>
          </p:cNvPicPr>
          <p:nvPr>
            <p:ph idx="1"/>
          </p:nvPr>
        </p:nvPicPr>
        <p:blipFill>
          <a:blip r:embed="rId1"/>
          <a:srcRect/>
          <a:stretch>
            <a:fillRect/>
          </a:stretch>
        </p:blipFill>
        <p:spPr>
          <a:xfrm>
            <a:off x="1066800" y="1828800"/>
            <a:ext cx="6324600" cy="3505200"/>
          </a:xfrm>
        </p:spPr>
      </p:pic>
      <p:pic>
        <p:nvPicPr>
          <p:cNvPr id="5" name="~PP3338.WAV">
            <a:hlinkClick r:id="" action="ppaction://media"/>
          </p:cNvPr>
          <p:cNvPicPr>
            <a:picLocks noRot="1" noChangeAspect="1"/>
          </p:cNvPicPr>
          <p:nvPr>
            <a:wavAudioFile r:embed="rId2" name="~PP3338.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477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1"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PROFIT/VOLUME RATIO (</a:t>
            </a:r>
            <a:r>
              <a:rPr kumimoji="0" lang="en-US" sz="3600" b="1" i="1"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P/V RATIO)</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sp>
        <p:nvSpPr>
          <p:cNvPr id="47107" name="Content Placeholder 2"/>
          <p:cNvSpPr>
            <a:spLocks noGrp="1"/>
          </p:cNvSpPr>
          <p:nvPr>
            <p:ph idx="1"/>
          </p:nvPr>
        </p:nvSpPr>
        <p:spPr/>
        <p:txBody>
          <a:bodyPr vert="horz" wrap="square" lIns="91440" tIns="45720" rIns="91440" bIns="45720" anchor="t" anchorCtr="0"/>
          <a:p>
            <a:pPr algn="just" eaLnBrk="1" hangingPunct="1"/>
            <a:r>
              <a:rPr sz="2800" i="1" dirty="0"/>
              <a:t>P/V ratio is a valid ratio which is useful for further analysis. </a:t>
            </a:r>
            <a:r>
              <a:rPr sz="2800" dirty="0"/>
              <a:t>The ratio shows the amount of contribution per rupee of sales. Since, in the short-term, fixed cost does not change, the profit-volume ratio also measures the rate of change of profit due to change in the volume of sales. </a:t>
            </a:r>
            <a:endParaRPr sz="2800" i="1" dirty="0"/>
          </a:p>
          <a:p>
            <a:pPr algn="just" eaLnBrk="1" hangingPunct="1"/>
            <a:endParaRPr dirty="0"/>
          </a:p>
        </p:txBody>
      </p:sp>
      <p:pic>
        <p:nvPicPr>
          <p:cNvPr id="5" name="~PP3136.WAV">
            <a:hlinkClick r:id="" action="ppaction://media"/>
          </p:cNvPr>
          <p:cNvPicPr>
            <a:picLocks noRot="1" noChangeAspect="1"/>
          </p:cNvPicPr>
          <p:nvPr>
            <a:wavAudioFile r:embed="rId1" name="~PP3136.WAV"/>
          </p:nvPr>
        </p:nvPicPr>
        <p:blipFill>
          <a:blip r:embed="rId2"/>
          <a:stretch>
            <a:fillRect/>
          </a:stretch>
        </p:blipFill>
        <p:spPr>
          <a:xfrm>
            <a:off x="8696325" y="6410325"/>
            <a:ext cx="304800" cy="304800"/>
          </a:xfrm>
          <a:prstGeom prst="rect">
            <a:avLst/>
          </a:prstGeom>
          <a:noFill/>
          <a:ln w="9525">
            <a:noFill/>
          </a:ln>
        </p:spPr>
      </p:pic>
    </p:spTree>
  </p:cSld>
  <p:clrMapOvr>
    <a:masterClrMapping/>
  </p:clrMapOvr>
  <p:transition advTm="5976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fontScale="90000"/>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sz="3600" b="0" i="1"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The different </a:t>
            </a: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formulae for the </a:t>
            </a:r>
            <a:r>
              <a:rPr kumimoji="0" lang="en-US" sz="3600" b="0" i="1"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P/V ratio are as follows:</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8131" name="Content Placeholder 3"/>
          <p:cNvPicPr>
            <a:picLocks noGrp="1" noChangeAspect="1"/>
          </p:cNvPicPr>
          <p:nvPr>
            <p:ph idx="1"/>
          </p:nvPr>
        </p:nvPicPr>
        <p:blipFill>
          <a:blip r:embed="rId1"/>
          <a:srcRect/>
          <a:stretch>
            <a:fillRect/>
          </a:stretch>
        </p:blipFill>
        <p:spPr>
          <a:xfrm>
            <a:off x="1447800" y="1981200"/>
            <a:ext cx="5448300" cy="2889250"/>
          </a:xfrm>
        </p:spPr>
      </p:pic>
      <p:pic>
        <p:nvPicPr>
          <p:cNvPr id="4" name="~PP417.WAV">
            <a:hlinkClick r:id="" action="ppaction://media"/>
          </p:cNvPr>
          <p:cNvPicPr>
            <a:picLocks noRot="1" noChangeAspect="1"/>
          </p:cNvPicPr>
          <p:nvPr>
            <a:wavAudioFile r:embed="rId2" name="~PP417.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543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1</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49155" name="Picture 2"/>
          <p:cNvPicPr>
            <a:picLocks noGrp="1" noChangeAspect="1"/>
          </p:cNvPicPr>
          <p:nvPr>
            <p:ph idx="1"/>
          </p:nvPr>
        </p:nvPicPr>
        <p:blipFill>
          <a:blip r:embed="rId1"/>
          <a:srcRect/>
          <a:stretch>
            <a:fillRect/>
          </a:stretch>
        </p:blipFill>
        <p:spPr>
          <a:xfrm>
            <a:off x="1219200" y="1981200"/>
            <a:ext cx="6019800" cy="3505200"/>
          </a:xfrm>
        </p:spPr>
      </p:pic>
      <p:pic>
        <p:nvPicPr>
          <p:cNvPr id="4" name="~PP1839.WAV">
            <a:hlinkClick r:id="" action="ppaction://media"/>
          </p:cNvPr>
          <p:cNvPicPr>
            <a:picLocks noRot="1" noChangeAspect="1"/>
          </p:cNvPicPr>
          <p:nvPr>
            <a:wavAudioFile r:embed="rId2" name="~PP1839.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297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178"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3" name="~PP2256.WAV">
            <a:hlinkClick r:id="" action="ppaction://media"/>
          </p:cNvPr>
          <p:cNvPicPr>
            <a:picLocks noRot="1" noChangeAspect="1"/>
          </p:cNvPicPr>
          <p:nvPr>
            <a:wavAudioFile r:embed="rId2" name="~PP2256.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9428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3"/>
                </p:tgtEl>
              </p:cMediaNode>
            </p:audio>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2</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51203" name="Picture 2"/>
          <p:cNvPicPr>
            <a:picLocks noGrp="1" noChangeAspect="1"/>
          </p:cNvPicPr>
          <p:nvPr>
            <p:ph idx="1"/>
          </p:nvPr>
        </p:nvPicPr>
        <p:blipFill>
          <a:blip r:embed="rId1"/>
          <a:srcRect/>
          <a:stretch>
            <a:fillRect/>
          </a:stretch>
        </p:blipFill>
        <p:spPr>
          <a:xfrm>
            <a:off x="1143000" y="1905000"/>
            <a:ext cx="6248400" cy="3733800"/>
          </a:xfrm>
        </p:spPr>
      </p:pic>
      <p:pic>
        <p:nvPicPr>
          <p:cNvPr id="4" name="~PP2785.WAV">
            <a:hlinkClick r:id="" action="ppaction://media"/>
          </p:cNvPr>
          <p:cNvPicPr>
            <a:picLocks noRot="1" noChangeAspect="1"/>
          </p:cNvPicPr>
          <p:nvPr>
            <a:wavAudioFile r:embed="rId2" name="~PP2785.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3299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4"/>
                </p:tgtEl>
              </p:cMediaNode>
            </p:audi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2226" name="Picture 2"/>
          <p:cNvPicPr>
            <a:picLocks noChangeAspect="1"/>
          </p:cNvPicPr>
          <p:nvPr/>
        </p:nvPicPr>
        <p:blipFill>
          <a:blip r:embed="rId1"/>
          <a:stretch>
            <a:fillRect/>
          </a:stretch>
        </p:blipFill>
        <p:spPr>
          <a:xfrm>
            <a:off x="0" y="0"/>
            <a:ext cx="9144000" cy="6858000"/>
          </a:xfrm>
          <a:prstGeom prst="rect">
            <a:avLst/>
          </a:prstGeom>
          <a:noFill/>
          <a:ln w="9525">
            <a:noFill/>
          </a:ln>
        </p:spPr>
      </p:pic>
      <p:pic>
        <p:nvPicPr>
          <p:cNvPr id="5" name="~PP526.WAV">
            <a:hlinkClick r:id="" action="ppaction://media"/>
          </p:cNvPr>
          <p:cNvPicPr>
            <a:picLocks noRot="1" noChangeAspect="1"/>
          </p:cNvPicPr>
          <p:nvPr>
            <a:wavAudioFile r:embed="rId2" name="~PP526.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424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noFill/>
          <a:ln>
            <a:noFill/>
          </a:ln>
          <a:effectLst/>
          <a:scene3d>
            <a:camera prst="orthographicFront"/>
            <a:lightRig rig="balanced" dir="t"/>
          </a:scene3d>
          <a:sp3d prstMaterial="plastic"/>
        </p:spPr>
        <p:txBody>
          <a:bodyPr vert="horz" anchor="ctr">
            <a:normAutofit/>
          </a:body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3600" b="0" i="0" u="none" strike="noStrike" kern="1200" cap="all" spc="0" normalizeH="0" baseline="0" noProof="0" dirty="0" smtClean="0">
                <a:ln>
                  <a:noFill/>
                </a:ln>
                <a:solidFill>
                  <a:schemeClr val="tx2"/>
                </a:solidFill>
                <a:effectLst>
                  <a:reflection blurRad="12700" stA="48000" endA="300" endPos="55000" dir="5400000" sy="-90000" algn="bl" rotWithShape="0"/>
                </a:effectLst>
                <a:uLnTx/>
                <a:uFillTx/>
                <a:latin typeface="+mj-lt"/>
                <a:ea typeface="+mj-ea"/>
                <a:cs typeface="+mj-cs"/>
              </a:rPr>
              <a:t>Example: 3</a:t>
            </a:r>
            <a:endParaRPr kumimoji="0" lang="en-US" sz="3600" b="0" i="0" u="none" strike="noStrike" kern="1200" cap="all" spc="0" normalizeH="0" baseline="0" noProof="0" dirty="0">
              <a:ln>
                <a:noFill/>
              </a:ln>
              <a:solidFill>
                <a:schemeClr val="tx2"/>
              </a:solidFill>
              <a:effectLst>
                <a:reflection blurRad="12700" stA="48000" endA="300" endPos="55000" dir="5400000" sy="-90000" algn="bl" rotWithShape="0"/>
              </a:effectLst>
              <a:uLnTx/>
              <a:uFillTx/>
              <a:latin typeface="+mj-lt"/>
              <a:ea typeface="+mj-ea"/>
              <a:cs typeface="+mj-cs"/>
            </a:endParaRPr>
          </a:p>
        </p:txBody>
      </p:sp>
      <p:pic>
        <p:nvPicPr>
          <p:cNvPr id="53251" name="Picture 2"/>
          <p:cNvPicPr>
            <a:picLocks noGrp="1" noChangeAspect="1"/>
          </p:cNvPicPr>
          <p:nvPr>
            <p:ph idx="1"/>
          </p:nvPr>
        </p:nvPicPr>
        <p:blipFill>
          <a:blip r:embed="rId1"/>
          <a:srcRect/>
          <a:stretch>
            <a:fillRect/>
          </a:stretch>
        </p:blipFill>
        <p:spPr>
          <a:xfrm>
            <a:off x="1371600" y="1600200"/>
            <a:ext cx="5486400" cy="3657600"/>
          </a:xfrm>
        </p:spPr>
      </p:pic>
      <p:pic>
        <p:nvPicPr>
          <p:cNvPr id="5" name="~PP3907.WAV">
            <a:hlinkClick r:id="" action="ppaction://media"/>
          </p:cNvPr>
          <p:cNvPicPr>
            <a:picLocks noRot="1" noChangeAspect="1"/>
          </p:cNvPicPr>
          <p:nvPr>
            <a:wavAudioFile r:embed="rId2" name="~PP3907.WAV"/>
          </p:nvPr>
        </p:nvPicPr>
        <p:blipFill>
          <a:blip r:embed="rId3"/>
          <a:stretch>
            <a:fillRect/>
          </a:stretch>
        </p:blipFill>
        <p:spPr>
          <a:xfrm>
            <a:off x="8696325" y="6410325"/>
            <a:ext cx="304800" cy="304800"/>
          </a:xfrm>
          <a:prstGeom prst="rect">
            <a:avLst/>
          </a:prstGeom>
          <a:noFill/>
          <a:ln w="9525">
            <a:noFill/>
          </a:ln>
        </p:spPr>
      </p:pic>
    </p:spTree>
  </p:cSld>
  <p:clrMapOvr>
    <a:masterClrMapping/>
  </p:clrMapOvr>
  <p:transition advTm="322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numSld="1" showWhenStopped="0">
                <p:cTn id="7" fill="hold" display="0">
                  <p:stCondLst>
                    <p:cond delay="indefinite"/>
                  </p:stCondLst>
                  <p:endCondLst>
                    <p:cond evt="onPrev" delay="0">
                      <p:tgtEl>
                        <p:sldTgt/>
                      </p:tgtEl>
                    </p:cond>
                    <p:cond evt="onStopAudio" delay="0">
                      <p:tgtEl>
                        <p:sldTgt/>
                      </p:tgtEl>
                    </p:cond>
                  </p:endCondLst>
                </p:cTn>
                <p:tgtEl>
                  <p:spTgt spid="5"/>
                </p:tgtEl>
              </p:cMediaNode>
            </p:audio>
          </p:childTnLst>
        </p:cTn>
      </p:par>
    </p:tnLst>
  </p:timing>
</p:sld>
</file>

<file path=ppt/tags/tag1.xml><?xml version="1.0" encoding="utf-8"?>
<p:tagLst xmlns:p="http://schemas.openxmlformats.org/presentationml/2006/main">
  <p:tag name="TABLE_ENDDRAG_ORIGIN_RECT" val="651*281"/>
  <p:tag name="TABLE_ENDDRAG_RECT" val="32*210*651*281"/>
</p:tagLst>
</file>

<file path=ppt/theme/theme1.xml><?xml version="1.0" encoding="utf-8"?>
<a:theme xmlns:a="http://schemas.openxmlformats.org/drawingml/2006/main" name="Default Design">
  <a:themeElements>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fontScheme name="">
      <a:majorFont>
        <a:latin typeface="Arial"/>
        <a:ea typeface="Arial"/>
        <a:cs typeface=""/>
      </a:majorFont>
      <a:minorFont>
        <a:latin typeface="Arial"/>
        <a:ea typeface="Ari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
        <a:dk1>
          <a:srgbClr val="000000"/>
        </a:dk1>
        <a:lt1>
          <a:srgbClr val="DEF6F1"/>
        </a:lt1>
        <a:dk2>
          <a:srgbClr val="000000"/>
        </a:dk2>
        <a:lt2>
          <a:srgbClr val="969696"/>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
        <a:dk1>
          <a:srgbClr val="FFFFFF"/>
        </a:dk1>
        <a:lt1>
          <a:srgbClr val="008080"/>
        </a:lt1>
        <a:dk2>
          <a:srgbClr val="FFFF99"/>
        </a:dk2>
        <a:lt2>
          <a:srgbClr val="005A58"/>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clrMap bg1="lt1" tx1="dk1" bg2="lt2" tx2="dk2" accent1="accent1" accent2="accent2" accent3="accent3" accent4="accent4" accent5="accent5" accent6="accent6" hlink="hlink" folHlink="folHlink"/>
    </a:extraClrScheme>
    <a:extraClrScheme>
      <a:clrScheme name="">
        <a:dk1>
          <a:srgbClr val="FFFFFF"/>
        </a:dk1>
        <a:lt1>
          <a:srgbClr val="800000"/>
        </a:lt1>
        <a:dk2>
          <a:srgbClr val="DFD293"/>
        </a:dk2>
        <a:lt2>
          <a:srgbClr val="5C1F00"/>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clrMap bg1="lt1" tx1="dk1" bg2="lt2" tx2="dk2" accent1="accent1" accent2="accent2" accent3="accent3" accent4="accent4" accent5="accent5" accent6="accent6" hlink="hlink" folHlink="folHlink"/>
    </a:extraClrScheme>
    <a:extraClrScheme>
      <a:clrScheme name="">
        <a:dk1>
          <a:srgbClr val="FFFFFF"/>
        </a:dk1>
        <a:lt1>
          <a:srgbClr val="000099"/>
        </a:lt1>
        <a:dk2>
          <a:srgbClr val="CCFFFF"/>
        </a:dk2>
        <a:lt2>
          <a:srgbClr val="003366"/>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clrMap bg1="lt1" tx1="dk1" bg2="lt2" tx2="dk2" accent1="accent1" accent2="accent2" accent3="accent3" accent4="accent4" accent5="accent5" accent6="accent6" hlink="hlink" folHlink="folHlink"/>
    </a:extraClrScheme>
    <a:extraClrScheme>
      <a:clrScheme name="">
        <a:dk1>
          <a:srgbClr val="FFFFFF"/>
        </a:dk1>
        <a:lt1>
          <a:srgbClr val="000000"/>
        </a:lt1>
        <a:dk2>
          <a:srgbClr val="E3EBF1"/>
        </a:dk2>
        <a:lt2>
          <a:srgbClr val="336699"/>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clrMap bg1="lt1" tx1="dk1" bg2="lt2" tx2="dk2" accent1="accent1" accent2="accent2" accent3="accent3" accent4="accent4" accent5="accent5" accent6="accent6" hlink="hlink" folHlink="folHlink"/>
    </a:extraClrScheme>
    <a:extraClrScheme>
      <a:clrScheme name="">
        <a:dk1>
          <a:srgbClr val="FFFFFF"/>
        </a:dk1>
        <a:lt1>
          <a:srgbClr val="686B5D"/>
        </a:lt1>
        <a:dk2>
          <a:srgbClr val="D1D1CB"/>
        </a:dk2>
        <a:lt2>
          <a:srgbClr val="777777"/>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clrMap bg1="lt1" tx1="dk1" bg2="lt2" tx2="dk2" accent1="accent1" accent2="accent2" accent3="accent3" accent4="accent4" accent5="accent5" accent6="accent6" hlink="hlink" folHlink="folHlink"/>
    </a:extraClrScheme>
    <a:extraClrScheme>
      <a:clrScheme name="">
        <a:dk1>
          <a:srgbClr val="FFFFFF"/>
        </a:dk1>
        <a:lt1>
          <a:srgbClr val="666699"/>
        </a:lt1>
        <a:dk2>
          <a:srgbClr val="FFFFFF"/>
        </a:dk2>
        <a:lt2>
          <a:srgbClr val="3E3E5C"/>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clrMap bg1="lt1" tx1="dk1" bg2="lt2" tx2="dk2" accent1="accent1" accent2="accent2" accent3="accent3" accent4="accent4" accent5="accent5" accent6="accent6" hlink="hlink" folHlink="folHlink"/>
    </a:extraClrScheme>
    <a:extraClrScheme>
      <a:clrScheme name="">
        <a:dk1>
          <a:srgbClr val="FFFFFF"/>
        </a:dk1>
        <a:lt1>
          <a:srgbClr val="523E26"/>
        </a:lt1>
        <a:dk2>
          <a:srgbClr val="DFC08D"/>
        </a:dk2>
        <a:lt2>
          <a:srgbClr val="2D2015"/>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7DB6EF"/>
        </a:accent1>
        <a:accent2>
          <a:srgbClr val="C0504D"/>
        </a:accent2>
        <a:accent3>
          <a:srgbClr val="FFFFFF"/>
        </a:accent3>
        <a:accent4>
          <a:srgbClr val="000000"/>
        </a:accent4>
        <a:accent5>
          <a:srgbClr val="C0D7F5"/>
        </a:accent5>
        <a:accent6>
          <a:srgbClr val="AC4744"/>
        </a:accent6>
        <a:hlink>
          <a:srgbClr val="0066CC"/>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Trek</Template>
  <TotalTime>0</TotalTime>
  <Words>5957</Words>
  <Application>WPS Presentation</Application>
  <PresentationFormat>On-screen Show (4:3)</PresentationFormat>
  <Paragraphs>237</Paragraphs>
  <Slides>40</Slides>
  <Notes>12</Notes>
  <HiddenSlides>0</HiddenSlides>
  <MMClips>43</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7</vt:i4>
      </vt:variant>
      <vt:variant>
        <vt:lpstr>幻灯片标题</vt:lpstr>
      </vt:variant>
      <vt:variant>
        <vt:i4>40</vt:i4>
      </vt:variant>
    </vt:vector>
  </HeadingPairs>
  <TitlesOfParts>
    <vt:vector size="60" baseType="lpstr">
      <vt:lpstr>Arial</vt:lpstr>
      <vt:lpstr>SimSun</vt:lpstr>
      <vt:lpstr>Wingdings</vt:lpstr>
      <vt:lpstr>Franklin Gothic Book</vt:lpstr>
      <vt:lpstr>Calibri</vt:lpstr>
      <vt:lpstr>Wingdings 2</vt:lpstr>
      <vt:lpstr>Microsoft YaHei</vt:lpstr>
      <vt:lpstr>Arial Unicode MS</vt:lpstr>
      <vt:lpstr>Symbol</vt:lpstr>
      <vt:lpstr>Times New Roman</vt:lpstr>
      <vt:lpstr>Calibri</vt:lpstr>
      <vt:lpstr>Times New Roman</vt:lpstr>
      <vt:lpstr>Default Design</vt:lpstr>
      <vt:lpstr>Excel.Chart.8</vt:lpstr>
      <vt:lpstr>Excel.Chart.8</vt:lpstr>
      <vt:lpstr>Excel.Chart.8</vt:lpstr>
      <vt:lpstr>Excel.Chart.8</vt:lpstr>
      <vt:lpstr>Excel.Chart.8</vt:lpstr>
      <vt:lpstr>Excel.Chart.8</vt:lpstr>
      <vt:lpstr>Excel.Chart.8</vt:lpstr>
      <vt:lpstr>Element of cost </vt:lpstr>
      <vt:lpstr>Element of cost </vt:lpstr>
      <vt:lpstr>Variable cost can be further classified into : </vt:lpstr>
      <vt:lpstr>PowerPoint 演示文稿</vt:lpstr>
      <vt:lpstr>PowerPoint 演示文稿</vt:lpstr>
      <vt:lpstr>OTHER COSTS/REVENUES</vt:lpstr>
      <vt:lpstr>PowerPoint 演示文稿</vt:lpstr>
      <vt:lpstr>Sunk Cost</vt:lpstr>
      <vt:lpstr>Opportunity Cost</vt:lpstr>
      <vt:lpstr>Breakeven Analysis </vt:lpstr>
      <vt:lpstr>What is Breakeven?</vt:lpstr>
      <vt:lpstr>The Breakeven Equation </vt:lpstr>
      <vt:lpstr>The Breakeven Equation </vt:lpstr>
      <vt:lpstr>The Breakeven Equation </vt:lpstr>
      <vt:lpstr>The Breakeven Equation </vt:lpstr>
      <vt:lpstr>Graphic Depiction of Breakeven</vt:lpstr>
      <vt:lpstr>Graphic Depiction of Breakeven</vt:lpstr>
      <vt:lpstr>Graphic Depiction of Breakeven</vt:lpstr>
      <vt:lpstr>Graphic Depiction of Breakeven</vt:lpstr>
      <vt:lpstr>Graphic Depiction of Breakeven</vt:lpstr>
      <vt:lpstr>Graphic Depiction of Breakeven</vt:lpstr>
      <vt:lpstr>Graphic Depiction of Breakeven</vt:lpstr>
      <vt:lpstr>PowerPoint 演示文稿</vt:lpstr>
      <vt:lpstr>PowerPoint 演示文稿</vt:lpstr>
      <vt:lpstr>Example  Find out the total cost and Sales of the firm and also find out the profit of the firm when the price of product is $45, and also describe it diagrammatically where break even point is equal to zero.</vt:lpstr>
      <vt:lpstr>break-even quantity and break-even sales quantity</vt:lpstr>
      <vt:lpstr>The formulae to find the break-even quantity and break-even sales quantity:</vt:lpstr>
      <vt:lpstr>Contribution and margin of safety </vt:lpstr>
      <vt:lpstr>The formulae to compute these values are:</vt:lpstr>
      <vt:lpstr>Example: 1</vt:lpstr>
      <vt:lpstr>PowerPoint 演示文稿</vt:lpstr>
      <vt:lpstr>PowerPoint 演示文稿</vt:lpstr>
      <vt:lpstr>Example: 2</vt:lpstr>
      <vt:lpstr>PROFIT/VOLUME RATIO (P/V RATIO)</vt:lpstr>
      <vt:lpstr>The different formulae for the P/V ratio are as follows:</vt:lpstr>
      <vt:lpstr>Example: 1</vt:lpstr>
      <vt:lpstr>PowerPoint 演示文稿</vt:lpstr>
      <vt:lpstr>Example: 2</vt:lpstr>
      <vt:lpstr>PowerPoint 演示文稿</vt:lpstr>
      <vt:lpstr>Example: 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Ch Mohsan</dc:creator>
  <cp:lastModifiedBy>Dr. Fariha Rehman</cp:lastModifiedBy>
  <cp:revision>74</cp:revision>
  <dcterms:created xsi:type="dcterms:W3CDTF">2016-12-08T14:33:00Z</dcterms:created>
  <dcterms:modified xsi:type="dcterms:W3CDTF">2025-09-15T06:32:26Z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5E62986D3AE648AA8BAE42E4CAC5FFF2_13</vt:lpwstr>
  </property>
  <property fmtid="{D5CDD505-2E9C-101B-9397-08002B2CF9AE}" pid="3" name="KSOProductBuildVer">
    <vt:lpwstr>1033-12.2.0.22549</vt:lpwstr>
  </property>
</Properties>
</file>