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ED2024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3953A4"/>
                </a:solidFill>
                <a:latin typeface="Wingdings"/>
                <a:cs typeface="Wingding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ED2024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3953A4"/>
                </a:solidFill>
                <a:latin typeface="Wingdings"/>
                <a:cs typeface="Wingding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ED2024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ED2024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14400" y="731837"/>
            <a:ext cx="8230234" cy="1143000"/>
          </a:xfrm>
          <a:custGeom>
            <a:avLst/>
            <a:gdLst/>
            <a:ahLst/>
            <a:cxnLst/>
            <a:rect l="l" t="t" r="r" b="b"/>
            <a:pathLst>
              <a:path w="8230234" h="1143000">
                <a:moveTo>
                  <a:pt x="0" y="0"/>
                </a:moveTo>
                <a:lnTo>
                  <a:pt x="0" y="1143000"/>
                </a:lnTo>
                <a:lnTo>
                  <a:pt x="8229612" y="1143000"/>
                </a:lnTo>
                <a:lnTo>
                  <a:pt x="82296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5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3765" y="649036"/>
            <a:ext cx="8230869" cy="12439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ED2024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1092" y="2116839"/>
            <a:ext cx="8217534" cy="50552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3953A4"/>
                </a:solidFill>
                <a:latin typeface="Wingdings"/>
                <a:cs typeface="Wingding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3.png"/><Relationship Id="rId8" Type="http://schemas.openxmlformats.org/officeDocument/2006/relationships/image" Target="../media/image2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jpg"/><Relationship Id="rId7" Type="http://schemas.openxmlformats.org/officeDocument/2006/relationships/image" Target="../media/image29.jpg"/><Relationship Id="rId8" Type="http://schemas.openxmlformats.org/officeDocument/2006/relationships/image" Target="../media/image30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jp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5" Type="http://schemas.openxmlformats.org/officeDocument/2006/relationships/image" Target="../media/image4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Relationship Id="rId14" Type="http://schemas.openxmlformats.org/officeDocument/2006/relationships/image" Target="../media/image50.png"/><Relationship Id="rId15" Type="http://schemas.openxmlformats.org/officeDocument/2006/relationships/image" Target="../media/image51.png"/><Relationship Id="rId16" Type="http://schemas.openxmlformats.org/officeDocument/2006/relationships/image" Target="../media/image52.png"/><Relationship Id="rId17" Type="http://schemas.openxmlformats.org/officeDocument/2006/relationships/image" Target="../media/image53.png"/><Relationship Id="rId18" Type="http://schemas.openxmlformats.org/officeDocument/2006/relationships/image" Target="../media/image54.png"/><Relationship Id="rId19" Type="http://schemas.openxmlformats.org/officeDocument/2006/relationships/image" Target="../media/image55.png"/><Relationship Id="rId20" Type="http://schemas.openxmlformats.org/officeDocument/2006/relationships/image" Target="../media/image56.png"/><Relationship Id="rId21" Type="http://schemas.openxmlformats.org/officeDocument/2006/relationships/image" Target="../media/image57.png"/><Relationship Id="rId22" Type="http://schemas.openxmlformats.org/officeDocument/2006/relationships/image" Target="../media/image58.png"/><Relationship Id="rId23" Type="http://schemas.openxmlformats.org/officeDocument/2006/relationships/image" Target="../media/image59.png"/><Relationship Id="rId24" Type="http://schemas.openxmlformats.org/officeDocument/2006/relationships/image" Target="../media/image60.jpg"/><Relationship Id="rId25" Type="http://schemas.openxmlformats.org/officeDocument/2006/relationships/image" Target="../media/image61.jpg"/><Relationship Id="rId26" Type="http://schemas.openxmlformats.org/officeDocument/2006/relationships/image" Target="../media/image62.png"/><Relationship Id="rId27" Type="http://schemas.openxmlformats.org/officeDocument/2006/relationships/image" Target="../media/image63.jpg"/><Relationship Id="rId28" Type="http://schemas.openxmlformats.org/officeDocument/2006/relationships/image" Target="../media/image64.png"/><Relationship Id="rId29" Type="http://schemas.openxmlformats.org/officeDocument/2006/relationships/image" Target="../media/image65.png"/><Relationship Id="rId30" Type="http://schemas.openxmlformats.org/officeDocument/2006/relationships/image" Target="../media/image66.png"/><Relationship Id="rId31" Type="http://schemas.openxmlformats.org/officeDocument/2006/relationships/image" Target="../media/image6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68.png"/><Relationship Id="rId9" Type="http://schemas.openxmlformats.org/officeDocument/2006/relationships/image" Target="../media/image46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image" Target="../media/image71.png"/><Relationship Id="rId13" Type="http://schemas.openxmlformats.org/officeDocument/2006/relationships/image" Target="../media/image72.png"/><Relationship Id="rId14" Type="http://schemas.openxmlformats.org/officeDocument/2006/relationships/image" Target="../media/image73.png"/><Relationship Id="rId15" Type="http://schemas.openxmlformats.org/officeDocument/2006/relationships/image" Target="../media/image74.png"/><Relationship Id="rId16" Type="http://schemas.openxmlformats.org/officeDocument/2006/relationships/image" Target="../media/image75.png"/><Relationship Id="rId17" Type="http://schemas.openxmlformats.org/officeDocument/2006/relationships/image" Target="../media/image7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77.jpg"/><Relationship Id="rId7" Type="http://schemas.openxmlformats.org/officeDocument/2006/relationships/image" Target="../media/image78.jp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Relationship Id="rId12" Type="http://schemas.openxmlformats.org/officeDocument/2006/relationships/image" Target="../media/image83.png"/><Relationship Id="rId13" Type="http://schemas.openxmlformats.org/officeDocument/2006/relationships/image" Target="../media/image84.png"/><Relationship Id="rId14" Type="http://schemas.openxmlformats.org/officeDocument/2006/relationships/image" Target="../media/image85.png"/><Relationship Id="rId15" Type="http://schemas.openxmlformats.org/officeDocument/2006/relationships/image" Target="../media/image86.png"/><Relationship Id="rId16" Type="http://schemas.openxmlformats.org/officeDocument/2006/relationships/image" Target="../media/image87.png"/><Relationship Id="rId17" Type="http://schemas.openxmlformats.org/officeDocument/2006/relationships/image" Target="../media/image88.png"/><Relationship Id="rId18" Type="http://schemas.openxmlformats.org/officeDocument/2006/relationships/image" Target="../media/image89.png"/><Relationship Id="rId19" Type="http://schemas.openxmlformats.org/officeDocument/2006/relationships/image" Target="../media/image90.png"/><Relationship Id="rId20" Type="http://schemas.openxmlformats.org/officeDocument/2006/relationships/image" Target="../media/image91.png"/><Relationship Id="rId21" Type="http://schemas.openxmlformats.org/officeDocument/2006/relationships/image" Target="../media/image92.png"/><Relationship Id="rId22" Type="http://schemas.openxmlformats.org/officeDocument/2006/relationships/image" Target="../media/image93.png"/><Relationship Id="rId23" Type="http://schemas.openxmlformats.org/officeDocument/2006/relationships/image" Target="../media/image94.png"/><Relationship Id="rId24" Type="http://schemas.openxmlformats.org/officeDocument/2006/relationships/image" Target="../media/image95.png"/><Relationship Id="rId25" Type="http://schemas.openxmlformats.org/officeDocument/2006/relationships/image" Target="../media/image9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Relationship Id="rId9" Type="http://schemas.openxmlformats.org/officeDocument/2006/relationships/image" Target="../media/image100.png"/><Relationship Id="rId10" Type="http://schemas.openxmlformats.org/officeDocument/2006/relationships/image" Target="../media/image101.png"/><Relationship Id="rId11" Type="http://schemas.openxmlformats.org/officeDocument/2006/relationships/image" Target="../media/image102.png"/><Relationship Id="rId12" Type="http://schemas.openxmlformats.org/officeDocument/2006/relationships/image" Target="../media/image103.png"/><Relationship Id="rId13" Type="http://schemas.openxmlformats.org/officeDocument/2006/relationships/image" Target="../media/image104.png"/><Relationship Id="rId14" Type="http://schemas.openxmlformats.org/officeDocument/2006/relationships/image" Target="../media/image105.png"/><Relationship Id="rId15" Type="http://schemas.openxmlformats.org/officeDocument/2006/relationships/image" Target="../media/image106.png"/><Relationship Id="rId16" Type="http://schemas.openxmlformats.org/officeDocument/2006/relationships/image" Target="../media/image107.png"/><Relationship Id="rId17" Type="http://schemas.openxmlformats.org/officeDocument/2006/relationships/image" Target="../media/image108.png"/><Relationship Id="rId18" Type="http://schemas.openxmlformats.org/officeDocument/2006/relationships/image" Target="../media/image109.png"/><Relationship Id="rId19" Type="http://schemas.openxmlformats.org/officeDocument/2006/relationships/image" Target="../media/image110.png"/><Relationship Id="rId20" Type="http://schemas.openxmlformats.org/officeDocument/2006/relationships/image" Target="../media/image111.png"/><Relationship Id="rId21" Type="http://schemas.openxmlformats.org/officeDocument/2006/relationships/image" Target="../media/image112.png"/><Relationship Id="rId22" Type="http://schemas.openxmlformats.org/officeDocument/2006/relationships/image" Target="../media/image113.png"/><Relationship Id="rId23" Type="http://schemas.openxmlformats.org/officeDocument/2006/relationships/image" Target="../media/image11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115.jpg"/><Relationship Id="rId7" Type="http://schemas.openxmlformats.org/officeDocument/2006/relationships/image" Target="../media/image116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119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120.jpg"/><Relationship Id="rId7" Type="http://schemas.openxmlformats.org/officeDocument/2006/relationships/image" Target="../media/image121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122.jpg"/><Relationship Id="rId7" Type="http://schemas.openxmlformats.org/officeDocument/2006/relationships/image" Target="../media/image123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122.jpg"/><Relationship Id="rId7" Type="http://schemas.openxmlformats.org/officeDocument/2006/relationships/image" Target="../media/image126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122.jpg"/><Relationship Id="rId7" Type="http://schemas.openxmlformats.org/officeDocument/2006/relationships/image" Target="../media/image127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122.jpg"/><Relationship Id="rId7" Type="http://schemas.openxmlformats.org/officeDocument/2006/relationships/image" Target="../media/image128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129.jpg"/><Relationship Id="rId7" Type="http://schemas.openxmlformats.org/officeDocument/2006/relationships/image" Target="../media/image130.png"/><Relationship Id="rId8" Type="http://schemas.openxmlformats.org/officeDocument/2006/relationships/image" Target="../media/image131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1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Relationship Id="rId6" Type="http://schemas.openxmlformats.org/officeDocument/2006/relationships/image" Target="../media/image135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37.jpg"/><Relationship Id="rId6" Type="http://schemas.openxmlformats.org/officeDocument/2006/relationships/image" Target="../media/image138.jpg"/><Relationship Id="rId7" Type="http://schemas.openxmlformats.org/officeDocument/2006/relationships/image" Target="../media/image139.jpg"/><Relationship Id="rId8" Type="http://schemas.openxmlformats.org/officeDocument/2006/relationships/image" Target="../media/image140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41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42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3.png"/><Relationship Id="rId3" Type="http://schemas.openxmlformats.org/officeDocument/2006/relationships/image" Target="../media/image144.png"/><Relationship Id="rId4" Type="http://schemas.openxmlformats.org/officeDocument/2006/relationships/image" Target="../media/image145.jpg"/><Relationship Id="rId5" Type="http://schemas.openxmlformats.org/officeDocument/2006/relationships/image" Target="../media/image146.jpg"/><Relationship Id="rId6" Type="http://schemas.openxmlformats.org/officeDocument/2006/relationships/image" Target="../media/image147.png"/><Relationship Id="rId7" Type="http://schemas.openxmlformats.org/officeDocument/2006/relationships/image" Target="../media/image148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49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50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51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52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53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54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55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56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57.jp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58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59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60.png"/><Relationship Id="rId6" Type="http://schemas.openxmlformats.org/officeDocument/2006/relationships/image" Target="../media/image161.png"/><Relationship Id="rId7" Type="http://schemas.openxmlformats.org/officeDocument/2006/relationships/image" Target="../media/image162.png"/><Relationship Id="rId8" Type="http://schemas.openxmlformats.org/officeDocument/2006/relationships/image" Target="../media/image163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64.png"/><Relationship Id="rId6" Type="http://schemas.openxmlformats.org/officeDocument/2006/relationships/image" Target="../media/image165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66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7.png"/><Relationship Id="rId3" Type="http://schemas.openxmlformats.org/officeDocument/2006/relationships/image" Target="../media/image3.png"/><Relationship Id="rId4" Type="http://schemas.openxmlformats.org/officeDocument/2006/relationships/image" Target="../media/image168.png"/><Relationship Id="rId5" Type="http://schemas.openxmlformats.org/officeDocument/2006/relationships/image" Target="../media/image169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0.png"/><Relationship Id="rId3" Type="http://schemas.openxmlformats.org/officeDocument/2006/relationships/image" Target="../media/image171.jpg"/><Relationship Id="rId4" Type="http://schemas.openxmlformats.org/officeDocument/2006/relationships/image" Target="../media/image172.png"/><Relationship Id="rId5" Type="http://schemas.openxmlformats.org/officeDocument/2006/relationships/image" Target="../media/image173.png"/><Relationship Id="rId6" Type="http://schemas.openxmlformats.org/officeDocument/2006/relationships/image" Target="../media/image174.png"/><Relationship Id="rId7" Type="http://schemas.openxmlformats.org/officeDocument/2006/relationships/image" Target="../media/image175.jpg"/><Relationship Id="rId8" Type="http://schemas.openxmlformats.org/officeDocument/2006/relationships/image" Target="../media/image176.jpg"/><Relationship Id="rId9" Type="http://schemas.openxmlformats.org/officeDocument/2006/relationships/image" Target="../media/image177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7.png"/><Relationship Id="rId3" Type="http://schemas.openxmlformats.org/officeDocument/2006/relationships/image" Target="../media/image3.png"/><Relationship Id="rId4" Type="http://schemas.openxmlformats.org/officeDocument/2006/relationships/image" Target="../media/image168.png"/><Relationship Id="rId5" Type="http://schemas.openxmlformats.org/officeDocument/2006/relationships/image" Target="../media/image178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9.png"/><Relationship Id="rId3" Type="http://schemas.openxmlformats.org/officeDocument/2006/relationships/image" Target="../media/image180.png"/><Relationship Id="rId4" Type="http://schemas.openxmlformats.org/officeDocument/2006/relationships/image" Target="../media/image181.png"/><Relationship Id="rId5" Type="http://schemas.openxmlformats.org/officeDocument/2006/relationships/image" Target="../media/image3.png"/><Relationship Id="rId6" Type="http://schemas.openxmlformats.org/officeDocument/2006/relationships/image" Target="../media/image182.png"/><Relationship Id="rId7" Type="http://schemas.openxmlformats.org/officeDocument/2006/relationships/image" Target="../media/image183.png"/><Relationship Id="rId8" Type="http://schemas.openxmlformats.org/officeDocument/2006/relationships/image" Target="../media/image175.jp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7.png"/><Relationship Id="rId3" Type="http://schemas.openxmlformats.org/officeDocument/2006/relationships/image" Target="../media/image3.png"/><Relationship Id="rId4" Type="http://schemas.openxmlformats.org/officeDocument/2006/relationships/image" Target="../media/image168.png"/><Relationship Id="rId5" Type="http://schemas.openxmlformats.org/officeDocument/2006/relationships/image" Target="../media/image184.png"/><Relationship Id="rId6" Type="http://schemas.openxmlformats.org/officeDocument/2006/relationships/image" Target="../media/image185.pn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186.pn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87.png"/><Relationship Id="rId6" Type="http://schemas.openxmlformats.org/officeDocument/2006/relationships/image" Target="../media/image188.png"/><Relationship Id="rId7" Type="http://schemas.openxmlformats.org/officeDocument/2006/relationships/image" Target="../media/image189.png"/><Relationship Id="rId8" Type="http://schemas.openxmlformats.org/officeDocument/2006/relationships/image" Target="../media/image190.png"/><Relationship Id="rId9" Type="http://schemas.openxmlformats.org/officeDocument/2006/relationships/image" Target="../media/image191.pn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7.png"/><Relationship Id="rId3" Type="http://schemas.openxmlformats.org/officeDocument/2006/relationships/image" Target="../media/image3.png"/><Relationship Id="rId4" Type="http://schemas.openxmlformats.org/officeDocument/2006/relationships/image" Target="../media/image168.png"/><Relationship Id="rId5" Type="http://schemas.openxmlformats.org/officeDocument/2006/relationships/image" Target="../media/image192.jpg"/><Relationship Id="rId6" Type="http://schemas.openxmlformats.org/officeDocument/2006/relationships/image" Target="../media/image193.png"/><Relationship Id="rId7" Type="http://schemas.openxmlformats.org/officeDocument/2006/relationships/image" Target="../media/image194.pn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7.png"/><Relationship Id="rId3" Type="http://schemas.openxmlformats.org/officeDocument/2006/relationships/image" Target="../media/image3.png"/><Relationship Id="rId4" Type="http://schemas.openxmlformats.org/officeDocument/2006/relationships/image" Target="../media/image168.png"/><Relationship Id="rId5" Type="http://schemas.openxmlformats.org/officeDocument/2006/relationships/image" Target="../media/image195.jp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6.png"/><Relationship Id="rId3" Type="http://schemas.openxmlformats.org/officeDocument/2006/relationships/image" Target="../media/image197.png"/><Relationship Id="rId4" Type="http://schemas.openxmlformats.org/officeDocument/2006/relationships/image" Target="../media/image198.jpg"/><Relationship Id="rId5" Type="http://schemas.openxmlformats.org/officeDocument/2006/relationships/image" Target="../media/image199.jp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6.png"/><Relationship Id="rId3" Type="http://schemas.openxmlformats.org/officeDocument/2006/relationships/image" Target="../media/image197.png"/><Relationship Id="rId4" Type="http://schemas.openxmlformats.org/officeDocument/2006/relationships/image" Target="../media/image198.jpg"/><Relationship Id="rId5" Type="http://schemas.openxmlformats.org/officeDocument/2006/relationships/image" Target="../media/image200.jpg"/><Relationship Id="rId6" Type="http://schemas.openxmlformats.org/officeDocument/2006/relationships/image" Target="../media/image201.jpg"/><Relationship Id="rId7" Type="http://schemas.openxmlformats.org/officeDocument/2006/relationships/image" Target="../media/image202.jpg"/><Relationship Id="rId8" Type="http://schemas.openxmlformats.org/officeDocument/2006/relationships/image" Target="../media/image203.jp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204.pn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6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6.png"/><Relationship Id="rId3" Type="http://schemas.openxmlformats.org/officeDocument/2006/relationships/image" Target="../media/image197.png"/><Relationship Id="rId4" Type="http://schemas.openxmlformats.org/officeDocument/2006/relationships/image" Target="../media/image198.jpg"/><Relationship Id="rId5" Type="http://schemas.openxmlformats.org/officeDocument/2006/relationships/image" Target="../media/image205.jp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6.png"/><Relationship Id="rId3" Type="http://schemas.openxmlformats.org/officeDocument/2006/relationships/image" Target="../media/image197.png"/><Relationship Id="rId4" Type="http://schemas.openxmlformats.org/officeDocument/2006/relationships/image" Target="../media/image198.jpg"/><Relationship Id="rId5" Type="http://schemas.openxmlformats.org/officeDocument/2006/relationships/image" Target="../media/image206.jp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6.png"/><Relationship Id="rId3" Type="http://schemas.openxmlformats.org/officeDocument/2006/relationships/image" Target="../media/image197.png"/><Relationship Id="rId4" Type="http://schemas.openxmlformats.org/officeDocument/2006/relationships/image" Target="../media/image198.jpg"/><Relationship Id="rId5" Type="http://schemas.openxmlformats.org/officeDocument/2006/relationships/image" Target="../media/image207.jpg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08.jp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6.png"/><Relationship Id="rId3" Type="http://schemas.openxmlformats.org/officeDocument/2006/relationships/image" Target="../media/image197.png"/><Relationship Id="rId4" Type="http://schemas.openxmlformats.org/officeDocument/2006/relationships/image" Target="../media/image198.jpg"/><Relationship Id="rId5" Type="http://schemas.openxmlformats.org/officeDocument/2006/relationships/image" Target="../media/image209.jp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6.png"/><Relationship Id="rId3" Type="http://schemas.openxmlformats.org/officeDocument/2006/relationships/image" Target="../media/image197.png"/><Relationship Id="rId4" Type="http://schemas.openxmlformats.org/officeDocument/2006/relationships/image" Target="../media/image198.jpg"/><Relationship Id="rId5" Type="http://schemas.openxmlformats.org/officeDocument/2006/relationships/image" Target="../media/image210.jp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1.png"/><Relationship Id="rId3" Type="http://schemas.openxmlformats.org/officeDocument/2006/relationships/image" Target="../media/image212.jpg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1.png"/><Relationship Id="rId3" Type="http://schemas.openxmlformats.org/officeDocument/2006/relationships/image" Target="../media/image213.jp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1.png"/><Relationship Id="rId3" Type="http://schemas.openxmlformats.org/officeDocument/2006/relationships/image" Target="../media/image214.jpg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1.png"/><Relationship Id="rId3" Type="http://schemas.openxmlformats.org/officeDocument/2006/relationships/image" Target="../media/image215.jpg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6.jpg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1.png"/><Relationship Id="rId3" Type="http://schemas.openxmlformats.org/officeDocument/2006/relationships/image" Target="../media/image217.jp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8.jp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9.jpg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21.jpg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22.jpg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23.png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24.jp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25.jpg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6.jpg"/><Relationship Id="rId3" Type="http://schemas.openxmlformats.org/officeDocument/2006/relationships/image" Target="../media/image220.png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27.png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8.jpg"/><Relationship Id="rId3" Type="http://schemas.openxmlformats.org/officeDocument/2006/relationships/image" Target="../media/image220.png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29.png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0.png"/><Relationship Id="rId3" Type="http://schemas.openxmlformats.org/officeDocument/2006/relationships/image" Target="../media/image231.png"/><Relationship Id="rId4" Type="http://schemas.openxmlformats.org/officeDocument/2006/relationships/image" Target="../media/image232.png"/><Relationship Id="rId5" Type="http://schemas.openxmlformats.org/officeDocument/2006/relationships/image" Target="../media/image233.png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4400" y="1876805"/>
            <a:ext cx="8230234" cy="57150"/>
          </a:xfrm>
          <a:custGeom>
            <a:avLst/>
            <a:gdLst/>
            <a:ahLst/>
            <a:cxnLst/>
            <a:rect l="l" t="t" r="r" b="b"/>
            <a:pathLst>
              <a:path w="8230234" h="57150">
                <a:moveTo>
                  <a:pt x="0" y="0"/>
                </a:moveTo>
                <a:lnTo>
                  <a:pt x="0" y="57150"/>
                </a:lnTo>
                <a:lnTo>
                  <a:pt x="8229612" y="57150"/>
                </a:lnTo>
                <a:lnTo>
                  <a:pt x="82296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898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644410" y="3800903"/>
            <a:ext cx="4699635" cy="1576070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dirty="0" sz="3200" spc="-70" b="1">
                <a:solidFill>
                  <a:srgbClr val="231F20"/>
                </a:solidFill>
                <a:latin typeface="Calibri"/>
                <a:cs typeface="Calibri"/>
              </a:rPr>
              <a:t>Dr.</a:t>
            </a:r>
            <a:r>
              <a:rPr dirty="0" sz="3200" spc="-9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231F20"/>
                </a:solidFill>
                <a:latin typeface="Calibri"/>
                <a:cs typeface="Calibri"/>
              </a:rPr>
              <a:t>Khurram</a:t>
            </a:r>
            <a:r>
              <a:rPr dirty="0" sz="3200" spc="-9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231F20"/>
                </a:solidFill>
                <a:latin typeface="Calibri"/>
                <a:cs typeface="Calibri"/>
              </a:rPr>
              <a:t>Ali</a:t>
            </a:r>
            <a:endParaRPr sz="3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20"/>
              </a:spcBef>
            </a:pPr>
            <a:r>
              <a:rPr dirty="0" sz="1800" i="1">
                <a:solidFill>
                  <a:srgbClr val="231F20"/>
                </a:solidFill>
                <a:latin typeface="Calibri"/>
                <a:cs typeface="Calibri"/>
              </a:rPr>
              <a:t>Assistant</a:t>
            </a:r>
            <a:r>
              <a:rPr dirty="0" sz="1800" spc="-85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 i="1">
                <a:solidFill>
                  <a:srgbClr val="231F20"/>
                </a:solidFill>
                <a:latin typeface="Calibri"/>
                <a:cs typeface="Calibri"/>
              </a:rPr>
              <a:t>Professor</a:t>
            </a:r>
            <a:endParaRPr sz="18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  <a:spcBef>
                <a:spcPts val="434"/>
              </a:spcBef>
            </a:pP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Department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Electrical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&amp;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Computer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Engineering, 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COMSATS</a:t>
            </a:r>
            <a:r>
              <a:rPr dirty="0" sz="1800" spc="-6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University</a:t>
            </a:r>
            <a:r>
              <a:rPr dirty="0" sz="1800" spc="-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Islamabad,</a:t>
            </a:r>
            <a:r>
              <a:rPr dirty="0" sz="1800" spc="-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Lahore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Campus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5181612"/>
            <a:ext cx="1659636" cy="16459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92024" y="2485140"/>
            <a:ext cx="767270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231F20"/>
                </a:solidFill>
              </a:rPr>
              <a:t>EEE</a:t>
            </a:r>
            <a:r>
              <a:rPr dirty="0" spc="-25">
                <a:solidFill>
                  <a:srgbClr val="231F20"/>
                </a:solidFill>
              </a:rPr>
              <a:t> </a:t>
            </a:r>
            <a:r>
              <a:rPr dirty="0">
                <a:solidFill>
                  <a:srgbClr val="231F20"/>
                </a:solidFill>
              </a:rPr>
              <a:t>324:</a:t>
            </a:r>
            <a:r>
              <a:rPr dirty="0" spc="-50">
                <a:solidFill>
                  <a:srgbClr val="231F20"/>
                </a:solidFill>
              </a:rPr>
              <a:t> </a:t>
            </a:r>
            <a:r>
              <a:rPr dirty="0">
                <a:solidFill>
                  <a:srgbClr val="231F20"/>
                </a:solidFill>
              </a:rPr>
              <a:t>Digital</a:t>
            </a:r>
            <a:r>
              <a:rPr dirty="0" spc="-50">
                <a:solidFill>
                  <a:srgbClr val="231F20"/>
                </a:solidFill>
              </a:rPr>
              <a:t> </a:t>
            </a:r>
            <a:r>
              <a:rPr dirty="0">
                <a:solidFill>
                  <a:srgbClr val="231F20"/>
                </a:solidFill>
              </a:rPr>
              <a:t>Signal</a:t>
            </a:r>
            <a:r>
              <a:rPr dirty="0" spc="-55">
                <a:solidFill>
                  <a:srgbClr val="231F20"/>
                </a:solidFill>
              </a:rPr>
              <a:t> </a:t>
            </a:r>
            <a:r>
              <a:rPr dirty="0" spc="-10">
                <a:solidFill>
                  <a:srgbClr val="231F20"/>
                </a:solidFill>
              </a:rPr>
              <a:t>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3396" y="790956"/>
              <a:ext cx="4433315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15184" y="790956"/>
              <a:ext cx="126492" cy="123139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6712" y="790956"/>
              <a:ext cx="728472" cy="12313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911860">
              <a:lnSpc>
                <a:spcPct val="100000"/>
              </a:lnSpc>
              <a:spcBef>
                <a:spcPts val="105"/>
              </a:spcBef>
            </a:pPr>
            <a:r>
              <a:rPr dirty="0" b="0">
                <a:solidFill>
                  <a:srgbClr val="231F20"/>
                </a:solidFill>
                <a:latin typeface="Calibri"/>
                <a:cs typeface="Calibri"/>
              </a:rPr>
              <a:t>Week</a:t>
            </a:r>
            <a:r>
              <a:rPr dirty="0" spc="-130" b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231F20"/>
                </a:solidFill>
                <a:latin typeface="Calibri"/>
                <a:cs typeface="Calibri"/>
              </a:rPr>
              <a:t>8:</a:t>
            </a:r>
            <a:r>
              <a:rPr dirty="0" spc="-110" b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/>
              <a:t>Frequency</a:t>
            </a:r>
            <a:r>
              <a:rPr dirty="0" spc="-110"/>
              <a:t> </a:t>
            </a:r>
            <a:r>
              <a:rPr dirty="0" spc="-10"/>
              <a:t>Analysis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9900" marR="21590" indent="-457200">
              <a:lnSpc>
                <a:spcPct val="100000"/>
              </a:lnSpc>
              <a:spcBef>
                <a:spcPts val="100"/>
              </a:spcBef>
              <a:tabLst>
                <a:tab pos="726440" algn="l"/>
              </a:tabLst>
            </a:pPr>
            <a:r>
              <a:rPr dirty="0" spc="-50"/>
              <a:t></a:t>
            </a:r>
            <a:r>
              <a:rPr dirty="0">
                <a:latin typeface="Times New Roman"/>
                <a:cs typeface="Times New Roman"/>
              </a:rPr>
              <a:t>		</a:t>
            </a:r>
            <a:r>
              <a:rPr dirty="0" spc="-10" b="1">
                <a:solidFill>
                  <a:srgbClr val="231F20"/>
                </a:solidFill>
                <a:latin typeface="Calibri"/>
                <a:cs typeface="Calibri"/>
              </a:rPr>
              <a:t>Frequency</a:t>
            </a:r>
            <a:r>
              <a:rPr dirty="0" spc="-8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231F20"/>
                </a:solidFill>
                <a:latin typeface="Calibri"/>
                <a:cs typeface="Calibri"/>
              </a:rPr>
              <a:t>Analysis</a:t>
            </a:r>
            <a:r>
              <a:rPr dirty="0" spc="-5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pc="-7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continuous</a:t>
            </a:r>
            <a:r>
              <a:rPr dirty="0" spc="-7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time</a:t>
            </a:r>
            <a:r>
              <a:rPr dirty="0" spc="-90" b="1"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ED2024"/>
                </a:solidFill>
                <a:latin typeface="Calibri"/>
                <a:cs typeface="Calibri"/>
              </a:rPr>
              <a:t>periodic </a:t>
            </a:r>
            <a:r>
              <a:rPr dirty="0" spc="-10" b="1">
                <a:solidFill>
                  <a:srgbClr val="231F20"/>
                </a:solidFill>
                <a:latin typeface="Calibri"/>
                <a:cs typeface="Calibri"/>
              </a:rPr>
              <a:t>signals</a:t>
            </a:r>
          </a:p>
          <a:p>
            <a:pPr marL="469900" marR="5080" indent="-457200">
              <a:lnSpc>
                <a:spcPct val="100000"/>
              </a:lnSpc>
              <a:spcBef>
                <a:spcPts val="3600"/>
              </a:spcBef>
              <a:tabLst>
                <a:tab pos="555625" algn="l"/>
              </a:tabLst>
            </a:pPr>
            <a:r>
              <a:rPr dirty="0" spc="-50"/>
              <a:t></a:t>
            </a:r>
            <a:r>
              <a:rPr dirty="0">
                <a:latin typeface="Times New Roman"/>
                <a:cs typeface="Times New Roman"/>
              </a:rPr>
              <a:t>		</a:t>
            </a:r>
            <a:r>
              <a:rPr dirty="0" spc="-10" b="1">
                <a:solidFill>
                  <a:srgbClr val="231F20"/>
                </a:solidFill>
                <a:latin typeface="Calibri"/>
                <a:cs typeface="Calibri"/>
              </a:rPr>
              <a:t>Frequency</a:t>
            </a:r>
            <a:r>
              <a:rPr dirty="0" spc="-8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231F20"/>
                </a:solidFill>
                <a:latin typeface="Calibri"/>
                <a:cs typeface="Calibri"/>
              </a:rPr>
              <a:t>Analysis</a:t>
            </a:r>
            <a:r>
              <a:rPr dirty="0" spc="-5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pc="-8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continuous</a:t>
            </a:r>
            <a:r>
              <a:rPr dirty="0" spc="-7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time</a:t>
            </a:r>
            <a:r>
              <a:rPr dirty="0" spc="-80" b="1"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00B04F"/>
                </a:solidFill>
                <a:latin typeface="Calibri"/>
                <a:cs typeface="Calibri"/>
              </a:rPr>
              <a:t>aperiodic </a:t>
            </a:r>
            <a:r>
              <a:rPr dirty="0" spc="-10" b="1">
                <a:solidFill>
                  <a:srgbClr val="231F20"/>
                </a:solidFill>
                <a:latin typeface="Calibri"/>
                <a:cs typeface="Calibri"/>
              </a:rPr>
              <a:t>signals</a:t>
            </a:r>
          </a:p>
          <a:p>
            <a:pPr marL="469900" marR="702310" indent="-457200">
              <a:lnSpc>
                <a:spcPct val="100000"/>
              </a:lnSpc>
              <a:spcBef>
                <a:spcPts val="3600"/>
              </a:spcBef>
              <a:tabLst>
                <a:tab pos="555625" algn="l"/>
              </a:tabLst>
            </a:pPr>
            <a:r>
              <a:rPr dirty="0" spc="-50"/>
              <a:t></a:t>
            </a:r>
            <a:r>
              <a:rPr dirty="0">
                <a:latin typeface="Times New Roman"/>
                <a:cs typeface="Times New Roman"/>
              </a:rPr>
              <a:t>		</a:t>
            </a:r>
            <a:r>
              <a:rPr dirty="0" spc="-10" b="1">
                <a:solidFill>
                  <a:srgbClr val="231F20"/>
                </a:solidFill>
                <a:latin typeface="Calibri"/>
                <a:cs typeface="Calibri"/>
              </a:rPr>
              <a:t>Frequency</a:t>
            </a:r>
            <a:r>
              <a:rPr dirty="0" spc="-8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231F20"/>
                </a:solidFill>
                <a:latin typeface="Calibri"/>
                <a:cs typeface="Calibri"/>
              </a:rPr>
              <a:t>Analysis</a:t>
            </a:r>
            <a:r>
              <a:rPr dirty="0" spc="-5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pc="-9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C878B1"/>
                </a:solidFill>
                <a:latin typeface="Calibri"/>
                <a:cs typeface="Calibri"/>
              </a:rPr>
              <a:t>discrete</a:t>
            </a:r>
            <a:r>
              <a:rPr dirty="0" spc="-85" b="1">
                <a:solidFill>
                  <a:srgbClr val="C878B1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C878B1"/>
                </a:solidFill>
                <a:latin typeface="Calibri"/>
                <a:cs typeface="Calibri"/>
              </a:rPr>
              <a:t>time</a:t>
            </a:r>
            <a:r>
              <a:rPr dirty="0" spc="-55" b="1">
                <a:solidFill>
                  <a:srgbClr val="C878B1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ED2024"/>
                </a:solidFill>
                <a:latin typeface="Calibri"/>
                <a:cs typeface="Calibri"/>
              </a:rPr>
              <a:t>periodic </a:t>
            </a:r>
            <a:r>
              <a:rPr dirty="0" spc="-10" b="1">
                <a:solidFill>
                  <a:srgbClr val="231F20"/>
                </a:solidFill>
                <a:latin typeface="Calibri"/>
                <a:cs typeface="Calibri"/>
              </a:rPr>
              <a:t>signals</a:t>
            </a:r>
          </a:p>
          <a:p>
            <a:pPr marL="469900" marR="515620" indent="-457200">
              <a:lnSpc>
                <a:spcPct val="100000"/>
              </a:lnSpc>
              <a:spcBef>
                <a:spcPts val="3600"/>
              </a:spcBef>
              <a:tabLst>
                <a:tab pos="555625" algn="l"/>
              </a:tabLst>
            </a:pPr>
            <a:r>
              <a:rPr dirty="0" spc="-50"/>
              <a:t></a:t>
            </a:r>
            <a:r>
              <a:rPr dirty="0">
                <a:latin typeface="Times New Roman"/>
                <a:cs typeface="Times New Roman"/>
              </a:rPr>
              <a:t>		</a:t>
            </a:r>
            <a:r>
              <a:rPr dirty="0" spc="-10" b="1">
                <a:solidFill>
                  <a:srgbClr val="231F20"/>
                </a:solidFill>
                <a:latin typeface="Calibri"/>
                <a:cs typeface="Calibri"/>
              </a:rPr>
              <a:t>Frequency</a:t>
            </a:r>
            <a:r>
              <a:rPr dirty="0" spc="-8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231F20"/>
                </a:solidFill>
                <a:latin typeface="Calibri"/>
                <a:cs typeface="Calibri"/>
              </a:rPr>
              <a:t>Analysis</a:t>
            </a:r>
            <a:r>
              <a:rPr dirty="0" spc="-5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pc="-9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C878B1"/>
                </a:solidFill>
                <a:latin typeface="Calibri"/>
                <a:cs typeface="Calibri"/>
              </a:rPr>
              <a:t>discrete</a:t>
            </a:r>
            <a:r>
              <a:rPr dirty="0" spc="-85" b="1">
                <a:solidFill>
                  <a:srgbClr val="C878B1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C878B1"/>
                </a:solidFill>
                <a:latin typeface="Calibri"/>
                <a:cs typeface="Calibri"/>
              </a:rPr>
              <a:t>time</a:t>
            </a:r>
            <a:r>
              <a:rPr dirty="0" spc="-55" b="1">
                <a:solidFill>
                  <a:srgbClr val="C878B1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00B04F"/>
                </a:solidFill>
                <a:latin typeface="Calibri"/>
                <a:cs typeface="Calibri"/>
              </a:rPr>
              <a:t>aperiodic </a:t>
            </a:r>
            <a:r>
              <a:rPr dirty="0" spc="-10" b="1">
                <a:solidFill>
                  <a:srgbClr val="231F20"/>
                </a:solidFill>
                <a:latin typeface="Calibri"/>
                <a:cs typeface="Calibri"/>
              </a:rPr>
              <a:t>signals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8788" y="1962873"/>
            <a:ext cx="5169496" cy="4329555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sp>
          <p:nvSpPr>
            <p:cNvPr id="4" name="object 4" descr=""/>
            <p:cNvSpPr/>
            <p:nvPr/>
          </p:nvSpPr>
          <p:spPr>
            <a:xfrm>
              <a:off x="914400" y="731837"/>
              <a:ext cx="8230234" cy="1143000"/>
            </a:xfrm>
            <a:custGeom>
              <a:avLst/>
              <a:gdLst/>
              <a:ahLst/>
              <a:cxnLst/>
              <a:rect l="l" t="t" r="r" b="b"/>
              <a:pathLst>
                <a:path w="8230234" h="1143000">
                  <a:moveTo>
                    <a:pt x="0" y="0"/>
                  </a:moveTo>
                  <a:lnTo>
                    <a:pt x="0" y="1143000"/>
                  </a:lnTo>
                  <a:lnTo>
                    <a:pt x="8229612" y="1143000"/>
                  </a:lnTo>
                  <a:lnTo>
                    <a:pt x="82296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5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9839" y="790956"/>
              <a:ext cx="2537472" cy="123139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95784" y="790956"/>
              <a:ext cx="1167384" cy="123139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7312" y="790956"/>
              <a:ext cx="728472" cy="123139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91640" y="790956"/>
              <a:ext cx="126492" cy="123139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63168" y="790956"/>
              <a:ext cx="728472" cy="1231392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algn="ctr" marL="125095">
              <a:lnSpc>
                <a:spcPct val="100000"/>
              </a:lnSpc>
              <a:spcBef>
                <a:spcPts val="105"/>
              </a:spcBef>
            </a:pPr>
            <a:r>
              <a:rPr dirty="0"/>
              <a:t>Frequency</a:t>
            </a:r>
            <a:r>
              <a:rPr dirty="0" spc="-150"/>
              <a:t> </a:t>
            </a:r>
            <a:r>
              <a:rPr dirty="0" spc="-10"/>
              <a:t>Analysis</a:t>
            </a:r>
          </a:p>
        </p:txBody>
      </p:sp>
      <p:sp>
        <p:nvSpPr>
          <p:cNvPr id="11" name="object 11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972312" y="3915727"/>
            <a:ext cx="2628900" cy="646430"/>
          </a:xfrm>
          <a:prstGeom prst="rect">
            <a:avLst/>
          </a:prstGeom>
          <a:solidFill>
            <a:srgbClr val="A9D9BC"/>
          </a:solidFill>
        </p:spPr>
        <p:txBody>
          <a:bodyPr wrap="square" lIns="0" tIns="30480" rIns="0" bIns="0" rtlCol="0" vert="horz">
            <a:spAutoFit/>
          </a:bodyPr>
          <a:lstStyle/>
          <a:p>
            <a:pPr marL="91440" marR="200025">
              <a:lnSpc>
                <a:spcPct val="100000"/>
              </a:lnSpc>
              <a:spcBef>
                <a:spcPts val="240"/>
              </a:spcBef>
            </a:pP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Combine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all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colors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to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synthesize</a:t>
            </a:r>
            <a:r>
              <a:rPr dirty="0" sz="1800" spc="-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light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85800" y="3906418"/>
            <a:ext cx="2286000" cy="646430"/>
          </a:xfrm>
          <a:prstGeom prst="rect">
            <a:avLst/>
          </a:prstGeom>
          <a:solidFill>
            <a:srgbClr val="FAF394"/>
          </a:solidFill>
        </p:spPr>
        <p:txBody>
          <a:bodyPr wrap="square" lIns="0" tIns="30480" rIns="0" bIns="0" rtlCol="0" vert="horz">
            <a:spAutoFit/>
          </a:bodyPr>
          <a:lstStyle/>
          <a:p>
            <a:pPr marL="91440" marR="208915">
              <a:lnSpc>
                <a:spcPct val="100000"/>
              </a:lnSpc>
              <a:spcBef>
                <a:spcPts val="240"/>
              </a:spcBef>
            </a:pP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Decompose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light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into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different</a:t>
            </a:r>
            <a:r>
              <a:rPr dirty="0" sz="1800" spc="-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colors.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58812" y="6163805"/>
            <a:ext cx="1625600" cy="1092200"/>
            <a:chOff x="758812" y="6163805"/>
            <a:chExt cx="1625600" cy="1092200"/>
          </a:xfrm>
        </p:grpSpPr>
        <p:sp>
          <p:nvSpPr>
            <p:cNvPr id="15" name="object 15" descr=""/>
            <p:cNvSpPr/>
            <p:nvPr/>
          </p:nvSpPr>
          <p:spPr>
            <a:xfrm>
              <a:off x="771512" y="6176505"/>
              <a:ext cx="1600200" cy="1066800"/>
            </a:xfrm>
            <a:custGeom>
              <a:avLst/>
              <a:gdLst/>
              <a:ahLst/>
              <a:cxnLst/>
              <a:rect l="l" t="t" r="r" b="b"/>
              <a:pathLst>
                <a:path w="1600200" h="1066800">
                  <a:moveTo>
                    <a:pt x="0" y="1066800"/>
                  </a:moveTo>
                  <a:lnTo>
                    <a:pt x="1600200" y="1066800"/>
                  </a:lnTo>
                  <a:lnTo>
                    <a:pt x="800099" y="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4E8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71512" y="6176505"/>
              <a:ext cx="1600200" cy="1066800"/>
            </a:xfrm>
            <a:custGeom>
              <a:avLst/>
              <a:gdLst/>
              <a:ahLst/>
              <a:cxnLst/>
              <a:rect l="l" t="t" r="r" b="b"/>
              <a:pathLst>
                <a:path w="1600200" h="1066800">
                  <a:moveTo>
                    <a:pt x="0" y="1066800"/>
                  </a:moveTo>
                  <a:lnTo>
                    <a:pt x="800099" y="0"/>
                  </a:lnTo>
                  <a:lnTo>
                    <a:pt x="1600200" y="1066800"/>
                  </a:lnTo>
                  <a:lnTo>
                    <a:pt x="0" y="10668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2587612" y="6486982"/>
            <a:ext cx="3073400" cy="558800"/>
            <a:chOff x="2587612" y="6486982"/>
            <a:chExt cx="3073400" cy="558800"/>
          </a:xfrm>
        </p:grpSpPr>
        <p:sp>
          <p:nvSpPr>
            <p:cNvPr id="18" name="object 18" descr=""/>
            <p:cNvSpPr/>
            <p:nvPr/>
          </p:nvSpPr>
          <p:spPr>
            <a:xfrm>
              <a:off x="2600312" y="6499682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0" y="88900"/>
                  </a:moveTo>
                  <a:lnTo>
                    <a:pt x="0" y="444500"/>
                  </a:lnTo>
                  <a:lnTo>
                    <a:pt x="26033" y="507361"/>
                  </a:lnTo>
                  <a:lnTo>
                    <a:pt x="88900" y="533400"/>
                  </a:lnTo>
                  <a:lnTo>
                    <a:pt x="2959100" y="533399"/>
                  </a:lnTo>
                  <a:lnTo>
                    <a:pt x="2993703" y="526413"/>
                  </a:lnTo>
                  <a:lnTo>
                    <a:pt x="3021961" y="507361"/>
                  </a:lnTo>
                  <a:lnTo>
                    <a:pt x="3041013" y="479103"/>
                  </a:lnTo>
                  <a:lnTo>
                    <a:pt x="3048000" y="444499"/>
                  </a:lnTo>
                  <a:lnTo>
                    <a:pt x="3048000" y="88899"/>
                  </a:lnTo>
                  <a:lnTo>
                    <a:pt x="3041013" y="54296"/>
                  </a:lnTo>
                  <a:lnTo>
                    <a:pt x="3021961" y="26038"/>
                  </a:lnTo>
                  <a:lnTo>
                    <a:pt x="2993703" y="6986"/>
                  </a:lnTo>
                  <a:lnTo>
                    <a:pt x="2959100" y="0"/>
                  </a:lnTo>
                  <a:lnTo>
                    <a:pt x="88899" y="0"/>
                  </a:lnTo>
                  <a:lnTo>
                    <a:pt x="54290" y="6986"/>
                  </a:lnTo>
                  <a:lnTo>
                    <a:pt x="26033" y="26038"/>
                  </a:lnTo>
                  <a:lnTo>
                    <a:pt x="6984" y="54296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2F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600312" y="6499682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0" y="88900"/>
                  </a:moveTo>
                  <a:lnTo>
                    <a:pt x="26033" y="26038"/>
                  </a:lnTo>
                  <a:lnTo>
                    <a:pt x="88899" y="0"/>
                  </a:lnTo>
                  <a:lnTo>
                    <a:pt x="2959100" y="0"/>
                  </a:lnTo>
                  <a:lnTo>
                    <a:pt x="2993703" y="6986"/>
                  </a:lnTo>
                  <a:lnTo>
                    <a:pt x="3021961" y="26038"/>
                  </a:lnTo>
                  <a:lnTo>
                    <a:pt x="3041013" y="54296"/>
                  </a:lnTo>
                  <a:lnTo>
                    <a:pt x="3048000" y="88899"/>
                  </a:lnTo>
                  <a:lnTo>
                    <a:pt x="3048000" y="444499"/>
                  </a:lnTo>
                  <a:lnTo>
                    <a:pt x="3021961" y="507361"/>
                  </a:lnTo>
                  <a:lnTo>
                    <a:pt x="2959100" y="533399"/>
                  </a:lnTo>
                  <a:lnTo>
                    <a:pt x="88900" y="533400"/>
                  </a:lnTo>
                  <a:lnTo>
                    <a:pt x="54290" y="526413"/>
                  </a:lnTo>
                  <a:lnTo>
                    <a:pt x="26033" y="507361"/>
                  </a:lnTo>
                  <a:lnTo>
                    <a:pt x="6984" y="479103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25400">
              <a:solidFill>
                <a:srgbClr val="F2F2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2804774" y="6601269"/>
            <a:ext cx="26371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=</a:t>
            </a:r>
            <a:r>
              <a:rPr dirty="0" sz="1800" spc="-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Proper</a:t>
            </a:r>
            <a:r>
              <a:rPr dirty="0" sz="180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31F20"/>
                </a:solidFill>
                <a:latin typeface="Calibri"/>
                <a:cs typeface="Calibri"/>
              </a:rPr>
              <a:t>Mathematical</a:t>
            </a:r>
            <a:r>
              <a:rPr dirty="0" sz="1800" spc="-5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231F20"/>
                </a:solidFill>
                <a:latin typeface="Calibri"/>
                <a:cs typeface="Calibri"/>
              </a:rPr>
              <a:t>tool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9839" y="790956"/>
              <a:ext cx="2537472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5784" y="790956"/>
              <a:ext cx="1167384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7312" y="790956"/>
              <a:ext cx="728472" cy="123139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91640" y="790956"/>
              <a:ext cx="126492" cy="123139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63168" y="790956"/>
              <a:ext cx="728472" cy="123139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algn="ctr" marL="125095">
              <a:lnSpc>
                <a:spcPct val="100000"/>
              </a:lnSpc>
              <a:spcBef>
                <a:spcPts val="105"/>
              </a:spcBef>
            </a:pPr>
            <a:r>
              <a:rPr dirty="0"/>
              <a:t>Frequency</a:t>
            </a:r>
            <a:r>
              <a:rPr dirty="0" spc="-150"/>
              <a:t> </a:t>
            </a:r>
            <a:r>
              <a:rPr dirty="0" spc="-10"/>
              <a:t>Analysis</a:t>
            </a:r>
          </a:p>
        </p:txBody>
      </p:sp>
      <p:grpSp>
        <p:nvGrpSpPr>
          <p:cNvPr id="9" name="object 9" descr=""/>
          <p:cNvGrpSpPr/>
          <p:nvPr/>
        </p:nvGrpSpPr>
        <p:grpSpPr>
          <a:xfrm>
            <a:off x="914400" y="1876425"/>
            <a:ext cx="8230234" cy="1047115"/>
            <a:chOff x="914400" y="1876425"/>
            <a:chExt cx="8230234" cy="1047115"/>
          </a:xfrm>
        </p:grpSpPr>
        <p:sp>
          <p:nvSpPr>
            <p:cNvPr id="10" name="object 10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065397" y="2028647"/>
              <a:ext cx="1270635" cy="882015"/>
            </a:xfrm>
            <a:custGeom>
              <a:avLst/>
              <a:gdLst/>
              <a:ahLst/>
              <a:cxnLst/>
              <a:rect l="l" t="t" r="r" b="b"/>
              <a:pathLst>
                <a:path w="1270635" h="882014">
                  <a:moveTo>
                    <a:pt x="0" y="881646"/>
                  </a:moveTo>
                  <a:lnTo>
                    <a:pt x="1270393" y="881646"/>
                  </a:lnTo>
                  <a:lnTo>
                    <a:pt x="635203" y="0"/>
                  </a:lnTo>
                  <a:lnTo>
                    <a:pt x="0" y="881646"/>
                  </a:lnTo>
                  <a:close/>
                </a:path>
              </a:pathLst>
            </a:custGeom>
            <a:solidFill>
              <a:srgbClr val="4E8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065397" y="2028634"/>
              <a:ext cx="1270635" cy="882015"/>
            </a:xfrm>
            <a:custGeom>
              <a:avLst/>
              <a:gdLst/>
              <a:ahLst/>
              <a:cxnLst/>
              <a:rect l="l" t="t" r="r" b="b"/>
              <a:pathLst>
                <a:path w="1270635" h="882014">
                  <a:moveTo>
                    <a:pt x="0" y="881659"/>
                  </a:moveTo>
                  <a:lnTo>
                    <a:pt x="635203" y="0"/>
                  </a:lnTo>
                  <a:lnTo>
                    <a:pt x="1270393" y="881659"/>
                  </a:lnTo>
                  <a:lnTo>
                    <a:pt x="0" y="881659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515112" y="2242985"/>
            <a:ext cx="2628900" cy="646430"/>
          </a:xfrm>
          <a:prstGeom prst="rect">
            <a:avLst/>
          </a:prstGeom>
          <a:solidFill>
            <a:srgbClr val="A9D9BC"/>
          </a:solidFill>
        </p:spPr>
        <p:txBody>
          <a:bodyPr wrap="square" lIns="0" tIns="30480" rIns="0" bIns="0" rtlCol="0" vert="horz">
            <a:spAutoFit/>
          </a:bodyPr>
          <a:lstStyle/>
          <a:p>
            <a:pPr marL="91440" marR="200025">
              <a:lnSpc>
                <a:spcPct val="100000"/>
              </a:lnSpc>
              <a:spcBef>
                <a:spcPts val="240"/>
              </a:spcBef>
            </a:pP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Combine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all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colors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to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synthesize</a:t>
            </a:r>
            <a:r>
              <a:rPr dirty="0" sz="1800" spc="-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light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again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62000" y="2226170"/>
            <a:ext cx="2286000" cy="646430"/>
          </a:xfrm>
          <a:prstGeom prst="rect">
            <a:avLst/>
          </a:prstGeom>
          <a:solidFill>
            <a:srgbClr val="FAF394"/>
          </a:solidFill>
        </p:spPr>
        <p:txBody>
          <a:bodyPr wrap="square" lIns="0" tIns="30480" rIns="0" bIns="0" rtlCol="0" vert="horz">
            <a:spAutoFit/>
          </a:bodyPr>
          <a:lstStyle/>
          <a:p>
            <a:pPr marL="91440" marR="208915">
              <a:lnSpc>
                <a:spcPct val="100000"/>
              </a:lnSpc>
              <a:spcBef>
                <a:spcPts val="240"/>
              </a:spcBef>
            </a:pP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Decompose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light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into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different</a:t>
            </a:r>
            <a:r>
              <a:rPr dirty="0" sz="1800" spc="-9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colors.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3187700" y="3066376"/>
            <a:ext cx="3025775" cy="510540"/>
            <a:chOff x="3187700" y="3066376"/>
            <a:chExt cx="3025775" cy="510540"/>
          </a:xfrm>
        </p:grpSpPr>
        <p:sp>
          <p:nvSpPr>
            <p:cNvPr id="16" name="object 16" descr=""/>
            <p:cNvSpPr/>
            <p:nvPr/>
          </p:nvSpPr>
          <p:spPr>
            <a:xfrm>
              <a:off x="3200400" y="3079076"/>
              <a:ext cx="3000375" cy="485140"/>
            </a:xfrm>
            <a:custGeom>
              <a:avLst/>
              <a:gdLst/>
              <a:ahLst/>
              <a:cxnLst/>
              <a:rect l="l" t="t" r="r" b="b"/>
              <a:pathLst>
                <a:path w="3000375" h="485139">
                  <a:moveTo>
                    <a:pt x="0" y="80822"/>
                  </a:moveTo>
                  <a:lnTo>
                    <a:pt x="0" y="404088"/>
                  </a:lnTo>
                  <a:lnTo>
                    <a:pt x="23671" y="461240"/>
                  </a:lnTo>
                  <a:lnTo>
                    <a:pt x="80822" y="484911"/>
                  </a:lnTo>
                  <a:lnTo>
                    <a:pt x="2919552" y="484911"/>
                  </a:lnTo>
                  <a:lnTo>
                    <a:pt x="2951013" y="478560"/>
                  </a:lnTo>
                  <a:lnTo>
                    <a:pt x="2976703" y="461240"/>
                  </a:lnTo>
                  <a:lnTo>
                    <a:pt x="2994024" y="435549"/>
                  </a:lnTo>
                  <a:lnTo>
                    <a:pt x="3000375" y="404088"/>
                  </a:lnTo>
                  <a:lnTo>
                    <a:pt x="3000375" y="80822"/>
                  </a:lnTo>
                  <a:lnTo>
                    <a:pt x="2994024" y="49361"/>
                  </a:lnTo>
                  <a:lnTo>
                    <a:pt x="2976703" y="23671"/>
                  </a:lnTo>
                  <a:lnTo>
                    <a:pt x="2951013" y="6350"/>
                  </a:lnTo>
                  <a:lnTo>
                    <a:pt x="2919552" y="0"/>
                  </a:lnTo>
                  <a:lnTo>
                    <a:pt x="80822" y="0"/>
                  </a:lnTo>
                  <a:lnTo>
                    <a:pt x="49361" y="6350"/>
                  </a:lnTo>
                  <a:lnTo>
                    <a:pt x="23671" y="23671"/>
                  </a:lnTo>
                  <a:lnTo>
                    <a:pt x="6350" y="49361"/>
                  </a:lnTo>
                  <a:lnTo>
                    <a:pt x="0" y="80822"/>
                  </a:lnTo>
                  <a:close/>
                </a:path>
              </a:pathLst>
            </a:custGeom>
            <a:solidFill>
              <a:srgbClr val="F2F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200400" y="3079076"/>
              <a:ext cx="3000375" cy="485140"/>
            </a:xfrm>
            <a:custGeom>
              <a:avLst/>
              <a:gdLst/>
              <a:ahLst/>
              <a:cxnLst/>
              <a:rect l="l" t="t" r="r" b="b"/>
              <a:pathLst>
                <a:path w="3000375" h="485139">
                  <a:moveTo>
                    <a:pt x="0" y="80822"/>
                  </a:moveTo>
                  <a:lnTo>
                    <a:pt x="23671" y="23671"/>
                  </a:lnTo>
                  <a:lnTo>
                    <a:pt x="80822" y="0"/>
                  </a:lnTo>
                  <a:lnTo>
                    <a:pt x="2919552" y="0"/>
                  </a:lnTo>
                  <a:lnTo>
                    <a:pt x="2951013" y="6350"/>
                  </a:lnTo>
                  <a:lnTo>
                    <a:pt x="2976703" y="23671"/>
                  </a:lnTo>
                  <a:lnTo>
                    <a:pt x="2994024" y="49361"/>
                  </a:lnTo>
                  <a:lnTo>
                    <a:pt x="3000375" y="80822"/>
                  </a:lnTo>
                  <a:lnTo>
                    <a:pt x="3000375" y="404088"/>
                  </a:lnTo>
                  <a:lnTo>
                    <a:pt x="2976703" y="461240"/>
                  </a:lnTo>
                  <a:lnTo>
                    <a:pt x="2919552" y="484911"/>
                  </a:lnTo>
                  <a:lnTo>
                    <a:pt x="80822" y="484911"/>
                  </a:lnTo>
                  <a:lnTo>
                    <a:pt x="49361" y="478560"/>
                  </a:lnTo>
                  <a:lnTo>
                    <a:pt x="23671" y="461240"/>
                  </a:lnTo>
                  <a:lnTo>
                    <a:pt x="6350" y="435549"/>
                  </a:lnTo>
                  <a:lnTo>
                    <a:pt x="0" y="404088"/>
                  </a:lnTo>
                  <a:lnTo>
                    <a:pt x="0" y="80822"/>
                  </a:lnTo>
                  <a:close/>
                </a:path>
              </a:pathLst>
            </a:custGeom>
            <a:ln w="25400">
              <a:solidFill>
                <a:srgbClr val="F2F2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3216275" y="3156426"/>
            <a:ext cx="29686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=</a:t>
            </a:r>
            <a:r>
              <a:rPr dirty="0" sz="1800" spc="-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Proper</a:t>
            </a:r>
            <a:r>
              <a:rPr dirty="0" sz="180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31F20"/>
                </a:solidFill>
                <a:latin typeface="Calibri"/>
                <a:cs typeface="Calibri"/>
              </a:rPr>
              <a:t>Mathematical</a:t>
            </a:r>
            <a:r>
              <a:rPr dirty="0" sz="1800" spc="-5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231F20"/>
                </a:solidFill>
                <a:latin typeface="Calibri"/>
                <a:cs typeface="Calibri"/>
              </a:rPr>
              <a:t>tool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762000" y="3721112"/>
            <a:ext cx="2209800" cy="1524000"/>
          </a:xfrm>
          <a:custGeom>
            <a:avLst/>
            <a:gdLst/>
            <a:ahLst/>
            <a:cxnLst/>
            <a:rect l="l" t="t" r="r" b="b"/>
            <a:pathLst>
              <a:path w="2209800" h="1524000">
                <a:moveTo>
                  <a:pt x="0" y="762000"/>
                </a:moveTo>
                <a:lnTo>
                  <a:pt x="1437" y="722787"/>
                </a:lnTo>
                <a:lnTo>
                  <a:pt x="5704" y="684090"/>
                </a:lnTo>
                <a:lnTo>
                  <a:pt x="12730" y="645955"/>
                </a:lnTo>
                <a:lnTo>
                  <a:pt x="22447" y="608430"/>
                </a:lnTo>
                <a:lnTo>
                  <a:pt x="34784" y="571564"/>
                </a:lnTo>
                <a:lnTo>
                  <a:pt x="49673" y="535404"/>
                </a:lnTo>
                <a:lnTo>
                  <a:pt x="67044" y="499999"/>
                </a:lnTo>
                <a:lnTo>
                  <a:pt x="86828" y="465395"/>
                </a:lnTo>
                <a:lnTo>
                  <a:pt x="108954" y="431641"/>
                </a:lnTo>
                <a:lnTo>
                  <a:pt x="133354" y="398786"/>
                </a:lnTo>
                <a:lnTo>
                  <a:pt x="159959" y="366875"/>
                </a:lnTo>
                <a:lnTo>
                  <a:pt x="188698" y="335959"/>
                </a:lnTo>
                <a:lnTo>
                  <a:pt x="219503" y="306083"/>
                </a:lnTo>
                <a:lnTo>
                  <a:pt x="252304" y="277297"/>
                </a:lnTo>
                <a:lnTo>
                  <a:pt x="287031" y="249648"/>
                </a:lnTo>
                <a:lnTo>
                  <a:pt x="323616" y="223185"/>
                </a:lnTo>
                <a:lnTo>
                  <a:pt x="361989" y="197954"/>
                </a:lnTo>
                <a:lnTo>
                  <a:pt x="402079" y="174004"/>
                </a:lnTo>
                <a:lnTo>
                  <a:pt x="443819" y="151382"/>
                </a:lnTo>
                <a:lnTo>
                  <a:pt x="487138" y="130137"/>
                </a:lnTo>
                <a:lnTo>
                  <a:pt x="531967" y="110317"/>
                </a:lnTo>
                <a:lnTo>
                  <a:pt x="578237" y="91969"/>
                </a:lnTo>
                <a:lnTo>
                  <a:pt x="625878" y="75141"/>
                </a:lnTo>
                <a:lnTo>
                  <a:pt x="674821" y="59881"/>
                </a:lnTo>
                <a:lnTo>
                  <a:pt x="724997" y="46238"/>
                </a:lnTo>
                <a:lnTo>
                  <a:pt x="776335" y="34258"/>
                </a:lnTo>
                <a:lnTo>
                  <a:pt x="828767" y="23989"/>
                </a:lnTo>
                <a:lnTo>
                  <a:pt x="882223" y="15481"/>
                </a:lnTo>
                <a:lnTo>
                  <a:pt x="936633" y="8779"/>
                </a:lnTo>
                <a:lnTo>
                  <a:pt x="991929" y="3934"/>
                </a:lnTo>
                <a:lnTo>
                  <a:pt x="1048041" y="991"/>
                </a:lnTo>
                <a:lnTo>
                  <a:pt x="1104899" y="0"/>
                </a:lnTo>
                <a:lnTo>
                  <a:pt x="1161758" y="991"/>
                </a:lnTo>
                <a:lnTo>
                  <a:pt x="1217870" y="3934"/>
                </a:lnTo>
                <a:lnTo>
                  <a:pt x="1273166" y="8779"/>
                </a:lnTo>
                <a:lnTo>
                  <a:pt x="1327576" y="15481"/>
                </a:lnTo>
                <a:lnTo>
                  <a:pt x="1381032" y="23989"/>
                </a:lnTo>
                <a:lnTo>
                  <a:pt x="1433464" y="34258"/>
                </a:lnTo>
                <a:lnTo>
                  <a:pt x="1484802" y="46238"/>
                </a:lnTo>
                <a:lnTo>
                  <a:pt x="1534978" y="59881"/>
                </a:lnTo>
                <a:lnTo>
                  <a:pt x="1583921" y="75141"/>
                </a:lnTo>
                <a:lnTo>
                  <a:pt x="1631562" y="91969"/>
                </a:lnTo>
                <a:lnTo>
                  <a:pt x="1677832" y="110317"/>
                </a:lnTo>
                <a:lnTo>
                  <a:pt x="1722661" y="130137"/>
                </a:lnTo>
                <a:lnTo>
                  <a:pt x="1765980" y="151382"/>
                </a:lnTo>
                <a:lnTo>
                  <a:pt x="1807720" y="174004"/>
                </a:lnTo>
                <a:lnTo>
                  <a:pt x="1847810" y="197954"/>
                </a:lnTo>
                <a:lnTo>
                  <a:pt x="1886183" y="223185"/>
                </a:lnTo>
                <a:lnTo>
                  <a:pt x="1922768" y="249648"/>
                </a:lnTo>
                <a:lnTo>
                  <a:pt x="1957495" y="277297"/>
                </a:lnTo>
                <a:lnTo>
                  <a:pt x="1990296" y="306083"/>
                </a:lnTo>
                <a:lnTo>
                  <a:pt x="2021101" y="335959"/>
                </a:lnTo>
                <a:lnTo>
                  <a:pt x="2049840" y="366875"/>
                </a:lnTo>
                <a:lnTo>
                  <a:pt x="2076445" y="398786"/>
                </a:lnTo>
                <a:lnTo>
                  <a:pt x="2100845" y="431641"/>
                </a:lnTo>
                <a:lnTo>
                  <a:pt x="2122971" y="465395"/>
                </a:lnTo>
                <a:lnTo>
                  <a:pt x="2142755" y="499999"/>
                </a:lnTo>
                <a:lnTo>
                  <a:pt x="2160126" y="535404"/>
                </a:lnTo>
                <a:lnTo>
                  <a:pt x="2175015" y="571564"/>
                </a:lnTo>
                <a:lnTo>
                  <a:pt x="2187352" y="608430"/>
                </a:lnTo>
                <a:lnTo>
                  <a:pt x="2197069" y="645955"/>
                </a:lnTo>
                <a:lnTo>
                  <a:pt x="2204095" y="684090"/>
                </a:lnTo>
                <a:lnTo>
                  <a:pt x="2208362" y="722787"/>
                </a:lnTo>
                <a:lnTo>
                  <a:pt x="2209800" y="761999"/>
                </a:lnTo>
                <a:lnTo>
                  <a:pt x="2208362" y="801212"/>
                </a:lnTo>
                <a:lnTo>
                  <a:pt x="2204095" y="839909"/>
                </a:lnTo>
                <a:lnTo>
                  <a:pt x="2197069" y="878044"/>
                </a:lnTo>
                <a:lnTo>
                  <a:pt x="2187352" y="915569"/>
                </a:lnTo>
                <a:lnTo>
                  <a:pt x="2175015" y="952435"/>
                </a:lnTo>
                <a:lnTo>
                  <a:pt x="2160126" y="988595"/>
                </a:lnTo>
                <a:lnTo>
                  <a:pt x="2142755" y="1024000"/>
                </a:lnTo>
                <a:lnTo>
                  <a:pt x="2122971" y="1058604"/>
                </a:lnTo>
                <a:lnTo>
                  <a:pt x="2100845" y="1092358"/>
                </a:lnTo>
                <a:lnTo>
                  <a:pt x="2076445" y="1125213"/>
                </a:lnTo>
                <a:lnTo>
                  <a:pt x="2049840" y="1157124"/>
                </a:lnTo>
                <a:lnTo>
                  <a:pt x="2021101" y="1188040"/>
                </a:lnTo>
                <a:lnTo>
                  <a:pt x="1990296" y="1217916"/>
                </a:lnTo>
                <a:lnTo>
                  <a:pt x="1957495" y="1246702"/>
                </a:lnTo>
                <a:lnTo>
                  <a:pt x="1922768" y="1274351"/>
                </a:lnTo>
                <a:lnTo>
                  <a:pt x="1886183" y="1300814"/>
                </a:lnTo>
                <a:lnTo>
                  <a:pt x="1847810" y="1326045"/>
                </a:lnTo>
                <a:lnTo>
                  <a:pt x="1807720" y="1349995"/>
                </a:lnTo>
                <a:lnTo>
                  <a:pt x="1765980" y="1372617"/>
                </a:lnTo>
                <a:lnTo>
                  <a:pt x="1722661" y="1393862"/>
                </a:lnTo>
                <a:lnTo>
                  <a:pt x="1677832" y="1413682"/>
                </a:lnTo>
                <a:lnTo>
                  <a:pt x="1631562" y="1432030"/>
                </a:lnTo>
                <a:lnTo>
                  <a:pt x="1583921" y="1448858"/>
                </a:lnTo>
                <a:lnTo>
                  <a:pt x="1534978" y="1464118"/>
                </a:lnTo>
                <a:lnTo>
                  <a:pt x="1484802" y="1477761"/>
                </a:lnTo>
                <a:lnTo>
                  <a:pt x="1433464" y="1489741"/>
                </a:lnTo>
                <a:lnTo>
                  <a:pt x="1381032" y="1500010"/>
                </a:lnTo>
                <a:lnTo>
                  <a:pt x="1327576" y="1508518"/>
                </a:lnTo>
                <a:lnTo>
                  <a:pt x="1273166" y="1515220"/>
                </a:lnTo>
                <a:lnTo>
                  <a:pt x="1217870" y="1520065"/>
                </a:lnTo>
                <a:lnTo>
                  <a:pt x="1161758" y="1523008"/>
                </a:lnTo>
                <a:lnTo>
                  <a:pt x="1104900" y="1523999"/>
                </a:lnTo>
                <a:lnTo>
                  <a:pt x="1048041" y="1523008"/>
                </a:lnTo>
                <a:lnTo>
                  <a:pt x="991929" y="1520065"/>
                </a:lnTo>
                <a:lnTo>
                  <a:pt x="936633" y="1515220"/>
                </a:lnTo>
                <a:lnTo>
                  <a:pt x="882223" y="1508518"/>
                </a:lnTo>
                <a:lnTo>
                  <a:pt x="828767" y="1500010"/>
                </a:lnTo>
                <a:lnTo>
                  <a:pt x="776335" y="1489741"/>
                </a:lnTo>
                <a:lnTo>
                  <a:pt x="724997" y="1477761"/>
                </a:lnTo>
                <a:lnTo>
                  <a:pt x="674821" y="1464118"/>
                </a:lnTo>
                <a:lnTo>
                  <a:pt x="625878" y="1448858"/>
                </a:lnTo>
                <a:lnTo>
                  <a:pt x="578237" y="1432030"/>
                </a:lnTo>
                <a:lnTo>
                  <a:pt x="531967" y="1413682"/>
                </a:lnTo>
                <a:lnTo>
                  <a:pt x="487138" y="1393862"/>
                </a:lnTo>
                <a:lnTo>
                  <a:pt x="443819" y="1372617"/>
                </a:lnTo>
                <a:lnTo>
                  <a:pt x="402079" y="1349995"/>
                </a:lnTo>
                <a:lnTo>
                  <a:pt x="361989" y="1326045"/>
                </a:lnTo>
                <a:lnTo>
                  <a:pt x="323616" y="1300814"/>
                </a:lnTo>
                <a:lnTo>
                  <a:pt x="287031" y="1274351"/>
                </a:lnTo>
                <a:lnTo>
                  <a:pt x="252304" y="1246702"/>
                </a:lnTo>
                <a:lnTo>
                  <a:pt x="219503" y="1217916"/>
                </a:lnTo>
                <a:lnTo>
                  <a:pt x="188698" y="1188040"/>
                </a:lnTo>
                <a:lnTo>
                  <a:pt x="159959" y="1157124"/>
                </a:lnTo>
                <a:lnTo>
                  <a:pt x="133354" y="1125213"/>
                </a:lnTo>
                <a:lnTo>
                  <a:pt x="108954" y="1092358"/>
                </a:lnTo>
                <a:lnTo>
                  <a:pt x="86828" y="1058604"/>
                </a:lnTo>
                <a:lnTo>
                  <a:pt x="67044" y="1024000"/>
                </a:lnTo>
                <a:lnTo>
                  <a:pt x="49673" y="988595"/>
                </a:lnTo>
                <a:lnTo>
                  <a:pt x="34784" y="952435"/>
                </a:lnTo>
                <a:lnTo>
                  <a:pt x="22447" y="915569"/>
                </a:lnTo>
                <a:lnTo>
                  <a:pt x="12730" y="878044"/>
                </a:lnTo>
                <a:lnTo>
                  <a:pt x="5704" y="839909"/>
                </a:lnTo>
                <a:lnTo>
                  <a:pt x="1437" y="801212"/>
                </a:lnTo>
                <a:lnTo>
                  <a:pt x="0" y="762000"/>
                </a:lnTo>
                <a:close/>
              </a:path>
            </a:pathLst>
          </a:custGeom>
          <a:ln w="25400">
            <a:solidFill>
              <a:srgbClr val="385D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219139" y="4180849"/>
            <a:ext cx="12934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4490" marR="5080" indent="-35242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Time</a:t>
            </a:r>
            <a:r>
              <a:rPr dirty="0" sz="1800" spc="-10" b="1">
                <a:solidFill>
                  <a:srgbClr val="231F20"/>
                </a:solidFill>
                <a:latin typeface="Calibri"/>
                <a:cs typeface="Calibri"/>
              </a:rPr>
              <a:t> Domain Signal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3837698" y="3594595"/>
            <a:ext cx="2284730" cy="1642745"/>
            <a:chOff x="3837698" y="3594595"/>
            <a:chExt cx="2284730" cy="1642745"/>
          </a:xfrm>
        </p:grpSpPr>
        <p:sp>
          <p:nvSpPr>
            <p:cNvPr id="22" name="object 22" descr=""/>
            <p:cNvSpPr/>
            <p:nvPr/>
          </p:nvSpPr>
          <p:spPr>
            <a:xfrm>
              <a:off x="3850398" y="3607295"/>
              <a:ext cx="2259330" cy="1617345"/>
            </a:xfrm>
            <a:custGeom>
              <a:avLst/>
              <a:gdLst/>
              <a:ahLst/>
              <a:cxnLst/>
              <a:rect l="l" t="t" r="r" b="b"/>
              <a:pathLst>
                <a:path w="2259329" h="1617345">
                  <a:moveTo>
                    <a:pt x="0" y="1616811"/>
                  </a:moveTo>
                  <a:lnTo>
                    <a:pt x="2259203" y="1616811"/>
                  </a:lnTo>
                  <a:lnTo>
                    <a:pt x="1129588" y="0"/>
                  </a:lnTo>
                  <a:lnTo>
                    <a:pt x="0" y="1616811"/>
                  </a:lnTo>
                  <a:close/>
                </a:path>
              </a:pathLst>
            </a:custGeom>
            <a:solidFill>
              <a:srgbClr val="4E8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850398" y="3607295"/>
              <a:ext cx="2259330" cy="1617345"/>
            </a:xfrm>
            <a:custGeom>
              <a:avLst/>
              <a:gdLst/>
              <a:ahLst/>
              <a:cxnLst/>
              <a:rect l="l" t="t" r="r" b="b"/>
              <a:pathLst>
                <a:path w="2259329" h="1617345">
                  <a:moveTo>
                    <a:pt x="0" y="1616811"/>
                  </a:moveTo>
                  <a:lnTo>
                    <a:pt x="1129588" y="0"/>
                  </a:lnTo>
                  <a:lnTo>
                    <a:pt x="2259203" y="1616811"/>
                  </a:lnTo>
                  <a:lnTo>
                    <a:pt x="0" y="1616811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4494149" y="4455157"/>
            <a:ext cx="972185" cy="695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785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solidFill>
                  <a:srgbClr val="FFFFFF"/>
                </a:solidFill>
                <a:latin typeface="Calibri"/>
                <a:cs typeface="Calibri"/>
              </a:rPr>
              <a:t>Fourier Analysis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6629412" y="4025912"/>
            <a:ext cx="2628900" cy="1219200"/>
          </a:xfrm>
          <a:custGeom>
            <a:avLst/>
            <a:gdLst/>
            <a:ahLst/>
            <a:cxnLst/>
            <a:rect l="l" t="t" r="r" b="b"/>
            <a:pathLst>
              <a:path w="2628900" h="1219200">
                <a:moveTo>
                  <a:pt x="0" y="203200"/>
                </a:moveTo>
                <a:lnTo>
                  <a:pt x="5367" y="156606"/>
                </a:lnTo>
                <a:lnTo>
                  <a:pt x="20654" y="113835"/>
                </a:lnTo>
                <a:lnTo>
                  <a:pt x="44642" y="76106"/>
                </a:lnTo>
                <a:lnTo>
                  <a:pt x="76111" y="44638"/>
                </a:lnTo>
                <a:lnTo>
                  <a:pt x="113840" y="20652"/>
                </a:lnTo>
                <a:lnTo>
                  <a:pt x="156610" y="5366"/>
                </a:lnTo>
                <a:lnTo>
                  <a:pt x="203199" y="0"/>
                </a:lnTo>
                <a:lnTo>
                  <a:pt x="2425700" y="0"/>
                </a:lnTo>
                <a:lnTo>
                  <a:pt x="2472289" y="5366"/>
                </a:lnTo>
                <a:lnTo>
                  <a:pt x="2515059" y="20652"/>
                </a:lnTo>
                <a:lnTo>
                  <a:pt x="2552788" y="44638"/>
                </a:lnTo>
                <a:lnTo>
                  <a:pt x="2584257" y="76106"/>
                </a:lnTo>
                <a:lnTo>
                  <a:pt x="2608245" y="113835"/>
                </a:lnTo>
                <a:lnTo>
                  <a:pt x="2623532" y="156606"/>
                </a:lnTo>
                <a:lnTo>
                  <a:pt x="2628900" y="203200"/>
                </a:lnTo>
                <a:lnTo>
                  <a:pt x="2628900" y="1015987"/>
                </a:lnTo>
                <a:lnTo>
                  <a:pt x="2623532" y="1062581"/>
                </a:lnTo>
                <a:lnTo>
                  <a:pt x="2608245" y="1105354"/>
                </a:lnTo>
                <a:lnTo>
                  <a:pt x="2584257" y="1143085"/>
                </a:lnTo>
                <a:lnTo>
                  <a:pt x="2552788" y="1174556"/>
                </a:lnTo>
                <a:lnTo>
                  <a:pt x="2515059" y="1198544"/>
                </a:lnTo>
                <a:lnTo>
                  <a:pt x="2472289" y="1213832"/>
                </a:lnTo>
                <a:lnTo>
                  <a:pt x="2425700" y="1219200"/>
                </a:lnTo>
                <a:lnTo>
                  <a:pt x="203200" y="1219200"/>
                </a:lnTo>
                <a:lnTo>
                  <a:pt x="156610" y="1213832"/>
                </a:lnTo>
                <a:lnTo>
                  <a:pt x="113840" y="1198544"/>
                </a:lnTo>
                <a:lnTo>
                  <a:pt x="76111" y="1174556"/>
                </a:lnTo>
                <a:lnTo>
                  <a:pt x="44642" y="1143085"/>
                </a:lnTo>
                <a:lnTo>
                  <a:pt x="20654" y="1105354"/>
                </a:lnTo>
                <a:lnTo>
                  <a:pt x="5367" y="1062581"/>
                </a:lnTo>
                <a:lnTo>
                  <a:pt x="0" y="1015987"/>
                </a:lnTo>
                <a:lnTo>
                  <a:pt x="0" y="203200"/>
                </a:lnTo>
                <a:close/>
              </a:path>
            </a:pathLst>
          </a:custGeom>
          <a:ln w="25399">
            <a:solidFill>
              <a:srgbClr val="385D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6865721" y="4333249"/>
            <a:ext cx="21558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405" marR="5080" indent="-5334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Frequency</a:t>
            </a:r>
            <a:r>
              <a:rPr dirty="0" sz="1800" spc="-7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31F20"/>
                </a:solidFill>
                <a:latin typeface="Calibri"/>
                <a:cs typeface="Calibri"/>
              </a:rPr>
              <a:t>(sinusoidal)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components</a:t>
            </a:r>
            <a:r>
              <a:rPr dirty="0" sz="1800" spc="-7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8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31F20"/>
                </a:solidFill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33412" y="5390476"/>
            <a:ext cx="3037840" cy="1600200"/>
          </a:xfrm>
          <a:prstGeom prst="rect">
            <a:avLst/>
          </a:prstGeom>
          <a:solidFill>
            <a:srgbClr val="EFCEE2"/>
          </a:solidFill>
        </p:spPr>
        <p:txBody>
          <a:bodyPr wrap="square" lIns="0" tIns="236220" rIns="0" bIns="0" rtlCol="0" vert="horz">
            <a:spAutoFit/>
          </a:bodyPr>
          <a:lstStyle/>
          <a:p>
            <a:pPr marL="377190" indent="-286385">
              <a:lnSpc>
                <a:spcPct val="100000"/>
              </a:lnSpc>
              <a:spcBef>
                <a:spcPts val="1860"/>
              </a:spcBef>
              <a:buFont typeface="Arial MT"/>
              <a:buChar char="•"/>
              <a:tabLst>
                <a:tab pos="377190" algn="l"/>
              </a:tabLst>
            </a:pP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CT</a:t>
            </a:r>
            <a:r>
              <a:rPr dirty="0" sz="1800" spc="-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31F20"/>
                </a:solidFill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20"/>
              </a:spcBef>
              <a:buClr>
                <a:srgbClr val="231F20"/>
              </a:buClr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377190" indent="-286385">
              <a:lnSpc>
                <a:spcPct val="100000"/>
              </a:lnSpc>
              <a:buFont typeface="Arial MT"/>
              <a:buChar char="•"/>
              <a:tabLst>
                <a:tab pos="377190" algn="l"/>
              </a:tabLst>
            </a:pP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DT</a:t>
            </a:r>
            <a:r>
              <a:rPr dirty="0" sz="1800" spc="-3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31F20"/>
                </a:solidFill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905000" y="5480748"/>
            <a:ext cx="1458595" cy="646430"/>
          </a:xfrm>
          <a:prstGeom prst="rect">
            <a:avLst/>
          </a:prstGeom>
          <a:solidFill>
            <a:srgbClr val="DCE5F1"/>
          </a:solidFill>
        </p:spPr>
        <p:txBody>
          <a:bodyPr wrap="square" lIns="0" tIns="30480" rIns="0" bIns="0" rtlCol="0" vert="horz">
            <a:spAutoFit/>
          </a:bodyPr>
          <a:lstStyle/>
          <a:p>
            <a:pPr marL="377190" indent="-28575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77190" algn="l"/>
              </a:tabLst>
            </a:pPr>
            <a:r>
              <a:rPr dirty="0" sz="1800" spc="-10" b="1">
                <a:solidFill>
                  <a:srgbClr val="3953A4"/>
                </a:solidFill>
                <a:latin typeface="Calibri"/>
                <a:cs typeface="Calibri"/>
              </a:rPr>
              <a:t>Periodic</a:t>
            </a:r>
            <a:endParaRPr sz="1800">
              <a:latin typeface="Calibri"/>
              <a:cs typeface="Calibri"/>
            </a:endParaRPr>
          </a:p>
          <a:p>
            <a:pPr marL="377190" indent="-285750">
              <a:lnSpc>
                <a:spcPct val="100000"/>
              </a:lnSpc>
              <a:buFont typeface="Arial MT"/>
              <a:buChar char="•"/>
              <a:tabLst>
                <a:tab pos="377190" algn="l"/>
              </a:tabLst>
            </a:pPr>
            <a:r>
              <a:rPr dirty="0" sz="1800" spc="-10" b="1">
                <a:solidFill>
                  <a:srgbClr val="ED2024"/>
                </a:solidFill>
                <a:latin typeface="Calibri"/>
                <a:cs typeface="Calibri"/>
              </a:rPr>
              <a:t>Aperiodic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905000" y="6306248"/>
            <a:ext cx="1458595" cy="646430"/>
          </a:xfrm>
          <a:prstGeom prst="rect">
            <a:avLst/>
          </a:prstGeom>
          <a:solidFill>
            <a:srgbClr val="DCE5F1"/>
          </a:solidFill>
        </p:spPr>
        <p:txBody>
          <a:bodyPr wrap="square" lIns="0" tIns="30480" rIns="0" bIns="0" rtlCol="0" vert="horz">
            <a:spAutoFit/>
          </a:bodyPr>
          <a:lstStyle/>
          <a:p>
            <a:pPr marL="377190" indent="-28575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77190" algn="l"/>
              </a:tabLst>
            </a:pPr>
            <a:r>
              <a:rPr dirty="0" sz="1800" spc="-10" b="1">
                <a:solidFill>
                  <a:srgbClr val="3953A4"/>
                </a:solidFill>
                <a:latin typeface="Calibri"/>
                <a:cs typeface="Calibri"/>
              </a:rPr>
              <a:t>Periodic</a:t>
            </a:r>
            <a:endParaRPr sz="1800">
              <a:latin typeface="Calibri"/>
              <a:cs typeface="Calibri"/>
            </a:endParaRPr>
          </a:p>
          <a:p>
            <a:pPr marL="377190" indent="-285750">
              <a:lnSpc>
                <a:spcPct val="100000"/>
              </a:lnSpc>
              <a:buFont typeface="Arial MT"/>
              <a:buChar char="•"/>
              <a:tabLst>
                <a:tab pos="377190" algn="l"/>
              </a:tabLst>
            </a:pPr>
            <a:r>
              <a:rPr dirty="0" sz="1800" spc="-10" b="1">
                <a:solidFill>
                  <a:srgbClr val="ED2024"/>
                </a:solidFill>
                <a:latin typeface="Calibri"/>
                <a:cs typeface="Calibri"/>
              </a:rPr>
              <a:t>Aperiodic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900296" y="5867412"/>
            <a:ext cx="2264410" cy="646430"/>
          </a:xfrm>
          <a:prstGeom prst="rect">
            <a:avLst/>
          </a:prstGeom>
          <a:solidFill>
            <a:srgbClr val="DCE5F1"/>
          </a:solidFill>
        </p:spPr>
        <p:txBody>
          <a:bodyPr wrap="square" lIns="0" tIns="30480" rIns="0" bIns="0" rtlCol="0" vert="horz">
            <a:spAutoFit/>
          </a:bodyPr>
          <a:lstStyle/>
          <a:p>
            <a:pPr marL="377190" indent="-28638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77190" algn="l"/>
              </a:tabLst>
            </a:pPr>
            <a:r>
              <a:rPr dirty="0" sz="1800" b="1">
                <a:solidFill>
                  <a:srgbClr val="3953A4"/>
                </a:solidFill>
                <a:latin typeface="Calibri"/>
                <a:cs typeface="Calibri"/>
              </a:rPr>
              <a:t>Fourier</a:t>
            </a:r>
            <a:r>
              <a:rPr dirty="0" sz="1800" spc="-6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3953A4"/>
                </a:solidFill>
                <a:latin typeface="Calibri"/>
                <a:cs typeface="Calibri"/>
              </a:rPr>
              <a:t>Series</a:t>
            </a:r>
            <a:endParaRPr sz="1800">
              <a:latin typeface="Calibri"/>
              <a:cs typeface="Calibri"/>
            </a:endParaRPr>
          </a:p>
          <a:p>
            <a:pPr marL="377190" indent="-286385">
              <a:lnSpc>
                <a:spcPct val="100000"/>
              </a:lnSpc>
              <a:buFont typeface="Arial MT"/>
              <a:buChar char="•"/>
              <a:tabLst>
                <a:tab pos="377190" algn="l"/>
              </a:tabLst>
            </a:pP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Fourier</a:t>
            </a:r>
            <a:r>
              <a:rPr dirty="0" sz="1800" spc="-6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ED2024"/>
                </a:solidFill>
                <a:latin typeface="Calibri"/>
                <a:cs typeface="Calibri"/>
              </a:rPr>
              <a:t>Transform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425069" y="5390476"/>
            <a:ext cx="3037840" cy="1600200"/>
          </a:xfrm>
          <a:prstGeom prst="rect">
            <a:avLst/>
          </a:prstGeom>
          <a:solidFill>
            <a:srgbClr val="EFCEE2"/>
          </a:solidFill>
        </p:spPr>
        <p:txBody>
          <a:bodyPr wrap="square" lIns="0" tIns="99060" rIns="0" bIns="0" rtlCol="0" vert="horz">
            <a:spAutoFit/>
          </a:bodyPr>
          <a:lstStyle/>
          <a:p>
            <a:pPr marL="377825" marR="359410" indent="-28702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377825" algn="l"/>
              </a:tabLst>
            </a:pPr>
            <a:r>
              <a:rPr dirty="0" sz="1800" b="1">
                <a:solidFill>
                  <a:srgbClr val="BF2026"/>
                </a:solidFill>
                <a:latin typeface="Calibri"/>
                <a:cs typeface="Calibri"/>
              </a:rPr>
              <a:t>Magnitude</a:t>
            </a:r>
            <a:r>
              <a:rPr dirty="0" sz="1800" spc="-15" b="1">
                <a:solidFill>
                  <a:srgbClr val="BF2026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800" spc="-4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31F20"/>
                </a:solidFill>
                <a:latin typeface="Calibri"/>
                <a:cs typeface="Calibri"/>
              </a:rPr>
              <a:t>frequency components</a:t>
            </a:r>
            <a:endParaRPr sz="1800">
              <a:latin typeface="Calibri"/>
              <a:cs typeface="Calibri"/>
            </a:endParaRPr>
          </a:p>
          <a:p>
            <a:pPr marL="377190" marR="836930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377190" algn="l"/>
              </a:tabLst>
            </a:pPr>
            <a:r>
              <a:rPr dirty="0" sz="1800" b="1">
                <a:solidFill>
                  <a:srgbClr val="6F3996"/>
                </a:solidFill>
                <a:latin typeface="Calibri"/>
                <a:cs typeface="Calibri"/>
              </a:rPr>
              <a:t>Phase</a:t>
            </a:r>
            <a:r>
              <a:rPr dirty="0" sz="1800" spc="-25" b="1">
                <a:solidFill>
                  <a:srgbClr val="6F3996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800" spc="-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31F20"/>
                </a:solidFill>
                <a:latin typeface="Calibri"/>
                <a:cs typeface="Calibri"/>
              </a:rPr>
              <a:t>frequency components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9839" y="790956"/>
              <a:ext cx="4433328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91640" y="790956"/>
              <a:ext cx="126492" cy="123139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3168" y="790956"/>
              <a:ext cx="728472" cy="12313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algn="ctr" marL="125095">
              <a:lnSpc>
                <a:spcPct val="100000"/>
              </a:lnSpc>
              <a:spcBef>
                <a:spcPts val="105"/>
              </a:spcBef>
            </a:pPr>
            <a:r>
              <a:rPr dirty="0"/>
              <a:t>Frequency</a:t>
            </a:r>
            <a:r>
              <a:rPr dirty="0" spc="-150"/>
              <a:t> </a:t>
            </a:r>
            <a:r>
              <a:rPr dirty="0" spc="-10"/>
              <a:t>Analysis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885825" y="1876425"/>
            <a:ext cx="8287384" cy="1743710"/>
            <a:chOff x="885825" y="1876425"/>
            <a:chExt cx="8287384" cy="1743710"/>
          </a:xfrm>
        </p:grpSpPr>
        <p:sp>
          <p:nvSpPr>
            <p:cNvPr id="8" name="object 8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543312" y="1990001"/>
              <a:ext cx="2895600" cy="1617345"/>
            </a:xfrm>
            <a:custGeom>
              <a:avLst/>
              <a:gdLst/>
              <a:ahLst/>
              <a:cxnLst/>
              <a:rect l="l" t="t" r="r" b="b"/>
              <a:pathLst>
                <a:path w="2895600" h="1617345">
                  <a:moveTo>
                    <a:pt x="0" y="1616811"/>
                  </a:moveTo>
                  <a:lnTo>
                    <a:pt x="2895600" y="1616811"/>
                  </a:lnTo>
                  <a:lnTo>
                    <a:pt x="1447799" y="0"/>
                  </a:lnTo>
                  <a:lnTo>
                    <a:pt x="0" y="1616811"/>
                  </a:lnTo>
                  <a:close/>
                </a:path>
              </a:pathLst>
            </a:custGeom>
            <a:solidFill>
              <a:srgbClr val="4E8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543312" y="1990001"/>
              <a:ext cx="2895600" cy="1617345"/>
            </a:xfrm>
            <a:custGeom>
              <a:avLst/>
              <a:gdLst/>
              <a:ahLst/>
              <a:cxnLst/>
              <a:rect l="l" t="t" r="r" b="b"/>
              <a:pathLst>
                <a:path w="2895600" h="1617345">
                  <a:moveTo>
                    <a:pt x="0" y="1616811"/>
                  </a:moveTo>
                  <a:lnTo>
                    <a:pt x="1447799" y="0"/>
                  </a:lnTo>
                  <a:lnTo>
                    <a:pt x="2895600" y="1616811"/>
                  </a:lnTo>
                  <a:lnTo>
                    <a:pt x="0" y="1616811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4377063" y="2837859"/>
            <a:ext cx="1228725" cy="695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solidFill>
                  <a:srgbClr val="FFFFFF"/>
                </a:solidFill>
                <a:latin typeface="Calibri"/>
                <a:cs typeface="Calibri"/>
              </a:rPr>
              <a:t>Frequency Analysis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032000" y="3797312"/>
            <a:ext cx="1776730" cy="1016000"/>
            <a:chOff x="2032000" y="3797312"/>
            <a:chExt cx="1776730" cy="1016000"/>
          </a:xfrm>
        </p:grpSpPr>
        <p:sp>
          <p:nvSpPr>
            <p:cNvPr id="13" name="object 13" descr=""/>
            <p:cNvSpPr/>
            <p:nvPr/>
          </p:nvSpPr>
          <p:spPr>
            <a:xfrm>
              <a:off x="2044700" y="3810012"/>
              <a:ext cx="1751330" cy="990600"/>
            </a:xfrm>
            <a:custGeom>
              <a:avLst/>
              <a:gdLst/>
              <a:ahLst/>
              <a:cxnLst/>
              <a:rect l="l" t="t" r="r" b="b"/>
              <a:pathLst>
                <a:path w="1751329" h="990600">
                  <a:moveTo>
                    <a:pt x="0" y="990600"/>
                  </a:moveTo>
                  <a:lnTo>
                    <a:pt x="1751215" y="990599"/>
                  </a:lnTo>
                  <a:lnTo>
                    <a:pt x="875601" y="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4E8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044700" y="3810012"/>
              <a:ext cx="1751330" cy="990600"/>
            </a:xfrm>
            <a:custGeom>
              <a:avLst/>
              <a:gdLst/>
              <a:ahLst/>
              <a:cxnLst/>
              <a:rect l="l" t="t" r="r" b="b"/>
              <a:pathLst>
                <a:path w="1751329" h="990600">
                  <a:moveTo>
                    <a:pt x="0" y="990600"/>
                  </a:moveTo>
                  <a:lnTo>
                    <a:pt x="875601" y="0"/>
                  </a:lnTo>
                  <a:lnTo>
                    <a:pt x="1751215" y="990599"/>
                  </a:lnTo>
                  <a:lnTo>
                    <a:pt x="0" y="9906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573702" y="4284226"/>
            <a:ext cx="69215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175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Fourier analysis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2902851" y="3589350"/>
            <a:ext cx="5380355" cy="1229995"/>
            <a:chOff x="2902851" y="3589350"/>
            <a:chExt cx="5380355" cy="1229995"/>
          </a:xfrm>
        </p:grpSpPr>
        <p:sp>
          <p:nvSpPr>
            <p:cNvPr id="17" name="object 17" descr=""/>
            <p:cNvSpPr/>
            <p:nvPr/>
          </p:nvSpPr>
          <p:spPr>
            <a:xfrm>
              <a:off x="2920314" y="3606812"/>
              <a:ext cx="2071370" cy="203200"/>
            </a:xfrm>
            <a:custGeom>
              <a:avLst/>
              <a:gdLst/>
              <a:ahLst/>
              <a:cxnLst/>
              <a:rect l="l" t="t" r="r" b="b"/>
              <a:pathLst>
                <a:path w="2071370" h="203200">
                  <a:moveTo>
                    <a:pt x="2070798" y="0"/>
                  </a:moveTo>
                  <a:lnTo>
                    <a:pt x="0" y="203200"/>
                  </a:lnTo>
                </a:path>
              </a:pathLst>
            </a:custGeom>
            <a:ln w="3492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989614" y="3589413"/>
              <a:ext cx="2357120" cy="238125"/>
            </a:xfrm>
            <a:custGeom>
              <a:avLst/>
              <a:gdLst/>
              <a:ahLst/>
              <a:cxnLst/>
              <a:rect l="l" t="t" r="r" b="b"/>
              <a:pathLst>
                <a:path w="2357120" h="238125">
                  <a:moveTo>
                    <a:pt x="0" y="34798"/>
                  </a:moveTo>
                  <a:lnTo>
                    <a:pt x="2354110" y="237997"/>
                  </a:lnTo>
                  <a:lnTo>
                    <a:pt x="2357107" y="203199"/>
                  </a:lnTo>
                  <a:lnTo>
                    <a:pt x="2997" y="0"/>
                  </a:lnTo>
                  <a:lnTo>
                    <a:pt x="0" y="3479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1480" y="3794772"/>
              <a:ext cx="1871471" cy="1024128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6946007" y="3855664"/>
            <a:ext cx="79883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8382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Calibri"/>
                <a:cs typeface="Calibri"/>
              </a:rPr>
              <a:t>Fourier synthesis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224510" y="4906261"/>
            <a:ext cx="13919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3953A4"/>
                </a:solidFill>
                <a:latin typeface="Calibri"/>
                <a:cs typeface="Calibri"/>
              </a:rPr>
              <a:t>Signal</a:t>
            </a:r>
            <a:r>
              <a:rPr dirty="0" sz="1800" spc="-2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3953A4"/>
                </a:solidFill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218501" y="5257812"/>
            <a:ext cx="3403600" cy="1600200"/>
          </a:xfrm>
          <a:custGeom>
            <a:avLst/>
            <a:gdLst/>
            <a:ahLst/>
            <a:cxnLst/>
            <a:rect l="l" t="t" r="r" b="b"/>
            <a:pathLst>
              <a:path w="3403600" h="1600200">
                <a:moveTo>
                  <a:pt x="0" y="266700"/>
                </a:moveTo>
                <a:lnTo>
                  <a:pt x="4296" y="218760"/>
                </a:lnTo>
                <a:lnTo>
                  <a:pt x="16685" y="173639"/>
                </a:lnTo>
                <a:lnTo>
                  <a:pt x="36412" y="132091"/>
                </a:lnTo>
                <a:lnTo>
                  <a:pt x="62724" y="94868"/>
                </a:lnTo>
                <a:lnTo>
                  <a:pt x="94868" y="62724"/>
                </a:lnTo>
                <a:lnTo>
                  <a:pt x="132091" y="36412"/>
                </a:lnTo>
                <a:lnTo>
                  <a:pt x="173639" y="16685"/>
                </a:lnTo>
                <a:lnTo>
                  <a:pt x="218760" y="4296"/>
                </a:lnTo>
                <a:lnTo>
                  <a:pt x="266699" y="0"/>
                </a:lnTo>
                <a:lnTo>
                  <a:pt x="3136900" y="0"/>
                </a:lnTo>
                <a:lnTo>
                  <a:pt x="3184839" y="4296"/>
                </a:lnTo>
                <a:lnTo>
                  <a:pt x="3229960" y="16685"/>
                </a:lnTo>
                <a:lnTo>
                  <a:pt x="3271508" y="36412"/>
                </a:lnTo>
                <a:lnTo>
                  <a:pt x="3308731" y="62724"/>
                </a:lnTo>
                <a:lnTo>
                  <a:pt x="3340875" y="94868"/>
                </a:lnTo>
                <a:lnTo>
                  <a:pt x="3367187" y="132091"/>
                </a:lnTo>
                <a:lnTo>
                  <a:pt x="3386914" y="173639"/>
                </a:lnTo>
                <a:lnTo>
                  <a:pt x="3399303" y="218760"/>
                </a:lnTo>
                <a:lnTo>
                  <a:pt x="3403600" y="266700"/>
                </a:lnTo>
                <a:lnTo>
                  <a:pt x="3403600" y="1333487"/>
                </a:lnTo>
                <a:lnTo>
                  <a:pt x="3399303" y="1381427"/>
                </a:lnTo>
                <a:lnTo>
                  <a:pt x="3386914" y="1426549"/>
                </a:lnTo>
                <a:lnTo>
                  <a:pt x="3367187" y="1468099"/>
                </a:lnTo>
                <a:lnTo>
                  <a:pt x="3340875" y="1505324"/>
                </a:lnTo>
                <a:lnTo>
                  <a:pt x="3308731" y="1537470"/>
                </a:lnTo>
                <a:lnTo>
                  <a:pt x="3271508" y="1563784"/>
                </a:lnTo>
                <a:lnTo>
                  <a:pt x="3229960" y="1583513"/>
                </a:lnTo>
                <a:lnTo>
                  <a:pt x="3184839" y="1595902"/>
                </a:lnTo>
                <a:lnTo>
                  <a:pt x="3136900" y="1600200"/>
                </a:lnTo>
                <a:lnTo>
                  <a:pt x="266700" y="1600200"/>
                </a:lnTo>
                <a:lnTo>
                  <a:pt x="218760" y="1595902"/>
                </a:lnTo>
                <a:lnTo>
                  <a:pt x="173639" y="1583513"/>
                </a:lnTo>
                <a:lnTo>
                  <a:pt x="132091" y="1563784"/>
                </a:lnTo>
                <a:lnTo>
                  <a:pt x="94868" y="1537470"/>
                </a:lnTo>
                <a:lnTo>
                  <a:pt x="62724" y="1505324"/>
                </a:lnTo>
                <a:lnTo>
                  <a:pt x="36412" y="1468099"/>
                </a:lnTo>
                <a:lnTo>
                  <a:pt x="16685" y="1426549"/>
                </a:lnTo>
                <a:lnTo>
                  <a:pt x="4296" y="1381427"/>
                </a:lnTo>
                <a:lnTo>
                  <a:pt x="0" y="1333487"/>
                </a:lnTo>
                <a:lnTo>
                  <a:pt x="0" y="266700"/>
                </a:lnTo>
                <a:close/>
              </a:path>
            </a:pathLst>
          </a:custGeom>
          <a:ln w="25400">
            <a:solidFill>
              <a:srgbClr val="385D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389498" y="5481331"/>
            <a:ext cx="30607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127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Decompose</a:t>
            </a:r>
            <a:r>
              <a:rPr dirty="0" sz="1800" spc="-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time</a:t>
            </a:r>
            <a:r>
              <a:rPr dirty="0" sz="1800" spc="-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domain</a:t>
            </a:r>
            <a:r>
              <a:rPr dirty="0" sz="1800" spc="-7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signal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into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its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constituent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frequency components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using</a:t>
            </a:r>
            <a:r>
              <a:rPr dirty="0" sz="1800" spc="-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3953A4"/>
                </a:solidFill>
                <a:latin typeface="Calibri"/>
                <a:cs typeface="Calibri"/>
              </a:rPr>
              <a:t>direct</a:t>
            </a:r>
            <a:r>
              <a:rPr dirty="0" sz="1800" spc="-4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3953A4"/>
                </a:solidFill>
                <a:latin typeface="Calibri"/>
                <a:cs typeface="Calibri"/>
              </a:rPr>
              <a:t>Fourier series/transforms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619409" y="4906173"/>
            <a:ext cx="15138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Signal</a:t>
            </a:r>
            <a:r>
              <a:rPr dirty="0" sz="1800" spc="-2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ED2024"/>
                </a:solidFill>
                <a:latin typeface="Calibri"/>
                <a:cs typeface="Calibri"/>
              </a:rPr>
              <a:t>synthesis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5643422" y="5257812"/>
            <a:ext cx="3404235" cy="1600200"/>
          </a:xfrm>
          <a:custGeom>
            <a:avLst/>
            <a:gdLst/>
            <a:ahLst/>
            <a:cxnLst/>
            <a:rect l="l" t="t" r="r" b="b"/>
            <a:pathLst>
              <a:path w="3404234" h="1600200">
                <a:moveTo>
                  <a:pt x="0" y="266700"/>
                </a:moveTo>
                <a:lnTo>
                  <a:pt x="4296" y="218760"/>
                </a:lnTo>
                <a:lnTo>
                  <a:pt x="16685" y="173639"/>
                </a:lnTo>
                <a:lnTo>
                  <a:pt x="36412" y="132091"/>
                </a:lnTo>
                <a:lnTo>
                  <a:pt x="62724" y="94868"/>
                </a:lnTo>
                <a:lnTo>
                  <a:pt x="94868" y="62724"/>
                </a:lnTo>
                <a:lnTo>
                  <a:pt x="132091" y="36412"/>
                </a:lnTo>
                <a:lnTo>
                  <a:pt x="173639" y="16685"/>
                </a:lnTo>
                <a:lnTo>
                  <a:pt x="218760" y="4296"/>
                </a:lnTo>
                <a:lnTo>
                  <a:pt x="266699" y="0"/>
                </a:lnTo>
                <a:lnTo>
                  <a:pt x="3136900" y="0"/>
                </a:lnTo>
                <a:lnTo>
                  <a:pt x="3184840" y="4296"/>
                </a:lnTo>
                <a:lnTo>
                  <a:pt x="3229961" y="16685"/>
                </a:lnTo>
                <a:lnTo>
                  <a:pt x="3271512" y="36412"/>
                </a:lnTo>
                <a:lnTo>
                  <a:pt x="3308736" y="62724"/>
                </a:lnTo>
                <a:lnTo>
                  <a:pt x="3340882" y="94868"/>
                </a:lnTo>
                <a:lnTo>
                  <a:pt x="3367197" y="132091"/>
                </a:lnTo>
                <a:lnTo>
                  <a:pt x="3386925" y="173639"/>
                </a:lnTo>
                <a:lnTo>
                  <a:pt x="3399315" y="218760"/>
                </a:lnTo>
                <a:lnTo>
                  <a:pt x="3403612" y="266700"/>
                </a:lnTo>
                <a:lnTo>
                  <a:pt x="3403612" y="1333487"/>
                </a:lnTo>
                <a:lnTo>
                  <a:pt x="3399315" y="1381427"/>
                </a:lnTo>
                <a:lnTo>
                  <a:pt x="3386925" y="1426549"/>
                </a:lnTo>
                <a:lnTo>
                  <a:pt x="3367197" y="1468099"/>
                </a:lnTo>
                <a:lnTo>
                  <a:pt x="3340882" y="1505324"/>
                </a:lnTo>
                <a:lnTo>
                  <a:pt x="3308736" y="1537470"/>
                </a:lnTo>
                <a:lnTo>
                  <a:pt x="3271512" y="1563784"/>
                </a:lnTo>
                <a:lnTo>
                  <a:pt x="3229961" y="1583513"/>
                </a:lnTo>
                <a:lnTo>
                  <a:pt x="3184840" y="1595902"/>
                </a:lnTo>
                <a:lnTo>
                  <a:pt x="3136900" y="1600200"/>
                </a:lnTo>
                <a:lnTo>
                  <a:pt x="266700" y="1600200"/>
                </a:lnTo>
                <a:lnTo>
                  <a:pt x="218760" y="1595902"/>
                </a:lnTo>
                <a:lnTo>
                  <a:pt x="173639" y="1583513"/>
                </a:lnTo>
                <a:lnTo>
                  <a:pt x="132091" y="1563784"/>
                </a:lnTo>
                <a:lnTo>
                  <a:pt x="94868" y="1537470"/>
                </a:lnTo>
                <a:lnTo>
                  <a:pt x="62724" y="1505324"/>
                </a:lnTo>
                <a:lnTo>
                  <a:pt x="36412" y="1468099"/>
                </a:lnTo>
                <a:lnTo>
                  <a:pt x="16685" y="1426549"/>
                </a:lnTo>
                <a:lnTo>
                  <a:pt x="4296" y="1381427"/>
                </a:lnTo>
                <a:lnTo>
                  <a:pt x="0" y="1333487"/>
                </a:lnTo>
                <a:lnTo>
                  <a:pt x="0" y="266700"/>
                </a:lnTo>
                <a:close/>
              </a:path>
            </a:pathLst>
          </a:custGeom>
          <a:ln w="25399">
            <a:solidFill>
              <a:srgbClr val="385D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5837236" y="5344171"/>
            <a:ext cx="301371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254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Combine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all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constituent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frequency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components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signal</a:t>
            </a:r>
            <a:r>
              <a:rPr dirty="0" sz="1800" spc="-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using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inverse</a:t>
            </a:r>
            <a:r>
              <a:rPr dirty="0" sz="1800" spc="-6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ED2024"/>
                </a:solidFill>
                <a:latin typeface="Calibri"/>
                <a:cs typeface="Calibri"/>
              </a:rPr>
              <a:t>Fourier series/transforms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,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800" spc="-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synthesize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original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time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domain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9839" y="790956"/>
              <a:ext cx="4433328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91640" y="790956"/>
              <a:ext cx="126492" cy="123139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3168" y="790956"/>
              <a:ext cx="728472" cy="12313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algn="ctr" marL="125095">
              <a:lnSpc>
                <a:spcPct val="100000"/>
              </a:lnSpc>
              <a:spcBef>
                <a:spcPts val="105"/>
              </a:spcBef>
            </a:pPr>
            <a:r>
              <a:rPr dirty="0"/>
              <a:t>Frequency</a:t>
            </a:r>
            <a:r>
              <a:rPr dirty="0" spc="-150"/>
              <a:t> </a:t>
            </a:r>
            <a:r>
              <a:rPr dirty="0" spc="-10"/>
              <a:t>Analysis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5783" y="2526309"/>
            <a:ext cx="7943748" cy="365075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085216" y="4796419"/>
            <a:ext cx="1868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Time</a:t>
            </a:r>
            <a:r>
              <a:rPr dirty="0" sz="1800" spc="-1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domain</a:t>
            </a:r>
            <a:r>
              <a:rPr dirty="0" sz="1800" spc="-3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ED2024"/>
                </a:solidFill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713305" y="2166376"/>
            <a:ext cx="336105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E81BE"/>
                </a:solidFill>
                <a:latin typeface="Calibri"/>
                <a:cs typeface="Calibri"/>
              </a:rPr>
              <a:t>Constituent</a:t>
            </a:r>
            <a:r>
              <a:rPr dirty="0" sz="1800" spc="-85" b="1">
                <a:solidFill>
                  <a:srgbClr val="4E81B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E81BE"/>
                </a:solidFill>
                <a:latin typeface="Calibri"/>
                <a:cs typeface="Calibri"/>
              </a:rPr>
              <a:t>frequency</a:t>
            </a:r>
            <a:r>
              <a:rPr dirty="0" sz="1800" spc="-80" b="1">
                <a:solidFill>
                  <a:srgbClr val="4E81B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4E81BE"/>
                </a:solidFill>
                <a:latin typeface="Calibri"/>
                <a:cs typeface="Calibri"/>
              </a:rPr>
              <a:t>components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612535" y="4532157"/>
            <a:ext cx="17856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0" marR="5080" indent="-17843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3953A4"/>
                </a:solidFill>
                <a:latin typeface="Calibri"/>
                <a:cs typeface="Calibri"/>
              </a:rPr>
              <a:t>Frequency</a:t>
            </a:r>
            <a:r>
              <a:rPr dirty="0" sz="1800" spc="-80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3953A4"/>
                </a:solidFill>
                <a:latin typeface="Calibri"/>
                <a:cs typeface="Calibri"/>
              </a:rPr>
              <a:t>domain representation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3396" y="790956"/>
              <a:ext cx="2412491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5888" y="790956"/>
              <a:ext cx="124968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19328" y="790956"/>
              <a:ext cx="1167383" cy="123139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94360" y="790956"/>
              <a:ext cx="124968" cy="123139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90856" y="790956"/>
              <a:ext cx="603503" cy="123139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15184" y="790956"/>
              <a:ext cx="126492" cy="123139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86712" y="790956"/>
              <a:ext cx="728472" cy="1231392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911860">
              <a:lnSpc>
                <a:spcPct val="100000"/>
              </a:lnSpc>
              <a:spcBef>
                <a:spcPts val="105"/>
              </a:spcBef>
            </a:pPr>
            <a:r>
              <a:rPr dirty="0" b="0">
                <a:solidFill>
                  <a:srgbClr val="231F20"/>
                </a:solidFill>
                <a:latin typeface="Calibri"/>
                <a:cs typeface="Calibri"/>
              </a:rPr>
              <a:t>Week</a:t>
            </a:r>
            <a:r>
              <a:rPr dirty="0" spc="-130" b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231F20"/>
                </a:solidFill>
                <a:latin typeface="Calibri"/>
                <a:cs typeface="Calibri"/>
              </a:rPr>
              <a:t>8:</a:t>
            </a:r>
            <a:r>
              <a:rPr dirty="0" spc="-110" b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/>
              <a:t>Frequency</a:t>
            </a:r>
            <a:r>
              <a:rPr dirty="0" spc="-110"/>
              <a:t> </a:t>
            </a:r>
            <a:r>
              <a:rPr dirty="0" spc="-10"/>
              <a:t>Analysis</a:t>
            </a:r>
          </a:p>
        </p:txBody>
      </p:sp>
      <p:sp>
        <p:nvSpPr>
          <p:cNvPr id="11" name="object 11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01092" y="2116839"/>
            <a:ext cx="8030209" cy="414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tabLst>
                <a:tab pos="555625" algn="l"/>
              </a:tabLst>
            </a:pPr>
            <a:r>
              <a:rPr dirty="0" sz="3000" spc="-50">
                <a:solidFill>
                  <a:srgbClr val="3953A4"/>
                </a:solidFill>
                <a:latin typeface="Wingdings"/>
                <a:cs typeface="Wingdings"/>
              </a:rPr>
              <a:t></a:t>
            </a:r>
            <a:r>
              <a:rPr dirty="0" sz="3000">
                <a:solidFill>
                  <a:srgbClr val="3953A4"/>
                </a:solidFill>
                <a:latin typeface="Times New Roman"/>
                <a:cs typeface="Times New Roman"/>
              </a:rPr>
              <a:t>		</a:t>
            </a:r>
            <a:r>
              <a:rPr dirty="0" sz="3000" spc="-10" b="1">
                <a:solidFill>
                  <a:srgbClr val="231F20"/>
                </a:solidFill>
                <a:latin typeface="Calibri"/>
                <a:cs typeface="Calibri"/>
              </a:rPr>
              <a:t>Frequency</a:t>
            </a:r>
            <a:r>
              <a:rPr dirty="0" sz="3000" spc="-8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231F20"/>
                </a:solidFill>
                <a:latin typeface="Calibri"/>
                <a:cs typeface="Calibri"/>
              </a:rPr>
              <a:t>Analysis</a:t>
            </a:r>
            <a:r>
              <a:rPr dirty="0" sz="3000" spc="-5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3000" spc="-8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3953A4"/>
                </a:solidFill>
                <a:latin typeface="Calibri"/>
                <a:cs typeface="Calibri"/>
              </a:rPr>
              <a:t>continuous</a:t>
            </a:r>
            <a:r>
              <a:rPr dirty="0" sz="3000" spc="-7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3953A4"/>
                </a:solidFill>
                <a:latin typeface="Calibri"/>
                <a:cs typeface="Calibri"/>
              </a:rPr>
              <a:t>time</a:t>
            </a:r>
            <a:r>
              <a:rPr dirty="0" sz="3000" spc="-80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ED2024"/>
                </a:solidFill>
                <a:latin typeface="Calibri"/>
                <a:cs typeface="Calibri"/>
              </a:rPr>
              <a:t>periodic </a:t>
            </a:r>
            <a:r>
              <a:rPr dirty="0" sz="3000" spc="-10" b="1">
                <a:solidFill>
                  <a:srgbClr val="231F20"/>
                </a:solidFill>
                <a:latin typeface="Calibri"/>
                <a:cs typeface="Calibri"/>
              </a:rPr>
              <a:t>signals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0"/>
              </a:spcBef>
            </a:pPr>
            <a:r>
              <a:rPr dirty="0" sz="3000" spc="-50">
                <a:solidFill>
                  <a:srgbClr val="3953A4"/>
                </a:solidFill>
                <a:latin typeface="Wingdings"/>
                <a:cs typeface="Wingdings"/>
              </a:rPr>
              <a:t></a:t>
            </a:r>
            <a:endParaRPr sz="300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300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3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dirty="0" sz="3000" spc="-50">
                <a:solidFill>
                  <a:srgbClr val="3953A4"/>
                </a:solidFill>
                <a:latin typeface="Wingdings"/>
                <a:cs typeface="Wingdings"/>
              </a:rPr>
              <a:t></a:t>
            </a:r>
            <a:endParaRPr sz="300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3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dirty="0" sz="3000" spc="-50">
                <a:solidFill>
                  <a:srgbClr val="3953A4"/>
                </a:solidFill>
                <a:latin typeface="Wingdings"/>
                <a:cs typeface="Wingdings"/>
              </a:rPr>
              <a:t></a:t>
            </a:r>
            <a:endParaRPr sz="30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sp>
        <p:nvSpPr>
          <p:cNvPr id="8" name="object 8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7262" y="2224087"/>
            <a:ext cx="5981712" cy="32385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12937" y="3109912"/>
            <a:ext cx="5153037" cy="11430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60563" y="4919675"/>
            <a:ext cx="4867286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015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sp>
        <p:nvSpPr>
          <p:cNvPr id="8" name="object 8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879157" y="2113965"/>
            <a:ext cx="8540750" cy="4829175"/>
            <a:chOff x="879157" y="2113965"/>
            <a:chExt cx="8540750" cy="4829175"/>
          </a:xfrm>
        </p:grpSpPr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9157" y="2113965"/>
              <a:ext cx="8540216" cy="4829092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914399" y="2209799"/>
              <a:ext cx="2133600" cy="762000"/>
            </a:xfrm>
            <a:custGeom>
              <a:avLst/>
              <a:gdLst/>
              <a:ahLst/>
              <a:cxnLst/>
              <a:rect l="l" t="t" r="r" b="b"/>
              <a:pathLst>
                <a:path w="2133600" h="762000">
                  <a:moveTo>
                    <a:pt x="0" y="127000"/>
                  </a:moveTo>
                  <a:lnTo>
                    <a:pt x="0" y="635000"/>
                  </a:lnTo>
                  <a:lnTo>
                    <a:pt x="9980" y="684429"/>
                  </a:lnTo>
                  <a:lnTo>
                    <a:pt x="37196" y="724798"/>
                  </a:lnTo>
                  <a:lnTo>
                    <a:pt x="77565" y="752018"/>
                  </a:lnTo>
                  <a:lnTo>
                    <a:pt x="127000" y="762000"/>
                  </a:lnTo>
                  <a:lnTo>
                    <a:pt x="2006600" y="762000"/>
                  </a:lnTo>
                  <a:lnTo>
                    <a:pt x="2056034" y="752018"/>
                  </a:lnTo>
                  <a:lnTo>
                    <a:pt x="2096403" y="724798"/>
                  </a:lnTo>
                  <a:lnTo>
                    <a:pt x="2123619" y="684429"/>
                  </a:lnTo>
                  <a:lnTo>
                    <a:pt x="2133600" y="635000"/>
                  </a:lnTo>
                  <a:lnTo>
                    <a:pt x="2133600" y="127000"/>
                  </a:lnTo>
                  <a:lnTo>
                    <a:pt x="2123619" y="77565"/>
                  </a:lnTo>
                  <a:lnTo>
                    <a:pt x="2096403" y="37196"/>
                  </a:lnTo>
                  <a:lnTo>
                    <a:pt x="2056034" y="9980"/>
                  </a:lnTo>
                  <a:lnTo>
                    <a:pt x="2006600" y="0"/>
                  </a:lnTo>
                  <a:lnTo>
                    <a:pt x="126999" y="0"/>
                  </a:lnTo>
                  <a:lnTo>
                    <a:pt x="77565" y="9980"/>
                  </a:lnTo>
                  <a:lnTo>
                    <a:pt x="37196" y="37196"/>
                  </a:lnTo>
                  <a:lnTo>
                    <a:pt x="9980" y="77565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14399" y="2209799"/>
              <a:ext cx="2133600" cy="762000"/>
            </a:xfrm>
            <a:custGeom>
              <a:avLst/>
              <a:gdLst/>
              <a:ahLst/>
              <a:cxnLst/>
              <a:rect l="l" t="t" r="r" b="b"/>
              <a:pathLst>
                <a:path w="2133600" h="762000">
                  <a:moveTo>
                    <a:pt x="0" y="127000"/>
                  </a:moveTo>
                  <a:lnTo>
                    <a:pt x="9980" y="77565"/>
                  </a:lnTo>
                  <a:lnTo>
                    <a:pt x="37196" y="37196"/>
                  </a:lnTo>
                  <a:lnTo>
                    <a:pt x="77565" y="9980"/>
                  </a:lnTo>
                  <a:lnTo>
                    <a:pt x="126999" y="0"/>
                  </a:lnTo>
                  <a:lnTo>
                    <a:pt x="2006600" y="0"/>
                  </a:lnTo>
                  <a:lnTo>
                    <a:pt x="2056034" y="9980"/>
                  </a:lnTo>
                  <a:lnTo>
                    <a:pt x="2096403" y="37196"/>
                  </a:lnTo>
                  <a:lnTo>
                    <a:pt x="2123619" y="77565"/>
                  </a:lnTo>
                  <a:lnTo>
                    <a:pt x="2133600" y="127000"/>
                  </a:lnTo>
                  <a:lnTo>
                    <a:pt x="2133600" y="635000"/>
                  </a:lnTo>
                  <a:lnTo>
                    <a:pt x="2123619" y="684429"/>
                  </a:lnTo>
                  <a:lnTo>
                    <a:pt x="2096403" y="724798"/>
                  </a:lnTo>
                  <a:lnTo>
                    <a:pt x="2056034" y="752018"/>
                  </a:lnTo>
                  <a:lnTo>
                    <a:pt x="2006600" y="762000"/>
                  </a:lnTo>
                  <a:lnTo>
                    <a:pt x="127000" y="762000"/>
                  </a:lnTo>
                  <a:lnTo>
                    <a:pt x="77565" y="752018"/>
                  </a:lnTo>
                  <a:lnTo>
                    <a:pt x="37196" y="724798"/>
                  </a:lnTo>
                  <a:lnTo>
                    <a:pt x="9980" y="684429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090392" y="2375413"/>
            <a:ext cx="178053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CTFS</a:t>
            </a:r>
            <a:r>
              <a:rPr dirty="0" sz="2400" spc="-5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Intuition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49300" y="5473712"/>
            <a:ext cx="2768600" cy="1168400"/>
            <a:chOff x="749300" y="5473712"/>
            <a:chExt cx="2768600" cy="1168400"/>
          </a:xfrm>
        </p:grpSpPr>
        <p:sp>
          <p:nvSpPr>
            <p:cNvPr id="15" name="object 15" descr=""/>
            <p:cNvSpPr/>
            <p:nvPr/>
          </p:nvSpPr>
          <p:spPr>
            <a:xfrm>
              <a:off x="762000" y="5486412"/>
              <a:ext cx="2743200" cy="1143000"/>
            </a:xfrm>
            <a:custGeom>
              <a:avLst/>
              <a:gdLst/>
              <a:ahLst/>
              <a:cxnLst/>
              <a:rect l="l" t="t" r="r" b="b"/>
              <a:pathLst>
                <a:path w="2743200" h="1143000">
                  <a:moveTo>
                    <a:pt x="0" y="190500"/>
                  </a:moveTo>
                  <a:lnTo>
                    <a:pt x="0" y="952487"/>
                  </a:lnTo>
                  <a:lnTo>
                    <a:pt x="5031" y="996170"/>
                  </a:lnTo>
                  <a:lnTo>
                    <a:pt x="19363" y="1036270"/>
                  </a:lnTo>
                  <a:lnTo>
                    <a:pt x="41851" y="1071644"/>
                  </a:lnTo>
                  <a:lnTo>
                    <a:pt x="71353" y="1101147"/>
                  </a:lnTo>
                  <a:lnTo>
                    <a:pt x="106724" y="1123636"/>
                  </a:lnTo>
                  <a:lnTo>
                    <a:pt x="146821" y="1137968"/>
                  </a:lnTo>
                  <a:lnTo>
                    <a:pt x="190500" y="1143000"/>
                  </a:lnTo>
                  <a:lnTo>
                    <a:pt x="2552700" y="1142999"/>
                  </a:lnTo>
                  <a:lnTo>
                    <a:pt x="2596378" y="1137968"/>
                  </a:lnTo>
                  <a:lnTo>
                    <a:pt x="2636475" y="1123636"/>
                  </a:lnTo>
                  <a:lnTo>
                    <a:pt x="2671846" y="1101147"/>
                  </a:lnTo>
                  <a:lnTo>
                    <a:pt x="2701348" y="1071644"/>
                  </a:lnTo>
                  <a:lnTo>
                    <a:pt x="2723836" y="1036270"/>
                  </a:lnTo>
                  <a:lnTo>
                    <a:pt x="2738168" y="996170"/>
                  </a:lnTo>
                  <a:lnTo>
                    <a:pt x="2743200" y="952487"/>
                  </a:lnTo>
                  <a:lnTo>
                    <a:pt x="2743200" y="190499"/>
                  </a:lnTo>
                  <a:lnTo>
                    <a:pt x="2738168" y="146821"/>
                  </a:lnTo>
                  <a:lnTo>
                    <a:pt x="2723836" y="106724"/>
                  </a:lnTo>
                  <a:lnTo>
                    <a:pt x="2701348" y="71353"/>
                  </a:lnTo>
                  <a:lnTo>
                    <a:pt x="2671846" y="41851"/>
                  </a:lnTo>
                  <a:lnTo>
                    <a:pt x="2636475" y="19363"/>
                  </a:lnTo>
                  <a:lnTo>
                    <a:pt x="2596378" y="5031"/>
                  </a:lnTo>
                  <a:lnTo>
                    <a:pt x="2552700" y="0"/>
                  </a:lnTo>
                  <a:lnTo>
                    <a:pt x="190499" y="0"/>
                  </a:lnTo>
                  <a:lnTo>
                    <a:pt x="146821" y="5031"/>
                  </a:lnTo>
                  <a:lnTo>
                    <a:pt x="106724" y="19363"/>
                  </a:lnTo>
                  <a:lnTo>
                    <a:pt x="71353" y="41851"/>
                  </a:lnTo>
                  <a:lnTo>
                    <a:pt x="41851" y="71353"/>
                  </a:lnTo>
                  <a:lnTo>
                    <a:pt x="19363" y="106724"/>
                  </a:lnTo>
                  <a:lnTo>
                    <a:pt x="5031" y="146821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62000" y="5486412"/>
              <a:ext cx="2743200" cy="1143000"/>
            </a:xfrm>
            <a:custGeom>
              <a:avLst/>
              <a:gdLst/>
              <a:ahLst/>
              <a:cxnLst/>
              <a:rect l="l" t="t" r="r" b="b"/>
              <a:pathLst>
                <a:path w="2743200" h="1143000">
                  <a:moveTo>
                    <a:pt x="0" y="190500"/>
                  </a:moveTo>
                  <a:lnTo>
                    <a:pt x="5031" y="146821"/>
                  </a:lnTo>
                  <a:lnTo>
                    <a:pt x="19363" y="106724"/>
                  </a:lnTo>
                  <a:lnTo>
                    <a:pt x="41851" y="71353"/>
                  </a:lnTo>
                  <a:lnTo>
                    <a:pt x="71353" y="41851"/>
                  </a:lnTo>
                  <a:lnTo>
                    <a:pt x="106724" y="19363"/>
                  </a:lnTo>
                  <a:lnTo>
                    <a:pt x="146821" y="5031"/>
                  </a:lnTo>
                  <a:lnTo>
                    <a:pt x="190499" y="0"/>
                  </a:lnTo>
                  <a:lnTo>
                    <a:pt x="2552700" y="0"/>
                  </a:lnTo>
                  <a:lnTo>
                    <a:pt x="2596378" y="5031"/>
                  </a:lnTo>
                  <a:lnTo>
                    <a:pt x="2636475" y="19363"/>
                  </a:lnTo>
                  <a:lnTo>
                    <a:pt x="2671846" y="41851"/>
                  </a:lnTo>
                  <a:lnTo>
                    <a:pt x="2701348" y="71353"/>
                  </a:lnTo>
                  <a:lnTo>
                    <a:pt x="2723836" y="106724"/>
                  </a:lnTo>
                  <a:lnTo>
                    <a:pt x="2738168" y="146821"/>
                  </a:lnTo>
                  <a:lnTo>
                    <a:pt x="2743200" y="190499"/>
                  </a:lnTo>
                  <a:lnTo>
                    <a:pt x="2743200" y="952487"/>
                  </a:lnTo>
                  <a:lnTo>
                    <a:pt x="2738168" y="996170"/>
                  </a:lnTo>
                  <a:lnTo>
                    <a:pt x="2723836" y="1036270"/>
                  </a:lnTo>
                  <a:lnTo>
                    <a:pt x="2701348" y="1071644"/>
                  </a:lnTo>
                  <a:lnTo>
                    <a:pt x="2671846" y="1101147"/>
                  </a:lnTo>
                  <a:lnTo>
                    <a:pt x="2636475" y="1123636"/>
                  </a:lnTo>
                  <a:lnTo>
                    <a:pt x="2596378" y="1137968"/>
                  </a:lnTo>
                  <a:lnTo>
                    <a:pt x="2552700" y="1142999"/>
                  </a:lnTo>
                  <a:lnTo>
                    <a:pt x="190500" y="1143000"/>
                  </a:lnTo>
                  <a:lnTo>
                    <a:pt x="146821" y="1137968"/>
                  </a:lnTo>
                  <a:lnTo>
                    <a:pt x="106724" y="1123636"/>
                  </a:lnTo>
                  <a:lnTo>
                    <a:pt x="71353" y="1101147"/>
                  </a:lnTo>
                  <a:lnTo>
                    <a:pt x="41851" y="1071644"/>
                  </a:lnTo>
                  <a:lnTo>
                    <a:pt x="19363" y="1036270"/>
                  </a:lnTo>
                  <a:lnTo>
                    <a:pt x="5031" y="996170"/>
                  </a:lnTo>
                  <a:lnTo>
                    <a:pt x="0" y="952487"/>
                  </a:lnTo>
                  <a:lnTo>
                    <a:pt x="0" y="1905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909162" y="5618491"/>
            <a:ext cx="244792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Dot</a:t>
            </a:r>
            <a:r>
              <a:rPr dirty="0" sz="1800" spc="-3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Product</a:t>
            </a:r>
            <a:r>
              <a:rPr dirty="0" sz="18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between</a:t>
            </a:r>
            <a:r>
              <a:rPr dirty="0" sz="18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231F20"/>
                </a:solidFill>
                <a:latin typeface="Calibri"/>
                <a:cs typeface="Calibri"/>
              </a:rPr>
              <a:t>any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two</a:t>
            </a:r>
            <a:r>
              <a:rPr dirty="0" sz="18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ED2024"/>
                </a:solidFill>
                <a:latin typeface="Calibri"/>
                <a:cs typeface="Calibri"/>
              </a:rPr>
              <a:t>different</a:t>
            </a:r>
            <a:r>
              <a:rPr dirty="0" sz="1800" spc="-2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signals</a:t>
            </a:r>
            <a:r>
              <a:rPr dirty="0" sz="1800" spc="-3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231F20"/>
                </a:solidFill>
                <a:latin typeface="Calibri"/>
                <a:cs typeface="Calibri"/>
              </a:rPr>
              <a:t>in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8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set</a:t>
            </a:r>
            <a:r>
              <a:rPr dirty="0" sz="18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800" spc="-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ZERO</a:t>
            </a:r>
            <a:r>
              <a:rPr dirty="0" sz="1800" spc="-1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231F20"/>
                </a:solidFill>
                <a:latin typeface="Calibri"/>
                <a:cs typeface="Calibri"/>
              </a:rPr>
              <a:t>!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7343520" y="2095500"/>
            <a:ext cx="2082800" cy="1168400"/>
            <a:chOff x="7343520" y="2095500"/>
            <a:chExt cx="2082800" cy="1168400"/>
          </a:xfrm>
        </p:grpSpPr>
        <p:sp>
          <p:nvSpPr>
            <p:cNvPr id="19" name="object 19" descr=""/>
            <p:cNvSpPr/>
            <p:nvPr/>
          </p:nvSpPr>
          <p:spPr>
            <a:xfrm>
              <a:off x="7356220" y="2108200"/>
              <a:ext cx="2057400" cy="1143000"/>
            </a:xfrm>
            <a:custGeom>
              <a:avLst/>
              <a:gdLst/>
              <a:ahLst/>
              <a:cxnLst/>
              <a:rect l="l" t="t" r="r" b="b"/>
              <a:pathLst>
                <a:path w="2057400" h="1143000">
                  <a:moveTo>
                    <a:pt x="0" y="190500"/>
                  </a:moveTo>
                  <a:lnTo>
                    <a:pt x="0" y="952487"/>
                  </a:lnTo>
                  <a:lnTo>
                    <a:pt x="5031" y="996170"/>
                  </a:lnTo>
                  <a:lnTo>
                    <a:pt x="19363" y="1036270"/>
                  </a:lnTo>
                  <a:lnTo>
                    <a:pt x="41851" y="1071644"/>
                  </a:lnTo>
                  <a:lnTo>
                    <a:pt x="71353" y="1101147"/>
                  </a:lnTo>
                  <a:lnTo>
                    <a:pt x="106724" y="1123636"/>
                  </a:lnTo>
                  <a:lnTo>
                    <a:pt x="146821" y="1137968"/>
                  </a:lnTo>
                  <a:lnTo>
                    <a:pt x="190500" y="1143000"/>
                  </a:lnTo>
                  <a:lnTo>
                    <a:pt x="1866900" y="1142999"/>
                  </a:lnTo>
                  <a:lnTo>
                    <a:pt x="1910578" y="1137968"/>
                  </a:lnTo>
                  <a:lnTo>
                    <a:pt x="1950675" y="1123636"/>
                  </a:lnTo>
                  <a:lnTo>
                    <a:pt x="1986046" y="1101147"/>
                  </a:lnTo>
                  <a:lnTo>
                    <a:pt x="2015548" y="1071644"/>
                  </a:lnTo>
                  <a:lnTo>
                    <a:pt x="2038036" y="1036270"/>
                  </a:lnTo>
                  <a:lnTo>
                    <a:pt x="2052368" y="996170"/>
                  </a:lnTo>
                  <a:lnTo>
                    <a:pt x="2057400" y="952487"/>
                  </a:lnTo>
                  <a:lnTo>
                    <a:pt x="2057400" y="190499"/>
                  </a:lnTo>
                  <a:lnTo>
                    <a:pt x="2052368" y="146821"/>
                  </a:lnTo>
                  <a:lnTo>
                    <a:pt x="2038036" y="106724"/>
                  </a:lnTo>
                  <a:lnTo>
                    <a:pt x="2015548" y="71353"/>
                  </a:lnTo>
                  <a:lnTo>
                    <a:pt x="1986046" y="41851"/>
                  </a:lnTo>
                  <a:lnTo>
                    <a:pt x="1950675" y="19363"/>
                  </a:lnTo>
                  <a:lnTo>
                    <a:pt x="1910578" y="5031"/>
                  </a:lnTo>
                  <a:lnTo>
                    <a:pt x="1866900" y="0"/>
                  </a:lnTo>
                  <a:lnTo>
                    <a:pt x="190499" y="0"/>
                  </a:lnTo>
                  <a:lnTo>
                    <a:pt x="146821" y="5031"/>
                  </a:lnTo>
                  <a:lnTo>
                    <a:pt x="106724" y="19363"/>
                  </a:lnTo>
                  <a:lnTo>
                    <a:pt x="71353" y="41851"/>
                  </a:lnTo>
                  <a:lnTo>
                    <a:pt x="41851" y="71353"/>
                  </a:lnTo>
                  <a:lnTo>
                    <a:pt x="19363" y="106724"/>
                  </a:lnTo>
                  <a:lnTo>
                    <a:pt x="5031" y="146821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343520" y="2095500"/>
              <a:ext cx="2082800" cy="1168400"/>
            </a:xfrm>
            <a:custGeom>
              <a:avLst/>
              <a:gdLst/>
              <a:ahLst/>
              <a:cxnLst/>
              <a:rect l="l" t="t" r="r" b="b"/>
              <a:pathLst>
                <a:path w="2082800" h="1168400">
                  <a:moveTo>
                    <a:pt x="0" y="203200"/>
                  </a:moveTo>
                  <a:lnTo>
                    <a:pt x="0" y="965187"/>
                  </a:lnTo>
                  <a:lnTo>
                    <a:pt x="5366" y="1011785"/>
                  </a:lnTo>
                  <a:lnTo>
                    <a:pt x="20652" y="1054560"/>
                  </a:lnTo>
                  <a:lnTo>
                    <a:pt x="44638" y="1092291"/>
                  </a:lnTo>
                  <a:lnTo>
                    <a:pt x="76106" y="1123760"/>
                  </a:lnTo>
                  <a:lnTo>
                    <a:pt x="113835" y="1147747"/>
                  </a:lnTo>
                  <a:lnTo>
                    <a:pt x="156606" y="1163033"/>
                  </a:lnTo>
                  <a:lnTo>
                    <a:pt x="203200" y="1168400"/>
                  </a:lnTo>
                  <a:lnTo>
                    <a:pt x="1879600" y="1168399"/>
                  </a:lnTo>
                  <a:lnTo>
                    <a:pt x="1926189" y="1163033"/>
                  </a:lnTo>
                  <a:lnTo>
                    <a:pt x="1968956" y="1147747"/>
                  </a:lnTo>
                  <a:lnTo>
                    <a:pt x="2006684" y="1123760"/>
                  </a:lnTo>
                  <a:lnTo>
                    <a:pt x="2038151" y="1092291"/>
                  </a:lnTo>
                  <a:lnTo>
                    <a:pt x="2062139" y="1054560"/>
                  </a:lnTo>
                  <a:lnTo>
                    <a:pt x="2077428" y="1011785"/>
                  </a:lnTo>
                  <a:lnTo>
                    <a:pt x="2082800" y="965187"/>
                  </a:lnTo>
                  <a:lnTo>
                    <a:pt x="2082800" y="203199"/>
                  </a:lnTo>
                  <a:lnTo>
                    <a:pt x="2077428" y="156610"/>
                  </a:lnTo>
                  <a:lnTo>
                    <a:pt x="2062139" y="113843"/>
                  </a:lnTo>
                  <a:lnTo>
                    <a:pt x="2057400" y="106388"/>
                  </a:lnTo>
                  <a:lnTo>
                    <a:pt x="2057400" y="965187"/>
                  </a:lnTo>
                  <a:lnTo>
                    <a:pt x="2053784" y="1001038"/>
                  </a:lnTo>
                  <a:lnTo>
                    <a:pt x="2027035" y="1064601"/>
                  </a:lnTo>
                  <a:lnTo>
                    <a:pt x="1978990" y="1112647"/>
                  </a:lnTo>
                  <a:lnTo>
                    <a:pt x="1915441" y="1139391"/>
                  </a:lnTo>
                  <a:lnTo>
                    <a:pt x="203200" y="1143000"/>
                  </a:lnTo>
                  <a:lnTo>
                    <a:pt x="167356" y="1139391"/>
                  </a:lnTo>
                  <a:lnTo>
                    <a:pt x="103798" y="1112647"/>
                  </a:lnTo>
                  <a:lnTo>
                    <a:pt x="55752" y="1064601"/>
                  </a:lnTo>
                  <a:lnTo>
                    <a:pt x="29008" y="1001038"/>
                  </a:lnTo>
                  <a:lnTo>
                    <a:pt x="25400" y="203200"/>
                  </a:lnTo>
                  <a:lnTo>
                    <a:pt x="0" y="203200"/>
                  </a:lnTo>
                  <a:close/>
                </a:path>
                <a:path w="2082800" h="1168400">
                  <a:moveTo>
                    <a:pt x="0" y="203200"/>
                  </a:moveTo>
                  <a:lnTo>
                    <a:pt x="25400" y="203200"/>
                  </a:lnTo>
                  <a:lnTo>
                    <a:pt x="29008" y="167358"/>
                  </a:lnTo>
                  <a:lnTo>
                    <a:pt x="39362" y="133997"/>
                  </a:lnTo>
                  <a:lnTo>
                    <a:pt x="77469" y="77482"/>
                  </a:lnTo>
                  <a:lnTo>
                    <a:pt x="133991" y="39373"/>
                  </a:lnTo>
                  <a:lnTo>
                    <a:pt x="203199" y="25399"/>
                  </a:lnTo>
                  <a:lnTo>
                    <a:pt x="1879600" y="25399"/>
                  </a:lnTo>
                  <a:lnTo>
                    <a:pt x="1915441" y="29015"/>
                  </a:lnTo>
                  <a:lnTo>
                    <a:pt x="1978990" y="55764"/>
                  </a:lnTo>
                  <a:lnTo>
                    <a:pt x="2027035" y="103809"/>
                  </a:lnTo>
                  <a:lnTo>
                    <a:pt x="2053784" y="167358"/>
                  </a:lnTo>
                  <a:lnTo>
                    <a:pt x="2057400" y="203199"/>
                  </a:lnTo>
                  <a:lnTo>
                    <a:pt x="2057400" y="106388"/>
                  </a:lnTo>
                  <a:lnTo>
                    <a:pt x="2006684" y="44648"/>
                  </a:lnTo>
                  <a:lnTo>
                    <a:pt x="1968956" y="20660"/>
                  </a:lnTo>
                  <a:lnTo>
                    <a:pt x="1926189" y="5371"/>
                  </a:lnTo>
                  <a:lnTo>
                    <a:pt x="1879600" y="0"/>
                  </a:lnTo>
                  <a:lnTo>
                    <a:pt x="203199" y="0"/>
                  </a:lnTo>
                  <a:lnTo>
                    <a:pt x="156606" y="5371"/>
                  </a:lnTo>
                  <a:lnTo>
                    <a:pt x="113835" y="20660"/>
                  </a:lnTo>
                  <a:lnTo>
                    <a:pt x="76106" y="44648"/>
                  </a:lnTo>
                  <a:lnTo>
                    <a:pt x="44638" y="76115"/>
                  </a:lnTo>
                  <a:lnTo>
                    <a:pt x="20652" y="113843"/>
                  </a:lnTo>
                  <a:lnTo>
                    <a:pt x="5366" y="15661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385D8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70660" y="2193035"/>
              <a:ext cx="1897380" cy="787908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79804" y="2467356"/>
              <a:ext cx="1880616" cy="78792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33728" y="2741676"/>
              <a:ext cx="1214627" cy="51360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48356" y="2741676"/>
              <a:ext cx="307848" cy="513600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7600912" y="2240284"/>
            <a:ext cx="156591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B04F"/>
                </a:solidFill>
                <a:latin typeface="Calibri"/>
                <a:cs typeface="Calibri"/>
              </a:rPr>
              <a:t>CT</a:t>
            </a:r>
            <a:r>
              <a:rPr dirty="0" sz="1800" spc="-15" b="1">
                <a:solidFill>
                  <a:srgbClr val="00B04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B04F"/>
                </a:solidFill>
                <a:latin typeface="Calibri"/>
                <a:cs typeface="Calibri"/>
              </a:rPr>
              <a:t>Harmonically </a:t>
            </a:r>
            <a:r>
              <a:rPr dirty="0" sz="1800" b="1">
                <a:solidFill>
                  <a:srgbClr val="00B04F"/>
                </a:solidFill>
                <a:latin typeface="Calibri"/>
                <a:cs typeface="Calibri"/>
              </a:rPr>
              <a:t>related</a:t>
            </a:r>
            <a:r>
              <a:rPr dirty="0" sz="1800" spc="-105" b="1">
                <a:solidFill>
                  <a:srgbClr val="00B04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B04F"/>
                </a:solidFill>
                <a:latin typeface="Calibri"/>
                <a:cs typeface="Calibri"/>
              </a:rPr>
              <a:t>complex exponentials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637288" y="2106167"/>
            <a:ext cx="1416050" cy="1757680"/>
            <a:chOff x="5637288" y="2106167"/>
            <a:chExt cx="1416050" cy="1757680"/>
          </a:xfrm>
        </p:grpSpPr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38812" y="3218700"/>
              <a:ext cx="1412748" cy="644652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37288" y="2106167"/>
              <a:ext cx="1415796" cy="1112532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38812" y="2755391"/>
              <a:ext cx="1412748" cy="463308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29312" y="2247899"/>
              <a:ext cx="1028699" cy="507491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72581" y="2755391"/>
              <a:ext cx="942162" cy="216408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5829312" y="2247899"/>
              <a:ext cx="1028700" cy="723900"/>
            </a:xfrm>
            <a:custGeom>
              <a:avLst/>
              <a:gdLst/>
              <a:ahLst/>
              <a:cxnLst/>
              <a:rect l="l" t="t" r="r" b="b"/>
              <a:pathLst>
                <a:path w="1028700" h="723900">
                  <a:moveTo>
                    <a:pt x="0" y="361950"/>
                  </a:moveTo>
                  <a:lnTo>
                    <a:pt x="3018" y="322511"/>
                  </a:lnTo>
                  <a:lnTo>
                    <a:pt x="11863" y="284303"/>
                  </a:lnTo>
                  <a:lnTo>
                    <a:pt x="26221" y="247546"/>
                  </a:lnTo>
                  <a:lnTo>
                    <a:pt x="45779" y="212460"/>
                  </a:lnTo>
                  <a:lnTo>
                    <a:pt x="70222" y="179267"/>
                  </a:lnTo>
                  <a:lnTo>
                    <a:pt x="99238" y="148187"/>
                  </a:lnTo>
                  <a:lnTo>
                    <a:pt x="132511" y="119441"/>
                  </a:lnTo>
                  <a:lnTo>
                    <a:pt x="169729" y="93250"/>
                  </a:lnTo>
                  <a:lnTo>
                    <a:pt x="210579" y="69835"/>
                  </a:lnTo>
                  <a:lnTo>
                    <a:pt x="254745" y="49417"/>
                  </a:lnTo>
                  <a:lnTo>
                    <a:pt x="301914" y="32215"/>
                  </a:lnTo>
                  <a:lnTo>
                    <a:pt x="351773" y="18452"/>
                  </a:lnTo>
                  <a:lnTo>
                    <a:pt x="404008" y="8348"/>
                  </a:lnTo>
                  <a:lnTo>
                    <a:pt x="458304" y="2123"/>
                  </a:lnTo>
                  <a:lnTo>
                    <a:pt x="514349" y="0"/>
                  </a:lnTo>
                  <a:lnTo>
                    <a:pt x="570395" y="2123"/>
                  </a:lnTo>
                  <a:lnTo>
                    <a:pt x="624691" y="8348"/>
                  </a:lnTo>
                  <a:lnTo>
                    <a:pt x="676926" y="18452"/>
                  </a:lnTo>
                  <a:lnTo>
                    <a:pt x="726785" y="32215"/>
                  </a:lnTo>
                  <a:lnTo>
                    <a:pt x="773954" y="49417"/>
                  </a:lnTo>
                  <a:lnTo>
                    <a:pt x="818120" y="69835"/>
                  </a:lnTo>
                  <a:lnTo>
                    <a:pt x="858970" y="93250"/>
                  </a:lnTo>
                  <a:lnTo>
                    <a:pt x="896188" y="119441"/>
                  </a:lnTo>
                  <a:lnTo>
                    <a:pt x="929461" y="148187"/>
                  </a:lnTo>
                  <a:lnTo>
                    <a:pt x="958477" y="179267"/>
                  </a:lnTo>
                  <a:lnTo>
                    <a:pt x="982920" y="212460"/>
                  </a:lnTo>
                  <a:lnTo>
                    <a:pt x="1002478" y="247546"/>
                  </a:lnTo>
                  <a:lnTo>
                    <a:pt x="1016836" y="284303"/>
                  </a:lnTo>
                  <a:lnTo>
                    <a:pt x="1025681" y="322511"/>
                  </a:lnTo>
                  <a:lnTo>
                    <a:pt x="1028700" y="361949"/>
                  </a:lnTo>
                  <a:lnTo>
                    <a:pt x="1025681" y="401388"/>
                  </a:lnTo>
                  <a:lnTo>
                    <a:pt x="1016836" y="439596"/>
                  </a:lnTo>
                  <a:lnTo>
                    <a:pt x="1002478" y="476353"/>
                  </a:lnTo>
                  <a:lnTo>
                    <a:pt x="982920" y="511439"/>
                  </a:lnTo>
                  <a:lnTo>
                    <a:pt x="958477" y="544632"/>
                  </a:lnTo>
                  <a:lnTo>
                    <a:pt x="929461" y="575712"/>
                  </a:lnTo>
                  <a:lnTo>
                    <a:pt x="896188" y="604458"/>
                  </a:lnTo>
                  <a:lnTo>
                    <a:pt x="858970" y="630649"/>
                  </a:lnTo>
                  <a:lnTo>
                    <a:pt x="818120" y="654064"/>
                  </a:lnTo>
                  <a:lnTo>
                    <a:pt x="773954" y="674482"/>
                  </a:lnTo>
                  <a:lnTo>
                    <a:pt x="726785" y="691684"/>
                  </a:lnTo>
                  <a:lnTo>
                    <a:pt x="676926" y="705447"/>
                  </a:lnTo>
                  <a:lnTo>
                    <a:pt x="624691" y="715551"/>
                  </a:lnTo>
                  <a:lnTo>
                    <a:pt x="570395" y="721776"/>
                  </a:lnTo>
                  <a:lnTo>
                    <a:pt x="514350" y="723899"/>
                  </a:lnTo>
                  <a:lnTo>
                    <a:pt x="458304" y="721776"/>
                  </a:lnTo>
                  <a:lnTo>
                    <a:pt x="404008" y="715551"/>
                  </a:lnTo>
                  <a:lnTo>
                    <a:pt x="351773" y="705447"/>
                  </a:lnTo>
                  <a:lnTo>
                    <a:pt x="301914" y="691684"/>
                  </a:lnTo>
                  <a:lnTo>
                    <a:pt x="254745" y="674482"/>
                  </a:lnTo>
                  <a:lnTo>
                    <a:pt x="210579" y="654064"/>
                  </a:lnTo>
                  <a:lnTo>
                    <a:pt x="169729" y="630649"/>
                  </a:lnTo>
                  <a:lnTo>
                    <a:pt x="132511" y="604458"/>
                  </a:lnTo>
                  <a:lnTo>
                    <a:pt x="99238" y="575712"/>
                  </a:lnTo>
                  <a:lnTo>
                    <a:pt x="70222" y="544632"/>
                  </a:lnTo>
                  <a:lnTo>
                    <a:pt x="45779" y="511439"/>
                  </a:lnTo>
                  <a:lnTo>
                    <a:pt x="26221" y="476353"/>
                  </a:lnTo>
                  <a:lnTo>
                    <a:pt x="11863" y="439596"/>
                  </a:lnTo>
                  <a:lnTo>
                    <a:pt x="3018" y="401388"/>
                  </a:lnTo>
                  <a:lnTo>
                    <a:pt x="0" y="361950"/>
                  </a:lnTo>
                  <a:close/>
                </a:path>
              </a:pathLst>
            </a:custGeom>
            <a:ln w="25400">
              <a:solidFill>
                <a:srgbClr val="00B0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0635" y="2448407"/>
            <a:ext cx="7795272" cy="4243387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sp>
          <p:nvSpPr>
            <p:cNvPr id="4" name="object 4" descr=""/>
            <p:cNvSpPr/>
            <p:nvPr/>
          </p:nvSpPr>
          <p:spPr>
            <a:xfrm>
              <a:off x="914400" y="731837"/>
              <a:ext cx="8230234" cy="1143000"/>
            </a:xfrm>
            <a:custGeom>
              <a:avLst/>
              <a:gdLst/>
              <a:ahLst/>
              <a:cxnLst/>
              <a:rect l="l" t="t" r="r" b="b"/>
              <a:pathLst>
                <a:path w="8230234" h="1143000">
                  <a:moveTo>
                    <a:pt x="0" y="0"/>
                  </a:moveTo>
                  <a:lnTo>
                    <a:pt x="0" y="1143000"/>
                  </a:lnTo>
                  <a:lnTo>
                    <a:pt x="8229612" y="1143000"/>
                  </a:lnTo>
                  <a:lnTo>
                    <a:pt x="82296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5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015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sp>
        <p:nvSpPr>
          <p:cNvPr id="10" name="object 10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901700" y="2197100"/>
            <a:ext cx="2159000" cy="787400"/>
            <a:chOff x="901700" y="2197100"/>
            <a:chExt cx="2159000" cy="787400"/>
          </a:xfrm>
        </p:grpSpPr>
        <p:sp>
          <p:nvSpPr>
            <p:cNvPr id="12" name="object 12" descr=""/>
            <p:cNvSpPr/>
            <p:nvPr/>
          </p:nvSpPr>
          <p:spPr>
            <a:xfrm>
              <a:off x="914400" y="2209800"/>
              <a:ext cx="2133600" cy="762000"/>
            </a:xfrm>
            <a:custGeom>
              <a:avLst/>
              <a:gdLst/>
              <a:ahLst/>
              <a:cxnLst/>
              <a:rect l="l" t="t" r="r" b="b"/>
              <a:pathLst>
                <a:path w="2133600" h="762000">
                  <a:moveTo>
                    <a:pt x="0" y="127000"/>
                  </a:moveTo>
                  <a:lnTo>
                    <a:pt x="0" y="635000"/>
                  </a:lnTo>
                  <a:lnTo>
                    <a:pt x="9980" y="684429"/>
                  </a:lnTo>
                  <a:lnTo>
                    <a:pt x="37196" y="724798"/>
                  </a:lnTo>
                  <a:lnTo>
                    <a:pt x="77565" y="752018"/>
                  </a:lnTo>
                  <a:lnTo>
                    <a:pt x="127000" y="762000"/>
                  </a:lnTo>
                  <a:lnTo>
                    <a:pt x="2006600" y="762000"/>
                  </a:lnTo>
                  <a:lnTo>
                    <a:pt x="2056034" y="752018"/>
                  </a:lnTo>
                  <a:lnTo>
                    <a:pt x="2096403" y="724798"/>
                  </a:lnTo>
                  <a:lnTo>
                    <a:pt x="2123619" y="684429"/>
                  </a:lnTo>
                  <a:lnTo>
                    <a:pt x="2133600" y="635000"/>
                  </a:lnTo>
                  <a:lnTo>
                    <a:pt x="2133600" y="127000"/>
                  </a:lnTo>
                  <a:lnTo>
                    <a:pt x="2123619" y="77565"/>
                  </a:lnTo>
                  <a:lnTo>
                    <a:pt x="2096403" y="37196"/>
                  </a:lnTo>
                  <a:lnTo>
                    <a:pt x="2056034" y="9980"/>
                  </a:lnTo>
                  <a:lnTo>
                    <a:pt x="2006600" y="0"/>
                  </a:lnTo>
                  <a:lnTo>
                    <a:pt x="126999" y="0"/>
                  </a:lnTo>
                  <a:lnTo>
                    <a:pt x="77565" y="9980"/>
                  </a:lnTo>
                  <a:lnTo>
                    <a:pt x="37196" y="37196"/>
                  </a:lnTo>
                  <a:lnTo>
                    <a:pt x="9980" y="77565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14400" y="2209800"/>
              <a:ext cx="2133600" cy="762000"/>
            </a:xfrm>
            <a:custGeom>
              <a:avLst/>
              <a:gdLst/>
              <a:ahLst/>
              <a:cxnLst/>
              <a:rect l="l" t="t" r="r" b="b"/>
              <a:pathLst>
                <a:path w="2133600" h="762000">
                  <a:moveTo>
                    <a:pt x="0" y="127000"/>
                  </a:moveTo>
                  <a:lnTo>
                    <a:pt x="9980" y="77565"/>
                  </a:lnTo>
                  <a:lnTo>
                    <a:pt x="37196" y="37196"/>
                  </a:lnTo>
                  <a:lnTo>
                    <a:pt x="77565" y="9980"/>
                  </a:lnTo>
                  <a:lnTo>
                    <a:pt x="126999" y="0"/>
                  </a:lnTo>
                  <a:lnTo>
                    <a:pt x="2006600" y="0"/>
                  </a:lnTo>
                  <a:lnTo>
                    <a:pt x="2056034" y="9980"/>
                  </a:lnTo>
                  <a:lnTo>
                    <a:pt x="2096403" y="37196"/>
                  </a:lnTo>
                  <a:lnTo>
                    <a:pt x="2123619" y="77565"/>
                  </a:lnTo>
                  <a:lnTo>
                    <a:pt x="2133600" y="127000"/>
                  </a:lnTo>
                  <a:lnTo>
                    <a:pt x="2133600" y="635000"/>
                  </a:lnTo>
                  <a:lnTo>
                    <a:pt x="2123619" y="684429"/>
                  </a:lnTo>
                  <a:lnTo>
                    <a:pt x="2096403" y="724798"/>
                  </a:lnTo>
                  <a:lnTo>
                    <a:pt x="2056034" y="752018"/>
                  </a:lnTo>
                  <a:lnTo>
                    <a:pt x="2006600" y="762000"/>
                  </a:lnTo>
                  <a:lnTo>
                    <a:pt x="127000" y="762000"/>
                  </a:lnTo>
                  <a:lnTo>
                    <a:pt x="77565" y="752018"/>
                  </a:lnTo>
                  <a:lnTo>
                    <a:pt x="37196" y="724798"/>
                  </a:lnTo>
                  <a:lnTo>
                    <a:pt x="9980" y="684429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090392" y="2375413"/>
            <a:ext cx="178053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CTFS</a:t>
            </a:r>
            <a:r>
              <a:rPr dirty="0" sz="2400" spc="-5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Intuition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015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0736" y="3065896"/>
            <a:ext cx="4353172" cy="4061910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901700" y="2197100"/>
            <a:ext cx="2159000" cy="787400"/>
            <a:chOff x="901700" y="2197100"/>
            <a:chExt cx="2159000" cy="787400"/>
          </a:xfrm>
        </p:grpSpPr>
        <p:sp>
          <p:nvSpPr>
            <p:cNvPr id="10" name="object 10" descr=""/>
            <p:cNvSpPr/>
            <p:nvPr/>
          </p:nvSpPr>
          <p:spPr>
            <a:xfrm>
              <a:off x="914400" y="2209800"/>
              <a:ext cx="2133600" cy="762000"/>
            </a:xfrm>
            <a:custGeom>
              <a:avLst/>
              <a:gdLst/>
              <a:ahLst/>
              <a:cxnLst/>
              <a:rect l="l" t="t" r="r" b="b"/>
              <a:pathLst>
                <a:path w="2133600" h="762000">
                  <a:moveTo>
                    <a:pt x="0" y="127000"/>
                  </a:moveTo>
                  <a:lnTo>
                    <a:pt x="0" y="635000"/>
                  </a:lnTo>
                  <a:lnTo>
                    <a:pt x="9980" y="684429"/>
                  </a:lnTo>
                  <a:lnTo>
                    <a:pt x="37196" y="724798"/>
                  </a:lnTo>
                  <a:lnTo>
                    <a:pt x="77565" y="752018"/>
                  </a:lnTo>
                  <a:lnTo>
                    <a:pt x="127000" y="762000"/>
                  </a:lnTo>
                  <a:lnTo>
                    <a:pt x="2006600" y="762000"/>
                  </a:lnTo>
                  <a:lnTo>
                    <a:pt x="2056034" y="752018"/>
                  </a:lnTo>
                  <a:lnTo>
                    <a:pt x="2096403" y="724798"/>
                  </a:lnTo>
                  <a:lnTo>
                    <a:pt x="2123619" y="684429"/>
                  </a:lnTo>
                  <a:lnTo>
                    <a:pt x="2133600" y="635000"/>
                  </a:lnTo>
                  <a:lnTo>
                    <a:pt x="2133600" y="127000"/>
                  </a:lnTo>
                  <a:lnTo>
                    <a:pt x="2123619" y="77565"/>
                  </a:lnTo>
                  <a:lnTo>
                    <a:pt x="2096403" y="37196"/>
                  </a:lnTo>
                  <a:lnTo>
                    <a:pt x="2056034" y="9980"/>
                  </a:lnTo>
                  <a:lnTo>
                    <a:pt x="2006600" y="0"/>
                  </a:lnTo>
                  <a:lnTo>
                    <a:pt x="126999" y="0"/>
                  </a:lnTo>
                  <a:lnTo>
                    <a:pt x="77565" y="9980"/>
                  </a:lnTo>
                  <a:lnTo>
                    <a:pt x="37196" y="37196"/>
                  </a:lnTo>
                  <a:lnTo>
                    <a:pt x="9980" y="77565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14400" y="2209800"/>
              <a:ext cx="2133600" cy="762000"/>
            </a:xfrm>
            <a:custGeom>
              <a:avLst/>
              <a:gdLst/>
              <a:ahLst/>
              <a:cxnLst/>
              <a:rect l="l" t="t" r="r" b="b"/>
              <a:pathLst>
                <a:path w="2133600" h="762000">
                  <a:moveTo>
                    <a:pt x="0" y="127000"/>
                  </a:moveTo>
                  <a:lnTo>
                    <a:pt x="9980" y="77565"/>
                  </a:lnTo>
                  <a:lnTo>
                    <a:pt x="37196" y="37196"/>
                  </a:lnTo>
                  <a:lnTo>
                    <a:pt x="77565" y="9980"/>
                  </a:lnTo>
                  <a:lnTo>
                    <a:pt x="126999" y="0"/>
                  </a:lnTo>
                  <a:lnTo>
                    <a:pt x="2006600" y="0"/>
                  </a:lnTo>
                  <a:lnTo>
                    <a:pt x="2056034" y="9980"/>
                  </a:lnTo>
                  <a:lnTo>
                    <a:pt x="2096403" y="37196"/>
                  </a:lnTo>
                  <a:lnTo>
                    <a:pt x="2123619" y="77565"/>
                  </a:lnTo>
                  <a:lnTo>
                    <a:pt x="2133600" y="127000"/>
                  </a:lnTo>
                  <a:lnTo>
                    <a:pt x="2133600" y="635000"/>
                  </a:lnTo>
                  <a:lnTo>
                    <a:pt x="2123619" y="684429"/>
                  </a:lnTo>
                  <a:lnTo>
                    <a:pt x="2096403" y="724798"/>
                  </a:lnTo>
                  <a:lnTo>
                    <a:pt x="2056034" y="752018"/>
                  </a:lnTo>
                  <a:lnTo>
                    <a:pt x="2006600" y="762000"/>
                  </a:lnTo>
                  <a:lnTo>
                    <a:pt x="127000" y="762000"/>
                  </a:lnTo>
                  <a:lnTo>
                    <a:pt x="77565" y="752018"/>
                  </a:lnTo>
                  <a:lnTo>
                    <a:pt x="37196" y="724798"/>
                  </a:lnTo>
                  <a:lnTo>
                    <a:pt x="9980" y="684429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914400" y="1876425"/>
            <a:ext cx="8291195" cy="1296670"/>
            <a:chOff x="914400" y="1876425"/>
            <a:chExt cx="8291195" cy="1296670"/>
          </a:xfrm>
        </p:grpSpPr>
        <p:sp>
          <p:nvSpPr>
            <p:cNvPr id="13" name="object 13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515112" y="2057400"/>
              <a:ext cx="2667000" cy="1066800"/>
            </a:xfrm>
            <a:custGeom>
              <a:avLst/>
              <a:gdLst/>
              <a:ahLst/>
              <a:cxnLst/>
              <a:rect l="l" t="t" r="r" b="b"/>
              <a:pathLst>
                <a:path w="2667000" h="1066800">
                  <a:moveTo>
                    <a:pt x="0" y="177800"/>
                  </a:moveTo>
                  <a:lnTo>
                    <a:pt x="0" y="888987"/>
                  </a:lnTo>
                  <a:lnTo>
                    <a:pt x="6351" y="936258"/>
                  </a:lnTo>
                  <a:lnTo>
                    <a:pt x="24274" y="978735"/>
                  </a:lnTo>
                  <a:lnTo>
                    <a:pt x="52076" y="1014722"/>
                  </a:lnTo>
                  <a:lnTo>
                    <a:pt x="88060" y="1042524"/>
                  </a:lnTo>
                  <a:lnTo>
                    <a:pt x="130533" y="1060448"/>
                  </a:lnTo>
                  <a:lnTo>
                    <a:pt x="177800" y="1066800"/>
                  </a:lnTo>
                  <a:lnTo>
                    <a:pt x="2489200" y="1066800"/>
                  </a:lnTo>
                  <a:lnTo>
                    <a:pt x="2536466" y="1060448"/>
                  </a:lnTo>
                  <a:lnTo>
                    <a:pt x="2578939" y="1042524"/>
                  </a:lnTo>
                  <a:lnTo>
                    <a:pt x="2614923" y="1014722"/>
                  </a:lnTo>
                  <a:lnTo>
                    <a:pt x="2642725" y="978735"/>
                  </a:lnTo>
                  <a:lnTo>
                    <a:pt x="2660648" y="936258"/>
                  </a:lnTo>
                  <a:lnTo>
                    <a:pt x="2667000" y="888987"/>
                  </a:lnTo>
                  <a:lnTo>
                    <a:pt x="2667000" y="177800"/>
                  </a:lnTo>
                  <a:lnTo>
                    <a:pt x="2660648" y="130533"/>
                  </a:lnTo>
                  <a:lnTo>
                    <a:pt x="2642725" y="88060"/>
                  </a:lnTo>
                  <a:lnTo>
                    <a:pt x="2614923" y="52076"/>
                  </a:lnTo>
                  <a:lnTo>
                    <a:pt x="2578939" y="24274"/>
                  </a:lnTo>
                  <a:lnTo>
                    <a:pt x="2536466" y="6351"/>
                  </a:lnTo>
                  <a:lnTo>
                    <a:pt x="2489200" y="0"/>
                  </a:lnTo>
                  <a:lnTo>
                    <a:pt x="177799" y="0"/>
                  </a:lnTo>
                  <a:lnTo>
                    <a:pt x="130533" y="6351"/>
                  </a:lnTo>
                  <a:lnTo>
                    <a:pt x="88060" y="24274"/>
                  </a:lnTo>
                  <a:lnTo>
                    <a:pt x="52076" y="52076"/>
                  </a:lnTo>
                  <a:lnTo>
                    <a:pt x="24274" y="88060"/>
                  </a:lnTo>
                  <a:lnTo>
                    <a:pt x="6351" y="130533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502412" y="2044700"/>
              <a:ext cx="2692400" cy="1092200"/>
            </a:xfrm>
            <a:custGeom>
              <a:avLst/>
              <a:gdLst/>
              <a:ahLst/>
              <a:cxnLst/>
              <a:rect l="l" t="t" r="r" b="b"/>
              <a:pathLst>
                <a:path w="2692400" h="1092200">
                  <a:moveTo>
                    <a:pt x="0" y="190500"/>
                  </a:moveTo>
                  <a:lnTo>
                    <a:pt x="0" y="901687"/>
                  </a:lnTo>
                  <a:lnTo>
                    <a:pt x="5034" y="945374"/>
                  </a:lnTo>
                  <a:lnTo>
                    <a:pt x="19366" y="985476"/>
                  </a:lnTo>
                  <a:lnTo>
                    <a:pt x="41853" y="1020849"/>
                  </a:lnTo>
                  <a:lnTo>
                    <a:pt x="71352" y="1050351"/>
                  </a:lnTo>
                  <a:lnTo>
                    <a:pt x="106721" y="1072838"/>
                  </a:lnTo>
                  <a:lnTo>
                    <a:pt x="146817" y="1087169"/>
                  </a:lnTo>
                  <a:lnTo>
                    <a:pt x="190500" y="1092200"/>
                  </a:lnTo>
                  <a:lnTo>
                    <a:pt x="2501900" y="1092200"/>
                  </a:lnTo>
                  <a:lnTo>
                    <a:pt x="2545582" y="1087169"/>
                  </a:lnTo>
                  <a:lnTo>
                    <a:pt x="2585678" y="1072838"/>
                  </a:lnTo>
                  <a:lnTo>
                    <a:pt x="2621047" y="1050351"/>
                  </a:lnTo>
                  <a:lnTo>
                    <a:pt x="2650546" y="1020849"/>
                  </a:lnTo>
                  <a:lnTo>
                    <a:pt x="2673033" y="985476"/>
                  </a:lnTo>
                  <a:lnTo>
                    <a:pt x="2687365" y="945374"/>
                  </a:lnTo>
                  <a:lnTo>
                    <a:pt x="2692400" y="901687"/>
                  </a:lnTo>
                  <a:lnTo>
                    <a:pt x="2692400" y="190500"/>
                  </a:lnTo>
                  <a:lnTo>
                    <a:pt x="2687365" y="146821"/>
                  </a:lnTo>
                  <a:lnTo>
                    <a:pt x="2673033" y="106726"/>
                  </a:lnTo>
                  <a:lnTo>
                    <a:pt x="2667000" y="97236"/>
                  </a:lnTo>
                  <a:lnTo>
                    <a:pt x="2667000" y="901687"/>
                  </a:lnTo>
                  <a:lnTo>
                    <a:pt x="2663642" y="934979"/>
                  </a:lnTo>
                  <a:lnTo>
                    <a:pt x="2638805" y="994002"/>
                  </a:lnTo>
                  <a:lnTo>
                    <a:pt x="2594197" y="1038617"/>
                  </a:lnTo>
                  <a:lnTo>
                    <a:pt x="2535185" y="1063449"/>
                  </a:lnTo>
                  <a:lnTo>
                    <a:pt x="190500" y="1066800"/>
                  </a:lnTo>
                  <a:lnTo>
                    <a:pt x="157214" y="1063449"/>
                  </a:lnTo>
                  <a:lnTo>
                    <a:pt x="98202" y="1038617"/>
                  </a:lnTo>
                  <a:lnTo>
                    <a:pt x="53587" y="994002"/>
                  </a:lnTo>
                  <a:lnTo>
                    <a:pt x="28750" y="934979"/>
                  </a:lnTo>
                  <a:lnTo>
                    <a:pt x="25400" y="190500"/>
                  </a:lnTo>
                  <a:lnTo>
                    <a:pt x="0" y="190500"/>
                  </a:lnTo>
                  <a:close/>
                </a:path>
                <a:path w="2692400" h="1092200">
                  <a:moveTo>
                    <a:pt x="0" y="190500"/>
                  </a:moveTo>
                  <a:lnTo>
                    <a:pt x="25400" y="190500"/>
                  </a:lnTo>
                  <a:lnTo>
                    <a:pt x="28750" y="157216"/>
                  </a:lnTo>
                  <a:lnTo>
                    <a:pt x="38365" y="126239"/>
                  </a:lnTo>
                  <a:lnTo>
                    <a:pt x="73761" y="73761"/>
                  </a:lnTo>
                  <a:lnTo>
                    <a:pt x="126234" y="38374"/>
                  </a:lnTo>
                  <a:lnTo>
                    <a:pt x="190499" y="25400"/>
                  </a:lnTo>
                  <a:lnTo>
                    <a:pt x="2501900" y="25400"/>
                  </a:lnTo>
                  <a:lnTo>
                    <a:pt x="2535185" y="28757"/>
                  </a:lnTo>
                  <a:lnTo>
                    <a:pt x="2594197" y="53594"/>
                  </a:lnTo>
                  <a:lnTo>
                    <a:pt x="2638805" y="98208"/>
                  </a:lnTo>
                  <a:lnTo>
                    <a:pt x="2663642" y="157216"/>
                  </a:lnTo>
                  <a:lnTo>
                    <a:pt x="2667000" y="190500"/>
                  </a:lnTo>
                  <a:lnTo>
                    <a:pt x="2667000" y="97236"/>
                  </a:lnTo>
                  <a:lnTo>
                    <a:pt x="2621047" y="41857"/>
                  </a:lnTo>
                  <a:lnTo>
                    <a:pt x="2585678" y="19368"/>
                  </a:lnTo>
                  <a:lnTo>
                    <a:pt x="2545582" y="5035"/>
                  </a:lnTo>
                  <a:lnTo>
                    <a:pt x="2501900" y="0"/>
                  </a:lnTo>
                  <a:lnTo>
                    <a:pt x="190499" y="0"/>
                  </a:lnTo>
                  <a:lnTo>
                    <a:pt x="146817" y="5035"/>
                  </a:lnTo>
                  <a:lnTo>
                    <a:pt x="106721" y="19368"/>
                  </a:lnTo>
                  <a:lnTo>
                    <a:pt x="71352" y="41857"/>
                  </a:lnTo>
                  <a:lnTo>
                    <a:pt x="41853" y="71357"/>
                  </a:lnTo>
                  <a:lnTo>
                    <a:pt x="19366" y="106726"/>
                  </a:lnTo>
                  <a:lnTo>
                    <a:pt x="5034" y="146821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385D8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88264" y="2127504"/>
              <a:ext cx="2616707" cy="67970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29445" y="2127504"/>
              <a:ext cx="65366" cy="67970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30808" y="2493263"/>
              <a:ext cx="1531607" cy="67970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88452" y="2493263"/>
              <a:ext cx="405396" cy="643636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1090392" y="2375413"/>
            <a:ext cx="178053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CTFS</a:t>
            </a:r>
            <a:r>
              <a:rPr dirty="0" sz="2400" spc="-5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Intuition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764820" y="2192533"/>
            <a:ext cx="216979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4990" marR="5080" indent="-54292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B04F"/>
                </a:solidFill>
                <a:latin typeface="Calibri"/>
                <a:cs typeface="Calibri"/>
              </a:rPr>
              <a:t>Orthogonal</a:t>
            </a:r>
            <a:r>
              <a:rPr dirty="0" sz="2400" spc="-105" b="1">
                <a:solidFill>
                  <a:srgbClr val="00B04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B04F"/>
                </a:solidFill>
                <a:latin typeface="Calibri"/>
                <a:cs typeface="Calibri"/>
              </a:rPr>
              <a:t>basis function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5930912" y="3416312"/>
            <a:ext cx="3409950" cy="1854200"/>
            <a:chOff x="5930912" y="3416312"/>
            <a:chExt cx="3409950" cy="1854200"/>
          </a:xfrm>
        </p:grpSpPr>
        <p:sp>
          <p:nvSpPr>
            <p:cNvPr id="23" name="object 23" descr=""/>
            <p:cNvSpPr/>
            <p:nvPr/>
          </p:nvSpPr>
          <p:spPr>
            <a:xfrm>
              <a:off x="5943612" y="3429025"/>
              <a:ext cx="3366135" cy="1828800"/>
            </a:xfrm>
            <a:custGeom>
              <a:avLst/>
              <a:gdLst/>
              <a:ahLst/>
              <a:cxnLst/>
              <a:rect l="l" t="t" r="r" b="b"/>
              <a:pathLst>
                <a:path w="3366134" h="1828800">
                  <a:moveTo>
                    <a:pt x="0" y="304787"/>
                  </a:moveTo>
                  <a:lnTo>
                    <a:pt x="0" y="1523974"/>
                  </a:lnTo>
                  <a:lnTo>
                    <a:pt x="3989" y="1573419"/>
                  </a:lnTo>
                  <a:lnTo>
                    <a:pt x="15538" y="1620323"/>
                  </a:lnTo>
                  <a:lnTo>
                    <a:pt x="34020" y="1664059"/>
                  </a:lnTo>
                  <a:lnTo>
                    <a:pt x="58808" y="1704000"/>
                  </a:lnTo>
                  <a:lnTo>
                    <a:pt x="89273" y="1739519"/>
                  </a:lnTo>
                  <a:lnTo>
                    <a:pt x="124788" y="1769986"/>
                  </a:lnTo>
                  <a:lnTo>
                    <a:pt x="164725" y="1794776"/>
                  </a:lnTo>
                  <a:lnTo>
                    <a:pt x="208458" y="1813259"/>
                  </a:lnTo>
                  <a:lnTo>
                    <a:pt x="255359" y="1824810"/>
                  </a:lnTo>
                  <a:lnTo>
                    <a:pt x="304800" y="1828800"/>
                  </a:lnTo>
                  <a:lnTo>
                    <a:pt x="3060700" y="1828800"/>
                  </a:lnTo>
                  <a:lnTo>
                    <a:pt x="3110144" y="1824810"/>
                  </a:lnTo>
                  <a:lnTo>
                    <a:pt x="3157047" y="1813259"/>
                  </a:lnTo>
                  <a:lnTo>
                    <a:pt x="3200782" y="1794776"/>
                  </a:lnTo>
                  <a:lnTo>
                    <a:pt x="3240721" y="1769986"/>
                  </a:lnTo>
                  <a:lnTo>
                    <a:pt x="3276238" y="1739518"/>
                  </a:lnTo>
                  <a:lnTo>
                    <a:pt x="3306703" y="1704000"/>
                  </a:lnTo>
                  <a:lnTo>
                    <a:pt x="3331491" y="1664059"/>
                  </a:lnTo>
                  <a:lnTo>
                    <a:pt x="3349973" y="1620323"/>
                  </a:lnTo>
                  <a:lnTo>
                    <a:pt x="3361523" y="1573419"/>
                  </a:lnTo>
                  <a:lnTo>
                    <a:pt x="3365512" y="1523974"/>
                  </a:lnTo>
                  <a:lnTo>
                    <a:pt x="3365512" y="304787"/>
                  </a:lnTo>
                  <a:lnTo>
                    <a:pt x="3361523" y="255347"/>
                  </a:lnTo>
                  <a:lnTo>
                    <a:pt x="3349973" y="208447"/>
                  </a:lnTo>
                  <a:lnTo>
                    <a:pt x="3331491" y="164715"/>
                  </a:lnTo>
                  <a:lnTo>
                    <a:pt x="3306703" y="124779"/>
                  </a:lnTo>
                  <a:lnTo>
                    <a:pt x="3276238" y="89266"/>
                  </a:lnTo>
                  <a:lnTo>
                    <a:pt x="3240721" y="58803"/>
                  </a:lnTo>
                  <a:lnTo>
                    <a:pt x="3200782" y="34018"/>
                  </a:lnTo>
                  <a:lnTo>
                    <a:pt x="3157047" y="15537"/>
                  </a:lnTo>
                  <a:lnTo>
                    <a:pt x="3110144" y="3988"/>
                  </a:lnTo>
                  <a:lnTo>
                    <a:pt x="3060700" y="0"/>
                  </a:lnTo>
                  <a:lnTo>
                    <a:pt x="304799" y="0"/>
                  </a:lnTo>
                  <a:lnTo>
                    <a:pt x="255359" y="3988"/>
                  </a:lnTo>
                  <a:lnTo>
                    <a:pt x="208458" y="15537"/>
                  </a:lnTo>
                  <a:lnTo>
                    <a:pt x="164725" y="34018"/>
                  </a:lnTo>
                  <a:lnTo>
                    <a:pt x="124788" y="58803"/>
                  </a:lnTo>
                  <a:lnTo>
                    <a:pt x="89273" y="89266"/>
                  </a:lnTo>
                  <a:lnTo>
                    <a:pt x="58808" y="124779"/>
                  </a:lnTo>
                  <a:lnTo>
                    <a:pt x="34020" y="164715"/>
                  </a:lnTo>
                  <a:lnTo>
                    <a:pt x="15538" y="208447"/>
                  </a:lnTo>
                  <a:lnTo>
                    <a:pt x="3989" y="255347"/>
                  </a:lnTo>
                  <a:lnTo>
                    <a:pt x="0" y="304787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930912" y="3416312"/>
              <a:ext cx="3391535" cy="1854200"/>
            </a:xfrm>
            <a:custGeom>
              <a:avLst/>
              <a:gdLst/>
              <a:ahLst/>
              <a:cxnLst/>
              <a:rect l="l" t="t" r="r" b="b"/>
              <a:pathLst>
                <a:path w="3391534" h="1854200">
                  <a:moveTo>
                    <a:pt x="0" y="317500"/>
                  </a:moveTo>
                  <a:lnTo>
                    <a:pt x="0" y="1536687"/>
                  </a:lnTo>
                  <a:lnTo>
                    <a:pt x="3445" y="1583607"/>
                  </a:lnTo>
                  <a:lnTo>
                    <a:pt x="13446" y="1628390"/>
                  </a:lnTo>
                  <a:lnTo>
                    <a:pt x="29512" y="1670544"/>
                  </a:lnTo>
                  <a:lnTo>
                    <a:pt x="51153" y="1709578"/>
                  </a:lnTo>
                  <a:lnTo>
                    <a:pt x="77878" y="1745000"/>
                  </a:lnTo>
                  <a:lnTo>
                    <a:pt x="109196" y="1776320"/>
                  </a:lnTo>
                  <a:lnTo>
                    <a:pt x="144616" y="1803047"/>
                  </a:lnTo>
                  <a:lnTo>
                    <a:pt x="183647" y="1824690"/>
                  </a:lnTo>
                  <a:lnTo>
                    <a:pt x="225798" y="1840757"/>
                  </a:lnTo>
                  <a:lnTo>
                    <a:pt x="270105" y="1850651"/>
                  </a:lnTo>
                  <a:lnTo>
                    <a:pt x="270579" y="1850757"/>
                  </a:lnTo>
                  <a:lnTo>
                    <a:pt x="317500" y="1854200"/>
                  </a:lnTo>
                  <a:lnTo>
                    <a:pt x="3073400" y="1854200"/>
                  </a:lnTo>
                  <a:lnTo>
                    <a:pt x="3120320" y="1850757"/>
                  </a:lnTo>
                  <a:lnTo>
                    <a:pt x="3165102" y="1840757"/>
                  </a:lnTo>
                  <a:lnTo>
                    <a:pt x="3207255" y="1824690"/>
                  </a:lnTo>
                  <a:lnTo>
                    <a:pt x="3246287" y="1803047"/>
                  </a:lnTo>
                  <a:lnTo>
                    <a:pt x="3281709" y="1776320"/>
                  </a:lnTo>
                  <a:lnTo>
                    <a:pt x="3313028" y="1745000"/>
                  </a:lnTo>
                  <a:lnTo>
                    <a:pt x="3339754" y="1709578"/>
                  </a:lnTo>
                  <a:lnTo>
                    <a:pt x="3361397" y="1670544"/>
                  </a:lnTo>
                  <a:lnTo>
                    <a:pt x="3377465" y="1628390"/>
                  </a:lnTo>
                  <a:lnTo>
                    <a:pt x="3387467" y="1583607"/>
                  </a:lnTo>
                  <a:lnTo>
                    <a:pt x="3390912" y="1536687"/>
                  </a:lnTo>
                  <a:lnTo>
                    <a:pt x="3390912" y="317500"/>
                  </a:lnTo>
                  <a:lnTo>
                    <a:pt x="3387467" y="270582"/>
                  </a:lnTo>
                  <a:lnTo>
                    <a:pt x="3377465" y="225803"/>
                  </a:lnTo>
                  <a:lnTo>
                    <a:pt x="3365512" y="194448"/>
                  </a:lnTo>
                  <a:lnTo>
                    <a:pt x="3365512" y="1536687"/>
                  </a:lnTo>
                  <a:lnTo>
                    <a:pt x="3361686" y="1584082"/>
                  </a:lnTo>
                  <a:lnTo>
                    <a:pt x="3350619" y="1629026"/>
                  </a:lnTo>
                  <a:lnTo>
                    <a:pt x="3332908" y="1670929"/>
                  </a:lnTo>
                  <a:lnTo>
                    <a:pt x="3309150" y="1709201"/>
                  </a:lnTo>
                  <a:lnTo>
                    <a:pt x="3279940" y="1743252"/>
                  </a:lnTo>
                  <a:lnTo>
                    <a:pt x="3245900" y="1772451"/>
                  </a:lnTo>
                  <a:lnTo>
                    <a:pt x="3207636" y="1796205"/>
                  </a:lnTo>
                  <a:lnTo>
                    <a:pt x="3165737" y="1813913"/>
                  </a:lnTo>
                  <a:lnTo>
                    <a:pt x="3120795" y="1824978"/>
                  </a:lnTo>
                  <a:lnTo>
                    <a:pt x="3073400" y="1828800"/>
                  </a:lnTo>
                  <a:lnTo>
                    <a:pt x="317500" y="1828800"/>
                  </a:lnTo>
                  <a:lnTo>
                    <a:pt x="270579" y="1825016"/>
                  </a:lnTo>
                  <a:lnTo>
                    <a:pt x="225164" y="1813913"/>
                  </a:lnTo>
                  <a:lnTo>
                    <a:pt x="183266" y="1796205"/>
                  </a:lnTo>
                  <a:lnTo>
                    <a:pt x="144997" y="1772451"/>
                  </a:lnTo>
                  <a:lnTo>
                    <a:pt x="110947" y="1743252"/>
                  </a:lnTo>
                  <a:lnTo>
                    <a:pt x="81748" y="1709201"/>
                  </a:lnTo>
                  <a:lnTo>
                    <a:pt x="57994" y="1670929"/>
                  </a:lnTo>
                  <a:lnTo>
                    <a:pt x="40286" y="1629026"/>
                  </a:lnTo>
                  <a:lnTo>
                    <a:pt x="29221" y="1584082"/>
                  </a:lnTo>
                  <a:lnTo>
                    <a:pt x="25400" y="1536687"/>
                  </a:lnTo>
                  <a:lnTo>
                    <a:pt x="25400" y="317500"/>
                  </a:lnTo>
                  <a:lnTo>
                    <a:pt x="0" y="317500"/>
                  </a:lnTo>
                  <a:close/>
                </a:path>
                <a:path w="3391534" h="1854200">
                  <a:moveTo>
                    <a:pt x="0" y="317500"/>
                  </a:moveTo>
                  <a:lnTo>
                    <a:pt x="25400" y="317500"/>
                  </a:lnTo>
                  <a:lnTo>
                    <a:pt x="29221" y="270110"/>
                  </a:lnTo>
                  <a:lnTo>
                    <a:pt x="40286" y="225171"/>
                  </a:lnTo>
                  <a:lnTo>
                    <a:pt x="57994" y="183272"/>
                  </a:lnTo>
                  <a:lnTo>
                    <a:pt x="81748" y="145005"/>
                  </a:lnTo>
                  <a:lnTo>
                    <a:pt x="110947" y="110959"/>
                  </a:lnTo>
                  <a:lnTo>
                    <a:pt x="144997" y="81755"/>
                  </a:lnTo>
                  <a:lnTo>
                    <a:pt x="183266" y="58001"/>
                  </a:lnTo>
                  <a:lnTo>
                    <a:pt x="225164" y="40292"/>
                  </a:lnTo>
                  <a:lnTo>
                    <a:pt x="270105" y="29226"/>
                  </a:lnTo>
                  <a:lnTo>
                    <a:pt x="317499" y="25400"/>
                  </a:lnTo>
                  <a:lnTo>
                    <a:pt x="3073400" y="25412"/>
                  </a:lnTo>
                  <a:lnTo>
                    <a:pt x="3120320" y="29194"/>
                  </a:lnTo>
                  <a:lnTo>
                    <a:pt x="3120795" y="29232"/>
                  </a:lnTo>
                  <a:lnTo>
                    <a:pt x="3165737" y="40295"/>
                  </a:lnTo>
                  <a:lnTo>
                    <a:pt x="3207636" y="58001"/>
                  </a:lnTo>
                  <a:lnTo>
                    <a:pt x="3245900" y="81755"/>
                  </a:lnTo>
                  <a:lnTo>
                    <a:pt x="3279940" y="110959"/>
                  </a:lnTo>
                  <a:lnTo>
                    <a:pt x="3309150" y="145005"/>
                  </a:lnTo>
                  <a:lnTo>
                    <a:pt x="3332908" y="183272"/>
                  </a:lnTo>
                  <a:lnTo>
                    <a:pt x="3350619" y="225171"/>
                  </a:lnTo>
                  <a:lnTo>
                    <a:pt x="3361686" y="270110"/>
                  </a:lnTo>
                  <a:lnTo>
                    <a:pt x="3365512" y="317500"/>
                  </a:lnTo>
                  <a:lnTo>
                    <a:pt x="3365512" y="194448"/>
                  </a:lnTo>
                  <a:lnTo>
                    <a:pt x="3339754" y="144621"/>
                  </a:lnTo>
                  <a:lnTo>
                    <a:pt x="3313028" y="109201"/>
                  </a:lnTo>
                  <a:lnTo>
                    <a:pt x="3281709" y="77883"/>
                  </a:lnTo>
                  <a:lnTo>
                    <a:pt x="3246287" y="51157"/>
                  </a:lnTo>
                  <a:lnTo>
                    <a:pt x="3207255" y="29514"/>
                  </a:lnTo>
                  <a:lnTo>
                    <a:pt x="3165102" y="13447"/>
                  </a:lnTo>
                  <a:lnTo>
                    <a:pt x="3120795" y="3551"/>
                  </a:lnTo>
                  <a:lnTo>
                    <a:pt x="3120320" y="3445"/>
                  </a:lnTo>
                  <a:lnTo>
                    <a:pt x="3073400" y="0"/>
                  </a:lnTo>
                  <a:lnTo>
                    <a:pt x="317499" y="0"/>
                  </a:lnTo>
                  <a:lnTo>
                    <a:pt x="270579" y="3445"/>
                  </a:lnTo>
                  <a:lnTo>
                    <a:pt x="225798" y="13447"/>
                  </a:lnTo>
                  <a:lnTo>
                    <a:pt x="183647" y="29514"/>
                  </a:lnTo>
                  <a:lnTo>
                    <a:pt x="144616" y="51157"/>
                  </a:lnTo>
                  <a:lnTo>
                    <a:pt x="109196" y="77883"/>
                  </a:lnTo>
                  <a:lnTo>
                    <a:pt x="77878" y="109201"/>
                  </a:lnTo>
                  <a:lnTo>
                    <a:pt x="51153" y="144621"/>
                  </a:lnTo>
                  <a:lnTo>
                    <a:pt x="29512" y="183652"/>
                  </a:lnTo>
                  <a:lnTo>
                    <a:pt x="13446" y="225803"/>
                  </a:lnTo>
                  <a:lnTo>
                    <a:pt x="3445" y="270582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385D8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83236" y="3582936"/>
              <a:ext cx="260604" cy="513588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43840" y="3582936"/>
              <a:ext cx="70103" cy="27432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21792" y="3582936"/>
              <a:ext cx="2718816" cy="513588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54477" y="3582936"/>
              <a:ext cx="67335" cy="513588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13944" y="3582936"/>
              <a:ext cx="307848" cy="274320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47828" y="4096524"/>
              <a:ext cx="707136" cy="27432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47828" y="3857256"/>
              <a:ext cx="166115" cy="239267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13944" y="3857256"/>
              <a:ext cx="541020" cy="239267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162812" y="3857256"/>
              <a:ext cx="2011679" cy="513588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54964" y="3857256"/>
              <a:ext cx="307848" cy="513588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214628" y="4131576"/>
              <a:ext cx="943356" cy="274320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798320" y="4131576"/>
              <a:ext cx="359664" cy="513588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368808" y="4405896"/>
              <a:ext cx="2586228" cy="274320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214628" y="4405896"/>
              <a:ext cx="583692" cy="239268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798320" y="4405896"/>
              <a:ext cx="307848" cy="239268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115824" y="4680216"/>
              <a:ext cx="2078736" cy="513588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368808" y="4680216"/>
              <a:ext cx="1825752" cy="239268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502408" y="4680216"/>
              <a:ext cx="347472" cy="513588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194560" y="4680216"/>
              <a:ext cx="307848" cy="513588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849880" y="4680216"/>
              <a:ext cx="359663" cy="513588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849880" y="4680216"/>
              <a:ext cx="105155" cy="239268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/>
          <p:nvPr/>
        </p:nvSpPr>
        <p:spPr>
          <a:xfrm>
            <a:off x="6113410" y="3629667"/>
            <a:ext cx="302641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231F20"/>
                </a:solidFill>
                <a:latin typeface="Calibri"/>
                <a:cs typeface="Calibri"/>
              </a:rPr>
              <a:t>3D-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Cartesian</a:t>
            </a:r>
            <a:r>
              <a:rPr dirty="0" sz="18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31F20"/>
                </a:solidFill>
                <a:latin typeface="Calibri"/>
                <a:cs typeface="Calibri"/>
              </a:rPr>
              <a:t>coordinate</a:t>
            </a:r>
            <a:r>
              <a:rPr dirty="0" sz="1800" spc="-4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31F20"/>
                </a:solidFill>
                <a:latin typeface="Calibri"/>
                <a:cs typeface="Calibri"/>
              </a:rPr>
              <a:t>system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(x,</a:t>
            </a:r>
            <a:r>
              <a:rPr dirty="0" sz="1800" spc="-3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ED2024"/>
                </a:solidFill>
                <a:latin typeface="Calibri"/>
                <a:cs typeface="Calibri"/>
              </a:rPr>
              <a:t>y,</a:t>
            </a:r>
            <a:r>
              <a:rPr dirty="0" sz="1800" spc="-3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z)</a:t>
            </a:r>
            <a:r>
              <a:rPr dirty="0" sz="1800" spc="-2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forms</a:t>
            </a:r>
            <a:r>
              <a:rPr dirty="0" sz="1800" spc="-3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3D</a:t>
            </a:r>
            <a:r>
              <a:rPr dirty="0" sz="180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231F20"/>
                </a:solidFill>
                <a:latin typeface="Calibri"/>
                <a:cs typeface="Calibri"/>
              </a:rPr>
              <a:t>orthogonal basis.</a:t>
            </a:r>
            <a:endParaRPr sz="1800">
              <a:latin typeface="Calibri"/>
              <a:cs typeface="Calibri"/>
            </a:endParaRPr>
          </a:p>
          <a:p>
            <a:pPr algn="ctr" marL="144780" marR="138430" indent="-1270">
              <a:lnSpc>
                <a:spcPct val="100000"/>
              </a:lnSpc>
            </a:pP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Any</a:t>
            </a:r>
            <a:r>
              <a:rPr dirty="0" sz="18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vector</a:t>
            </a:r>
            <a:r>
              <a:rPr dirty="0" sz="1800" spc="-5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8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3D</a:t>
            </a:r>
            <a:r>
              <a:rPr dirty="0" sz="18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18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231F20"/>
                </a:solidFill>
                <a:latin typeface="Calibri"/>
                <a:cs typeface="Calibri"/>
              </a:rPr>
              <a:t>be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expressed</a:t>
            </a:r>
            <a:r>
              <a:rPr dirty="0" sz="1800" spc="-6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800" spc="-4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terms</a:t>
            </a:r>
            <a:r>
              <a:rPr dirty="0" sz="1800" spc="-4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8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(x,</a:t>
            </a:r>
            <a:r>
              <a:rPr dirty="0" sz="1800" spc="-2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ED2024"/>
                </a:solidFill>
                <a:latin typeface="Calibri"/>
                <a:cs typeface="Calibri"/>
              </a:rPr>
              <a:t>y,</a:t>
            </a:r>
            <a:r>
              <a:rPr dirty="0" sz="1800" spc="-4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ED2024"/>
                </a:solidFill>
                <a:latin typeface="Calibri"/>
                <a:cs typeface="Calibri"/>
              </a:rPr>
              <a:t>z)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015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901700" y="2197100"/>
            <a:ext cx="2159000" cy="787400"/>
            <a:chOff x="901700" y="2197100"/>
            <a:chExt cx="2159000" cy="787400"/>
          </a:xfrm>
        </p:grpSpPr>
        <p:sp>
          <p:nvSpPr>
            <p:cNvPr id="9" name="object 9" descr=""/>
            <p:cNvSpPr/>
            <p:nvPr/>
          </p:nvSpPr>
          <p:spPr>
            <a:xfrm>
              <a:off x="914400" y="2209800"/>
              <a:ext cx="2133600" cy="762000"/>
            </a:xfrm>
            <a:custGeom>
              <a:avLst/>
              <a:gdLst/>
              <a:ahLst/>
              <a:cxnLst/>
              <a:rect l="l" t="t" r="r" b="b"/>
              <a:pathLst>
                <a:path w="2133600" h="762000">
                  <a:moveTo>
                    <a:pt x="0" y="127000"/>
                  </a:moveTo>
                  <a:lnTo>
                    <a:pt x="0" y="635000"/>
                  </a:lnTo>
                  <a:lnTo>
                    <a:pt x="9980" y="684429"/>
                  </a:lnTo>
                  <a:lnTo>
                    <a:pt x="37196" y="724798"/>
                  </a:lnTo>
                  <a:lnTo>
                    <a:pt x="77565" y="752018"/>
                  </a:lnTo>
                  <a:lnTo>
                    <a:pt x="127000" y="762000"/>
                  </a:lnTo>
                  <a:lnTo>
                    <a:pt x="2006600" y="762000"/>
                  </a:lnTo>
                  <a:lnTo>
                    <a:pt x="2056034" y="752018"/>
                  </a:lnTo>
                  <a:lnTo>
                    <a:pt x="2096403" y="724798"/>
                  </a:lnTo>
                  <a:lnTo>
                    <a:pt x="2123619" y="684429"/>
                  </a:lnTo>
                  <a:lnTo>
                    <a:pt x="2133600" y="635000"/>
                  </a:lnTo>
                  <a:lnTo>
                    <a:pt x="2133600" y="127000"/>
                  </a:lnTo>
                  <a:lnTo>
                    <a:pt x="2123619" y="77565"/>
                  </a:lnTo>
                  <a:lnTo>
                    <a:pt x="2096403" y="37196"/>
                  </a:lnTo>
                  <a:lnTo>
                    <a:pt x="2056034" y="9980"/>
                  </a:lnTo>
                  <a:lnTo>
                    <a:pt x="2006600" y="0"/>
                  </a:lnTo>
                  <a:lnTo>
                    <a:pt x="126999" y="0"/>
                  </a:lnTo>
                  <a:lnTo>
                    <a:pt x="77565" y="9980"/>
                  </a:lnTo>
                  <a:lnTo>
                    <a:pt x="37196" y="37196"/>
                  </a:lnTo>
                  <a:lnTo>
                    <a:pt x="9980" y="77565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4400" y="2209800"/>
              <a:ext cx="2133600" cy="762000"/>
            </a:xfrm>
            <a:custGeom>
              <a:avLst/>
              <a:gdLst/>
              <a:ahLst/>
              <a:cxnLst/>
              <a:rect l="l" t="t" r="r" b="b"/>
              <a:pathLst>
                <a:path w="2133600" h="762000">
                  <a:moveTo>
                    <a:pt x="0" y="127000"/>
                  </a:moveTo>
                  <a:lnTo>
                    <a:pt x="9980" y="77565"/>
                  </a:lnTo>
                  <a:lnTo>
                    <a:pt x="37196" y="37196"/>
                  </a:lnTo>
                  <a:lnTo>
                    <a:pt x="77565" y="9980"/>
                  </a:lnTo>
                  <a:lnTo>
                    <a:pt x="126999" y="0"/>
                  </a:lnTo>
                  <a:lnTo>
                    <a:pt x="2006600" y="0"/>
                  </a:lnTo>
                  <a:lnTo>
                    <a:pt x="2056034" y="9980"/>
                  </a:lnTo>
                  <a:lnTo>
                    <a:pt x="2096403" y="37196"/>
                  </a:lnTo>
                  <a:lnTo>
                    <a:pt x="2123619" y="77565"/>
                  </a:lnTo>
                  <a:lnTo>
                    <a:pt x="2133600" y="127000"/>
                  </a:lnTo>
                  <a:lnTo>
                    <a:pt x="2133600" y="635000"/>
                  </a:lnTo>
                  <a:lnTo>
                    <a:pt x="2123619" y="684429"/>
                  </a:lnTo>
                  <a:lnTo>
                    <a:pt x="2096403" y="724798"/>
                  </a:lnTo>
                  <a:lnTo>
                    <a:pt x="2056034" y="752018"/>
                  </a:lnTo>
                  <a:lnTo>
                    <a:pt x="2006600" y="762000"/>
                  </a:lnTo>
                  <a:lnTo>
                    <a:pt x="127000" y="762000"/>
                  </a:lnTo>
                  <a:lnTo>
                    <a:pt x="77565" y="752018"/>
                  </a:lnTo>
                  <a:lnTo>
                    <a:pt x="37196" y="724798"/>
                  </a:lnTo>
                  <a:lnTo>
                    <a:pt x="9980" y="684429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914400" y="1876425"/>
            <a:ext cx="8291195" cy="1296670"/>
            <a:chOff x="914400" y="1876425"/>
            <a:chExt cx="8291195" cy="1296670"/>
          </a:xfrm>
        </p:grpSpPr>
        <p:sp>
          <p:nvSpPr>
            <p:cNvPr id="12" name="object 12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515112" y="2057400"/>
              <a:ext cx="2667000" cy="1066800"/>
            </a:xfrm>
            <a:custGeom>
              <a:avLst/>
              <a:gdLst/>
              <a:ahLst/>
              <a:cxnLst/>
              <a:rect l="l" t="t" r="r" b="b"/>
              <a:pathLst>
                <a:path w="2667000" h="1066800">
                  <a:moveTo>
                    <a:pt x="0" y="177800"/>
                  </a:moveTo>
                  <a:lnTo>
                    <a:pt x="0" y="888987"/>
                  </a:lnTo>
                  <a:lnTo>
                    <a:pt x="6351" y="936258"/>
                  </a:lnTo>
                  <a:lnTo>
                    <a:pt x="24274" y="978735"/>
                  </a:lnTo>
                  <a:lnTo>
                    <a:pt x="52076" y="1014722"/>
                  </a:lnTo>
                  <a:lnTo>
                    <a:pt x="88060" y="1042524"/>
                  </a:lnTo>
                  <a:lnTo>
                    <a:pt x="130533" y="1060448"/>
                  </a:lnTo>
                  <a:lnTo>
                    <a:pt x="177800" y="1066800"/>
                  </a:lnTo>
                  <a:lnTo>
                    <a:pt x="2489200" y="1066800"/>
                  </a:lnTo>
                  <a:lnTo>
                    <a:pt x="2536466" y="1060448"/>
                  </a:lnTo>
                  <a:lnTo>
                    <a:pt x="2578939" y="1042524"/>
                  </a:lnTo>
                  <a:lnTo>
                    <a:pt x="2614923" y="1014722"/>
                  </a:lnTo>
                  <a:lnTo>
                    <a:pt x="2642725" y="978735"/>
                  </a:lnTo>
                  <a:lnTo>
                    <a:pt x="2660648" y="936258"/>
                  </a:lnTo>
                  <a:lnTo>
                    <a:pt x="2667000" y="888987"/>
                  </a:lnTo>
                  <a:lnTo>
                    <a:pt x="2667000" y="177800"/>
                  </a:lnTo>
                  <a:lnTo>
                    <a:pt x="2660648" y="130533"/>
                  </a:lnTo>
                  <a:lnTo>
                    <a:pt x="2642725" y="88060"/>
                  </a:lnTo>
                  <a:lnTo>
                    <a:pt x="2614923" y="52076"/>
                  </a:lnTo>
                  <a:lnTo>
                    <a:pt x="2578939" y="24274"/>
                  </a:lnTo>
                  <a:lnTo>
                    <a:pt x="2536466" y="6351"/>
                  </a:lnTo>
                  <a:lnTo>
                    <a:pt x="2489200" y="0"/>
                  </a:lnTo>
                  <a:lnTo>
                    <a:pt x="177799" y="0"/>
                  </a:lnTo>
                  <a:lnTo>
                    <a:pt x="130533" y="6351"/>
                  </a:lnTo>
                  <a:lnTo>
                    <a:pt x="88060" y="24274"/>
                  </a:lnTo>
                  <a:lnTo>
                    <a:pt x="52076" y="52076"/>
                  </a:lnTo>
                  <a:lnTo>
                    <a:pt x="24274" y="88060"/>
                  </a:lnTo>
                  <a:lnTo>
                    <a:pt x="6351" y="130533"/>
                  </a:lnTo>
                  <a:lnTo>
                    <a:pt x="0" y="1778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502412" y="2044700"/>
              <a:ext cx="2692400" cy="1092200"/>
            </a:xfrm>
            <a:custGeom>
              <a:avLst/>
              <a:gdLst/>
              <a:ahLst/>
              <a:cxnLst/>
              <a:rect l="l" t="t" r="r" b="b"/>
              <a:pathLst>
                <a:path w="2692400" h="1092200">
                  <a:moveTo>
                    <a:pt x="0" y="190500"/>
                  </a:moveTo>
                  <a:lnTo>
                    <a:pt x="0" y="901687"/>
                  </a:lnTo>
                  <a:lnTo>
                    <a:pt x="5034" y="945374"/>
                  </a:lnTo>
                  <a:lnTo>
                    <a:pt x="19366" y="985476"/>
                  </a:lnTo>
                  <a:lnTo>
                    <a:pt x="41853" y="1020849"/>
                  </a:lnTo>
                  <a:lnTo>
                    <a:pt x="71352" y="1050351"/>
                  </a:lnTo>
                  <a:lnTo>
                    <a:pt x="106721" y="1072838"/>
                  </a:lnTo>
                  <a:lnTo>
                    <a:pt x="146817" y="1087169"/>
                  </a:lnTo>
                  <a:lnTo>
                    <a:pt x="190500" y="1092200"/>
                  </a:lnTo>
                  <a:lnTo>
                    <a:pt x="2501900" y="1092200"/>
                  </a:lnTo>
                  <a:lnTo>
                    <a:pt x="2545582" y="1087169"/>
                  </a:lnTo>
                  <a:lnTo>
                    <a:pt x="2585678" y="1072838"/>
                  </a:lnTo>
                  <a:lnTo>
                    <a:pt x="2621047" y="1050351"/>
                  </a:lnTo>
                  <a:lnTo>
                    <a:pt x="2650546" y="1020849"/>
                  </a:lnTo>
                  <a:lnTo>
                    <a:pt x="2673033" y="985476"/>
                  </a:lnTo>
                  <a:lnTo>
                    <a:pt x="2687365" y="945374"/>
                  </a:lnTo>
                  <a:lnTo>
                    <a:pt x="2692400" y="901687"/>
                  </a:lnTo>
                  <a:lnTo>
                    <a:pt x="2692400" y="190500"/>
                  </a:lnTo>
                  <a:lnTo>
                    <a:pt x="2687365" y="146821"/>
                  </a:lnTo>
                  <a:lnTo>
                    <a:pt x="2673033" y="106726"/>
                  </a:lnTo>
                  <a:lnTo>
                    <a:pt x="2667000" y="97236"/>
                  </a:lnTo>
                  <a:lnTo>
                    <a:pt x="2667000" y="901687"/>
                  </a:lnTo>
                  <a:lnTo>
                    <a:pt x="2663642" y="934979"/>
                  </a:lnTo>
                  <a:lnTo>
                    <a:pt x="2638805" y="994002"/>
                  </a:lnTo>
                  <a:lnTo>
                    <a:pt x="2594197" y="1038617"/>
                  </a:lnTo>
                  <a:lnTo>
                    <a:pt x="2535185" y="1063449"/>
                  </a:lnTo>
                  <a:lnTo>
                    <a:pt x="190500" y="1066800"/>
                  </a:lnTo>
                  <a:lnTo>
                    <a:pt x="157214" y="1063449"/>
                  </a:lnTo>
                  <a:lnTo>
                    <a:pt x="98202" y="1038617"/>
                  </a:lnTo>
                  <a:lnTo>
                    <a:pt x="53589" y="994002"/>
                  </a:lnTo>
                  <a:lnTo>
                    <a:pt x="28755" y="934979"/>
                  </a:lnTo>
                  <a:lnTo>
                    <a:pt x="25400" y="190500"/>
                  </a:lnTo>
                  <a:lnTo>
                    <a:pt x="0" y="190500"/>
                  </a:lnTo>
                  <a:close/>
                </a:path>
                <a:path w="2692400" h="1092200">
                  <a:moveTo>
                    <a:pt x="0" y="190500"/>
                  </a:moveTo>
                  <a:lnTo>
                    <a:pt x="25400" y="190500"/>
                  </a:lnTo>
                  <a:lnTo>
                    <a:pt x="28755" y="157216"/>
                  </a:lnTo>
                  <a:lnTo>
                    <a:pt x="38369" y="126239"/>
                  </a:lnTo>
                  <a:lnTo>
                    <a:pt x="73761" y="73761"/>
                  </a:lnTo>
                  <a:lnTo>
                    <a:pt x="126234" y="38374"/>
                  </a:lnTo>
                  <a:lnTo>
                    <a:pt x="190499" y="25400"/>
                  </a:lnTo>
                  <a:lnTo>
                    <a:pt x="2501900" y="25400"/>
                  </a:lnTo>
                  <a:lnTo>
                    <a:pt x="2535185" y="28757"/>
                  </a:lnTo>
                  <a:lnTo>
                    <a:pt x="2594197" y="53594"/>
                  </a:lnTo>
                  <a:lnTo>
                    <a:pt x="2638805" y="98208"/>
                  </a:lnTo>
                  <a:lnTo>
                    <a:pt x="2663642" y="157216"/>
                  </a:lnTo>
                  <a:lnTo>
                    <a:pt x="2667000" y="190500"/>
                  </a:lnTo>
                  <a:lnTo>
                    <a:pt x="2667000" y="97236"/>
                  </a:lnTo>
                  <a:lnTo>
                    <a:pt x="2621047" y="41857"/>
                  </a:lnTo>
                  <a:lnTo>
                    <a:pt x="2585678" y="19368"/>
                  </a:lnTo>
                  <a:lnTo>
                    <a:pt x="2545582" y="5035"/>
                  </a:lnTo>
                  <a:lnTo>
                    <a:pt x="2501900" y="0"/>
                  </a:lnTo>
                  <a:lnTo>
                    <a:pt x="190499" y="0"/>
                  </a:lnTo>
                  <a:lnTo>
                    <a:pt x="146817" y="5035"/>
                  </a:lnTo>
                  <a:lnTo>
                    <a:pt x="106721" y="19368"/>
                  </a:lnTo>
                  <a:lnTo>
                    <a:pt x="71352" y="41857"/>
                  </a:lnTo>
                  <a:lnTo>
                    <a:pt x="41853" y="71357"/>
                  </a:lnTo>
                  <a:lnTo>
                    <a:pt x="19366" y="106726"/>
                  </a:lnTo>
                  <a:lnTo>
                    <a:pt x="5034" y="146821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385D8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88264" y="2127504"/>
              <a:ext cx="2616707" cy="67970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29445" y="2127504"/>
              <a:ext cx="65366" cy="67970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30808" y="2493263"/>
              <a:ext cx="1531620" cy="67970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88464" y="2493263"/>
              <a:ext cx="405384" cy="643636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1090392" y="2375413"/>
            <a:ext cx="178053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CTFS</a:t>
            </a:r>
            <a:r>
              <a:rPr dirty="0" sz="2400" spc="-5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Intuition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764820" y="2192533"/>
            <a:ext cx="216979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4990" marR="5080" indent="-54292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B04F"/>
                </a:solidFill>
                <a:latin typeface="Calibri"/>
                <a:cs typeface="Calibri"/>
              </a:rPr>
              <a:t>Orthogonal</a:t>
            </a:r>
            <a:r>
              <a:rPr dirty="0" sz="2400" spc="-105" b="1">
                <a:solidFill>
                  <a:srgbClr val="00B04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B04F"/>
                </a:solidFill>
                <a:latin typeface="Calibri"/>
                <a:cs typeface="Calibri"/>
              </a:rPr>
              <a:t>basis function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901700" y="3644925"/>
            <a:ext cx="8255634" cy="1854200"/>
            <a:chOff x="901700" y="3644925"/>
            <a:chExt cx="8255634" cy="1854200"/>
          </a:xfrm>
        </p:grpSpPr>
        <p:sp>
          <p:nvSpPr>
            <p:cNvPr id="22" name="object 22" descr=""/>
            <p:cNvSpPr/>
            <p:nvPr/>
          </p:nvSpPr>
          <p:spPr>
            <a:xfrm>
              <a:off x="914400" y="3657612"/>
              <a:ext cx="8230234" cy="1829435"/>
            </a:xfrm>
            <a:custGeom>
              <a:avLst/>
              <a:gdLst/>
              <a:ahLst/>
              <a:cxnLst/>
              <a:rect l="l" t="t" r="r" b="b"/>
              <a:pathLst>
                <a:path w="8230234" h="1829435">
                  <a:moveTo>
                    <a:pt x="0" y="304812"/>
                  </a:moveTo>
                  <a:lnTo>
                    <a:pt x="0" y="1523987"/>
                  </a:lnTo>
                  <a:lnTo>
                    <a:pt x="3989" y="1573428"/>
                  </a:lnTo>
                  <a:lnTo>
                    <a:pt x="15538" y="1620331"/>
                  </a:lnTo>
                  <a:lnTo>
                    <a:pt x="34020" y="1664066"/>
                  </a:lnTo>
                  <a:lnTo>
                    <a:pt x="58808" y="1704008"/>
                  </a:lnTo>
                  <a:lnTo>
                    <a:pt x="89273" y="1739526"/>
                  </a:lnTo>
                  <a:lnTo>
                    <a:pt x="124788" y="1769995"/>
                  </a:lnTo>
                  <a:lnTo>
                    <a:pt x="164725" y="1794786"/>
                  </a:lnTo>
                  <a:lnTo>
                    <a:pt x="208458" y="1813271"/>
                  </a:lnTo>
                  <a:lnTo>
                    <a:pt x="255359" y="1824822"/>
                  </a:lnTo>
                  <a:lnTo>
                    <a:pt x="304800" y="1828812"/>
                  </a:lnTo>
                  <a:lnTo>
                    <a:pt x="7924812" y="1828812"/>
                  </a:lnTo>
                  <a:lnTo>
                    <a:pt x="7974253" y="1824822"/>
                  </a:lnTo>
                  <a:lnTo>
                    <a:pt x="8021153" y="1813271"/>
                  </a:lnTo>
                  <a:lnTo>
                    <a:pt x="8064886" y="1794786"/>
                  </a:lnTo>
                  <a:lnTo>
                    <a:pt x="8104824" y="1769995"/>
                  </a:lnTo>
                  <a:lnTo>
                    <a:pt x="8140339" y="1739526"/>
                  </a:lnTo>
                  <a:lnTo>
                    <a:pt x="8170804" y="1704008"/>
                  </a:lnTo>
                  <a:lnTo>
                    <a:pt x="8195591" y="1664066"/>
                  </a:lnTo>
                  <a:lnTo>
                    <a:pt x="8214073" y="1620331"/>
                  </a:lnTo>
                  <a:lnTo>
                    <a:pt x="8225623" y="1573428"/>
                  </a:lnTo>
                  <a:lnTo>
                    <a:pt x="8229612" y="1523987"/>
                  </a:lnTo>
                  <a:lnTo>
                    <a:pt x="8229612" y="304812"/>
                  </a:lnTo>
                  <a:lnTo>
                    <a:pt x="8225623" y="255371"/>
                  </a:lnTo>
                  <a:lnTo>
                    <a:pt x="8214073" y="208470"/>
                  </a:lnTo>
                  <a:lnTo>
                    <a:pt x="8195591" y="164735"/>
                  </a:lnTo>
                  <a:lnTo>
                    <a:pt x="8170804" y="124796"/>
                  </a:lnTo>
                  <a:lnTo>
                    <a:pt x="8140339" y="89279"/>
                  </a:lnTo>
                  <a:lnTo>
                    <a:pt x="8104824" y="58812"/>
                  </a:lnTo>
                  <a:lnTo>
                    <a:pt x="8064886" y="34023"/>
                  </a:lnTo>
                  <a:lnTo>
                    <a:pt x="8021153" y="15540"/>
                  </a:lnTo>
                  <a:lnTo>
                    <a:pt x="7974253" y="3989"/>
                  </a:lnTo>
                  <a:lnTo>
                    <a:pt x="7924812" y="0"/>
                  </a:lnTo>
                  <a:lnTo>
                    <a:pt x="304799" y="0"/>
                  </a:lnTo>
                  <a:lnTo>
                    <a:pt x="255359" y="3989"/>
                  </a:lnTo>
                  <a:lnTo>
                    <a:pt x="208458" y="15540"/>
                  </a:lnTo>
                  <a:lnTo>
                    <a:pt x="164725" y="34023"/>
                  </a:lnTo>
                  <a:lnTo>
                    <a:pt x="124788" y="58812"/>
                  </a:lnTo>
                  <a:lnTo>
                    <a:pt x="89273" y="89279"/>
                  </a:lnTo>
                  <a:lnTo>
                    <a:pt x="58808" y="124796"/>
                  </a:lnTo>
                  <a:lnTo>
                    <a:pt x="34020" y="164735"/>
                  </a:lnTo>
                  <a:lnTo>
                    <a:pt x="15538" y="208470"/>
                  </a:lnTo>
                  <a:lnTo>
                    <a:pt x="3989" y="255371"/>
                  </a:lnTo>
                  <a:lnTo>
                    <a:pt x="0" y="304812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01700" y="3644925"/>
              <a:ext cx="8255634" cy="1854200"/>
            </a:xfrm>
            <a:custGeom>
              <a:avLst/>
              <a:gdLst/>
              <a:ahLst/>
              <a:cxnLst/>
              <a:rect l="l" t="t" r="r" b="b"/>
              <a:pathLst>
                <a:path w="8255634" h="1854200">
                  <a:moveTo>
                    <a:pt x="0" y="317500"/>
                  </a:moveTo>
                  <a:lnTo>
                    <a:pt x="0" y="1536674"/>
                  </a:lnTo>
                  <a:lnTo>
                    <a:pt x="3445" y="1583595"/>
                  </a:lnTo>
                  <a:lnTo>
                    <a:pt x="13446" y="1628377"/>
                  </a:lnTo>
                  <a:lnTo>
                    <a:pt x="29512" y="1670531"/>
                  </a:lnTo>
                  <a:lnTo>
                    <a:pt x="51153" y="1709565"/>
                  </a:lnTo>
                  <a:lnTo>
                    <a:pt x="77878" y="1744987"/>
                  </a:lnTo>
                  <a:lnTo>
                    <a:pt x="109196" y="1776308"/>
                  </a:lnTo>
                  <a:lnTo>
                    <a:pt x="144616" y="1803035"/>
                  </a:lnTo>
                  <a:lnTo>
                    <a:pt x="183647" y="1824677"/>
                  </a:lnTo>
                  <a:lnTo>
                    <a:pt x="225798" y="1840744"/>
                  </a:lnTo>
                  <a:lnTo>
                    <a:pt x="270110" y="1850639"/>
                  </a:lnTo>
                  <a:lnTo>
                    <a:pt x="270579" y="1850744"/>
                  </a:lnTo>
                  <a:lnTo>
                    <a:pt x="317500" y="1854187"/>
                  </a:lnTo>
                  <a:lnTo>
                    <a:pt x="7937512" y="1854187"/>
                  </a:lnTo>
                  <a:lnTo>
                    <a:pt x="7984432" y="1850744"/>
                  </a:lnTo>
                  <a:lnTo>
                    <a:pt x="8029213" y="1840744"/>
                  </a:lnTo>
                  <a:lnTo>
                    <a:pt x="8071365" y="1824677"/>
                  </a:lnTo>
                  <a:lnTo>
                    <a:pt x="8110396" y="1803035"/>
                  </a:lnTo>
                  <a:lnTo>
                    <a:pt x="8145816" y="1776308"/>
                  </a:lnTo>
                  <a:lnTo>
                    <a:pt x="8177133" y="1744987"/>
                  </a:lnTo>
                  <a:lnTo>
                    <a:pt x="8203858" y="1709565"/>
                  </a:lnTo>
                  <a:lnTo>
                    <a:pt x="8225499" y="1670531"/>
                  </a:lnTo>
                  <a:lnTo>
                    <a:pt x="8241566" y="1628377"/>
                  </a:lnTo>
                  <a:lnTo>
                    <a:pt x="8251567" y="1583595"/>
                  </a:lnTo>
                  <a:lnTo>
                    <a:pt x="8255012" y="1536674"/>
                  </a:lnTo>
                  <a:lnTo>
                    <a:pt x="8255012" y="317499"/>
                  </a:lnTo>
                  <a:lnTo>
                    <a:pt x="8251567" y="270579"/>
                  </a:lnTo>
                  <a:lnTo>
                    <a:pt x="8241566" y="225797"/>
                  </a:lnTo>
                  <a:lnTo>
                    <a:pt x="8229612" y="194435"/>
                  </a:lnTo>
                  <a:lnTo>
                    <a:pt x="8229612" y="1536674"/>
                  </a:lnTo>
                  <a:lnTo>
                    <a:pt x="8225786" y="1584070"/>
                  </a:lnTo>
                  <a:lnTo>
                    <a:pt x="8214720" y="1629014"/>
                  </a:lnTo>
                  <a:lnTo>
                    <a:pt x="8197011" y="1670916"/>
                  </a:lnTo>
                  <a:lnTo>
                    <a:pt x="8173256" y="1709188"/>
                  </a:lnTo>
                  <a:lnTo>
                    <a:pt x="8144052" y="1743240"/>
                  </a:lnTo>
                  <a:lnTo>
                    <a:pt x="8110007" y="1772439"/>
                  </a:lnTo>
                  <a:lnTo>
                    <a:pt x="8071740" y="1796192"/>
                  </a:lnTo>
                  <a:lnTo>
                    <a:pt x="8029841" y="1813901"/>
                  </a:lnTo>
                  <a:lnTo>
                    <a:pt x="7984902" y="1824965"/>
                  </a:lnTo>
                  <a:lnTo>
                    <a:pt x="7937512" y="1828787"/>
                  </a:lnTo>
                  <a:lnTo>
                    <a:pt x="317500" y="1828787"/>
                  </a:lnTo>
                  <a:lnTo>
                    <a:pt x="270579" y="1825003"/>
                  </a:lnTo>
                  <a:lnTo>
                    <a:pt x="225171" y="1813901"/>
                  </a:lnTo>
                  <a:lnTo>
                    <a:pt x="183272" y="1796192"/>
                  </a:lnTo>
                  <a:lnTo>
                    <a:pt x="145005" y="1772439"/>
                  </a:lnTo>
                  <a:lnTo>
                    <a:pt x="110959" y="1743240"/>
                  </a:lnTo>
                  <a:lnTo>
                    <a:pt x="81754" y="1709188"/>
                  </a:lnTo>
                  <a:lnTo>
                    <a:pt x="57997" y="1670916"/>
                  </a:lnTo>
                  <a:lnTo>
                    <a:pt x="40286" y="1629014"/>
                  </a:lnTo>
                  <a:lnTo>
                    <a:pt x="29221" y="1584070"/>
                  </a:lnTo>
                  <a:lnTo>
                    <a:pt x="25400" y="1536674"/>
                  </a:lnTo>
                  <a:lnTo>
                    <a:pt x="25400" y="317500"/>
                  </a:lnTo>
                  <a:lnTo>
                    <a:pt x="0" y="317500"/>
                  </a:lnTo>
                  <a:close/>
                </a:path>
                <a:path w="8255634" h="1854200">
                  <a:moveTo>
                    <a:pt x="0" y="317500"/>
                  </a:moveTo>
                  <a:lnTo>
                    <a:pt x="25400" y="317500"/>
                  </a:lnTo>
                  <a:lnTo>
                    <a:pt x="29221" y="270104"/>
                  </a:lnTo>
                  <a:lnTo>
                    <a:pt x="40286" y="225161"/>
                  </a:lnTo>
                  <a:lnTo>
                    <a:pt x="57997" y="183260"/>
                  </a:lnTo>
                  <a:lnTo>
                    <a:pt x="81754" y="144992"/>
                  </a:lnTo>
                  <a:lnTo>
                    <a:pt x="110959" y="110947"/>
                  </a:lnTo>
                  <a:lnTo>
                    <a:pt x="145005" y="81743"/>
                  </a:lnTo>
                  <a:lnTo>
                    <a:pt x="183272" y="57988"/>
                  </a:lnTo>
                  <a:lnTo>
                    <a:pt x="225171" y="40279"/>
                  </a:lnTo>
                  <a:lnTo>
                    <a:pt x="270110" y="29213"/>
                  </a:lnTo>
                  <a:lnTo>
                    <a:pt x="317499" y="25387"/>
                  </a:lnTo>
                  <a:lnTo>
                    <a:pt x="7937512" y="25387"/>
                  </a:lnTo>
                  <a:lnTo>
                    <a:pt x="7984432" y="29175"/>
                  </a:lnTo>
                  <a:lnTo>
                    <a:pt x="7984902" y="29213"/>
                  </a:lnTo>
                  <a:lnTo>
                    <a:pt x="8029841" y="40279"/>
                  </a:lnTo>
                  <a:lnTo>
                    <a:pt x="8071740" y="57988"/>
                  </a:lnTo>
                  <a:lnTo>
                    <a:pt x="8110007" y="81743"/>
                  </a:lnTo>
                  <a:lnTo>
                    <a:pt x="8144052" y="110947"/>
                  </a:lnTo>
                  <a:lnTo>
                    <a:pt x="8173256" y="144992"/>
                  </a:lnTo>
                  <a:lnTo>
                    <a:pt x="8197011" y="183260"/>
                  </a:lnTo>
                  <a:lnTo>
                    <a:pt x="8214720" y="225161"/>
                  </a:lnTo>
                  <a:lnTo>
                    <a:pt x="8225786" y="270104"/>
                  </a:lnTo>
                  <a:lnTo>
                    <a:pt x="8229612" y="317499"/>
                  </a:lnTo>
                  <a:lnTo>
                    <a:pt x="8229612" y="194435"/>
                  </a:lnTo>
                  <a:lnTo>
                    <a:pt x="8203858" y="144612"/>
                  </a:lnTo>
                  <a:lnTo>
                    <a:pt x="8177133" y="109192"/>
                  </a:lnTo>
                  <a:lnTo>
                    <a:pt x="8145816" y="77873"/>
                  </a:lnTo>
                  <a:lnTo>
                    <a:pt x="8110396" y="51148"/>
                  </a:lnTo>
                  <a:lnTo>
                    <a:pt x="8071365" y="29507"/>
                  </a:lnTo>
                  <a:lnTo>
                    <a:pt x="8029213" y="13441"/>
                  </a:lnTo>
                  <a:lnTo>
                    <a:pt x="7984902" y="3547"/>
                  </a:lnTo>
                  <a:lnTo>
                    <a:pt x="7937512" y="0"/>
                  </a:lnTo>
                  <a:lnTo>
                    <a:pt x="317499" y="0"/>
                  </a:lnTo>
                  <a:lnTo>
                    <a:pt x="270579" y="3442"/>
                  </a:lnTo>
                  <a:lnTo>
                    <a:pt x="225798" y="13441"/>
                  </a:lnTo>
                  <a:lnTo>
                    <a:pt x="183647" y="29507"/>
                  </a:lnTo>
                  <a:lnTo>
                    <a:pt x="144616" y="51148"/>
                  </a:lnTo>
                  <a:lnTo>
                    <a:pt x="109196" y="77873"/>
                  </a:lnTo>
                  <a:lnTo>
                    <a:pt x="77878" y="109192"/>
                  </a:lnTo>
                  <a:lnTo>
                    <a:pt x="51153" y="144612"/>
                  </a:lnTo>
                  <a:lnTo>
                    <a:pt x="29512" y="183645"/>
                  </a:lnTo>
                  <a:lnTo>
                    <a:pt x="13446" y="225797"/>
                  </a:lnTo>
                  <a:lnTo>
                    <a:pt x="3445" y="270579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385D8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020" y="4148340"/>
              <a:ext cx="3973080" cy="335280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66956" y="4148340"/>
              <a:ext cx="3878580" cy="623316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95100" y="4148340"/>
              <a:ext cx="371856" cy="335279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2020" y="4771656"/>
              <a:ext cx="5010924" cy="335280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2020" y="4483620"/>
              <a:ext cx="3973080" cy="288036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95100" y="4483620"/>
              <a:ext cx="1037844" cy="288036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04800" y="4483620"/>
              <a:ext cx="62484" cy="623316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932944" y="4483620"/>
              <a:ext cx="371855" cy="623316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1082415" y="4207264"/>
            <a:ext cx="108521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solidFill>
                  <a:srgbClr val="231F20"/>
                </a:solidFill>
                <a:latin typeface="Calibri"/>
                <a:cs typeface="Calibri"/>
              </a:rPr>
              <a:t>Similarly,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406088" y="4207264"/>
            <a:ext cx="548894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231F20"/>
                </a:solidFill>
                <a:latin typeface="Calibri"/>
                <a:cs typeface="Calibri"/>
              </a:rPr>
              <a:t>forms</a:t>
            </a:r>
            <a:r>
              <a:rPr dirty="0" sz="2200" spc="-5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231F20"/>
                </a:solidFill>
                <a:latin typeface="Calibri"/>
                <a:cs typeface="Calibri"/>
              </a:rPr>
              <a:t>infinite-Dimension</a:t>
            </a:r>
            <a:r>
              <a:rPr dirty="0" sz="2200" spc="-6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231F20"/>
                </a:solidFill>
                <a:latin typeface="Calibri"/>
                <a:cs typeface="Calibri"/>
              </a:rPr>
              <a:t>orthogonal</a:t>
            </a:r>
            <a:r>
              <a:rPr dirty="0" sz="2200" spc="-3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231F20"/>
                </a:solidFill>
                <a:latin typeface="Calibri"/>
                <a:cs typeface="Calibri"/>
              </a:rPr>
              <a:t>basis.</a:t>
            </a:r>
            <a:r>
              <a:rPr dirty="0" sz="2200" spc="-8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200" spc="-25" b="1">
                <a:solidFill>
                  <a:srgbClr val="231F20"/>
                </a:solidFill>
                <a:latin typeface="Calibri"/>
                <a:cs typeface="Calibri"/>
              </a:rPr>
              <a:t>Any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082415" y="4542493"/>
            <a:ext cx="503618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231F20"/>
                </a:solidFill>
                <a:latin typeface="Calibri"/>
                <a:cs typeface="Calibri"/>
              </a:rPr>
              <a:t>signal</a:t>
            </a:r>
            <a:r>
              <a:rPr dirty="0" sz="2200" spc="-5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2200" spc="-4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22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231F20"/>
                </a:solidFill>
                <a:latin typeface="Calibri"/>
                <a:cs typeface="Calibri"/>
              </a:rPr>
              <a:t>expressed</a:t>
            </a:r>
            <a:r>
              <a:rPr dirty="0" sz="22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2200" spc="-4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231F20"/>
                </a:solidFill>
                <a:latin typeface="Calibri"/>
                <a:cs typeface="Calibri"/>
              </a:rPr>
              <a:t>terms</a:t>
            </a:r>
            <a:r>
              <a:rPr dirty="0" sz="2200" spc="-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22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2200" spc="-4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200" spc="-20" b="1">
                <a:solidFill>
                  <a:srgbClr val="231F20"/>
                </a:solidFill>
                <a:latin typeface="Calibri"/>
                <a:cs typeface="Calibri"/>
              </a:rPr>
              <a:t>set.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320150" y="4155986"/>
            <a:ext cx="925194" cy="436245"/>
          </a:xfrm>
          <a:prstGeom prst="rect">
            <a:avLst/>
          </a:prstGeom>
          <a:solidFill>
            <a:srgbClr val="F6EB13"/>
          </a:solidFill>
        </p:spPr>
        <p:txBody>
          <a:bodyPr wrap="square" lIns="0" tIns="0" rIns="0" bIns="0" rtlCol="0" vert="horz">
            <a:spAutoFit/>
          </a:bodyPr>
          <a:lstStyle/>
          <a:p>
            <a:pPr marL="43815">
              <a:lnSpc>
                <a:spcPts val="2110"/>
              </a:lnSpc>
            </a:pPr>
            <a:r>
              <a:rPr dirty="0" baseline="-26143" sz="3825" i="1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dirty="0" baseline="-26143" sz="3825" spc="-412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450" i="1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r>
              <a:rPr dirty="0" sz="1450" spc="-17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450" spc="-1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r>
              <a:rPr dirty="0" sz="1550" spc="-10">
                <a:solidFill>
                  <a:srgbClr val="231F20"/>
                </a:solidFill>
                <a:latin typeface="Symbol"/>
                <a:cs typeface="Symbol"/>
              </a:rPr>
              <a:t></a:t>
            </a:r>
            <a:r>
              <a:rPr dirty="0" sz="1450" spc="-10" i="1">
                <a:solidFill>
                  <a:srgbClr val="231F20"/>
                </a:solidFill>
                <a:latin typeface="Times New Roman"/>
                <a:cs typeface="Times New Roman"/>
              </a:rPr>
              <a:t>kF</a:t>
            </a:r>
            <a:r>
              <a:rPr dirty="0" baseline="-21164" sz="1575" spc="-15" i="1">
                <a:solidFill>
                  <a:srgbClr val="231F20"/>
                </a:solidFill>
                <a:latin typeface="Times New Roman"/>
                <a:cs typeface="Times New Roman"/>
              </a:rPr>
              <a:t>o</a:t>
            </a:r>
            <a:r>
              <a:rPr dirty="0" sz="1450" spc="-10" i="1">
                <a:solidFill>
                  <a:srgbClr val="231F20"/>
                </a:solidFill>
                <a:latin typeface="Times New Roman"/>
                <a:cs typeface="Times New Roman"/>
              </a:rPr>
              <a:t>t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015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sp>
        <p:nvSpPr>
          <p:cNvPr id="8" name="object 8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901700" y="2133600"/>
            <a:ext cx="3836035" cy="787400"/>
            <a:chOff x="901700" y="2133600"/>
            <a:chExt cx="3836035" cy="787400"/>
          </a:xfrm>
        </p:grpSpPr>
        <p:sp>
          <p:nvSpPr>
            <p:cNvPr id="10" name="object 10" descr=""/>
            <p:cNvSpPr/>
            <p:nvPr/>
          </p:nvSpPr>
          <p:spPr>
            <a:xfrm>
              <a:off x="914400" y="2146300"/>
              <a:ext cx="3810635" cy="762000"/>
            </a:xfrm>
            <a:custGeom>
              <a:avLst/>
              <a:gdLst/>
              <a:ahLst/>
              <a:cxnLst/>
              <a:rect l="l" t="t" r="r" b="b"/>
              <a:pathLst>
                <a:path w="3810635" h="762000">
                  <a:moveTo>
                    <a:pt x="0" y="127000"/>
                  </a:moveTo>
                  <a:lnTo>
                    <a:pt x="0" y="635000"/>
                  </a:lnTo>
                  <a:lnTo>
                    <a:pt x="9980" y="684429"/>
                  </a:lnTo>
                  <a:lnTo>
                    <a:pt x="37196" y="724798"/>
                  </a:lnTo>
                  <a:lnTo>
                    <a:pt x="77565" y="752018"/>
                  </a:lnTo>
                  <a:lnTo>
                    <a:pt x="127000" y="762000"/>
                  </a:lnTo>
                  <a:lnTo>
                    <a:pt x="3683012" y="762000"/>
                  </a:lnTo>
                  <a:lnTo>
                    <a:pt x="3732447" y="752018"/>
                  </a:lnTo>
                  <a:lnTo>
                    <a:pt x="3772815" y="724798"/>
                  </a:lnTo>
                  <a:lnTo>
                    <a:pt x="3800032" y="684429"/>
                  </a:lnTo>
                  <a:lnTo>
                    <a:pt x="3810012" y="635000"/>
                  </a:lnTo>
                  <a:lnTo>
                    <a:pt x="3810012" y="127000"/>
                  </a:lnTo>
                  <a:lnTo>
                    <a:pt x="3800032" y="77565"/>
                  </a:lnTo>
                  <a:lnTo>
                    <a:pt x="3772815" y="37196"/>
                  </a:lnTo>
                  <a:lnTo>
                    <a:pt x="3732447" y="9980"/>
                  </a:lnTo>
                  <a:lnTo>
                    <a:pt x="3683012" y="0"/>
                  </a:lnTo>
                  <a:lnTo>
                    <a:pt x="126999" y="0"/>
                  </a:lnTo>
                  <a:lnTo>
                    <a:pt x="77565" y="9980"/>
                  </a:lnTo>
                  <a:lnTo>
                    <a:pt x="37196" y="37196"/>
                  </a:lnTo>
                  <a:lnTo>
                    <a:pt x="9980" y="77565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14400" y="2146300"/>
              <a:ext cx="3810635" cy="762000"/>
            </a:xfrm>
            <a:custGeom>
              <a:avLst/>
              <a:gdLst/>
              <a:ahLst/>
              <a:cxnLst/>
              <a:rect l="l" t="t" r="r" b="b"/>
              <a:pathLst>
                <a:path w="3810635" h="762000">
                  <a:moveTo>
                    <a:pt x="0" y="127000"/>
                  </a:moveTo>
                  <a:lnTo>
                    <a:pt x="9980" y="77565"/>
                  </a:lnTo>
                  <a:lnTo>
                    <a:pt x="37196" y="37196"/>
                  </a:lnTo>
                  <a:lnTo>
                    <a:pt x="77565" y="9980"/>
                  </a:lnTo>
                  <a:lnTo>
                    <a:pt x="126999" y="0"/>
                  </a:lnTo>
                  <a:lnTo>
                    <a:pt x="3683012" y="0"/>
                  </a:lnTo>
                  <a:lnTo>
                    <a:pt x="3732447" y="9980"/>
                  </a:lnTo>
                  <a:lnTo>
                    <a:pt x="3772815" y="37196"/>
                  </a:lnTo>
                  <a:lnTo>
                    <a:pt x="3800032" y="77565"/>
                  </a:lnTo>
                  <a:lnTo>
                    <a:pt x="3810012" y="127000"/>
                  </a:lnTo>
                  <a:lnTo>
                    <a:pt x="3810012" y="635000"/>
                  </a:lnTo>
                  <a:lnTo>
                    <a:pt x="3800032" y="684429"/>
                  </a:lnTo>
                  <a:lnTo>
                    <a:pt x="3772815" y="724798"/>
                  </a:lnTo>
                  <a:lnTo>
                    <a:pt x="3732447" y="752018"/>
                  </a:lnTo>
                  <a:lnTo>
                    <a:pt x="3683012" y="762000"/>
                  </a:lnTo>
                  <a:lnTo>
                    <a:pt x="127000" y="762000"/>
                  </a:lnTo>
                  <a:lnTo>
                    <a:pt x="77565" y="752018"/>
                  </a:lnTo>
                  <a:lnTo>
                    <a:pt x="37196" y="724798"/>
                  </a:lnTo>
                  <a:lnTo>
                    <a:pt x="9980" y="684429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081247" y="2311913"/>
            <a:ext cx="7042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CTFS: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032467" y="2311913"/>
            <a:ext cx="25222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Dirichlet</a:t>
            </a:r>
            <a:r>
              <a:rPr dirty="0" sz="2400" spc="-5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Conditions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23053" y="2379827"/>
            <a:ext cx="3237559" cy="2043112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5418" y="5330156"/>
            <a:ext cx="5808732" cy="322703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714755" y="5862840"/>
            <a:ext cx="8769350" cy="623570"/>
            <a:chOff x="714755" y="5862840"/>
            <a:chExt cx="8769350" cy="623570"/>
          </a:xfrm>
        </p:grpSpPr>
        <p:sp>
          <p:nvSpPr>
            <p:cNvPr id="17" name="object 17" descr=""/>
            <p:cNvSpPr/>
            <p:nvPr/>
          </p:nvSpPr>
          <p:spPr>
            <a:xfrm>
              <a:off x="787399" y="5906426"/>
              <a:ext cx="8535035" cy="431165"/>
            </a:xfrm>
            <a:custGeom>
              <a:avLst/>
              <a:gdLst/>
              <a:ahLst/>
              <a:cxnLst/>
              <a:rect l="l" t="t" r="r" b="b"/>
              <a:pathLst>
                <a:path w="8535035" h="431164">
                  <a:moveTo>
                    <a:pt x="0" y="0"/>
                  </a:moveTo>
                  <a:lnTo>
                    <a:pt x="0" y="430885"/>
                  </a:lnTo>
                  <a:lnTo>
                    <a:pt x="8534412" y="430885"/>
                  </a:lnTo>
                  <a:lnTo>
                    <a:pt x="85344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9D9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4755" y="5862840"/>
              <a:ext cx="522732" cy="623316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7399" y="5906426"/>
              <a:ext cx="450088" cy="43088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9344" y="6337312"/>
              <a:ext cx="91439" cy="14884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09344" y="5862840"/>
              <a:ext cx="91439" cy="474472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37487" y="6337312"/>
              <a:ext cx="371855" cy="14884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37487" y="5862840"/>
              <a:ext cx="371855" cy="474472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72639" y="6337312"/>
              <a:ext cx="6751319" cy="14884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72639" y="5862840"/>
              <a:ext cx="6751319" cy="474472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00783" y="6337312"/>
              <a:ext cx="371856" cy="148844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00783" y="5862840"/>
              <a:ext cx="371856" cy="474472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823960" y="6337312"/>
              <a:ext cx="96012" cy="148844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823960" y="5862840"/>
              <a:ext cx="96012" cy="474472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919972" y="6337312"/>
              <a:ext cx="129552" cy="148844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919972" y="5862840"/>
              <a:ext cx="129552" cy="474472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291827" y="5862840"/>
              <a:ext cx="192024" cy="623316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95829" y="6337312"/>
              <a:ext cx="95999" cy="148844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195829" y="5862840"/>
              <a:ext cx="95999" cy="474472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049524" y="6337312"/>
              <a:ext cx="146303" cy="148844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049524" y="5862840"/>
              <a:ext cx="146303" cy="474472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787400" y="5906427"/>
            <a:ext cx="8535035" cy="43116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225"/>
              </a:spcBef>
            </a:pPr>
            <a:r>
              <a:rPr dirty="0" sz="2200" b="1">
                <a:solidFill>
                  <a:srgbClr val="ED2024"/>
                </a:solidFill>
                <a:latin typeface="Calibri"/>
                <a:cs typeface="Calibri"/>
              </a:rPr>
              <a:t>Will</a:t>
            </a:r>
            <a:r>
              <a:rPr dirty="0" sz="2200" spc="-7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200" b="1" i="1">
                <a:solidFill>
                  <a:srgbClr val="ED2024"/>
                </a:solidFill>
                <a:latin typeface="Calibri"/>
                <a:cs typeface="Calibri"/>
              </a:rPr>
              <a:t>x(t)</a:t>
            </a:r>
            <a:r>
              <a:rPr dirty="0" sz="2200" spc="-50" b="1" i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ED2024"/>
                </a:solidFill>
                <a:latin typeface="Calibri"/>
                <a:cs typeface="Calibri"/>
              </a:rPr>
              <a:t>be</a:t>
            </a:r>
            <a:r>
              <a:rPr dirty="0" sz="2200" spc="-6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ED2024"/>
                </a:solidFill>
                <a:latin typeface="Calibri"/>
                <a:cs typeface="Calibri"/>
              </a:rPr>
              <a:t>equal</a:t>
            </a:r>
            <a:r>
              <a:rPr dirty="0" sz="2200" spc="-5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ED2024"/>
                </a:solidFill>
                <a:latin typeface="Calibri"/>
                <a:cs typeface="Calibri"/>
              </a:rPr>
              <a:t>to</a:t>
            </a:r>
            <a:r>
              <a:rPr dirty="0" sz="2200" spc="-5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ED2024"/>
                </a:solidFill>
                <a:latin typeface="Calibri"/>
                <a:cs typeface="Calibri"/>
              </a:rPr>
              <a:t>its</a:t>
            </a:r>
            <a:r>
              <a:rPr dirty="0" sz="2200" spc="-5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ED2024"/>
                </a:solidFill>
                <a:latin typeface="Calibri"/>
                <a:cs typeface="Calibri"/>
              </a:rPr>
              <a:t>Fourier</a:t>
            </a:r>
            <a:r>
              <a:rPr dirty="0" sz="2200" spc="-2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ED2024"/>
                </a:solidFill>
                <a:latin typeface="Calibri"/>
                <a:cs typeface="Calibri"/>
              </a:rPr>
              <a:t>series</a:t>
            </a:r>
            <a:r>
              <a:rPr dirty="0" sz="22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200" spc="-10" b="1">
                <a:solidFill>
                  <a:srgbClr val="ED2024"/>
                </a:solidFill>
                <a:latin typeface="Calibri"/>
                <a:cs typeface="Calibri"/>
              </a:rPr>
              <a:t>representation</a:t>
            </a:r>
            <a:r>
              <a:rPr dirty="0" sz="2200" spc="-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ED2024"/>
                </a:solidFill>
                <a:latin typeface="Calibri"/>
                <a:cs typeface="Calibri"/>
              </a:rPr>
              <a:t>at</a:t>
            </a:r>
            <a:r>
              <a:rPr dirty="0" sz="2200" spc="-5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ED2024"/>
                </a:solidFill>
                <a:latin typeface="Calibri"/>
                <a:cs typeface="Calibri"/>
              </a:rPr>
              <a:t>every</a:t>
            </a:r>
            <a:r>
              <a:rPr dirty="0" sz="2200" spc="-5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ED2024"/>
                </a:solidFill>
                <a:latin typeface="Calibri"/>
                <a:cs typeface="Calibri"/>
              </a:rPr>
              <a:t>value</a:t>
            </a:r>
            <a:r>
              <a:rPr dirty="0" sz="2200" spc="-6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ED2024"/>
                </a:solidFill>
                <a:latin typeface="Calibri"/>
                <a:cs typeface="Calibri"/>
              </a:rPr>
              <a:t>of</a:t>
            </a:r>
            <a:r>
              <a:rPr dirty="0" sz="2200" spc="-5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200" spc="-25" b="1" i="1">
                <a:solidFill>
                  <a:srgbClr val="ED2024"/>
                </a:solidFill>
                <a:latin typeface="Calibri"/>
                <a:cs typeface="Calibri"/>
              </a:rPr>
              <a:t>t</a:t>
            </a:r>
            <a:r>
              <a:rPr dirty="0" sz="2200" spc="-25" b="1">
                <a:solidFill>
                  <a:srgbClr val="ED2024"/>
                </a:solidFill>
                <a:latin typeface="Calibri"/>
                <a:cs typeface="Calibri"/>
              </a:rPr>
              <a:t>?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015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sp>
        <p:nvSpPr>
          <p:cNvPr id="8" name="object 8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901700" y="2133600"/>
            <a:ext cx="3836035" cy="787400"/>
            <a:chOff x="901700" y="2133600"/>
            <a:chExt cx="3836035" cy="787400"/>
          </a:xfrm>
        </p:grpSpPr>
        <p:sp>
          <p:nvSpPr>
            <p:cNvPr id="10" name="object 10" descr=""/>
            <p:cNvSpPr/>
            <p:nvPr/>
          </p:nvSpPr>
          <p:spPr>
            <a:xfrm>
              <a:off x="914400" y="2146300"/>
              <a:ext cx="3810635" cy="762000"/>
            </a:xfrm>
            <a:custGeom>
              <a:avLst/>
              <a:gdLst/>
              <a:ahLst/>
              <a:cxnLst/>
              <a:rect l="l" t="t" r="r" b="b"/>
              <a:pathLst>
                <a:path w="3810635" h="762000">
                  <a:moveTo>
                    <a:pt x="0" y="127000"/>
                  </a:moveTo>
                  <a:lnTo>
                    <a:pt x="0" y="635000"/>
                  </a:lnTo>
                  <a:lnTo>
                    <a:pt x="9980" y="684429"/>
                  </a:lnTo>
                  <a:lnTo>
                    <a:pt x="37196" y="724798"/>
                  </a:lnTo>
                  <a:lnTo>
                    <a:pt x="77565" y="752018"/>
                  </a:lnTo>
                  <a:lnTo>
                    <a:pt x="127000" y="762000"/>
                  </a:lnTo>
                  <a:lnTo>
                    <a:pt x="3683012" y="762000"/>
                  </a:lnTo>
                  <a:lnTo>
                    <a:pt x="3732447" y="752018"/>
                  </a:lnTo>
                  <a:lnTo>
                    <a:pt x="3772815" y="724798"/>
                  </a:lnTo>
                  <a:lnTo>
                    <a:pt x="3800032" y="684429"/>
                  </a:lnTo>
                  <a:lnTo>
                    <a:pt x="3810012" y="635000"/>
                  </a:lnTo>
                  <a:lnTo>
                    <a:pt x="3810012" y="127000"/>
                  </a:lnTo>
                  <a:lnTo>
                    <a:pt x="3800032" y="77565"/>
                  </a:lnTo>
                  <a:lnTo>
                    <a:pt x="3772815" y="37196"/>
                  </a:lnTo>
                  <a:lnTo>
                    <a:pt x="3732447" y="9980"/>
                  </a:lnTo>
                  <a:lnTo>
                    <a:pt x="3683012" y="0"/>
                  </a:lnTo>
                  <a:lnTo>
                    <a:pt x="126999" y="0"/>
                  </a:lnTo>
                  <a:lnTo>
                    <a:pt x="77565" y="9980"/>
                  </a:lnTo>
                  <a:lnTo>
                    <a:pt x="37196" y="37196"/>
                  </a:lnTo>
                  <a:lnTo>
                    <a:pt x="9980" y="77565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14400" y="2146300"/>
              <a:ext cx="3810635" cy="762000"/>
            </a:xfrm>
            <a:custGeom>
              <a:avLst/>
              <a:gdLst/>
              <a:ahLst/>
              <a:cxnLst/>
              <a:rect l="l" t="t" r="r" b="b"/>
              <a:pathLst>
                <a:path w="3810635" h="762000">
                  <a:moveTo>
                    <a:pt x="0" y="127000"/>
                  </a:moveTo>
                  <a:lnTo>
                    <a:pt x="9980" y="77565"/>
                  </a:lnTo>
                  <a:lnTo>
                    <a:pt x="37196" y="37196"/>
                  </a:lnTo>
                  <a:lnTo>
                    <a:pt x="77565" y="9980"/>
                  </a:lnTo>
                  <a:lnTo>
                    <a:pt x="126999" y="0"/>
                  </a:lnTo>
                  <a:lnTo>
                    <a:pt x="3683012" y="0"/>
                  </a:lnTo>
                  <a:lnTo>
                    <a:pt x="3732447" y="9980"/>
                  </a:lnTo>
                  <a:lnTo>
                    <a:pt x="3772815" y="37196"/>
                  </a:lnTo>
                  <a:lnTo>
                    <a:pt x="3800032" y="77565"/>
                  </a:lnTo>
                  <a:lnTo>
                    <a:pt x="3810012" y="127000"/>
                  </a:lnTo>
                  <a:lnTo>
                    <a:pt x="3810012" y="635000"/>
                  </a:lnTo>
                  <a:lnTo>
                    <a:pt x="3800032" y="684429"/>
                  </a:lnTo>
                  <a:lnTo>
                    <a:pt x="3772815" y="724798"/>
                  </a:lnTo>
                  <a:lnTo>
                    <a:pt x="3732447" y="752018"/>
                  </a:lnTo>
                  <a:lnTo>
                    <a:pt x="3683012" y="762000"/>
                  </a:lnTo>
                  <a:lnTo>
                    <a:pt x="127000" y="762000"/>
                  </a:lnTo>
                  <a:lnTo>
                    <a:pt x="77565" y="752018"/>
                  </a:lnTo>
                  <a:lnTo>
                    <a:pt x="37196" y="724798"/>
                  </a:lnTo>
                  <a:lnTo>
                    <a:pt x="9980" y="684429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081247" y="2311913"/>
            <a:ext cx="34734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3294" algn="l"/>
              </a:tabLst>
            </a:pP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CTFS: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	Dirichlet</a:t>
            </a:r>
            <a:r>
              <a:rPr dirty="0" sz="2400" spc="-5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Conditions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914400" y="3147072"/>
            <a:ext cx="8234680" cy="567055"/>
            <a:chOff x="914400" y="3147072"/>
            <a:chExt cx="8234680" cy="567055"/>
          </a:xfrm>
        </p:grpSpPr>
        <p:sp>
          <p:nvSpPr>
            <p:cNvPr id="14" name="object 14" descr=""/>
            <p:cNvSpPr/>
            <p:nvPr/>
          </p:nvSpPr>
          <p:spPr>
            <a:xfrm>
              <a:off x="914400" y="3181299"/>
              <a:ext cx="8230234" cy="400685"/>
            </a:xfrm>
            <a:custGeom>
              <a:avLst/>
              <a:gdLst/>
              <a:ahLst/>
              <a:cxnLst/>
              <a:rect l="l" t="t" r="r" b="b"/>
              <a:pathLst>
                <a:path w="8230234" h="400685">
                  <a:moveTo>
                    <a:pt x="0" y="0"/>
                  </a:moveTo>
                  <a:lnTo>
                    <a:pt x="0" y="400113"/>
                  </a:lnTo>
                  <a:lnTo>
                    <a:pt x="8229612" y="400113"/>
                  </a:lnTo>
                  <a:lnTo>
                    <a:pt x="82296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9D9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9076" y="3581412"/>
              <a:ext cx="420624" cy="132587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9076" y="3147072"/>
              <a:ext cx="420624" cy="43433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48027" y="3581412"/>
              <a:ext cx="6565404" cy="132587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48027" y="3147072"/>
              <a:ext cx="6565404" cy="434339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09700" y="3581412"/>
              <a:ext cx="338327" cy="132587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09700" y="3147072"/>
              <a:ext cx="338327" cy="43433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13432" y="3581412"/>
              <a:ext cx="144779" cy="132587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13432" y="3147072"/>
              <a:ext cx="144779" cy="43433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651761" y="3147072"/>
              <a:ext cx="30480" cy="566927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58212" y="3581412"/>
              <a:ext cx="193548" cy="132587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458212" y="3147072"/>
              <a:ext cx="294131" cy="434339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682240" y="3581412"/>
              <a:ext cx="70103" cy="132587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090673" y="3147072"/>
              <a:ext cx="57912" cy="566927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020568" y="3581412"/>
              <a:ext cx="70103" cy="132587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020568" y="3147072"/>
              <a:ext cx="70103" cy="434339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796540" y="3581412"/>
              <a:ext cx="224027" cy="132587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682240" y="3147072"/>
              <a:ext cx="338327" cy="566927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914400" y="3181299"/>
            <a:ext cx="8230234" cy="40068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229"/>
              </a:spcBef>
            </a:pPr>
            <a:r>
              <a:rPr dirty="0" sz="2000" b="1" i="1">
                <a:solidFill>
                  <a:srgbClr val="ED2024"/>
                </a:solidFill>
                <a:latin typeface="Calibri"/>
                <a:cs typeface="Calibri"/>
              </a:rPr>
              <a:t>x(t)</a:t>
            </a:r>
            <a:r>
              <a:rPr dirty="0" sz="2000" spc="-40" b="1" i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will</a:t>
            </a:r>
            <a:r>
              <a:rPr dirty="0" sz="20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be</a:t>
            </a:r>
            <a:r>
              <a:rPr dirty="0" sz="2000" spc="-2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equal</a:t>
            </a:r>
            <a:r>
              <a:rPr dirty="0" sz="2000" spc="-3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to</a:t>
            </a:r>
            <a:r>
              <a:rPr dirty="0" sz="2000" spc="-3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its</a:t>
            </a:r>
            <a:r>
              <a:rPr dirty="0" sz="20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Fourier</a:t>
            </a:r>
            <a:r>
              <a:rPr dirty="0" sz="2000" spc="-5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series</a:t>
            </a:r>
            <a:r>
              <a:rPr dirty="0" sz="2000" spc="-3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representation</a:t>
            </a:r>
            <a:r>
              <a:rPr dirty="0" sz="2000" spc="-3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at</a:t>
            </a:r>
            <a:r>
              <a:rPr dirty="0" sz="2000" spc="-2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every</a:t>
            </a: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value</a:t>
            </a:r>
            <a:r>
              <a:rPr dirty="0" sz="2000" spc="-3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of</a:t>
            </a:r>
            <a:r>
              <a:rPr dirty="0" sz="2000" spc="-2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 i="1">
                <a:solidFill>
                  <a:srgbClr val="ED2024"/>
                </a:solidFill>
                <a:latin typeface="Calibri"/>
                <a:cs typeface="Calibri"/>
              </a:rPr>
              <a:t>t</a:t>
            </a:r>
            <a:r>
              <a:rPr dirty="0" sz="2000" spc="-35" b="1" i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3953A4"/>
                </a:solidFill>
                <a:latin typeface="Calibri"/>
                <a:cs typeface="Calibri"/>
              </a:rPr>
              <a:t>iff</a:t>
            </a:r>
            <a:r>
              <a:rPr dirty="0" sz="2000" spc="-20" b="1" i="1">
                <a:solidFill>
                  <a:srgbClr val="3953A4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403985" y="3933367"/>
            <a:ext cx="7302830" cy="21374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015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sp>
        <p:nvSpPr>
          <p:cNvPr id="8" name="object 8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22146" y="3307715"/>
            <a:ext cx="7825663" cy="622363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901700" y="2133600"/>
            <a:ext cx="3836035" cy="787400"/>
            <a:chOff x="901700" y="2133600"/>
            <a:chExt cx="3836035" cy="787400"/>
          </a:xfrm>
        </p:grpSpPr>
        <p:sp>
          <p:nvSpPr>
            <p:cNvPr id="11" name="object 11" descr=""/>
            <p:cNvSpPr/>
            <p:nvPr/>
          </p:nvSpPr>
          <p:spPr>
            <a:xfrm>
              <a:off x="914400" y="2146300"/>
              <a:ext cx="3810635" cy="762000"/>
            </a:xfrm>
            <a:custGeom>
              <a:avLst/>
              <a:gdLst/>
              <a:ahLst/>
              <a:cxnLst/>
              <a:rect l="l" t="t" r="r" b="b"/>
              <a:pathLst>
                <a:path w="3810635" h="762000">
                  <a:moveTo>
                    <a:pt x="0" y="127000"/>
                  </a:moveTo>
                  <a:lnTo>
                    <a:pt x="0" y="635000"/>
                  </a:lnTo>
                  <a:lnTo>
                    <a:pt x="9980" y="684429"/>
                  </a:lnTo>
                  <a:lnTo>
                    <a:pt x="37196" y="724798"/>
                  </a:lnTo>
                  <a:lnTo>
                    <a:pt x="77565" y="752018"/>
                  </a:lnTo>
                  <a:lnTo>
                    <a:pt x="127000" y="762000"/>
                  </a:lnTo>
                  <a:lnTo>
                    <a:pt x="3683012" y="762000"/>
                  </a:lnTo>
                  <a:lnTo>
                    <a:pt x="3732447" y="752018"/>
                  </a:lnTo>
                  <a:lnTo>
                    <a:pt x="3772815" y="724798"/>
                  </a:lnTo>
                  <a:lnTo>
                    <a:pt x="3800032" y="684429"/>
                  </a:lnTo>
                  <a:lnTo>
                    <a:pt x="3810012" y="635000"/>
                  </a:lnTo>
                  <a:lnTo>
                    <a:pt x="3810012" y="127000"/>
                  </a:lnTo>
                  <a:lnTo>
                    <a:pt x="3800032" y="77565"/>
                  </a:lnTo>
                  <a:lnTo>
                    <a:pt x="3772815" y="37196"/>
                  </a:lnTo>
                  <a:lnTo>
                    <a:pt x="3732447" y="9980"/>
                  </a:lnTo>
                  <a:lnTo>
                    <a:pt x="3683012" y="0"/>
                  </a:lnTo>
                  <a:lnTo>
                    <a:pt x="126999" y="0"/>
                  </a:lnTo>
                  <a:lnTo>
                    <a:pt x="77565" y="9980"/>
                  </a:lnTo>
                  <a:lnTo>
                    <a:pt x="37196" y="37196"/>
                  </a:lnTo>
                  <a:lnTo>
                    <a:pt x="9980" y="77565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14400" y="2146300"/>
              <a:ext cx="3810635" cy="762000"/>
            </a:xfrm>
            <a:custGeom>
              <a:avLst/>
              <a:gdLst/>
              <a:ahLst/>
              <a:cxnLst/>
              <a:rect l="l" t="t" r="r" b="b"/>
              <a:pathLst>
                <a:path w="3810635" h="762000">
                  <a:moveTo>
                    <a:pt x="0" y="127000"/>
                  </a:moveTo>
                  <a:lnTo>
                    <a:pt x="9980" y="77565"/>
                  </a:lnTo>
                  <a:lnTo>
                    <a:pt x="37196" y="37196"/>
                  </a:lnTo>
                  <a:lnTo>
                    <a:pt x="77565" y="9980"/>
                  </a:lnTo>
                  <a:lnTo>
                    <a:pt x="126999" y="0"/>
                  </a:lnTo>
                  <a:lnTo>
                    <a:pt x="3683012" y="0"/>
                  </a:lnTo>
                  <a:lnTo>
                    <a:pt x="3732447" y="9980"/>
                  </a:lnTo>
                  <a:lnTo>
                    <a:pt x="3772815" y="37196"/>
                  </a:lnTo>
                  <a:lnTo>
                    <a:pt x="3800032" y="77565"/>
                  </a:lnTo>
                  <a:lnTo>
                    <a:pt x="3810012" y="127000"/>
                  </a:lnTo>
                  <a:lnTo>
                    <a:pt x="3810012" y="635000"/>
                  </a:lnTo>
                  <a:lnTo>
                    <a:pt x="3800032" y="684429"/>
                  </a:lnTo>
                  <a:lnTo>
                    <a:pt x="3772815" y="724798"/>
                  </a:lnTo>
                  <a:lnTo>
                    <a:pt x="3732447" y="752018"/>
                  </a:lnTo>
                  <a:lnTo>
                    <a:pt x="3683012" y="762000"/>
                  </a:lnTo>
                  <a:lnTo>
                    <a:pt x="127000" y="762000"/>
                  </a:lnTo>
                  <a:lnTo>
                    <a:pt x="77565" y="752018"/>
                  </a:lnTo>
                  <a:lnTo>
                    <a:pt x="37196" y="724798"/>
                  </a:lnTo>
                  <a:lnTo>
                    <a:pt x="9980" y="684429"/>
                  </a:lnTo>
                  <a:lnTo>
                    <a:pt x="0" y="635000"/>
                  </a:lnTo>
                  <a:lnTo>
                    <a:pt x="0" y="1270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081247" y="2311913"/>
            <a:ext cx="7042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CTFS: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032467" y="2311913"/>
            <a:ext cx="25222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Dirichlet</a:t>
            </a:r>
            <a:r>
              <a:rPr dirty="0" sz="2400" spc="-5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Conditions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5307" y="4815330"/>
            <a:ext cx="8407522" cy="7030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015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885825" y="1876425"/>
            <a:ext cx="8287384" cy="791210"/>
            <a:chOff x="885825" y="1876425"/>
            <a:chExt cx="8287384" cy="791210"/>
          </a:xfrm>
        </p:grpSpPr>
        <p:sp>
          <p:nvSpPr>
            <p:cNvPr id="9" name="object 9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4400" y="2057412"/>
              <a:ext cx="2514600" cy="596900"/>
            </a:xfrm>
            <a:custGeom>
              <a:avLst/>
              <a:gdLst/>
              <a:ahLst/>
              <a:cxnLst/>
              <a:rect l="l" t="t" r="r" b="b"/>
              <a:pathLst>
                <a:path w="2514600" h="596900">
                  <a:moveTo>
                    <a:pt x="0" y="99466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415120" y="596900"/>
                  </a:lnTo>
                  <a:lnTo>
                    <a:pt x="2453842" y="589080"/>
                  </a:lnTo>
                  <a:lnTo>
                    <a:pt x="2485463" y="567756"/>
                  </a:lnTo>
                  <a:lnTo>
                    <a:pt x="2506782" y="536131"/>
                  </a:lnTo>
                  <a:lnTo>
                    <a:pt x="2514600" y="497408"/>
                  </a:lnTo>
                  <a:lnTo>
                    <a:pt x="2514600" y="99466"/>
                  </a:lnTo>
                  <a:lnTo>
                    <a:pt x="2506782" y="60752"/>
                  </a:lnTo>
                  <a:lnTo>
                    <a:pt x="2485463" y="29135"/>
                  </a:lnTo>
                  <a:lnTo>
                    <a:pt x="2453842" y="7817"/>
                  </a:lnTo>
                  <a:lnTo>
                    <a:pt x="24151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5"/>
                  </a:lnTo>
                  <a:lnTo>
                    <a:pt x="7817" y="60752"/>
                  </a:lnTo>
                  <a:lnTo>
                    <a:pt x="0" y="99466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14400" y="2057412"/>
              <a:ext cx="2514600" cy="596900"/>
            </a:xfrm>
            <a:custGeom>
              <a:avLst/>
              <a:gdLst/>
              <a:ahLst/>
              <a:cxnLst/>
              <a:rect l="l" t="t" r="r" b="b"/>
              <a:pathLst>
                <a:path w="2514600" h="596900">
                  <a:moveTo>
                    <a:pt x="0" y="99466"/>
                  </a:moveTo>
                  <a:lnTo>
                    <a:pt x="7817" y="60752"/>
                  </a:lnTo>
                  <a:lnTo>
                    <a:pt x="29136" y="29135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2415120" y="0"/>
                  </a:lnTo>
                  <a:lnTo>
                    <a:pt x="2453842" y="7817"/>
                  </a:lnTo>
                  <a:lnTo>
                    <a:pt x="2485463" y="29135"/>
                  </a:lnTo>
                  <a:lnTo>
                    <a:pt x="2506782" y="60752"/>
                  </a:lnTo>
                  <a:lnTo>
                    <a:pt x="2514600" y="99466"/>
                  </a:lnTo>
                  <a:lnTo>
                    <a:pt x="2514600" y="497408"/>
                  </a:lnTo>
                  <a:lnTo>
                    <a:pt x="2506782" y="536131"/>
                  </a:lnTo>
                  <a:lnTo>
                    <a:pt x="2485463" y="567756"/>
                  </a:lnTo>
                  <a:lnTo>
                    <a:pt x="2453842" y="589080"/>
                  </a:lnTo>
                  <a:lnTo>
                    <a:pt x="2415120" y="596900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66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078740" y="2140463"/>
            <a:ext cx="21856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2660" algn="l"/>
              </a:tabLst>
            </a:pP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CTFS: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	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Summary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568712" y="2044712"/>
            <a:ext cx="5588635" cy="622300"/>
            <a:chOff x="3568712" y="2044712"/>
            <a:chExt cx="5588635" cy="622300"/>
          </a:xfrm>
        </p:grpSpPr>
        <p:sp>
          <p:nvSpPr>
            <p:cNvPr id="14" name="object 14" descr=""/>
            <p:cNvSpPr/>
            <p:nvPr/>
          </p:nvSpPr>
          <p:spPr>
            <a:xfrm>
              <a:off x="3581412" y="2057412"/>
              <a:ext cx="5563235" cy="596900"/>
            </a:xfrm>
            <a:custGeom>
              <a:avLst/>
              <a:gdLst/>
              <a:ahLst/>
              <a:cxnLst/>
              <a:rect l="l" t="t" r="r" b="b"/>
              <a:pathLst>
                <a:path w="5563234" h="596900">
                  <a:moveTo>
                    <a:pt x="0" y="99466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5463133" y="596900"/>
                  </a:lnTo>
                  <a:lnTo>
                    <a:pt x="5501855" y="589080"/>
                  </a:lnTo>
                  <a:lnTo>
                    <a:pt x="5533475" y="567756"/>
                  </a:lnTo>
                  <a:lnTo>
                    <a:pt x="5554795" y="536131"/>
                  </a:lnTo>
                  <a:lnTo>
                    <a:pt x="5562612" y="497408"/>
                  </a:lnTo>
                  <a:lnTo>
                    <a:pt x="5562612" y="99466"/>
                  </a:lnTo>
                  <a:lnTo>
                    <a:pt x="5554795" y="60752"/>
                  </a:lnTo>
                  <a:lnTo>
                    <a:pt x="5533475" y="29135"/>
                  </a:lnTo>
                  <a:lnTo>
                    <a:pt x="5501855" y="7817"/>
                  </a:lnTo>
                  <a:lnTo>
                    <a:pt x="5463133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5"/>
                  </a:lnTo>
                  <a:lnTo>
                    <a:pt x="7817" y="60752"/>
                  </a:lnTo>
                  <a:lnTo>
                    <a:pt x="0" y="99466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81412" y="2057412"/>
              <a:ext cx="5563235" cy="596900"/>
            </a:xfrm>
            <a:custGeom>
              <a:avLst/>
              <a:gdLst/>
              <a:ahLst/>
              <a:cxnLst/>
              <a:rect l="l" t="t" r="r" b="b"/>
              <a:pathLst>
                <a:path w="5563234" h="596900">
                  <a:moveTo>
                    <a:pt x="0" y="99466"/>
                  </a:moveTo>
                  <a:lnTo>
                    <a:pt x="7817" y="60752"/>
                  </a:lnTo>
                  <a:lnTo>
                    <a:pt x="29136" y="29135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5463133" y="0"/>
                  </a:lnTo>
                  <a:lnTo>
                    <a:pt x="5501855" y="7817"/>
                  </a:lnTo>
                  <a:lnTo>
                    <a:pt x="5533475" y="29135"/>
                  </a:lnTo>
                  <a:lnTo>
                    <a:pt x="5554795" y="60752"/>
                  </a:lnTo>
                  <a:lnTo>
                    <a:pt x="5562612" y="99466"/>
                  </a:lnTo>
                  <a:lnTo>
                    <a:pt x="5562612" y="497408"/>
                  </a:lnTo>
                  <a:lnTo>
                    <a:pt x="5554795" y="536131"/>
                  </a:lnTo>
                  <a:lnTo>
                    <a:pt x="5533475" y="567756"/>
                  </a:lnTo>
                  <a:lnTo>
                    <a:pt x="5501855" y="589080"/>
                  </a:lnTo>
                  <a:lnTo>
                    <a:pt x="5463133" y="596900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66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725970" y="2173991"/>
            <a:ext cx="52749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231F20"/>
                </a:solidFill>
                <a:latin typeface="Calibri"/>
                <a:cs typeface="Calibri"/>
              </a:rPr>
              <a:t>If</a:t>
            </a:r>
            <a:r>
              <a:rPr dirty="0" sz="20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31F20"/>
                </a:solidFill>
                <a:latin typeface="Calibri"/>
                <a:cs typeface="Calibri"/>
              </a:rPr>
              <a:t>x(t)</a:t>
            </a:r>
            <a:r>
              <a:rPr dirty="0" sz="20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20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31F20"/>
                </a:solidFill>
                <a:latin typeface="Calibri"/>
                <a:cs typeface="Calibri"/>
              </a:rPr>
              <a:t>periodic</a:t>
            </a:r>
            <a:r>
              <a:rPr dirty="0" sz="2000" spc="-3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20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31F20"/>
                </a:solidFill>
                <a:latin typeface="Calibri"/>
                <a:cs typeface="Calibri"/>
              </a:rPr>
              <a:t>satisfies</a:t>
            </a:r>
            <a:r>
              <a:rPr dirty="0" sz="20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31F20"/>
                </a:solidFill>
                <a:latin typeface="Calibri"/>
                <a:cs typeface="Calibri"/>
              </a:rPr>
              <a:t>Dirichlet</a:t>
            </a:r>
            <a:r>
              <a:rPr dirty="0" sz="20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231F20"/>
                </a:solidFill>
                <a:latin typeface="Calibri"/>
                <a:cs typeface="Calibri"/>
              </a:rPr>
              <a:t>conditions: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260600" y="2806712"/>
            <a:ext cx="6426835" cy="2849880"/>
            <a:chOff x="2260600" y="2806712"/>
            <a:chExt cx="6426835" cy="2849880"/>
          </a:xfrm>
        </p:grpSpPr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03945" y="2860522"/>
              <a:ext cx="5825490" cy="213741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2279650" y="2825762"/>
              <a:ext cx="5864225" cy="2186305"/>
            </a:xfrm>
            <a:custGeom>
              <a:avLst/>
              <a:gdLst/>
              <a:ahLst/>
              <a:cxnLst/>
              <a:rect l="l" t="t" r="r" b="b"/>
              <a:pathLst>
                <a:path w="5864225" h="2186304">
                  <a:moveTo>
                    <a:pt x="0" y="2185987"/>
                  </a:moveTo>
                  <a:lnTo>
                    <a:pt x="0" y="0"/>
                  </a:lnTo>
                  <a:lnTo>
                    <a:pt x="5863602" y="0"/>
                  </a:lnTo>
                  <a:lnTo>
                    <a:pt x="5863602" y="2185987"/>
                  </a:lnTo>
                  <a:lnTo>
                    <a:pt x="0" y="2185987"/>
                  </a:lnTo>
                  <a:close/>
                </a:path>
              </a:pathLst>
            </a:custGeom>
            <a:ln w="381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298700" y="3111512"/>
              <a:ext cx="5826125" cy="76200"/>
            </a:xfrm>
            <a:custGeom>
              <a:avLst/>
              <a:gdLst/>
              <a:ahLst/>
              <a:cxnLst/>
              <a:rect l="l" t="t" r="r" b="b"/>
              <a:pathLst>
                <a:path w="5826125" h="76200">
                  <a:moveTo>
                    <a:pt x="0" y="76200"/>
                  </a:moveTo>
                  <a:lnTo>
                    <a:pt x="5825502" y="0"/>
                  </a:lnTo>
                </a:path>
              </a:pathLst>
            </a:custGeom>
            <a:ln w="381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375150" y="3175012"/>
              <a:ext cx="19050" cy="1805305"/>
            </a:xfrm>
            <a:custGeom>
              <a:avLst/>
              <a:gdLst/>
              <a:ahLst/>
              <a:cxnLst/>
              <a:rect l="l" t="t" r="r" b="b"/>
              <a:pathLst>
                <a:path w="19050" h="1805304">
                  <a:moveTo>
                    <a:pt x="0" y="0"/>
                  </a:moveTo>
                  <a:lnTo>
                    <a:pt x="19050" y="1804987"/>
                  </a:lnTo>
                </a:path>
              </a:pathLst>
            </a:custGeom>
            <a:ln w="381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394200" y="5257812"/>
              <a:ext cx="4293235" cy="369570"/>
            </a:xfrm>
            <a:custGeom>
              <a:avLst/>
              <a:gdLst/>
              <a:ahLst/>
              <a:cxnLst/>
              <a:rect l="l" t="t" r="r" b="b"/>
              <a:pathLst>
                <a:path w="4293234" h="369570">
                  <a:moveTo>
                    <a:pt x="0" y="0"/>
                  </a:moveTo>
                  <a:lnTo>
                    <a:pt x="0" y="369328"/>
                  </a:lnTo>
                  <a:lnTo>
                    <a:pt x="4292612" y="369328"/>
                  </a:lnTo>
                  <a:lnTo>
                    <a:pt x="42926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724412" y="4895862"/>
              <a:ext cx="0" cy="361950"/>
            </a:xfrm>
            <a:custGeom>
              <a:avLst/>
              <a:gdLst/>
              <a:ahLst/>
              <a:cxnLst/>
              <a:rect l="l" t="t" r="r" b="b"/>
              <a:pathLst>
                <a:path w="0" h="361950">
                  <a:moveTo>
                    <a:pt x="0" y="361949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667262" y="4800612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114299"/>
                  </a:moveTo>
                  <a:lnTo>
                    <a:pt x="114300" y="114299"/>
                  </a:lnTo>
                  <a:lnTo>
                    <a:pt x="57149" y="0"/>
                  </a:lnTo>
                  <a:lnTo>
                    <a:pt x="0" y="11429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359662" y="5248287"/>
              <a:ext cx="1163955" cy="408305"/>
            </a:xfrm>
            <a:custGeom>
              <a:avLst/>
              <a:gdLst/>
              <a:ahLst/>
              <a:cxnLst/>
              <a:rect l="l" t="t" r="r" b="b"/>
              <a:pathLst>
                <a:path w="1163954" h="408304">
                  <a:moveTo>
                    <a:pt x="0" y="0"/>
                  </a:moveTo>
                  <a:lnTo>
                    <a:pt x="0" y="407987"/>
                  </a:lnTo>
                  <a:lnTo>
                    <a:pt x="1163637" y="407987"/>
                  </a:lnTo>
                  <a:lnTo>
                    <a:pt x="11636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856461" y="5306695"/>
              <a:ext cx="0" cy="290830"/>
            </a:xfrm>
            <a:custGeom>
              <a:avLst/>
              <a:gdLst/>
              <a:ahLst/>
              <a:cxnLst/>
              <a:rect l="l" t="t" r="r" b="b"/>
              <a:pathLst>
                <a:path w="0" h="290829">
                  <a:moveTo>
                    <a:pt x="0" y="0"/>
                  </a:moveTo>
                  <a:lnTo>
                    <a:pt x="0" y="290728"/>
                  </a:lnTo>
                </a:path>
              </a:pathLst>
            </a:custGeom>
            <a:ln w="1211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110372" y="5306695"/>
              <a:ext cx="0" cy="290830"/>
            </a:xfrm>
            <a:custGeom>
              <a:avLst/>
              <a:gdLst/>
              <a:ahLst/>
              <a:cxnLst/>
              <a:rect l="l" t="t" r="r" b="b"/>
              <a:pathLst>
                <a:path w="0" h="290829">
                  <a:moveTo>
                    <a:pt x="0" y="0"/>
                  </a:moveTo>
                  <a:lnTo>
                    <a:pt x="0" y="290728"/>
                  </a:lnTo>
                </a:path>
              </a:pathLst>
            </a:custGeom>
            <a:ln w="1211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/>
          <p:nvPr/>
        </p:nvSpPr>
        <p:spPr>
          <a:xfrm>
            <a:off x="1323035" y="6206337"/>
            <a:ext cx="2962275" cy="516255"/>
          </a:xfrm>
          <a:custGeom>
            <a:avLst/>
            <a:gdLst/>
            <a:ahLst/>
            <a:cxnLst/>
            <a:rect l="l" t="t" r="r" b="b"/>
            <a:pathLst>
              <a:path w="2962275" h="516254">
                <a:moveTo>
                  <a:pt x="0" y="0"/>
                </a:moveTo>
                <a:lnTo>
                  <a:pt x="0" y="515937"/>
                </a:lnTo>
                <a:lnTo>
                  <a:pt x="2962275" y="515937"/>
                </a:lnTo>
                <a:lnTo>
                  <a:pt x="29622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6EB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3398666" y="6442273"/>
            <a:ext cx="9652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450" spc="-50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998247" y="6442273"/>
            <a:ext cx="216535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450">
                <a:solidFill>
                  <a:srgbClr val="231F20"/>
                </a:solidFill>
                <a:latin typeface="Symbol"/>
                <a:cs typeface="Symbol"/>
              </a:rPr>
              <a:t></a:t>
            </a:r>
            <a:r>
              <a:rPr dirty="0" sz="1450" spc="-22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450" spc="-50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346888" y="6220791"/>
            <a:ext cx="2692400" cy="4165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  <a:tabLst>
                <a:tab pos="1803400" algn="l"/>
                <a:tab pos="2259330" algn="l"/>
              </a:tabLst>
            </a:pPr>
            <a:r>
              <a:rPr dirty="0" sz="2550">
                <a:solidFill>
                  <a:srgbClr val="231F20"/>
                </a:solidFill>
                <a:latin typeface="Times New Roman"/>
                <a:cs typeface="Times New Roman"/>
              </a:rPr>
              <a:t>For</a:t>
            </a:r>
            <a:r>
              <a:rPr dirty="0" sz="2550" spc="-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231F20"/>
                </a:solidFill>
                <a:latin typeface="Times New Roman"/>
                <a:cs typeface="Times New Roman"/>
              </a:rPr>
              <a:t>real</a:t>
            </a:r>
            <a:r>
              <a:rPr dirty="0" sz="2550" spc="-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spc="-2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2550" spc="-20">
                <a:solidFill>
                  <a:srgbClr val="231F20"/>
                </a:solidFill>
                <a:latin typeface="Times New Roman"/>
                <a:cs typeface="Times New Roman"/>
              </a:rPr>
              <a:t>(</a:t>
            </a:r>
            <a:r>
              <a:rPr dirty="0" sz="2550" spc="-20" i="1">
                <a:solidFill>
                  <a:srgbClr val="231F20"/>
                </a:solidFill>
                <a:latin typeface="Times New Roman"/>
                <a:cs typeface="Times New Roman"/>
              </a:rPr>
              <a:t>t</a:t>
            </a:r>
            <a:r>
              <a:rPr dirty="0" sz="2550" spc="-20">
                <a:solidFill>
                  <a:srgbClr val="231F20"/>
                </a:solidFill>
                <a:latin typeface="Times New Roman"/>
                <a:cs typeface="Times New Roman"/>
              </a:rPr>
              <a:t>),</a:t>
            </a:r>
            <a:r>
              <a:rPr dirty="0" sz="255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550" spc="-25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r>
              <a:rPr dirty="0" baseline="44061" sz="2175" spc="-37">
                <a:solidFill>
                  <a:srgbClr val="231F20"/>
                </a:solidFill>
                <a:latin typeface="Times New Roman"/>
                <a:cs typeface="Times New Roman"/>
              </a:rPr>
              <a:t>*</a:t>
            </a:r>
            <a:r>
              <a:rPr dirty="0" baseline="44061" sz="2175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55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2550" spc="-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spc="-50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412940" y="5322281"/>
            <a:ext cx="58419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800" spc="-50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8301294" y="5238760"/>
            <a:ext cx="118745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-25" i="1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r>
              <a:rPr dirty="0" sz="1150" spc="-25">
                <a:solidFill>
                  <a:srgbClr val="231F20"/>
                </a:solidFill>
                <a:latin typeface="Symbol"/>
                <a:cs typeface="Symbol"/>
              </a:rPr>
              <a:t></a:t>
            </a:r>
            <a:endParaRPr sz="1150">
              <a:latin typeface="Symbol"/>
              <a:cs typeface="Symbo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4460249" y="5259397"/>
            <a:ext cx="3845560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Complex</a:t>
            </a:r>
            <a:r>
              <a:rPr dirty="0" sz="1800" spc="-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Fourier</a:t>
            </a:r>
            <a:r>
              <a:rPr dirty="0" sz="1800" spc="-5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coefficients</a:t>
            </a:r>
            <a:r>
              <a:rPr dirty="0" sz="1800" spc="-4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231F20"/>
                </a:solidFill>
                <a:latin typeface="Calibri"/>
                <a:cs typeface="Calibri"/>
              </a:rPr>
              <a:t>=</a:t>
            </a:r>
            <a:r>
              <a:rPr dirty="0" sz="180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aseline="1461" sz="2850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r>
              <a:rPr dirty="0" baseline="-22727" sz="1650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r>
              <a:rPr dirty="0" baseline="-22727" sz="1650" spc="667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1461" sz="285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baseline="1461" sz="2850" spc="3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1461" sz="2850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r>
              <a:rPr dirty="0" baseline="-22727" sz="1650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r>
              <a:rPr dirty="0" baseline="-22727" sz="1650" spc="195" i="1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baseline="1461" sz="2850" spc="-75" i="1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endParaRPr baseline="1461" sz="2850">
              <a:latin typeface="Times New Roman"/>
              <a:cs typeface="Times New Roman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4298010" y="6049022"/>
            <a:ext cx="3869690" cy="830580"/>
            <a:chOff x="4298010" y="6049022"/>
            <a:chExt cx="3869690" cy="830580"/>
          </a:xfrm>
        </p:grpSpPr>
        <p:pic>
          <p:nvPicPr>
            <p:cNvPr id="36" name="object 3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25175" y="6165708"/>
              <a:ext cx="3593794" cy="639116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4317060" y="6068072"/>
              <a:ext cx="3831590" cy="792480"/>
            </a:xfrm>
            <a:custGeom>
              <a:avLst/>
              <a:gdLst/>
              <a:ahLst/>
              <a:cxnLst/>
              <a:rect l="l" t="t" r="r" b="b"/>
              <a:pathLst>
                <a:path w="3831590" h="792479">
                  <a:moveTo>
                    <a:pt x="0" y="792480"/>
                  </a:moveTo>
                  <a:lnTo>
                    <a:pt x="0" y="0"/>
                  </a:lnTo>
                  <a:lnTo>
                    <a:pt x="3830967" y="0"/>
                  </a:lnTo>
                  <a:lnTo>
                    <a:pt x="3830967" y="792480"/>
                  </a:lnTo>
                  <a:lnTo>
                    <a:pt x="0" y="792480"/>
                  </a:lnTo>
                  <a:close/>
                </a:path>
              </a:pathLst>
            </a:custGeom>
            <a:ln w="3809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914400" y="1876425"/>
            <a:ext cx="8230234" cy="725805"/>
            <a:chOff x="914400" y="1876425"/>
            <a:chExt cx="8230234" cy="725805"/>
          </a:xfrm>
        </p:grpSpPr>
        <p:sp>
          <p:nvSpPr>
            <p:cNvPr id="9" name="object 9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22600" y="1992261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99479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3177120" y="596899"/>
                  </a:lnTo>
                  <a:lnTo>
                    <a:pt x="3215842" y="589080"/>
                  </a:lnTo>
                  <a:lnTo>
                    <a:pt x="3247463" y="567756"/>
                  </a:lnTo>
                  <a:lnTo>
                    <a:pt x="3268782" y="536131"/>
                  </a:lnTo>
                  <a:lnTo>
                    <a:pt x="3276600" y="497408"/>
                  </a:lnTo>
                  <a:lnTo>
                    <a:pt x="3276600" y="99479"/>
                  </a:lnTo>
                  <a:lnTo>
                    <a:pt x="3268782" y="60757"/>
                  </a:lnTo>
                  <a:lnTo>
                    <a:pt x="3247463" y="29136"/>
                  </a:lnTo>
                  <a:lnTo>
                    <a:pt x="3215842" y="7817"/>
                  </a:lnTo>
                  <a:lnTo>
                    <a:pt x="31771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6"/>
                  </a:lnTo>
                  <a:lnTo>
                    <a:pt x="7817" y="60757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22600" y="1992261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99479"/>
                  </a:moveTo>
                  <a:lnTo>
                    <a:pt x="7817" y="60757"/>
                  </a:lnTo>
                  <a:lnTo>
                    <a:pt x="29136" y="29136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3177120" y="0"/>
                  </a:lnTo>
                  <a:lnTo>
                    <a:pt x="3215842" y="7817"/>
                  </a:lnTo>
                  <a:lnTo>
                    <a:pt x="3247463" y="29136"/>
                  </a:lnTo>
                  <a:lnTo>
                    <a:pt x="3268782" y="60757"/>
                  </a:lnTo>
                  <a:lnTo>
                    <a:pt x="3276600" y="99479"/>
                  </a:lnTo>
                  <a:lnTo>
                    <a:pt x="3276600" y="497408"/>
                  </a:lnTo>
                  <a:lnTo>
                    <a:pt x="3268782" y="536131"/>
                  </a:lnTo>
                  <a:lnTo>
                    <a:pt x="3247463" y="567756"/>
                  </a:lnTo>
                  <a:lnTo>
                    <a:pt x="3215842" y="589080"/>
                  </a:lnTo>
                  <a:lnTo>
                    <a:pt x="31771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79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203708" y="2075312"/>
            <a:ext cx="29133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2025" algn="l"/>
              </a:tabLst>
            </a:pP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CTFS: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	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Representation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054100" y="3324568"/>
            <a:ext cx="3073400" cy="622300"/>
            <a:chOff x="1054100" y="3324568"/>
            <a:chExt cx="3073400" cy="622300"/>
          </a:xfrm>
        </p:grpSpPr>
        <p:sp>
          <p:nvSpPr>
            <p:cNvPr id="14" name="object 14" descr=""/>
            <p:cNvSpPr/>
            <p:nvPr/>
          </p:nvSpPr>
          <p:spPr>
            <a:xfrm>
              <a:off x="1066800" y="3337268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66"/>
                  </a:moveTo>
                  <a:lnTo>
                    <a:pt x="0" y="497395"/>
                  </a:lnTo>
                  <a:lnTo>
                    <a:pt x="7817" y="536126"/>
                  </a:lnTo>
                  <a:lnTo>
                    <a:pt x="29136" y="567755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48520" y="596900"/>
                  </a:lnTo>
                  <a:lnTo>
                    <a:pt x="2987242" y="589080"/>
                  </a:lnTo>
                  <a:lnTo>
                    <a:pt x="3018863" y="567755"/>
                  </a:lnTo>
                  <a:lnTo>
                    <a:pt x="3040182" y="536126"/>
                  </a:lnTo>
                  <a:lnTo>
                    <a:pt x="3048000" y="497395"/>
                  </a:lnTo>
                  <a:lnTo>
                    <a:pt x="3048000" y="99466"/>
                  </a:lnTo>
                  <a:lnTo>
                    <a:pt x="3040182" y="60752"/>
                  </a:lnTo>
                  <a:lnTo>
                    <a:pt x="3018863" y="29135"/>
                  </a:lnTo>
                  <a:lnTo>
                    <a:pt x="2987242" y="7817"/>
                  </a:lnTo>
                  <a:lnTo>
                    <a:pt x="29485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5"/>
                  </a:lnTo>
                  <a:lnTo>
                    <a:pt x="7817" y="60752"/>
                  </a:lnTo>
                  <a:lnTo>
                    <a:pt x="0" y="99466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66800" y="3337268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66"/>
                  </a:moveTo>
                  <a:lnTo>
                    <a:pt x="7817" y="60752"/>
                  </a:lnTo>
                  <a:lnTo>
                    <a:pt x="29136" y="29135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2948520" y="0"/>
                  </a:lnTo>
                  <a:lnTo>
                    <a:pt x="2987242" y="7817"/>
                  </a:lnTo>
                  <a:lnTo>
                    <a:pt x="3018863" y="29135"/>
                  </a:lnTo>
                  <a:lnTo>
                    <a:pt x="3040182" y="60752"/>
                  </a:lnTo>
                  <a:lnTo>
                    <a:pt x="3048000" y="99466"/>
                  </a:lnTo>
                  <a:lnTo>
                    <a:pt x="3048000" y="497395"/>
                  </a:lnTo>
                  <a:lnTo>
                    <a:pt x="3040182" y="536126"/>
                  </a:lnTo>
                  <a:lnTo>
                    <a:pt x="3018863" y="567755"/>
                  </a:lnTo>
                  <a:lnTo>
                    <a:pt x="2987242" y="589080"/>
                  </a:lnTo>
                  <a:lnTo>
                    <a:pt x="2948520" y="596900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5"/>
                  </a:lnTo>
                  <a:lnTo>
                    <a:pt x="7817" y="536126"/>
                  </a:lnTo>
                  <a:lnTo>
                    <a:pt x="0" y="497395"/>
                  </a:lnTo>
                  <a:lnTo>
                    <a:pt x="0" y="99466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375945" y="3420308"/>
            <a:ext cx="24269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Magnitude</a:t>
            </a:r>
            <a:r>
              <a:rPr dirty="0" sz="2400" spc="-5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Spectra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3011728" y="2663723"/>
            <a:ext cx="6056630" cy="597535"/>
            <a:chOff x="3011728" y="2663723"/>
            <a:chExt cx="6056630" cy="597535"/>
          </a:xfrm>
        </p:grpSpPr>
        <p:sp>
          <p:nvSpPr>
            <p:cNvPr id="18" name="object 18" descr=""/>
            <p:cNvSpPr/>
            <p:nvPr/>
          </p:nvSpPr>
          <p:spPr>
            <a:xfrm>
              <a:off x="3011728" y="2663723"/>
              <a:ext cx="6056630" cy="597535"/>
            </a:xfrm>
            <a:custGeom>
              <a:avLst/>
              <a:gdLst/>
              <a:ahLst/>
              <a:cxnLst/>
              <a:rect l="l" t="t" r="r" b="b"/>
              <a:pathLst>
                <a:path w="6056630" h="597535">
                  <a:moveTo>
                    <a:pt x="6056084" y="0"/>
                  </a:moveTo>
                  <a:lnTo>
                    <a:pt x="4352404" y="0"/>
                  </a:lnTo>
                  <a:lnTo>
                    <a:pt x="4352404" y="52451"/>
                  </a:lnTo>
                  <a:lnTo>
                    <a:pt x="0" y="52451"/>
                  </a:lnTo>
                  <a:lnTo>
                    <a:pt x="0" y="544880"/>
                  </a:lnTo>
                  <a:lnTo>
                    <a:pt x="4352404" y="544880"/>
                  </a:lnTo>
                  <a:lnTo>
                    <a:pt x="4352404" y="597331"/>
                  </a:lnTo>
                  <a:lnTo>
                    <a:pt x="6056084" y="597331"/>
                  </a:lnTo>
                  <a:lnTo>
                    <a:pt x="6056084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091868" y="2749880"/>
              <a:ext cx="0" cy="426084"/>
            </a:xfrm>
            <a:custGeom>
              <a:avLst/>
              <a:gdLst/>
              <a:ahLst/>
              <a:cxnLst/>
              <a:rect l="l" t="t" r="r" b="b"/>
              <a:pathLst>
                <a:path w="0" h="426085">
                  <a:moveTo>
                    <a:pt x="0" y="0"/>
                  </a:moveTo>
                  <a:lnTo>
                    <a:pt x="0" y="425564"/>
                  </a:lnTo>
                </a:path>
              </a:pathLst>
            </a:custGeom>
            <a:ln w="177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463622" y="2749880"/>
              <a:ext cx="0" cy="426084"/>
            </a:xfrm>
            <a:custGeom>
              <a:avLst/>
              <a:gdLst/>
              <a:ahLst/>
              <a:cxnLst/>
              <a:rect l="l" t="t" r="r" b="b"/>
              <a:pathLst>
                <a:path w="0" h="426085">
                  <a:moveTo>
                    <a:pt x="0" y="0"/>
                  </a:moveTo>
                  <a:lnTo>
                    <a:pt x="0" y="425564"/>
                  </a:lnTo>
                </a:path>
              </a:pathLst>
            </a:custGeom>
            <a:ln w="177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8508179" y="2515677"/>
            <a:ext cx="502920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dirty="0" baseline="-25793" sz="4200" i="1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dirty="0" baseline="-25793" sz="4200" spc="-45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600" spc="-25" i="1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r>
              <a:rPr dirty="0" sz="1700" spc="-25">
                <a:solidFill>
                  <a:srgbClr val="231F20"/>
                </a:solidFill>
                <a:latin typeface="Symbol"/>
                <a:cs typeface="Symbol"/>
              </a:rPr>
              <a:t></a:t>
            </a:r>
            <a:r>
              <a:rPr dirty="0" baseline="-21739" sz="1725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baseline="-21739" sz="1725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077775" y="2700144"/>
            <a:ext cx="5338445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4334510" algn="l"/>
                <a:tab pos="4719320" algn="l"/>
                <a:tab pos="5052060" algn="l"/>
              </a:tabLst>
            </a:pP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Complex</a:t>
            </a:r>
            <a:r>
              <a:rPr dirty="0" sz="2600" spc="-1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Fourier</a:t>
            </a:r>
            <a:r>
              <a:rPr dirty="0" sz="2600" spc="-1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coefficients</a:t>
            </a:r>
            <a:r>
              <a:rPr dirty="0" sz="2600" spc="-1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spc="-50" b="1">
                <a:solidFill>
                  <a:srgbClr val="231F20"/>
                </a:solidFill>
                <a:latin typeface="Calibri"/>
                <a:cs typeface="Calibri"/>
              </a:rPr>
              <a:t>=</a:t>
            </a: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baseline="2976" sz="4200" spc="-37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r>
              <a:rPr dirty="0" baseline="-20833" sz="2400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r>
              <a:rPr dirty="0" baseline="-20833" sz="2400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baseline="2976" sz="4200" spc="-75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baseline="2976" sz="42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baseline="2976" sz="4200" spc="-37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r>
              <a:rPr dirty="0" baseline="-20833" sz="2400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066800" y="4102112"/>
            <a:ext cx="7849234" cy="914400"/>
          </a:xfrm>
          <a:custGeom>
            <a:avLst/>
            <a:gdLst/>
            <a:ahLst/>
            <a:cxnLst/>
            <a:rect l="l" t="t" r="r" b="b"/>
            <a:pathLst>
              <a:path w="7849234" h="914400">
                <a:moveTo>
                  <a:pt x="0" y="0"/>
                </a:moveTo>
                <a:lnTo>
                  <a:pt x="0" y="914400"/>
                </a:lnTo>
                <a:lnTo>
                  <a:pt x="7848612" y="914400"/>
                </a:lnTo>
                <a:lnTo>
                  <a:pt x="7848612" y="0"/>
                </a:lnTo>
                <a:lnTo>
                  <a:pt x="0" y="0"/>
                </a:lnTo>
                <a:close/>
              </a:path>
            </a:pathLst>
          </a:custGeom>
          <a:solidFill>
            <a:srgbClr val="4E81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066800" y="4102112"/>
            <a:ext cx="7849234" cy="914400"/>
          </a:xfrm>
          <a:prstGeom prst="rect">
            <a:avLst/>
          </a:prstGeom>
          <a:ln w="25400">
            <a:solidFill>
              <a:srgbClr val="385D8A"/>
            </a:solidFill>
          </a:ln>
        </p:spPr>
        <p:txBody>
          <a:bodyPr wrap="square" lIns="0" tIns="23812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875"/>
              </a:spcBef>
              <a:tabLst>
                <a:tab pos="1940560" algn="l"/>
              </a:tabLst>
            </a:pP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Plot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	as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frequency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2284412" y="4260862"/>
            <a:ext cx="536575" cy="596900"/>
            <a:chOff x="2284412" y="4260862"/>
            <a:chExt cx="536575" cy="596900"/>
          </a:xfrm>
        </p:grpSpPr>
        <p:sp>
          <p:nvSpPr>
            <p:cNvPr id="26" name="object 26" descr=""/>
            <p:cNvSpPr/>
            <p:nvPr/>
          </p:nvSpPr>
          <p:spPr>
            <a:xfrm>
              <a:off x="2284412" y="4260862"/>
              <a:ext cx="536575" cy="596900"/>
            </a:xfrm>
            <a:custGeom>
              <a:avLst/>
              <a:gdLst/>
              <a:ahLst/>
              <a:cxnLst/>
              <a:rect l="l" t="t" r="r" b="b"/>
              <a:pathLst>
                <a:path w="536575" h="596900">
                  <a:moveTo>
                    <a:pt x="0" y="0"/>
                  </a:moveTo>
                  <a:lnTo>
                    <a:pt x="0" y="596900"/>
                  </a:lnTo>
                  <a:lnTo>
                    <a:pt x="536575" y="596900"/>
                  </a:lnTo>
                  <a:lnTo>
                    <a:pt x="5365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352370" y="4346536"/>
              <a:ext cx="0" cy="425450"/>
            </a:xfrm>
            <a:custGeom>
              <a:avLst/>
              <a:gdLst/>
              <a:ahLst/>
              <a:cxnLst/>
              <a:rect l="l" t="t" r="r" b="b"/>
              <a:pathLst>
                <a:path w="0" h="425450">
                  <a:moveTo>
                    <a:pt x="0" y="0"/>
                  </a:moveTo>
                  <a:lnTo>
                    <a:pt x="0" y="425310"/>
                  </a:lnTo>
                </a:path>
              </a:pathLst>
            </a:custGeom>
            <a:ln w="1771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723121" y="4346536"/>
              <a:ext cx="0" cy="425450"/>
            </a:xfrm>
            <a:custGeom>
              <a:avLst/>
              <a:gdLst/>
              <a:ahLst/>
              <a:cxnLst/>
              <a:rect l="l" t="t" r="r" b="b"/>
              <a:pathLst>
                <a:path w="0" h="425450">
                  <a:moveTo>
                    <a:pt x="0" y="0"/>
                  </a:moveTo>
                  <a:lnTo>
                    <a:pt x="0" y="425310"/>
                  </a:lnTo>
                </a:path>
              </a:pathLst>
            </a:custGeom>
            <a:ln w="1771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2284412" y="4260862"/>
            <a:ext cx="536575" cy="59690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254"/>
              </a:spcBef>
            </a:pPr>
            <a:r>
              <a:rPr dirty="0" sz="2800" spc="-25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r>
              <a:rPr dirty="0" baseline="-26041" sz="2400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baseline="-26041" sz="24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028700" y="5905512"/>
            <a:ext cx="7849234" cy="914400"/>
          </a:xfrm>
          <a:prstGeom prst="rect">
            <a:avLst/>
          </a:prstGeom>
          <a:solidFill>
            <a:srgbClr val="4E81BE"/>
          </a:solidFill>
          <a:ln w="25400">
            <a:solidFill>
              <a:srgbClr val="385D8A"/>
            </a:solidFill>
          </a:ln>
        </p:spPr>
        <p:txBody>
          <a:bodyPr wrap="square" lIns="0" tIns="23812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875"/>
              </a:spcBef>
              <a:tabLst>
                <a:tab pos="1940560" algn="l"/>
              </a:tabLst>
            </a:pP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Plot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	as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frequency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271712" y="6092837"/>
            <a:ext cx="387350" cy="538480"/>
          </a:xfrm>
          <a:prstGeom prst="rect">
            <a:avLst/>
          </a:prstGeom>
          <a:solidFill>
            <a:srgbClr val="F6EB13"/>
          </a:solidFill>
        </p:spPr>
        <p:txBody>
          <a:bodyPr wrap="square" lIns="0" tIns="0" rIns="0" bIns="0" rtlCol="0" vert="horz">
            <a:spAutoFit/>
          </a:bodyPr>
          <a:lstStyle/>
          <a:p>
            <a:pPr marL="20320">
              <a:lnSpc>
                <a:spcPts val="3415"/>
              </a:lnSpc>
            </a:pPr>
            <a:r>
              <a:rPr dirty="0" sz="2950" spc="-25">
                <a:solidFill>
                  <a:srgbClr val="231F20"/>
                </a:solidFill>
                <a:latin typeface="Symbol"/>
                <a:cs typeface="Symbol"/>
              </a:rPr>
              <a:t></a:t>
            </a:r>
            <a:r>
              <a:rPr dirty="0" baseline="-26041" sz="2400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baseline="-26041" sz="2400">
              <a:latin typeface="Times New Roman"/>
              <a:cs typeface="Times New Roman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1003300" y="5168912"/>
            <a:ext cx="3124200" cy="622300"/>
            <a:chOff x="1003300" y="5168912"/>
            <a:chExt cx="3124200" cy="622300"/>
          </a:xfrm>
        </p:grpSpPr>
        <p:sp>
          <p:nvSpPr>
            <p:cNvPr id="33" name="object 33" descr=""/>
            <p:cNvSpPr/>
            <p:nvPr/>
          </p:nvSpPr>
          <p:spPr>
            <a:xfrm>
              <a:off x="1016000" y="5181612"/>
              <a:ext cx="3098800" cy="596900"/>
            </a:xfrm>
            <a:custGeom>
              <a:avLst/>
              <a:gdLst/>
              <a:ahLst/>
              <a:cxnLst/>
              <a:rect l="l" t="t" r="r" b="b"/>
              <a:pathLst>
                <a:path w="3098800" h="596900">
                  <a:moveTo>
                    <a:pt x="0" y="99479"/>
                  </a:moveTo>
                  <a:lnTo>
                    <a:pt x="0" y="497420"/>
                  </a:lnTo>
                  <a:lnTo>
                    <a:pt x="7817" y="536137"/>
                  </a:lnTo>
                  <a:lnTo>
                    <a:pt x="29136" y="567758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99320" y="596899"/>
                  </a:lnTo>
                  <a:lnTo>
                    <a:pt x="3038042" y="589080"/>
                  </a:lnTo>
                  <a:lnTo>
                    <a:pt x="3069663" y="567758"/>
                  </a:lnTo>
                  <a:lnTo>
                    <a:pt x="3090982" y="536137"/>
                  </a:lnTo>
                  <a:lnTo>
                    <a:pt x="3098800" y="497420"/>
                  </a:lnTo>
                  <a:lnTo>
                    <a:pt x="3098800" y="99479"/>
                  </a:lnTo>
                  <a:lnTo>
                    <a:pt x="3090982" y="60762"/>
                  </a:lnTo>
                  <a:lnTo>
                    <a:pt x="3069663" y="29141"/>
                  </a:lnTo>
                  <a:lnTo>
                    <a:pt x="3038042" y="7819"/>
                  </a:lnTo>
                  <a:lnTo>
                    <a:pt x="2999320" y="0"/>
                  </a:lnTo>
                  <a:lnTo>
                    <a:pt x="99479" y="0"/>
                  </a:lnTo>
                  <a:lnTo>
                    <a:pt x="60757" y="7819"/>
                  </a:lnTo>
                  <a:lnTo>
                    <a:pt x="29136" y="29141"/>
                  </a:lnTo>
                  <a:lnTo>
                    <a:pt x="7817" y="60762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016000" y="5181612"/>
              <a:ext cx="3098800" cy="596900"/>
            </a:xfrm>
            <a:custGeom>
              <a:avLst/>
              <a:gdLst/>
              <a:ahLst/>
              <a:cxnLst/>
              <a:rect l="l" t="t" r="r" b="b"/>
              <a:pathLst>
                <a:path w="3098800" h="596900">
                  <a:moveTo>
                    <a:pt x="0" y="99479"/>
                  </a:moveTo>
                  <a:lnTo>
                    <a:pt x="7817" y="60762"/>
                  </a:lnTo>
                  <a:lnTo>
                    <a:pt x="29136" y="29141"/>
                  </a:lnTo>
                  <a:lnTo>
                    <a:pt x="60757" y="7819"/>
                  </a:lnTo>
                  <a:lnTo>
                    <a:pt x="99479" y="0"/>
                  </a:lnTo>
                  <a:lnTo>
                    <a:pt x="2999320" y="0"/>
                  </a:lnTo>
                  <a:lnTo>
                    <a:pt x="3038042" y="7819"/>
                  </a:lnTo>
                  <a:lnTo>
                    <a:pt x="3069663" y="29141"/>
                  </a:lnTo>
                  <a:lnTo>
                    <a:pt x="3090982" y="60762"/>
                  </a:lnTo>
                  <a:lnTo>
                    <a:pt x="3098800" y="99479"/>
                  </a:lnTo>
                  <a:lnTo>
                    <a:pt x="3098800" y="497420"/>
                  </a:lnTo>
                  <a:lnTo>
                    <a:pt x="3090982" y="536137"/>
                  </a:lnTo>
                  <a:lnTo>
                    <a:pt x="3069663" y="567758"/>
                  </a:lnTo>
                  <a:lnTo>
                    <a:pt x="3038042" y="589080"/>
                  </a:lnTo>
                  <a:lnTo>
                    <a:pt x="29993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8"/>
                  </a:lnTo>
                  <a:lnTo>
                    <a:pt x="7817" y="536137"/>
                  </a:lnTo>
                  <a:lnTo>
                    <a:pt x="0" y="497420"/>
                  </a:lnTo>
                  <a:lnTo>
                    <a:pt x="0" y="99479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1668045" y="5264669"/>
            <a:ext cx="17938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953A4"/>
                </a:solidFill>
                <a:latin typeface="Calibri"/>
                <a:cs typeface="Calibri"/>
              </a:rPr>
              <a:t>Phase</a:t>
            </a:r>
            <a:r>
              <a:rPr dirty="0" sz="2400" spc="-5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Spectra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914400" y="1876425"/>
            <a:ext cx="8230234" cy="725805"/>
            <a:chOff x="914400" y="1876425"/>
            <a:chExt cx="8230234" cy="725805"/>
          </a:xfrm>
        </p:grpSpPr>
        <p:sp>
          <p:nvSpPr>
            <p:cNvPr id="9" name="object 9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22600" y="1992261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99479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3177120" y="596899"/>
                  </a:lnTo>
                  <a:lnTo>
                    <a:pt x="3215842" y="589080"/>
                  </a:lnTo>
                  <a:lnTo>
                    <a:pt x="3247463" y="567756"/>
                  </a:lnTo>
                  <a:lnTo>
                    <a:pt x="3268782" y="536131"/>
                  </a:lnTo>
                  <a:lnTo>
                    <a:pt x="3276600" y="497408"/>
                  </a:lnTo>
                  <a:lnTo>
                    <a:pt x="3276600" y="99479"/>
                  </a:lnTo>
                  <a:lnTo>
                    <a:pt x="3268782" y="60757"/>
                  </a:lnTo>
                  <a:lnTo>
                    <a:pt x="3247463" y="29136"/>
                  </a:lnTo>
                  <a:lnTo>
                    <a:pt x="3215842" y="7817"/>
                  </a:lnTo>
                  <a:lnTo>
                    <a:pt x="31771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6"/>
                  </a:lnTo>
                  <a:lnTo>
                    <a:pt x="7817" y="60757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22600" y="1992261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99479"/>
                  </a:moveTo>
                  <a:lnTo>
                    <a:pt x="7817" y="60757"/>
                  </a:lnTo>
                  <a:lnTo>
                    <a:pt x="29136" y="29136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3177120" y="0"/>
                  </a:lnTo>
                  <a:lnTo>
                    <a:pt x="3215842" y="7817"/>
                  </a:lnTo>
                  <a:lnTo>
                    <a:pt x="3247463" y="29136"/>
                  </a:lnTo>
                  <a:lnTo>
                    <a:pt x="3268782" y="60757"/>
                  </a:lnTo>
                  <a:lnTo>
                    <a:pt x="3276600" y="99479"/>
                  </a:lnTo>
                  <a:lnTo>
                    <a:pt x="3276600" y="497408"/>
                  </a:lnTo>
                  <a:lnTo>
                    <a:pt x="3268782" y="536131"/>
                  </a:lnTo>
                  <a:lnTo>
                    <a:pt x="3247463" y="567756"/>
                  </a:lnTo>
                  <a:lnTo>
                    <a:pt x="3215842" y="589080"/>
                  </a:lnTo>
                  <a:lnTo>
                    <a:pt x="31771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79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203708" y="2075312"/>
            <a:ext cx="29133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2025" algn="l"/>
              </a:tabLst>
            </a:pP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CTFS: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	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Representation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054100" y="3324568"/>
            <a:ext cx="3073400" cy="622300"/>
            <a:chOff x="1054100" y="3324568"/>
            <a:chExt cx="3073400" cy="622300"/>
          </a:xfrm>
        </p:grpSpPr>
        <p:sp>
          <p:nvSpPr>
            <p:cNvPr id="14" name="object 14" descr=""/>
            <p:cNvSpPr/>
            <p:nvPr/>
          </p:nvSpPr>
          <p:spPr>
            <a:xfrm>
              <a:off x="1066800" y="3337268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66"/>
                  </a:moveTo>
                  <a:lnTo>
                    <a:pt x="0" y="497395"/>
                  </a:lnTo>
                  <a:lnTo>
                    <a:pt x="7817" y="536126"/>
                  </a:lnTo>
                  <a:lnTo>
                    <a:pt x="29136" y="567755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48520" y="596900"/>
                  </a:lnTo>
                  <a:lnTo>
                    <a:pt x="2987242" y="589080"/>
                  </a:lnTo>
                  <a:lnTo>
                    <a:pt x="3018863" y="567755"/>
                  </a:lnTo>
                  <a:lnTo>
                    <a:pt x="3040182" y="536126"/>
                  </a:lnTo>
                  <a:lnTo>
                    <a:pt x="3048000" y="497395"/>
                  </a:lnTo>
                  <a:lnTo>
                    <a:pt x="3048000" y="99466"/>
                  </a:lnTo>
                  <a:lnTo>
                    <a:pt x="3040182" y="60752"/>
                  </a:lnTo>
                  <a:lnTo>
                    <a:pt x="3018863" y="29135"/>
                  </a:lnTo>
                  <a:lnTo>
                    <a:pt x="2987242" y="7817"/>
                  </a:lnTo>
                  <a:lnTo>
                    <a:pt x="29485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5"/>
                  </a:lnTo>
                  <a:lnTo>
                    <a:pt x="7817" y="60752"/>
                  </a:lnTo>
                  <a:lnTo>
                    <a:pt x="0" y="99466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66800" y="3337268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66"/>
                  </a:moveTo>
                  <a:lnTo>
                    <a:pt x="7817" y="60752"/>
                  </a:lnTo>
                  <a:lnTo>
                    <a:pt x="29136" y="29135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2948520" y="0"/>
                  </a:lnTo>
                  <a:lnTo>
                    <a:pt x="2987242" y="7817"/>
                  </a:lnTo>
                  <a:lnTo>
                    <a:pt x="3018863" y="29135"/>
                  </a:lnTo>
                  <a:lnTo>
                    <a:pt x="3040182" y="60752"/>
                  </a:lnTo>
                  <a:lnTo>
                    <a:pt x="3048000" y="99466"/>
                  </a:lnTo>
                  <a:lnTo>
                    <a:pt x="3048000" y="497395"/>
                  </a:lnTo>
                  <a:lnTo>
                    <a:pt x="3040182" y="536126"/>
                  </a:lnTo>
                  <a:lnTo>
                    <a:pt x="3018863" y="567755"/>
                  </a:lnTo>
                  <a:lnTo>
                    <a:pt x="2987242" y="589080"/>
                  </a:lnTo>
                  <a:lnTo>
                    <a:pt x="2948520" y="596900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5"/>
                  </a:lnTo>
                  <a:lnTo>
                    <a:pt x="7817" y="536126"/>
                  </a:lnTo>
                  <a:lnTo>
                    <a:pt x="0" y="497395"/>
                  </a:lnTo>
                  <a:lnTo>
                    <a:pt x="0" y="99466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667005" y="3420308"/>
            <a:ext cx="18478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953A4"/>
                </a:solidFill>
                <a:latin typeface="Calibri"/>
                <a:cs typeface="Calibri"/>
              </a:rPr>
              <a:t>Power</a:t>
            </a:r>
            <a:r>
              <a:rPr dirty="0" sz="2400" spc="-100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Spectra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3011728" y="2663723"/>
            <a:ext cx="6056630" cy="597535"/>
            <a:chOff x="3011728" y="2663723"/>
            <a:chExt cx="6056630" cy="597535"/>
          </a:xfrm>
        </p:grpSpPr>
        <p:sp>
          <p:nvSpPr>
            <p:cNvPr id="18" name="object 18" descr=""/>
            <p:cNvSpPr/>
            <p:nvPr/>
          </p:nvSpPr>
          <p:spPr>
            <a:xfrm>
              <a:off x="3011728" y="2663723"/>
              <a:ext cx="6056630" cy="597535"/>
            </a:xfrm>
            <a:custGeom>
              <a:avLst/>
              <a:gdLst/>
              <a:ahLst/>
              <a:cxnLst/>
              <a:rect l="l" t="t" r="r" b="b"/>
              <a:pathLst>
                <a:path w="6056630" h="597535">
                  <a:moveTo>
                    <a:pt x="6056084" y="0"/>
                  </a:moveTo>
                  <a:lnTo>
                    <a:pt x="4352404" y="0"/>
                  </a:lnTo>
                  <a:lnTo>
                    <a:pt x="4352404" y="52451"/>
                  </a:lnTo>
                  <a:lnTo>
                    <a:pt x="0" y="52451"/>
                  </a:lnTo>
                  <a:lnTo>
                    <a:pt x="0" y="544880"/>
                  </a:lnTo>
                  <a:lnTo>
                    <a:pt x="4352404" y="544880"/>
                  </a:lnTo>
                  <a:lnTo>
                    <a:pt x="4352404" y="597331"/>
                  </a:lnTo>
                  <a:lnTo>
                    <a:pt x="6056084" y="597331"/>
                  </a:lnTo>
                  <a:lnTo>
                    <a:pt x="6056084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091868" y="2749880"/>
              <a:ext cx="0" cy="426084"/>
            </a:xfrm>
            <a:custGeom>
              <a:avLst/>
              <a:gdLst/>
              <a:ahLst/>
              <a:cxnLst/>
              <a:rect l="l" t="t" r="r" b="b"/>
              <a:pathLst>
                <a:path w="0" h="426085">
                  <a:moveTo>
                    <a:pt x="0" y="0"/>
                  </a:moveTo>
                  <a:lnTo>
                    <a:pt x="0" y="425564"/>
                  </a:lnTo>
                </a:path>
              </a:pathLst>
            </a:custGeom>
            <a:ln w="177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463622" y="2749880"/>
              <a:ext cx="0" cy="426084"/>
            </a:xfrm>
            <a:custGeom>
              <a:avLst/>
              <a:gdLst/>
              <a:ahLst/>
              <a:cxnLst/>
              <a:rect l="l" t="t" r="r" b="b"/>
              <a:pathLst>
                <a:path w="0" h="426085">
                  <a:moveTo>
                    <a:pt x="0" y="0"/>
                  </a:moveTo>
                  <a:lnTo>
                    <a:pt x="0" y="425564"/>
                  </a:lnTo>
                </a:path>
              </a:pathLst>
            </a:custGeom>
            <a:ln w="177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8508179" y="2515677"/>
            <a:ext cx="502920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dirty="0" baseline="-25793" sz="4200" i="1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dirty="0" baseline="-25793" sz="4200" spc="-45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600" spc="-25" i="1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r>
              <a:rPr dirty="0" sz="1700" spc="-25">
                <a:solidFill>
                  <a:srgbClr val="231F20"/>
                </a:solidFill>
                <a:latin typeface="Symbol"/>
                <a:cs typeface="Symbol"/>
              </a:rPr>
              <a:t></a:t>
            </a:r>
            <a:r>
              <a:rPr dirty="0" baseline="-21739" sz="1725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baseline="-21739" sz="1725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077775" y="2700144"/>
            <a:ext cx="5338445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4334510" algn="l"/>
                <a:tab pos="4719320" algn="l"/>
                <a:tab pos="5052060" algn="l"/>
              </a:tabLst>
            </a:pP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Complex</a:t>
            </a:r>
            <a:r>
              <a:rPr dirty="0" sz="2600" spc="-1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Fourier</a:t>
            </a:r>
            <a:r>
              <a:rPr dirty="0" sz="2600" spc="-1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coefficients</a:t>
            </a:r>
            <a:r>
              <a:rPr dirty="0" sz="2600" spc="-1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spc="-50" b="1">
                <a:solidFill>
                  <a:srgbClr val="231F20"/>
                </a:solidFill>
                <a:latin typeface="Calibri"/>
                <a:cs typeface="Calibri"/>
              </a:rPr>
              <a:t>=</a:t>
            </a: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baseline="2976" sz="4200" spc="-37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r>
              <a:rPr dirty="0" baseline="-20833" sz="2400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r>
              <a:rPr dirty="0" baseline="-20833" sz="2400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baseline="2976" sz="4200" spc="-75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baseline="2976" sz="42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baseline="2976" sz="4200" spc="-37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r>
              <a:rPr dirty="0" baseline="-20833" sz="2400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066800" y="4102112"/>
            <a:ext cx="7849234" cy="914400"/>
          </a:xfrm>
          <a:custGeom>
            <a:avLst/>
            <a:gdLst/>
            <a:ahLst/>
            <a:cxnLst/>
            <a:rect l="l" t="t" r="r" b="b"/>
            <a:pathLst>
              <a:path w="7849234" h="914400">
                <a:moveTo>
                  <a:pt x="0" y="0"/>
                </a:moveTo>
                <a:lnTo>
                  <a:pt x="0" y="914400"/>
                </a:lnTo>
                <a:lnTo>
                  <a:pt x="7848612" y="914400"/>
                </a:lnTo>
                <a:lnTo>
                  <a:pt x="7848612" y="0"/>
                </a:lnTo>
                <a:lnTo>
                  <a:pt x="0" y="0"/>
                </a:lnTo>
                <a:close/>
              </a:path>
            </a:pathLst>
          </a:custGeom>
          <a:solidFill>
            <a:srgbClr val="4E81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066800" y="4102112"/>
            <a:ext cx="7849234" cy="914400"/>
          </a:xfrm>
          <a:prstGeom prst="rect">
            <a:avLst/>
          </a:prstGeom>
          <a:ln w="25400">
            <a:solidFill>
              <a:srgbClr val="385D8A"/>
            </a:solidFill>
          </a:ln>
        </p:spPr>
        <p:txBody>
          <a:bodyPr wrap="square" lIns="0" tIns="23812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875"/>
              </a:spcBef>
              <a:tabLst>
                <a:tab pos="2914015" algn="l"/>
              </a:tabLst>
            </a:pP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Plot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	as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frequency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2333637" y="4232287"/>
            <a:ext cx="1400175" cy="655955"/>
            <a:chOff x="2333637" y="4232287"/>
            <a:chExt cx="1400175" cy="655955"/>
          </a:xfrm>
        </p:grpSpPr>
        <p:sp>
          <p:nvSpPr>
            <p:cNvPr id="26" name="object 26" descr=""/>
            <p:cNvSpPr/>
            <p:nvPr/>
          </p:nvSpPr>
          <p:spPr>
            <a:xfrm>
              <a:off x="2333637" y="4232287"/>
              <a:ext cx="1400175" cy="655955"/>
            </a:xfrm>
            <a:custGeom>
              <a:avLst/>
              <a:gdLst/>
              <a:ahLst/>
              <a:cxnLst/>
              <a:rect l="l" t="t" r="r" b="b"/>
              <a:pathLst>
                <a:path w="1400175" h="655954">
                  <a:moveTo>
                    <a:pt x="0" y="0"/>
                  </a:moveTo>
                  <a:lnTo>
                    <a:pt x="0" y="655637"/>
                  </a:lnTo>
                  <a:lnTo>
                    <a:pt x="1400174" y="655637"/>
                  </a:lnTo>
                  <a:lnTo>
                    <a:pt x="14001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149104" y="4377461"/>
              <a:ext cx="0" cy="424815"/>
            </a:xfrm>
            <a:custGeom>
              <a:avLst/>
              <a:gdLst/>
              <a:ahLst/>
              <a:cxnLst/>
              <a:rect l="l" t="t" r="r" b="b"/>
              <a:pathLst>
                <a:path w="0" h="424814">
                  <a:moveTo>
                    <a:pt x="0" y="0"/>
                  </a:moveTo>
                  <a:lnTo>
                    <a:pt x="0" y="424688"/>
                  </a:lnTo>
                </a:path>
              </a:pathLst>
            </a:custGeom>
            <a:ln w="1769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519627" y="4377461"/>
              <a:ext cx="0" cy="424815"/>
            </a:xfrm>
            <a:custGeom>
              <a:avLst/>
              <a:gdLst/>
              <a:ahLst/>
              <a:cxnLst/>
              <a:rect l="l" t="t" r="r" b="b"/>
              <a:pathLst>
                <a:path w="0" h="424814">
                  <a:moveTo>
                    <a:pt x="0" y="0"/>
                  </a:moveTo>
                  <a:lnTo>
                    <a:pt x="0" y="424688"/>
                  </a:lnTo>
                </a:path>
              </a:pathLst>
            </a:custGeom>
            <a:ln w="1769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3558787" y="4244723"/>
            <a:ext cx="116205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600" spc="-5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373392" y="4308990"/>
            <a:ext cx="1099820" cy="4546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  <a:tabLst>
                <a:tab pos="481965" algn="l"/>
                <a:tab pos="813435" algn="l"/>
              </a:tabLst>
            </a:pPr>
            <a:r>
              <a:rPr dirty="0" sz="2800" spc="-25" i="1">
                <a:solidFill>
                  <a:srgbClr val="231F20"/>
                </a:solidFill>
                <a:latin typeface="Times New Roman"/>
                <a:cs typeface="Times New Roman"/>
              </a:rPr>
              <a:t>P</a:t>
            </a:r>
            <a:r>
              <a:rPr dirty="0" baseline="-26041" sz="2400" spc="-37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baseline="-26041" sz="2400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800" spc="-5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28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800" spc="-25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r>
              <a:rPr dirty="0" baseline="-26041" sz="2400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baseline="-26041" sz="240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066800" y="5257812"/>
            <a:ext cx="7849234" cy="923925"/>
          </a:xfrm>
          <a:prstGeom prst="rect">
            <a:avLst/>
          </a:prstGeom>
          <a:solidFill>
            <a:srgbClr val="F2F2F3"/>
          </a:solidFill>
        </p:spPr>
        <p:txBody>
          <a:bodyPr wrap="square" lIns="0" tIns="30480" rIns="0" bIns="0" rtlCol="0" vert="horz">
            <a:spAutoFit/>
          </a:bodyPr>
          <a:lstStyle/>
          <a:p>
            <a:pPr marL="91440" marR="335280">
              <a:lnSpc>
                <a:spcPct val="100000"/>
              </a:lnSpc>
              <a:spcBef>
                <a:spcPts val="240"/>
              </a:spcBef>
            </a:pP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Remember!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Periodic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signals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power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signals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i.e.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1800" spc="-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infinite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energy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finite 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power.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Power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signal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computed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either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time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domain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frequency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domain.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Parseval’s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Theorem: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3405187" y="6210312"/>
            <a:ext cx="3248660" cy="828675"/>
            <a:chOff x="3405187" y="6210312"/>
            <a:chExt cx="3248660" cy="828675"/>
          </a:xfrm>
        </p:grpSpPr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43300" y="6367475"/>
              <a:ext cx="2962286" cy="571500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3424237" y="6229362"/>
              <a:ext cx="3210560" cy="790575"/>
            </a:xfrm>
            <a:custGeom>
              <a:avLst/>
              <a:gdLst/>
              <a:ahLst/>
              <a:cxnLst/>
              <a:rect l="l" t="t" r="r" b="b"/>
              <a:pathLst>
                <a:path w="3210559" h="790575">
                  <a:moveTo>
                    <a:pt x="0" y="790575"/>
                  </a:moveTo>
                  <a:lnTo>
                    <a:pt x="0" y="0"/>
                  </a:lnTo>
                  <a:lnTo>
                    <a:pt x="3209937" y="0"/>
                  </a:lnTo>
                  <a:lnTo>
                    <a:pt x="3209937" y="790574"/>
                  </a:lnTo>
                  <a:lnTo>
                    <a:pt x="0" y="790575"/>
                  </a:lnTo>
                  <a:close/>
                </a:path>
              </a:pathLst>
            </a:custGeom>
            <a:ln w="381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914400" y="1876425"/>
            <a:ext cx="8230234" cy="725805"/>
            <a:chOff x="914400" y="1876425"/>
            <a:chExt cx="8230234" cy="725805"/>
          </a:xfrm>
        </p:grpSpPr>
        <p:sp>
          <p:nvSpPr>
            <p:cNvPr id="9" name="object 9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22600" y="1992261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99479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3177120" y="596899"/>
                  </a:lnTo>
                  <a:lnTo>
                    <a:pt x="3215842" y="589080"/>
                  </a:lnTo>
                  <a:lnTo>
                    <a:pt x="3247463" y="567756"/>
                  </a:lnTo>
                  <a:lnTo>
                    <a:pt x="3268782" y="536131"/>
                  </a:lnTo>
                  <a:lnTo>
                    <a:pt x="3276600" y="497408"/>
                  </a:lnTo>
                  <a:lnTo>
                    <a:pt x="3276600" y="99479"/>
                  </a:lnTo>
                  <a:lnTo>
                    <a:pt x="3268782" y="60757"/>
                  </a:lnTo>
                  <a:lnTo>
                    <a:pt x="3247463" y="29136"/>
                  </a:lnTo>
                  <a:lnTo>
                    <a:pt x="3215842" y="7817"/>
                  </a:lnTo>
                  <a:lnTo>
                    <a:pt x="31771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6"/>
                  </a:lnTo>
                  <a:lnTo>
                    <a:pt x="7817" y="60757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22600" y="1992261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99479"/>
                  </a:moveTo>
                  <a:lnTo>
                    <a:pt x="7817" y="60757"/>
                  </a:lnTo>
                  <a:lnTo>
                    <a:pt x="29136" y="29136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3177120" y="0"/>
                  </a:lnTo>
                  <a:lnTo>
                    <a:pt x="3215842" y="7817"/>
                  </a:lnTo>
                  <a:lnTo>
                    <a:pt x="3247463" y="29136"/>
                  </a:lnTo>
                  <a:lnTo>
                    <a:pt x="3268782" y="60757"/>
                  </a:lnTo>
                  <a:lnTo>
                    <a:pt x="3276600" y="99479"/>
                  </a:lnTo>
                  <a:lnTo>
                    <a:pt x="3276600" y="497408"/>
                  </a:lnTo>
                  <a:lnTo>
                    <a:pt x="3268782" y="536131"/>
                  </a:lnTo>
                  <a:lnTo>
                    <a:pt x="3247463" y="567756"/>
                  </a:lnTo>
                  <a:lnTo>
                    <a:pt x="3215842" y="589080"/>
                  </a:lnTo>
                  <a:lnTo>
                    <a:pt x="31771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79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203708" y="2075312"/>
            <a:ext cx="29133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2025" algn="l"/>
              </a:tabLst>
            </a:pP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CTFS: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	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Representation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054100" y="6013462"/>
            <a:ext cx="3073400" cy="622300"/>
            <a:chOff x="1054100" y="6013462"/>
            <a:chExt cx="3073400" cy="622300"/>
          </a:xfrm>
        </p:grpSpPr>
        <p:sp>
          <p:nvSpPr>
            <p:cNvPr id="14" name="object 14" descr=""/>
            <p:cNvSpPr/>
            <p:nvPr/>
          </p:nvSpPr>
          <p:spPr>
            <a:xfrm>
              <a:off x="1066800" y="6026162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79"/>
                  </a:moveTo>
                  <a:lnTo>
                    <a:pt x="0" y="497420"/>
                  </a:lnTo>
                  <a:lnTo>
                    <a:pt x="7817" y="536137"/>
                  </a:lnTo>
                  <a:lnTo>
                    <a:pt x="29136" y="567758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48520" y="596899"/>
                  </a:lnTo>
                  <a:lnTo>
                    <a:pt x="2987242" y="589080"/>
                  </a:lnTo>
                  <a:lnTo>
                    <a:pt x="3018863" y="567758"/>
                  </a:lnTo>
                  <a:lnTo>
                    <a:pt x="3040182" y="536137"/>
                  </a:lnTo>
                  <a:lnTo>
                    <a:pt x="3048000" y="497420"/>
                  </a:lnTo>
                  <a:lnTo>
                    <a:pt x="3048000" y="99479"/>
                  </a:lnTo>
                  <a:lnTo>
                    <a:pt x="3040182" y="60762"/>
                  </a:lnTo>
                  <a:lnTo>
                    <a:pt x="3018863" y="29141"/>
                  </a:lnTo>
                  <a:lnTo>
                    <a:pt x="2987242" y="7819"/>
                  </a:lnTo>
                  <a:lnTo>
                    <a:pt x="2948520" y="0"/>
                  </a:lnTo>
                  <a:lnTo>
                    <a:pt x="99479" y="0"/>
                  </a:lnTo>
                  <a:lnTo>
                    <a:pt x="60757" y="7819"/>
                  </a:lnTo>
                  <a:lnTo>
                    <a:pt x="29136" y="29141"/>
                  </a:lnTo>
                  <a:lnTo>
                    <a:pt x="7817" y="60762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66800" y="6026162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79"/>
                  </a:moveTo>
                  <a:lnTo>
                    <a:pt x="7817" y="60762"/>
                  </a:lnTo>
                  <a:lnTo>
                    <a:pt x="29136" y="29141"/>
                  </a:lnTo>
                  <a:lnTo>
                    <a:pt x="60757" y="7819"/>
                  </a:lnTo>
                  <a:lnTo>
                    <a:pt x="99479" y="0"/>
                  </a:lnTo>
                  <a:lnTo>
                    <a:pt x="2948520" y="0"/>
                  </a:lnTo>
                  <a:lnTo>
                    <a:pt x="2987242" y="7819"/>
                  </a:lnTo>
                  <a:lnTo>
                    <a:pt x="3018863" y="29141"/>
                  </a:lnTo>
                  <a:lnTo>
                    <a:pt x="3040182" y="60762"/>
                  </a:lnTo>
                  <a:lnTo>
                    <a:pt x="3048000" y="99479"/>
                  </a:lnTo>
                  <a:lnTo>
                    <a:pt x="3048000" y="497420"/>
                  </a:lnTo>
                  <a:lnTo>
                    <a:pt x="3040182" y="536137"/>
                  </a:lnTo>
                  <a:lnTo>
                    <a:pt x="3018863" y="567758"/>
                  </a:lnTo>
                  <a:lnTo>
                    <a:pt x="2987242" y="589080"/>
                  </a:lnTo>
                  <a:lnTo>
                    <a:pt x="29485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8"/>
                  </a:lnTo>
                  <a:lnTo>
                    <a:pt x="7817" y="536137"/>
                  </a:lnTo>
                  <a:lnTo>
                    <a:pt x="0" y="497420"/>
                  </a:lnTo>
                  <a:lnTo>
                    <a:pt x="0" y="99479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667005" y="6109220"/>
            <a:ext cx="18478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953A4"/>
                </a:solidFill>
                <a:latin typeface="Calibri"/>
                <a:cs typeface="Calibri"/>
              </a:rPr>
              <a:t>Power</a:t>
            </a:r>
            <a:r>
              <a:rPr dirty="0" sz="2400" spc="-100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Spectra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632864" y="2716161"/>
            <a:ext cx="6056630" cy="597535"/>
            <a:chOff x="1632864" y="2716161"/>
            <a:chExt cx="6056630" cy="597535"/>
          </a:xfrm>
        </p:grpSpPr>
        <p:sp>
          <p:nvSpPr>
            <p:cNvPr id="18" name="object 18" descr=""/>
            <p:cNvSpPr/>
            <p:nvPr/>
          </p:nvSpPr>
          <p:spPr>
            <a:xfrm>
              <a:off x="1632864" y="2716161"/>
              <a:ext cx="6056630" cy="597535"/>
            </a:xfrm>
            <a:custGeom>
              <a:avLst/>
              <a:gdLst/>
              <a:ahLst/>
              <a:cxnLst/>
              <a:rect l="l" t="t" r="r" b="b"/>
              <a:pathLst>
                <a:path w="6056630" h="597535">
                  <a:moveTo>
                    <a:pt x="6056084" y="0"/>
                  </a:moveTo>
                  <a:lnTo>
                    <a:pt x="4352404" y="0"/>
                  </a:lnTo>
                  <a:lnTo>
                    <a:pt x="4352404" y="52463"/>
                  </a:lnTo>
                  <a:lnTo>
                    <a:pt x="0" y="52463"/>
                  </a:lnTo>
                  <a:lnTo>
                    <a:pt x="0" y="544893"/>
                  </a:lnTo>
                  <a:lnTo>
                    <a:pt x="4352404" y="544893"/>
                  </a:lnTo>
                  <a:lnTo>
                    <a:pt x="4352404" y="597331"/>
                  </a:lnTo>
                  <a:lnTo>
                    <a:pt x="6056084" y="597331"/>
                  </a:lnTo>
                  <a:lnTo>
                    <a:pt x="6056084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712978" y="2802318"/>
              <a:ext cx="0" cy="426084"/>
            </a:xfrm>
            <a:custGeom>
              <a:avLst/>
              <a:gdLst/>
              <a:ahLst/>
              <a:cxnLst/>
              <a:rect l="l" t="t" r="r" b="b"/>
              <a:pathLst>
                <a:path w="0" h="426085">
                  <a:moveTo>
                    <a:pt x="0" y="0"/>
                  </a:moveTo>
                  <a:lnTo>
                    <a:pt x="0" y="425577"/>
                  </a:lnTo>
                </a:path>
              </a:pathLst>
            </a:custGeom>
            <a:ln w="177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084733" y="2802318"/>
              <a:ext cx="0" cy="426084"/>
            </a:xfrm>
            <a:custGeom>
              <a:avLst/>
              <a:gdLst/>
              <a:ahLst/>
              <a:cxnLst/>
              <a:rect l="l" t="t" r="r" b="b"/>
              <a:pathLst>
                <a:path w="0" h="426085">
                  <a:moveTo>
                    <a:pt x="0" y="0"/>
                  </a:moveTo>
                  <a:lnTo>
                    <a:pt x="0" y="425577"/>
                  </a:lnTo>
                </a:path>
              </a:pathLst>
            </a:custGeom>
            <a:ln w="177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7129312" y="2568127"/>
            <a:ext cx="502920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dirty="0" baseline="-25793" sz="4200" i="1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dirty="0" baseline="-25793" sz="4200" spc="-45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600" spc="-25" i="1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r>
              <a:rPr dirty="0" sz="1700" spc="-25">
                <a:solidFill>
                  <a:srgbClr val="231F20"/>
                </a:solidFill>
                <a:latin typeface="Symbol"/>
                <a:cs typeface="Symbol"/>
              </a:rPr>
              <a:t></a:t>
            </a:r>
            <a:r>
              <a:rPr dirty="0" baseline="-21739" sz="1725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baseline="-21739" sz="1725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698906" y="2752595"/>
            <a:ext cx="5338445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4334510" algn="l"/>
                <a:tab pos="4719320" algn="l"/>
                <a:tab pos="5052060" algn="l"/>
              </a:tabLst>
            </a:pP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Complex</a:t>
            </a:r>
            <a:r>
              <a:rPr dirty="0" sz="2600" spc="-1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Fourier</a:t>
            </a:r>
            <a:r>
              <a:rPr dirty="0" sz="2600" spc="-1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coefficients</a:t>
            </a:r>
            <a:r>
              <a:rPr dirty="0" sz="2600" spc="-1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spc="-50" b="1">
                <a:solidFill>
                  <a:srgbClr val="231F20"/>
                </a:solidFill>
                <a:latin typeface="Calibri"/>
                <a:cs typeface="Calibri"/>
              </a:rPr>
              <a:t>=</a:t>
            </a: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baseline="2976" sz="4200" spc="-37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r>
              <a:rPr dirty="0" baseline="-20833" sz="2400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r>
              <a:rPr dirty="0" baseline="-20833" sz="2400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baseline="2976" sz="4200" spc="-75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baseline="2976" sz="42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baseline="2976" sz="4200" spc="-37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r>
              <a:rPr dirty="0" baseline="-20833" sz="2400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baseline="-20833" sz="2400">
              <a:latin typeface="Times New Roman"/>
              <a:cs typeface="Times New Roman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1054100" y="3620160"/>
            <a:ext cx="3073400" cy="622300"/>
            <a:chOff x="1054100" y="3620160"/>
            <a:chExt cx="3073400" cy="622300"/>
          </a:xfrm>
        </p:grpSpPr>
        <p:sp>
          <p:nvSpPr>
            <p:cNvPr id="24" name="object 24" descr=""/>
            <p:cNvSpPr/>
            <p:nvPr/>
          </p:nvSpPr>
          <p:spPr>
            <a:xfrm>
              <a:off x="1066800" y="3632860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79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48520" y="596899"/>
                  </a:lnTo>
                  <a:lnTo>
                    <a:pt x="2987242" y="589080"/>
                  </a:lnTo>
                  <a:lnTo>
                    <a:pt x="3018863" y="567756"/>
                  </a:lnTo>
                  <a:lnTo>
                    <a:pt x="3040182" y="536131"/>
                  </a:lnTo>
                  <a:lnTo>
                    <a:pt x="3048000" y="497408"/>
                  </a:lnTo>
                  <a:lnTo>
                    <a:pt x="3048000" y="99479"/>
                  </a:lnTo>
                  <a:lnTo>
                    <a:pt x="3040182" y="60757"/>
                  </a:lnTo>
                  <a:lnTo>
                    <a:pt x="3018863" y="29136"/>
                  </a:lnTo>
                  <a:lnTo>
                    <a:pt x="2987242" y="7817"/>
                  </a:lnTo>
                  <a:lnTo>
                    <a:pt x="29485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6"/>
                  </a:lnTo>
                  <a:lnTo>
                    <a:pt x="7817" y="60757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66800" y="3632860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79"/>
                  </a:moveTo>
                  <a:lnTo>
                    <a:pt x="7817" y="60757"/>
                  </a:lnTo>
                  <a:lnTo>
                    <a:pt x="29136" y="29136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2948520" y="0"/>
                  </a:lnTo>
                  <a:lnTo>
                    <a:pt x="2987242" y="7817"/>
                  </a:lnTo>
                  <a:lnTo>
                    <a:pt x="3018863" y="29136"/>
                  </a:lnTo>
                  <a:lnTo>
                    <a:pt x="3040182" y="60757"/>
                  </a:lnTo>
                  <a:lnTo>
                    <a:pt x="3048000" y="99479"/>
                  </a:lnTo>
                  <a:lnTo>
                    <a:pt x="3048000" y="497408"/>
                  </a:lnTo>
                  <a:lnTo>
                    <a:pt x="3040182" y="536131"/>
                  </a:lnTo>
                  <a:lnTo>
                    <a:pt x="3018863" y="567756"/>
                  </a:lnTo>
                  <a:lnTo>
                    <a:pt x="2987242" y="589080"/>
                  </a:lnTo>
                  <a:lnTo>
                    <a:pt x="29485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79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1375945" y="3715900"/>
            <a:ext cx="24269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Magnitude</a:t>
            </a:r>
            <a:r>
              <a:rPr dirty="0" sz="2400" spc="-5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Spectra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054100" y="4845062"/>
            <a:ext cx="3124835" cy="622300"/>
            <a:chOff x="1054100" y="4845062"/>
            <a:chExt cx="3124835" cy="622300"/>
          </a:xfrm>
        </p:grpSpPr>
        <p:sp>
          <p:nvSpPr>
            <p:cNvPr id="28" name="object 28" descr=""/>
            <p:cNvSpPr/>
            <p:nvPr/>
          </p:nvSpPr>
          <p:spPr>
            <a:xfrm>
              <a:off x="1066800" y="4857762"/>
              <a:ext cx="3099435" cy="596900"/>
            </a:xfrm>
            <a:custGeom>
              <a:avLst/>
              <a:gdLst/>
              <a:ahLst/>
              <a:cxnLst/>
              <a:rect l="l" t="t" r="r" b="b"/>
              <a:pathLst>
                <a:path w="3099435" h="596900">
                  <a:moveTo>
                    <a:pt x="0" y="99479"/>
                  </a:moveTo>
                  <a:lnTo>
                    <a:pt x="0" y="497420"/>
                  </a:lnTo>
                  <a:lnTo>
                    <a:pt x="7817" y="536137"/>
                  </a:lnTo>
                  <a:lnTo>
                    <a:pt x="29136" y="567758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99320" y="596899"/>
                  </a:lnTo>
                  <a:lnTo>
                    <a:pt x="3038044" y="589080"/>
                  </a:lnTo>
                  <a:lnTo>
                    <a:pt x="3069669" y="567758"/>
                  </a:lnTo>
                  <a:lnTo>
                    <a:pt x="3090993" y="536137"/>
                  </a:lnTo>
                  <a:lnTo>
                    <a:pt x="3098812" y="497420"/>
                  </a:lnTo>
                  <a:lnTo>
                    <a:pt x="3098812" y="99479"/>
                  </a:lnTo>
                  <a:lnTo>
                    <a:pt x="3090993" y="60762"/>
                  </a:lnTo>
                  <a:lnTo>
                    <a:pt x="3069669" y="29141"/>
                  </a:lnTo>
                  <a:lnTo>
                    <a:pt x="3038044" y="7819"/>
                  </a:lnTo>
                  <a:lnTo>
                    <a:pt x="2999320" y="0"/>
                  </a:lnTo>
                  <a:lnTo>
                    <a:pt x="99479" y="0"/>
                  </a:lnTo>
                  <a:lnTo>
                    <a:pt x="60757" y="7819"/>
                  </a:lnTo>
                  <a:lnTo>
                    <a:pt x="29136" y="29141"/>
                  </a:lnTo>
                  <a:lnTo>
                    <a:pt x="7817" y="60762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066800" y="4857762"/>
              <a:ext cx="3099435" cy="596900"/>
            </a:xfrm>
            <a:custGeom>
              <a:avLst/>
              <a:gdLst/>
              <a:ahLst/>
              <a:cxnLst/>
              <a:rect l="l" t="t" r="r" b="b"/>
              <a:pathLst>
                <a:path w="3099435" h="596900">
                  <a:moveTo>
                    <a:pt x="0" y="99479"/>
                  </a:moveTo>
                  <a:lnTo>
                    <a:pt x="7817" y="60762"/>
                  </a:lnTo>
                  <a:lnTo>
                    <a:pt x="29136" y="29141"/>
                  </a:lnTo>
                  <a:lnTo>
                    <a:pt x="60757" y="7819"/>
                  </a:lnTo>
                  <a:lnTo>
                    <a:pt x="99479" y="0"/>
                  </a:lnTo>
                  <a:lnTo>
                    <a:pt x="2999320" y="0"/>
                  </a:lnTo>
                  <a:lnTo>
                    <a:pt x="3038044" y="7819"/>
                  </a:lnTo>
                  <a:lnTo>
                    <a:pt x="3069669" y="29141"/>
                  </a:lnTo>
                  <a:lnTo>
                    <a:pt x="3090993" y="60762"/>
                  </a:lnTo>
                  <a:lnTo>
                    <a:pt x="3098812" y="99479"/>
                  </a:lnTo>
                  <a:lnTo>
                    <a:pt x="3098812" y="497420"/>
                  </a:lnTo>
                  <a:lnTo>
                    <a:pt x="3090993" y="536137"/>
                  </a:lnTo>
                  <a:lnTo>
                    <a:pt x="3069669" y="567758"/>
                  </a:lnTo>
                  <a:lnTo>
                    <a:pt x="3038044" y="589080"/>
                  </a:lnTo>
                  <a:lnTo>
                    <a:pt x="29993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8"/>
                  </a:lnTo>
                  <a:lnTo>
                    <a:pt x="7817" y="536137"/>
                  </a:lnTo>
                  <a:lnTo>
                    <a:pt x="0" y="497420"/>
                  </a:lnTo>
                  <a:lnTo>
                    <a:pt x="0" y="99479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1718845" y="4940818"/>
            <a:ext cx="17938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953A4"/>
                </a:solidFill>
                <a:latin typeface="Calibri"/>
                <a:cs typeface="Calibri"/>
              </a:rPr>
              <a:t>Phase</a:t>
            </a:r>
            <a:r>
              <a:rPr dirty="0" sz="2400" spc="-5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Spectra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5321312" y="4217047"/>
            <a:ext cx="3607435" cy="1663064"/>
            <a:chOff x="5321312" y="4217047"/>
            <a:chExt cx="3607435" cy="1663064"/>
          </a:xfrm>
        </p:grpSpPr>
        <p:sp>
          <p:nvSpPr>
            <p:cNvPr id="32" name="object 32" descr=""/>
            <p:cNvSpPr/>
            <p:nvPr/>
          </p:nvSpPr>
          <p:spPr>
            <a:xfrm>
              <a:off x="5334012" y="4229747"/>
              <a:ext cx="3582035" cy="1637664"/>
            </a:xfrm>
            <a:custGeom>
              <a:avLst/>
              <a:gdLst/>
              <a:ahLst/>
              <a:cxnLst/>
              <a:rect l="l" t="t" r="r" b="b"/>
              <a:pathLst>
                <a:path w="3582034" h="1637664">
                  <a:moveTo>
                    <a:pt x="0" y="272948"/>
                  </a:moveTo>
                  <a:lnTo>
                    <a:pt x="0" y="1637665"/>
                  </a:lnTo>
                  <a:lnTo>
                    <a:pt x="3581412" y="1637664"/>
                  </a:lnTo>
                  <a:lnTo>
                    <a:pt x="3581412" y="272948"/>
                  </a:lnTo>
                  <a:lnTo>
                    <a:pt x="3308451" y="0"/>
                  </a:lnTo>
                  <a:lnTo>
                    <a:pt x="272948" y="0"/>
                  </a:lnTo>
                  <a:lnTo>
                    <a:pt x="223884" y="4397"/>
                  </a:lnTo>
                  <a:lnTo>
                    <a:pt x="177706" y="17075"/>
                  </a:lnTo>
                  <a:lnTo>
                    <a:pt x="135184" y="37264"/>
                  </a:lnTo>
                  <a:lnTo>
                    <a:pt x="97089" y="64192"/>
                  </a:lnTo>
                  <a:lnTo>
                    <a:pt x="64192" y="97089"/>
                  </a:lnTo>
                  <a:lnTo>
                    <a:pt x="37264" y="135184"/>
                  </a:lnTo>
                  <a:lnTo>
                    <a:pt x="17075" y="177706"/>
                  </a:lnTo>
                  <a:lnTo>
                    <a:pt x="4397" y="223884"/>
                  </a:lnTo>
                  <a:lnTo>
                    <a:pt x="0" y="272948"/>
                  </a:lnTo>
                  <a:close/>
                </a:path>
              </a:pathLst>
            </a:custGeom>
            <a:solidFill>
              <a:srgbClr val="4E8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334012" y="4229747"/>
              <a:ext cx="3582035" cy="1637664"/>
            </a:xfrm>
            <a:custGeom>
              <a:avLst/>
              <a:gdLst/>
              <a:ahLst/>
              <a:cxnLst/>
              <a:rect l="l" t="t" r="r" b="b"/>
              <a:pathLst>
                <a:path w="3582034" h="1637664">
                  <a:moveTo>
                    <a:pt x="272948" y="0"/>
                  </a:moveTo>
                  <a:lnTo>
                    <a:pt x="3308451" y="0"/>
                  </a:lnTo>
                  <a:lnTo>
                    <a:pt x="3581412" y="272948"/>
                  </a:lnTo>
                  <a:lnTo>
                    <a:pt x="3581412" y="1637664"/>
                  </a:lnTo>
                  <a:lnTo>
                    <a:pt x="0" y="1637665"/>
                  </a:lnTo>
                  <a:lnTo>
                    <a:pt x="0" y="272948"/>
                  </a:lnTo>
                  <a:lnTo>
                    <a:pt x="4397" y="223884"/>
                  </a:lnTo>
                  <a:lnTo>
                    <a:pt x="17075" y="177706"/>
                  </a:lnTo>
                  <a:lnTo>
                    <a:pt x="37264" y="135184"/>
                  </a:lnTo>
                  <a:lnTo>
                    <a:pt x="64192" y="97089"/>
                  </a:lnTo>
                  <a:lnTo>
                    <a:pt x="97089" y="64192"/>
                  </a:lnTo>
                  <a:lnTo>
                    <a:pt x="135184" y="37264"/>
                  </a:lnTo>
                  <a:lnTo>
                    <a:pt x="177706" y="17075"/>
                  </a:lnTo>
                  <a:lnTo>
                    <a:pt x="223884" y="4397"/>
                  </a:lnTo>
                  <a:lnTo>
                    <a:pt x="272948" y="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5499160" y="4658267"/>
            <a:ext cx="3197225" cy="8185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91565" marR="5080" indent="-107950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Spectra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heavy" sz="26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or</a:t>
            </a:r>
            <a:r>
              <a:rPr dirty="0" sz="26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Discrete Spectra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sp>
        <p:nvSpPr>
          <p:cNvPr id="8" name="object 8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9162" y="2214562"/>
            <a:ext cx="5800737" cy="14478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8762" y="4491050"/>
            <a:ext cx="7048512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9162" y="2182812"/>
            <a:ext cx="2428875" cy="476250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914400" y="1876425"/>
            <a:ext cx="8296909" cy="3761104"/>
            <a:chOff x="914400" y="1876425"/>
            <a:chExt cx="8296909" cy="3761104"/>
          </a:xfrm>
        </p:grpSpPr>
        <p:sp>
          <p:nvSpPr>
            <p:cNvPr id="10" name="object 10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55806" y="2231680"/>
              <a:ext cx="4589372" cy="659248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797312" y="2022487"/>
              <a:ext cx="4919345" cy="1014730"/>
            </a:xfrm>
            <a:custGeom>
              <a:avLst/>
              <a:gdLst/>
              <a:ahLst/>
              <a:cxnLst/>
              <a:rect l="l" t="t" r="r" b="b"/>
              <a:pathLst>
                <a:path w="4919345" h="1014730">
                  <a:moveTo>
                    <a:pt x="0" y="1014272"/>
                  </a:moveTo>
                  <a:lnTo>
                    <a:pt x="0" y="0"/>
                  </a:lnTo>
                  <a:lnTo>
                    <a:pt x="4919040" y="0"/>
                  </a:lnTo>
                  <a:lnTo>
                    <a:pt x="4919040" y="1014272"/>
                  </a:lnTo>
                  <a:lnTo>
                    <a:pt x="0" y="1014272"/>
                  </a:lnTo>
                  <a:close/>
                </a:path>
              </a:pathLst>
            </a:custGeom>
            <a:ln w="254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68483" y="3247256"/>
              <a:ext cx="5147188" cy="2332707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3797312" y="3050743"/>
              <a:ext cx="5401310" cy="2573655"/>
            </a:xfrm>
            <a:custGeom>
              <a:avLst/>
              <a:gdLst/>
              <a:ahLst/>
              <a:cxnLst/>
              <a:rect l="l" t="t" r="r" b="b"/>
              <a:pathLst>
                <a:path w="5401309" h="2573654">
                  <a:moveTo>
                    <a:pt x="0" y="2573629"/>
                  </a:moveTo>
                  <a:lnTo>
                    <a:pt x="0" y="0"/>
                  </a:lnTo>
                  <a:lnTo>
                    <a:pt x="5400789" y="0"/>
                  </a:lnTo>
                  <a:lnTo>
                    <a:pt x="5400789" y="2573629"/>
                  </a:lnTo>
                  <a:lnTo>
                    <a:pt x="0" y="2573629"/>
                  </a:lnTo>
                  <a:close/>
                </a:path>
              </a:pathLst>
            </a:custGeom>
            <a:ln w="254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1193800" y="5689612"/>
            <a:ext cx="5730875" cy="1471295"/>
            <a:chOff x="1193800" y="5689612"/>
            <a:chExt cx="5730875" cy="1471295"/>
          </a:xfrm>
        </p:grpSpPr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64993" y="5784738"/>
              <a:ext cx="5476811" cy="1331166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206500" y="5702312"/>
              <a:ext cx="5705475" cy="1445895"/>
            </a:xfrm>
            <a:custGeom>
              <a:avLst/>
              <a:gdLst/>
              <a:ahLst/>
              <a:cxnLst/>
              <a:rect l="l" t="t" r="r" b="b"/>
              <a:pathLst>
                <a:path w="5705475" h="1445895">
                  <a:moveTo>
                    <a:pt x="0" y="1445310"/>
                  </a:moveTo>
                  <a:lnTo>
                    <a:pt x="0" y="0"/>
                  </a:lnTo>
                  <a:lnTo>
                    <a:pt x="5705055" y="0"/>
                  </a:lnTo>
                  <a:lnTo>
                    <a:pt x="5705055" y="1445310"/>
                  </a:lnTo>
                  <a:lnTo>
                    <a:pt x="0" y="1445310"/>
                  </a:lnTo>
                  <a:close/>
                </a:path>
              </a:pathLst>
            </a:custGeom>
            <a:ln w="254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sp>
        <p:nvSpPr>
          <p:cNvPr id="8" name="object 8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9162" y="2182812"/>
            <a:ext cx="2428875" cy="47625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0302" y="2830042"/>
            <a:ext cx="7805749" cy="339472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015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sp>
        <p:nvSpPr>
          <p:cNvPr id="8" name="object 8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9162" y="2182812"/>
            <a:ext cx="2428875" cy="476250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4483112" y="2071687"/>
            <a:ext cx="4674235" cy="622300"/>
            <a:chOff x="4483112" y="2071687"/>
            <a:chExt cx="4674235" cy="622300"/>
          </a:xfrm>
        </p:grpSpPr>
        <p:sp>
          <p:nvSpPr>
            <p:cNvPr id="11" name="object 11" descr=""/>
            <p:cNvSpPr/>
            <p:nvPr/>
          </p:nvSpPr>
          <p:spPr>
            <a:xfrm>
              <a:off x="4495812" y="2084387"/>
              <a:ext cx="4648835" cy="596900"/>
            </a:xfrm>
            <a:custGeom>
              <a:avLst/>
              <a:gdLst/>
              <a:ahLst/>
              <a:cxnLst/>
              <a:rect l="l" t="t" r="r" b="b"/>
              <a:pathLst>
                <a:path w="4648834" h="596900">
                  <a:moveTo>
                    <a:pt x="0" y="99479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4548733" y="596900"/>
                  </a:lnTo>
                  <a:lnTo>
                    <a:pt x="4587455" y="589080"/>
                  </a:lnTo>
                  <a:lnTo>
                    <a:pt x="4619075" y="567756"/>
                  </a:lnTo>
                  <a:lnTo>
                    <a:pt x="4640395" y="536131"/>
                  </a:lnTo>
                  <a:lnTo>
                    <a:pt x="4648212" y="497408"/>
                  </a:lnTo>
                  <a:lnTo>
                    <a:pt x="4648212" y="99479"/>
                  </a:lnTo>
                  <a:lnTo>
                    <a:pt x="4640395" y="60757"/>
                  </a:lnTo>
                  <a:lnTo>
                    <a:pt x="4619075" y="29136"/>
                  </a:lnTo>
                  <a:lnTo>
                    <a:pt x="4587455" y="7817"/>
                  </a:lnTo>
                  <a:lnTo>
                    <a:pt x="4548733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6"/>
                  </a:lnTo>
                  <a:lnTo>
                    <a:pt x="7817" y="60757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495812" y="2084387"/>
              <a:ext cx="4648835" cy="596900"/>
            </a:xfrm>
            <a:custGeom>
              <a:avLst/>
              <a:gdLst/>
              <a:ahLst/>
              <a:cxnLst/>
              <a:rect l="l" t="t" r="r" b="b"/>
              <a:pathLst>
                <a:path w="4648834" h="596900">
                  <a:moveTo>
                    <a:pt x="0" y="99479"/>
                  </a:moveTo>
                  <a:lnTo>
                    <a:pt x="7817" y="60757"/>
                  </a:lnTo>
                  <a:lnTo>
                    <a:pt x="29136" y="29136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4548733" y="0"/>
                  </a:lnTo>
                  <a:lnTo>
                    <a:pt x="4587455" y="7817"/>
                  </a:lnTo>
                  <a:lnTo>
                    <a:pt x="4619075" y="29136"/>
                  </a:lnTo>
                  <a:lnTo>
                    <a:pt x="4640395" y="60757"/>
                  </a:lnTo>
                  <a:lnTo>
                    <a:pt x="4648212" y="99479"/>
                  </a:lnTo>
                  <a:lnTo>
                    <a:pt x="4648212" y="497408"/>
                  </a:lnTo>
                  <a:lnTo>
                    <a:pt x="4640395" y="536131"/>
                  </a:lnTo>
                  <a:lnTo>
                    <a:pt x="4619075" y="567756"/>
                  </a:lnTo>
                  <a:lnTo>
                    <a:pt x="4587455" y="589080"/>
                  </a:lnTo>
                  <a:lnTo>
                    <a:pt x="4548733" y="596900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79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079286" y="2167450"/>
            <a:ext cx="34804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A</a:t>
            </a:r>
            <a:r>
              <a:rPr dirty="0" sz="2400" spc="-5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lot</a:t>
            </a:r>
            <a:r>
              <a:rPr dirty="0" sz="24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of</a:t>
            </a:r>
            <a:r>
              <a:rPr dirty="0" sz="24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insight</a:t>
            </a:r>
            <a:r>
              <a:rPr dirty="0" sz="24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about</a:t>
            </a:r>
            <a:r>
              <a:rPr dirty="0" sz="24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00924" y="2895612"/>
            <a:ext cx="2056130" cy="567055"/>
          </a:xfrm>
          <a:prstGeom prst="rect">
            <a:avLst/>
          </a:prstGeom>
          <a:solidFill>
            <a:srgbClr val="FCD5B5"/>
          </a:solidFill>
        </p:spPr>
        <p:txBody>
          <a:bodyPr wrap="square" lIns="0" tIns="0" rIns="0" bIns="0" rtlCol="0" vert="horz">
            <a:spAutoFit/>
          </a:bodyPr>
          <a:lstStyle/>
          <a:p>
            <a:pPr marL="53975">
              <a:lnSpc>
                <a:spcPts val="3410"/>
              </a:lnSpc>
              <a:tabLst>
                <a:tab pos="1071880" algn="l"/>
              </a:tabLst>
            </a:pPr>
            <a:r>
              <a:rPr dirty="0" sz="2800">
                <a:solidFill>
                  <a:srgbClr val="231F20"/>
                </a:solidFill>
                <a:latin typeface="Times New Roman"/>
                <a:cs typeface="Times New Roman"/>
              </a:rPr>
              <a:t>Fix</a:t>
            </a:r>
            <a:r>
              <a:rPr dirty="0" sz="28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 spc="-25" i="1">
                <a:solidFill>
                  <a:srgbClr val="231F20"/>
                </a:solidFill>
                <a:latin typeface="Times New Roman"/>
                <a:cs typeface="Times New Roman"/>
              </a:rPr>
              <a:t>T</a:t>
            </a:r>
            <a:r>
              <a:rPr dirty="0" baseline="-26041" sz="2400" spc="-37" i="1">
                <a:solidFill>
                  <a:srgbClr val="231F20"/>
                </a:solidFill>
                <a:latin typeface="Times New Roman"/>
                <a:cs typeface="Times New Roman"/>
              </a:rPr>
              <a:t>p</a:t>
            </a:r>
            <a:r>
              <a:rPr dirty="0" baseline="-26041" sz="2400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800">
                <a:solidFill>
                  <a:srgbClr val="231F20"/>
                </a:solidFill>
                <a:latin typeface="Times New Roman"/>
                <a:cs typeface="Times New Roman"/>
              </a:rPr>
              <a:t>vary</a:t>
            </a:r>
            <a:r>
              <a:rPr dirty="0" sz="2800" spc="-1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950" spc="-50">
                <a:solidFill>
                  <a:srgbClr val="231F20"/>
                </a:solidFill>
                <a:latin typeface="Symbol"/>
                <a:cs typeface="Symbol"/>
              </a:rPr>
              <a:t></a:t>
            </a:r>
            <a:endParaRPr sz="2950">
              <a:latin typeface="Symbol"/>
              <a:cs typeface="Symbol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91075" y="3062287"/>
            <a:ext cx="4324361" cy="3857637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1006475" y="4178312"/>
            <a:ext cx="2663825" cy="2235200"/>
            <a:chOff x="1006475" y="4178312"/>
            <a:chExt cx="2663825" cy="2235200"/>
          </a:xfrm>
        </p:grpSpPr>
        <p:sp>
          <p:nvSpPr>
            <p:cNvPr id="17" name="object 17" descr=""/>
            <p:cNvSpPr/>
            <p:nvPr/>
          </p:nvSpPr>
          <p:spPr>
            <a:xfrm>
              <a:off x="1019175" y="4191012"/>
              <a:ext cx="2638425" cy="2209800"/>
            </a:xfrm>
            <a:custGeom>
              <a:avLst/>
              <a:gdLst/>
              <a:ahLst/>
              <a:cxnLst/>
              <a:rect l="l" t="t" r="r" b="b"/>
              <a:pathLst>
                <a:path w="2638425" h="2209800">
                  <a:moveTo>
                    <a:pt x="0" y="368300"/>
                  </a:moveTo>
                  <a:lnTo>
                    <a:pt x="0" y="1841500"/>
                  </a:lnTo>
                  <a:lnTo>
                    <a:pt x="2869" y="1887698"/>
                  </a:lnTo>
                  <a:lnTo>
                    <a:pt x="11248" y="1932183"/>
                  </a:lnTo>
                  <a:lnTo>
                    <a:pt x="24791" y="1974612"/>
                  </a:lnTo>
                  <a:lnTo>
                    <a:pt x="43153" y="2014638"/>
                  </a:lnTo>
                  <a:lnTo>
                    <a:pt x="65988" y="2051916"/>
                  </a:lnTo>
                  <a:lnTo>
                    <a:pt x="92952" y="2086101"/>
                  </a:lnTo>
                  <a:lnTo>
                    <a:pt x="123700" y="2116848"/>
                  </a:lnTo>
                  <a:lnTo>
                    <a:pt x="157886" y="2143812"/>
                  </a:lnTo>
                  <a:lnTo>
                    <a:pt x="195165" y="2166647"/>
                  </a:lnTo>
                  <a:lnTo>
                    <a:pt x="235193" y="2185008"/>
                  </a:lnTo>
                  <a:lnTo>
                    <a:pt x="277623" y="2198551"/>
                  </a:lnTo>
                  <a:lnTo>
                    <a:pt x="322111" y="2206930"/>
                  </a:lnTo>
                  <a:lnTo>
                    <a:pt x="368312" y="2209800"/>
                  </a:lnTo>
                  <a:lnTo>
                    <a:pt x="2270112" y="2209800"/>
                  </a:lnTo>
                  <a:lnTo>
                    <a:pt x="2316313" y="2206930"/>
                  </a:lnTo>
                  <a:lnTo>
                    <a:pt x="2360801" y="2198551"/>
                  </a:lnTo>
                  <a:lnTo>
                    <a:pt x="2403231" y="2185008"/>
                  </a:lnTo>
                  <a:lnTo>
                    <a:pt x="2443259" y="2166647"/>
                  </a:lnTo>
                  <a:lnTo>
                    <a:pt x="2480538" y="2143812"/>
                  </a:lnTo>
                  <a:lnTo>
                    <a:pt x="2514724" y="2116848"/>
                  </a:lnTo>
                  <a:lnTo>
                    <a:pt x="2545472" y="2086101"/>
                  </a:lnTo>
                  <a:lnTo>
                    <a:pt x="2572436" y="2051916"/>
                  </a:lnTo>
                  <a:lnTo>
                    <a:pt x="2595271" y="2014638"/>
                  </a:lnTo>
                  <a:lnTo>
                    <a:pt x="2613633" y="1974612"/>
                  </a:lnTo>
                  <a:lnTo>
                    <a:pt x="2627176" y="1932183"/>
                  </a:lnTo>
                  <a:lnTo>
                    <a:pt x="2635555" y="1887698"/>
                  </a:lnTo>
                  <a:lnTo>
                    <a:pt x="2638425" y="1841500"/>
                  </a:lnTo>
                  <a:lnTo>
                    <a:pt x="2638425" y="368299"/>
                  </a:lnTo>
                  <a:lnTo>
                    <a:pt x="2635555" y="322101"/>
                  </a:lnTo>
                  <a:lnTo>
                    <a:pt x="2627176" y="277616"/>
                  </a:lnTo>
                  <a:lnTo>
                    <a:pt x="2613633" y="235187"/>
                  </a:lnTo>
                  <a:lnTo>
                    <a:pt x="2595271" y="195161"/>
                  </a:lnTo>
                  <a:lnTo>
                    <a:pt x="2572436" y="157883"/>
                  </a:lnTo>
                  <a:lnTo>
                    <a:pt x="2545472" y="123698"/>
                  </a:lnTo>
                  <a:lnTo>
                    <a:pt x="2514724" y="92951"/>
                  </a:lnTo>
                  <a:lnTo>
                    <a:pt x="2480538" y="65987"/>
                  </a:lnTo>
                  <a:lnTo>
                    <a:pt x="2443259" y="43152"/>
                  </a:lnTo>
                  <a:lnTo>
                    <a:pt x="2403231" y="24791"/>
                  </a:lnTo>
                  <a:lnTo>
                    <a:pt x="2360801" y="11248"/>
                  </a:lnTo>
                  <a:lnTo>
                    <a:pt x="2316313" y="2869"/>
                  </a:lnTo>
                  <a:lnTo>
                    <a:pt x="2270112" y="0"/>
                  </a:lnTo>
                  <a:lnTo>
                    <a:pt x="368312" y="0"/>
                  </a:lnTo>
                  <a:lnTo>
                    <a:pt x="322111" y="2869"/>
                  </a:lnTo>
                  <a:lnTo>
                    <a:pt x="277623" y="11248"/>
                  </a:lnTo>
                  <a:lnTo>
                    <a:pt x="235193" y="24791"/>
                  </a:lnTo>
                  <a:lnTo>
                    <a:pt x="195165" y="43152"/>
                  </a:lnTo>
                  <a:lnTo>
                    <a:pt x="157886" y="65987"/>
                  </a:lnTo>
                  <a:lnTo>
                    <a:pt x="123700" y="92951"/>
                  </a:lnTo>
                  <a:lnTo>
                    <a:pt x="92952" y="123698"/>
                  </a:lnTo>
                  <a:lnTo>
                    <a:pt x="65988" y="157883"/>
                  </a:lnTo>
                  <a:lnTo>
                    <a:pt x="43153" y="195161"/>
                  </a:lnTo>
                  <a:lnTo>
                    <a:pt x="24791" y="235187"/>
                  </a:lnTo>
                  <a:lnTo>
                    <a:pt x="11248" y="277616"/>
                  </a:lnTo>
                  <a:lnTo>
                    <a:pt x="2869" y="322101"/>
                  </a:lnTo>
                  <a:lnTo>
                    <a:pt x="0" y="368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019175" y="4191012"/>
              <a:ext cx="2638425" cy="2209800"/>
            </a:xfrm>
            <a:custGeom>
              <a:avLst/>
              <a:gdLst/>
              <a:ahLst/>
              <a:cxnLst/>
              <a:rect l="l" t="t" r="r" b="b"/>
              <a:pathLst>
                <a:path w="2638425" h="2209800">
                  <a:moveTo>
                    <a:pt x="0" y="368300"/>
                  </a:moveTo>
                  <a:lnTo>
                    <a:pt x="2869" y="322101"/>
                  </a:lnTo>
                  <a:lnTo>
                    <a:pt x="11248" y="277616"/>
                  </a:lnTo>
                  <a:lnTo>
                    <a:pt x="24791" y="235187"/>
                  </a:lnTo>
                  <a:lnTo>
                    <a:pt x="43153" y="195161"/>
                  </a:lnTo>
                  <a:lnTo>
                    <a:pt x="65988" y="157883"/>
                  </a:lnTo>
                  <a:lnTo>
                    <a:pt x="92952" y="123698"/>
                  </a:lnTo>
                  <a:lnTo>
                    <a:pt x="123700" y="92951"/>
                  </a:lnTo>
                  <a:lnTo>
                    <a:pt x="157886" y="65987"/>
                  </a:lnTo>
                  <a:lnTo>
                    <a:pt x="195165" y="43152"/>
                  </a:lnTo>
                  <a:lnTo>
                    <a:pt x="235193" y="24791"/>
                  </a:lnTo>
                  <a:lnTo>
                    <a:pt x="277623" y="11248"/>
                  </a:lnTo>
                  <a:lnTo>
                    <a:pt x="322111" y="2869"/>
                  </a:lnTo>
                  <a:lnTo>
                    <a:pt x="368312" y="0"/>
                  </a:lnTo>
                  <a:lnTo>
                    <a:pt x="2270112" y="0"/>
                  </a:lnTo>
                  <a:lnTo>
                    <a:pt x="2316313" y="2869"/>
                  </a:lnTo>
                  <a:lnTo>
                    <a:pt x="2360801" y="11248"/>
                  </a:lnTo>
                  <a:lnTo>
                    <a:pt x="2403231" y="24791"/>
                  </a:lnTo>
                  <a:lnTo>
                    <a:pt x="2443259" y="43152"/>
                  </a:lnTo>
                  <a:lnTo>
                    <a:pt x="2480538" y="65987"/>
                  </a:lnTo>
                  <a:lnTo>
                    <a:pt x="2514724" y="92951"/>
                  </a:lnTo>
                  <a:lnTo>
                    <a:pt x="2545472" y="123698"/>
                  </a:lnTo>
                  <a:lnTo>
                    <a:pt x="2572436" y="157883"/>
                  </a:lnTo>
                  <a:lnTo>
                    <a:pt x="2595271" y="195161"/>
                  </a:lnTo>
                  <a:lnTo>
                    <a:pt x="2613633" y="235187"/>
                  </a:lnTo>
                  <a:lnTo>
                    <a:pt x="2627176" y="277616"/>
                  </a:lnTo>
                  <a:lnTo>
                    <a:pt x="2635555" y="322101"/>
                  </a:lnTo>
                  <a:lnTo>
                    <a:pt x="2638425" y="368299"/>
                  </a:lnTo>
                  <a:lnTo>
                    <a:pt x="2638425" y="1841500"/>
                  </a:lnTo>
                  <a:lnTo>
                    <a:pt x="2635555" y="1887698"/>
                  </a:lnTo>
                  <a:lnTo>
                    <a:pt x="2627176" y="1932183"/>
                  </a:lnTo>
                  <a:lnTo>
                    <a:pt x="2613633" y="1974612"/>
                  </a:lnTo>
                  <a:lnTo>
                    <a:pt x="2595271" y="2014638"/>
                  </a:lnTo>
                  <a:lnTo>
                    <a:pt x="2572436" y="2051916"/>
                  </a:lnTo>
                  <a:lnTo>
                    <a:pt x="2545472" y="2086101"/>
                  </a:lnTo>
                  <a:lnTo>
                    <a:pt x="2514724" y="2116848"/>
                  </a:lnTo>
                  <a:lnTo>
                    <a:pt x="2480538" y="2143812"/>
                  </a:lnTo>
                  <a:lnTo>
                    <a:pt x="2443259" y="2166647"/>
                  </a:lnTo>
                  <a:lnTo>
                    <a:pt x="2403231" y="2185008"/>
                  </a:lnTo>
                  <a:lnTo>
                    <a:pt x="2360801" y="2198551"/>
                  </a:lnTo>
                  <a:lnTo>
                    <a:pt x="2316313" y="2206930"/>
                  </a:lnTo>
                  <a:lnTo>
                    <a:pt x="2270112" y="2209800"/>
                  </a:lnTo>
                  <a:lnTo>
                    <a:pt x="368312" y="2209800"/>
                  </a:lnTo>
                  <a:lnTo>
                    <a:pt x="322111" y="2206930"/>
                  </a:lnTo>
                  <a:lnTo>
                    <a:pt x="277623" y="2198551"/>
                  </a:lnTo>
                  <a:lnTo>
                    <a:pt x="235193" y="2185008"/>
                  </a:lnTo>
                  <a:lnTo>
                    <a:pt x="195165" y="2166647"/>
                  </a:lnTo>
                  <a:lnTo>
                    <a:pt x="157886" y="2143812"/>
                  </a:lnTo>
                  <a:lnTo>
                    <a:pt x="123700" y="2116848"/>
                  </a:lnTo>
                  <a:lnTo>
                    <a:pt x="92952" y="2086101"/>
                  </a:lnTo>
                  <a:lnTo>
                    <a:pt x="65988" y="2051916"/>
                  </a:lnTo>
                  <a:lnTo>
                    <a:pt x="43153" y="2014638"/>
                  </a:lnTo>
                  <a:lnTo>
                    <a:pt x="24791" y="1974612"/>
                  </a:lnTo>
                  <a:lnTo>
                    <a:pt x="11248" y="1932183"/>
                  </a:lnTo>
                  <a:lnTo>
                    <a:pt x="2869" y="1887698"/>
                  </a:lnTo>
                  <a:lnTo>
                    <a:pt x="0" y="1841500"/>
                  </a:lnTo>
                  <a:lnTo>
                    <a:pt x="0" y="368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218585" y="4352044"/>
            <a:ext cx="2238375" cy="1855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127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Frequency</a:t>
            </a:r>
            <a:r>
              <a:rPr dirty="0" sz="2000" spc="-3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contents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of</a:t>
            </a:r>
            <a:r>
              <a:rPr dirty="0" sz="2000" spc="-5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signal</a:t>
            </a:r>
            <a:r>
              <a:rPr dirty="0" sz="20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are</a:t>
            </a:r>
            <a:r>
              <a:rPr dirty="0" sz="2000" spc="-3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ED2024"/>
                </a:solidFill>
                <a:latin typeface="Calibri"/>
                <a:cs typeface="Calibri"/>
              </a:rPr>
              <a:t>same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but</a:t>
            </a:r>
            <a:r>
              <a:rPr dirty="0" sz="2000" spc="-2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the</a:t>
            </a: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ED2024"/>
                </a:solidFill>
                <a:latin typeface="Calibri"/>
                <a:cs typeface="Calibri"/>
              </a:rPr>
              <a:t>power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distribution</a:t>
            </a:r>
            <a:r>
              <a:rPr dirty="0" sz="2000" spc="-7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among different</a:t>
            </a:r>
            <a:r>
              <a:rPr dirty="0" sz="2000" spc="-6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frequencies changes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015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sp>
        <p:nvSpPr>
          <p:cNvPr id="8" name="object 8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9162" y="2182812"/>
            <a:ext cx="2428875" cy="476250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4483112" y="2071687"/>
            <a:ext cx="4674235" cy="622300"/>
            <a:chOff x="4483112" y="2071687"/>
            <a:chExt cx="4674235" cy="622300"/>
          </a:xfrm>
        </p:grpSpPr>
        <p:sp>
          <p:nvSpPr>
            <p:cNvPr id="11" name="object 11" descr=""/>
            <p:cNvSpPr/>
            <p:nvPr/>
          </p:nvSpPr>
          <p:spPr>
            <a:xfrm>
              <a:off x="4495812" y="2084387"/>
              <a:ext cx="4648835" cy="596900"/>
            </a:xfrm>
            <a:custGeom>
              <a:avLst/>
              <a:gdLst/>
              <a:ahLst/>
              <a:cxnLst/>
              <a:rect l="l" t="t" r="r" b="b"/>
              <a:pathLst>
                <a:path w="4648834" h="596900">
                  <a:moveTo>
                    <a:pt x="0" y="99479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4548733" y="596900"/>
                  </a:lnTo>
                  <a:lnTo>
                    <a:pt x="4587455" y="589080"/>
                  </a:lnTo>
                  <a:lnTo>
                    <a:pt x="4619075" y="567756"/>
                  </a:lnTo>
                  <a:lnTo>
                    <a:pt x="4640395" y="536131"/>
                  </a:lnTo>
                  <a:lnTo>
                    <a:pt x="4648212" y="497408"/>
                  </a:lnTo>
                  <a:lnTo>
                    <a:pt x="4648212" y="99479"/>
                  </a:lnTo>
                  <a:lnTo>
                    <a:pt x="4640395" y="60757"/>
                  </a:lnTo>
                  <a:lnTo>
                    <a:pt x="4619075" y="29136"/>
                  </a:lnTo>
                  <a:lnTo>
                    <a:pt x="4587455" y="7817"/>
                  </a:lnTo>
                  <a:lnTo>
                    <a:pt x="4548733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6"/>
                  </a:lnTo>
                  <a:lnTo>
                    <a:pt x="7817" y="60757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495812" y="2084387"/>
              <a:ext cx="4648835" cy="596900"/>
            </a:xfrm>
            <a:custGeom>
              <a:avLst/>
              <a:gdLst/>
              <a:ahLst/>
              <a:cxnLst/>
              <a:rect l="l" t="t" r="r" b="b"/>
              <a:pathLst>
                <a:path w="4648834" h="596900">
                  <a:moveTo>
                    <a:pt x="0" y="99479"/>
                  </a:moveTo>
                  <a:lnTo>
                    <a:pt x="7817" y="60757"/>
                  </a:lnTo>
                  <a:lnTo>
                    <a:pt x="29136" y="29136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4548733" y="0"/>
                  </a:lnTo>
                  <a:lnTo>
                    <a:pt x="4587455" y="7817"/>
                  </a:lnTo>
                  <a:lnTo>
                    <a:pt x="4619075" y="29136"/>
                  </a:lnTo>
                  <a:lnTo>
                    <a:pt x="4640395" y="60757"/>
                  </a:lnTo>
                  <a:lnTo>
                    <a:pt x="4648212" y="99479"/>
                  </a:lnTo>
                  <a:lnTo>
                    <a:pt x="4648212" y="497408"/>
                  </a:lnTo>
                  <a:lnTo>
                    <a:pt x="4640395" y="536131"/>
                  </a:lnTo>
                  <a:lnTo>
                    <a:pt x="4619075" y="567756"/>
                  </a:lnTo>
                  <a:lnTo>
                    <a:pt x="4587455" y="589080"/>
                  </a:lnTo>
                  <a:lnTo>
                    <a:pt x="4548733" y="596900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79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079286" y="2167450"/>
            <a:ext cx="34804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A</a:t>
            </a:r>
            <a:r>
              <a:rPr dirty="0" sz="2400" spc="-5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lot</a:t>
            </a:r>
            <a:r>
              <a:rPr dirty="0" sz="24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of</a:t>
            </a:r>
            <a:r>
              <a:rPr dirty="0" sz="24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insight</a:t>
            </a:r>
            <a:r>
              <a:rPr dirty="0" sz="24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about</a:t>
            </a:r>
            <a:r>
              <a:rPr dirty="0" sz="24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00924" y="2895612"/>
            <a:ext cx="2056130" cy="567055"/>
          </a:xfrm>
          <a:prstGeom prst="rect">
            <a:avLst/>
          </a:prstGeom>
          <a:solidFill>
            <a:srgbClr val="FCD5B5"/>
          </a:solidFill>
        </p:spPr>
        <p:txBody>
          <a:bodyPr wrap="square" lIns="0" tIns="0" rIns="0" bIns="0" rtlCol="0" vert="horz">
            <a:spAutoFit/>
          </a:bodyPr>
          <a:lstStyle/>
          <a:p>
            <a:pPr marL="53975">
              <a:lnSpc>
                <a:spcPts val="3410"/>
              </a:lnSpc>
              <a:tabLst>
                <a:tab pos="1297305" algn="l"/>
              </a:tabLst>
            </a:pPr>
            <a:r>
              <a:rPr dirty="0" sz="2800">
                <a:solidFill>
                  <a:srgbClr val="231F20"/>
                </a:solidFill>
                <a:latin typeface="Times New Roman"/>
                <a:cs typeface="Times New Roman"/>
              </a:rPr>
              <a:t>Vary</a:t>
            </a:r>
            <a:r>
              <a:rPr dirty="0" sz="2800" spc="-1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 spc="-25" i="1">
                <a:solidFill>
                  <a:srgbClr val="231F20"/>
                </a:solidFill>
                <a:latin typeface="Times New Roman"/>
                <a:cs typeface="Times New Roman"/>
              </a:rPr>
              <a:t>T</a:t>
            </a:r>
            <a:r>
              <a:rPr dirty="0" baseline="-26041" sz="2400" spc="-37" i="1">
                <a:solidFill>
                  <a:srgbClr val="231F20"/>
                </a:solidFill>
                <a:latin typeface="Times New Roman"/>
                <a:cs typeface="Times New Roman"/>
              </a:rPr>
              <a:t>p</a:t>
            </a:r>
            <a:r>
              <a:rPr dirty="0" baseline="-26041" sz="2400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800">
                <a:solidFill>
                  <a:srgbClr val="231F20"/>
                </a:solidFill>
                <a:latin typeface="Times New Roman"/>
                <a:cs typeface="Times New Roman"/>
              </a:rPr>
              <a:t>fix</a:t>
            </a:r>
            <a:r>
              <a:rPr dirty="0" sz="2800" spc="-2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950" spc="-50">
                <a:solidFill>
                  <a:srgbClr val="231F20"/>
                </a:solidFill>
                <a:latin typeface="Symbol"/>
                <a:cs typeface="Symbol"/>
              </a:rPr>
              <a:t></a:t>
            </a:r>
            <a:endParaRPr sz="2950">
              <a:latin typeface="Symbol"/>
              <a:cs typeface="Symbo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006475" y="4178312"/>
            <a:ext cx="2663825" cy="2235200"/>
            <a:chOff x="1006475" y="4178312"/>
            <a:chExt cx="2663825" cy="2235200"/>
          </a:xfrm>
        </p:grpSpPr>
        <p:sp>
          <p:nvSpPr>
            <p:cNvPr id="16" name="object 16" descr=""/>
            <p:cNvSpPr/>
            <p:nvPr/>
          </p:nvSpPr>
          <p:spPr>
            <a:xfrm>
              <a:off x="1019175" y="4191012"/>
              <a:ext cx="2638425" cy="2209800"/>
            </a:xfrm>
            <a:custGeom>
              <a:avLst/>
              <a:gdLst/>
              <a:ahLst/>
              <a:cxnLst/>
              <a:rect l="l" t="t" r="r" b="b"/>
              <a:pathLst>
                <a:path w="2638425" h="2209800">
                  <a:moveTo>
                    <a:pt x="0" y="368300"/>
                  </a:moveTo>
                  <a:lnTo>
                    <a:pt x="0" y="1841500"/>
                  </a:lnTo>
                  <a:lnTo>
                    <a:pt x="2869" y="1887698"/>
                  </a:lnTo>
                  <a:lnTo>
                    <a:pt x="11248" y="1932183"/>
                  </a:lnTo>
                  <a:lnTo>
                    <a:pt x="24791" y="1974612"/>
                  </a:lnTo>
                  <a:lnTo>
                    <a:pt x="43153" y="2014638"/>
                  </a:lnTo>
                  <a:lnTo>
                    <a:pt x="65988" y="2051916"/>
                  </a:lnTo>
                  <a:lnTo>
                    <a:pt x="92952" y="2086101"/>
                  </a:lnTo>
                  <a:lnTo>
                    <a:pt x="123700" y="2116848"/>
                  </a:lnTo>
                  <a:lnTo>
                    <a:pt x="157886" y="2143812"/>
                  </a:lnTo>
                  <a:lnTo>
                    <a:pt x="195165" y="2166647"/>
                  </a:lnTo>
                  <a:lnTo>
                    <a:pt x="235193" y="2185008"/>
                  </a:lnTo>
                  <a:lnTo>
                    <a:pt x="277623" y="2198551"/>
                  </a:lnTo>
                  <a:lnTo>
                    <a:pt x="322111" y="2206930"/>
                  </a:lnTo>
                  <a:lnTo>
                    <a:pt x="368312" y="2209800"/>
                  </a:lnTo>
                  <a:lnTo>
                    <a:pt x="2270112" y="2209800"/>
                  </a:lnTo>
                  <a:lnTo>
                    <a:pt x="2316313" y="2206930"/>
                  </a:lnTo>
                  <a:lnTo>
                    <a:pt x="2360801" y="2198551"/>
                  </a:lnTo>
                  <a:lnTo>
                    <a:pt x="2403231" y="2185008"/>
                  </a:lnTo>
                  <a:lnTo>
                    <a:pt x="2443259" y="2166647"/>
                  </a:lnTo>
                  <a:lnTo>
                    <a:pt x="2480538" y="2143812"/>
                  </a:lnTo>
                  <a:lnTo>
                    <a:pt x="2514724" y="2116848"/>
                  </a:lnTo>
                  <a:lnTo>
                    <a:pt x="2545472" y="2086101"/>
                  </a:lnTo>
                  <a:lnTo>
                    <a:pt x="2572436" y="2051916"/>
                  </a:lnTo>
                  <a:lnTo>
                    <a:pt x="2595271" y="2014638"/>
                  </a:lnTo>
                  <a:lnTo>
                    <a:pt x="2613633" y="1974612"/>
                  </a:lnTo>
                  <a:lnTo>
                    <a:pt x="2627176" y="1932183"/>
                  </a:lnTo>
                  <a:lnTo>
                    <a:pt x="2635555" y="1887698"/>
                  </a:lnTo>
                  <a:lnTo>
                    <a:pt x="2638425" y="1841500"/>
                  </a:lnTo>
                  <a:lnTo>
                    <a:pt x="2638425" y="368299"/>
                  </a:lnTo>
                  <a:lnTo>
                    <a:pt x="2635555" y="322101"/>
                  </a:lnTo>
                  <a:lnTo>
                    <a:pt x="2627176" y="277616"/>
                  </a:lnTo>
                  <a:lnTo>
                    <a:pt x="2613633" y="235187"/>
                  </a:lnTo>
                  <a:lnTo>
                    <a:pt x="2595271" y="195161"/>
                  </a:lnTo>
                  <a:lnTo>
                    <a:pt x="2572436" y="157883"/>
                  </a:lnTo>
                  <a:lnTo>
                    <a:pt x="2545472" y="123698"/>
                  </a:lnTo>
                  <a:lnTo>
                    <a:pt x="2514724" y="92951"/>
                  </a:lnTo>
                  <a:lnTo>
                    <a:pt x="2480538" y="65987"/>
                  </a:lnTo>
                  <a:lnTo>
                    <a:pt x="2443259" y="43152"/>
                  </a:lnTo>
                  <a:lnTo>
                    <a:pt x="2403231" y="24791"/>
                  </a:lnTo>
                  <a:lnTo>
                    <a:pt x="2360801" y="11248"/>
                  </a:lnTo>
                  <a:lnTo>
                    <a:pt x="2316313" y="2869"/>
                  </a:lnTo>
                  <a:lnTo>
                    <a:pt x="2270112" y="0"/>
                  </a:lnTo>
                  <a:lnTo>
                    <a:pt x="368312" y="0"/>
                  </a:lnTo>
                  <a:lnTo>
                    <a:pt x="322111" y="2869"/>
                  </a:lnTo>
                  <a:lnTo>
                    <a:pt x="277623" y="11248"/>
                  </a:lnTo>
                  <a:lnTo>
                    <a:pt x="235193" y="24791"/>
                  </a:lnTo>
                  <a:lnTo>
                    <a:pt x="195165" y="43152"/>
                  </a:lnTo>
                  <a:lnTo>
                    <a:pt x="157886" y="65987"/>
                  </a:lnTo>
                  <a:lnTo>
                    <a:pt x="123700" y="92951"/>
                  </a:lnTo>
                  <a:lnTo>
                    <a:pt x="92952" y="123698"/>
                  </a:lnTo>
                  <a:lnTo>
                    <a:pt x="65988" y="157883"/>
                  </a:lnTo>
                  <a:lnTo>
                    <a:pt x="43153" y="195161"/>
                  </a:lnTo>
                  <a:lnTo>
                    <a:pt x="24791" y="235187"/>
                  </a:lnTo>
                  <a:lnTo>
                    <a:pt x="11248" y="277616"/>
                  </a:lnTo>
                  <a:lnTo>
                    <a:pt x="2869" y="322101"/>
                  </a:lnTo>
                  <a:lnTo>
                    <a:pt x="0" y="368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019175" y="4191012"/>
              <a:ext cx="2638425" cy="2209800"/>
            </a:xfrm>
            <a:custGeom>
              <a:avLst/>
              <a:gdLst/>
              <a:ahLst/>
              <a:cxnLst/>
              <a:rect l="l" t="t" r="r" b="b"/>
              <a:pathLst>
                <a:path w="2638425" h="2209800">
                  <a:moveTo>
                    <a:pt x="0" y="368300"/>
                  </a:moveTo>
                  <a:lnTo>
                    <a:pt x="2869" y="322101"/>
                  </a:lnTo>
                  <a:lnTo>
                    <a:pt x="11248" y="277616"/>
                  </a:lnTo>
                  <a:lnTo>
                    <a:pt x="24791" y="235187"/>
                  </a:lnTo>
                  <a:lnTo>
                    <a:pt x="43153" y="195161"/>
                  </a:lnTo>
                  <a:lnTo>
                    <a:pt x="65988" y="157883"/>
                  </a:lnTo>
                  <a:lnTo>
                    <a:pt x="92952" y="123698"/>
                  </a:lnTo>
                  <a:lnTo>
                    <a:pt x="123700" y="92951"/>
                  </a:lnTo>
                  <a:lnTo>
                    <a:pt x="157886" y="65987"/>
                  </a:lnTo>
                  <a:lnTo>
                    <a:pt x="195165" y="43152"/>
                  </a:lnTo>
                  <a:lnTo>
                    <a:pt x="235193" y="24791"/>
                  </a:lnTo>
                  <a:lnTo>
                    <a:pt x="277623" y="11248"/>
                  </a:lnTo>
                  <a:lnTo>
                    <a:pt x="322111" y="2869"/>
                  </a:lnTo>
                  <a:lnTo>
                    <a:pt x="368312" y="0"/>
                  </a:lnTo>
                  <a:lnTo>
                    <a:pt x="2270112" y="0"/>
                  </a:lnTo>
                  <a:lnTo>
                    <a:pt x="2316313" y="2869"/>
                  </a:lnTo>
                  <a:lnTo>
                    <a:pt x="2360801" y="11248"/>
                  </a:lnTo>
                  <a:lnTo>
                    <a:pt x="2403231" y="24791"/>
                  </a:lnTo>
                  <a:lnTo>
                    <a:pt x="2443259" y="43152"/>
                  </a:lnTo>
                  <a:lnTo>
                    <a:pt x="2480538" y="65987"/>
                  </a:lnTo>
                  <a:lnTo>
                    <a:pt x="2514724" y="92951"/>
                  </a:lnTo>
                  <a:lnTo>
                    <a:pt x="2545472" y="123698"/>
                  </a:lnTo>
                  <a:lnTo>
                    <a:pt x="2572436" y="157883"/>
                  </a:lnTo>
                  <a:lnTo>
                    <a:pt x="2595271" y="195161"/>
                  </a:lnTo>
                  <a:lnTo>
                    <a:pt x="2613633" y="235187"/>
                  </a:lnTo>
                  <a:lnTo>
                    <a:pt x="2627176" y="277616"/>
                  </a:lnTo>
                  <a:lnTo>
                    <a:pt x="2635555" y="322101"/>
                  </a:lnTo>
                  <a:lnTo>
                    <a:pt x="2638425" y="368299"/>
                  </a:lnTo>
                  <a:lnTo>
                    <a:pt x="2638425" y="1841500"/>
                  </a:lnTo>
                  <a:lnTo>
                    <a:pt x="2635555" y="1887698"/>
                  </a:lnTo>
                  <a:lnTo>
                    <a:pt x="2627176" y="1932183"/>
                  </a:lnTo>
                  <a:lnTo>
                    <a:pt x="2613633" y="1974612"/>
                  </a:lnTo>
                  <a:lnTo>
                    <a:pt x="2595271" y="2014638"/>
                  </a:lnTo>
                  <a:lnTo>
                    <a:pt x="2572436" y="2051916"/>
                  </a:lnTo>
                  <a:lnTo>
                    <a:pt x="2545472" y="2086101"/>
                  </a:lnTo>
                  <a:lnTo>
                    <a:pt x="2514724" y="2116848"/>
                  </a:lnTo>
                  <a:lnTo>
                    <a:pt x="2480538" y="2143812"/>
                  </a:lnTo>
                  <a:lnTo>
                    <a:pt x="2443259" y="2166647"/>
                  </a:lnTo>
                  <a:lnTo>
                    <a:pt x="2403231" y="2185008"/>
                  </a:lnTo>
                  <a:lnTo>
                    <a:pt x="2360801" y="2198551"/>
                  </a:lnTo>
                  <a:lnTo>
                    <a:pt x="2316313" y="2206930"/>
                  </a:lnTo>
                  <a:lnTo>
                    <a:pt x="2270112" y="2209800"/>
                  </a:lnTo>
                  <a:lnTo>
                    <a:pt x="368312" y="2209800"/>
                  </a:lnTo>
                  <a:lnTo>
                    <a:pt x="322111" y="2206930"/>
                  </a:lnTo>
                  <a:lnTo>
                    <a:pt x="277623" y="2198551"/>
                  </a:lnTo>
                  <a:lnTo>
                    <a:pt x="235193" y="2185008"/>
                  </a:lnTo>
                  <a:lnTo>
                    <a:pt x="195165" y="2166647"/>
                  </a:lnTo>
                  <a:lnTo>
                    <a:pt x="157886" y="2143812"/>
                  </a:lnTo>
                  <a:lnTo>
                    <a:pt x="123700" y="2116848"/>
                  </a:lnTo>
                  <a:lnTo>
                    <a:pt x="92952" y="2086101"/>
                  </a:lnTo>
                  <a:lnTo>
                    <a:pt x="65988" y="2051916"/>
                  </a:lnTo>
                  <a:lnTo>
                    <a:pt x="43153" y="2014638"/>
                  </a:lnTo>
                  <a:lnTo>
                    <a:pt x="24791" y="1974612"/>
                  </a:lnTo>
                  <a:lnTo>
                    <a:pt x="11248" y="1932183"/>
                  </a:lnTo>
                  <a:lnTo>
                    <a:pt x="2869" y="1887698"/>
                  </a:lnTo>
                  <a:lnTo>
                    <a:pt x="0" y="1841500"/>
                  </a:lnTo>
                  <a:lnTo>
                    <a:pt x="0" y="368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1212694" y="4961645"/>
            <a:ext cx="22485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7874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Frequency</a:t>
            </a:r>
            <a:r>
              <a:rPr dirty="0" sz="2000" spc="-3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contents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of</a:t>
            </a:r>
            <a:r>
              <a:rPr dirty="0" sz="2000" spc="-5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signal</a:t>
            </a:r>
            <a:r>
              <a:rPr dirty="0" sz="2000" spc="-4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are</a:t>
            </a:r>
            <a:r>
              <a:rPr dirty="0" sz="2000" spc="-3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changed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00563" y="2873375"/>
            <a:ext cx="4962537" cy="421958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015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885825" y="1876425"/>
            <a:ext cx="8423910" cy="5173980"/>
            <a:chOff x="885825" y="1876425"/>
            <a:chExt cx="8423910" cy="5173980"/>
          </a:xfrm>
        </p:grpSpPr>
        <p:sp>
          <p:nvSpPr>
            <p:cNvPr id="9" name="object 9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6462" y="2011362"/>
              <a:ext cx="7334262" cy="5038737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6324612" y="3276625"/>
              <a:ext cx="2971800" cy="596900"/>
            </a:xfrm>
            <a:custGeom>
              <a:avLst/>
              <a:gdLst/>
              <a:ahLst/>
              <a:cxnLst/>
              <a:rect l="l" t="t" r="r" b="b"/>
              <a:pathLst>
                <a:path w="2971800" h="596900">
                  <a:moveTo>
                    <a:pt x="0" y="99466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872320" y="596900"/>
                  </a:lnTo>
                  <a:lnTo>
                    <a:pt x="2911042" y="589080"/>
                  </a:lnTo>
                  <a:lnTo>
                    <a:pt x="2942663" y="567756"/>
                  </a:lnTo>
                  <a:lnTo>
                    <a:pt x="2963982" y="536131"/>
                  </a:lnTo>
                  <a:lnTo>
                    <a:pt x="2971800" y="497408"/>
                  </a:lnTo>
                  <a:lnTo>
                    <a:pt x="2971800" y="99466"/>
                  </a:lnTo>
                  <a:lnTo>
                    <a:pt x="2963982" y="60752"/>
                  </a:lnTo>
                  <a:lnTo>
                    <a:pt x="2942663" y="29135"/>
                  </a:lnTo>
                  <a:lnTo>
                    <a:pt x="2911042" y="7817"/>
                  </a:lnTo>
                  <a:lnTo>
                    <a:pt x="28723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5"/>
                  </a:lnTo>
                  <a:lnTo>
                    <a:pt x="7817" y="60752"/>
                  </a:lnTo>
                  <a:lnTo>
                    <a:pt x="0" y="99466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324612" y="3276625"/>
              <a:ext cx="2971800" cy="596900"/>
            </a:xfrm>
            <a:custGeom>
              <a:avLst/>
              <a:gdLst/>
              <a:ahLst/>
              <a:cxnLst/>
              <a:rect l="l" t="t" r="r" b="b"/>
              <a:pathLst>
                <a:path w="2971800" h="596900">
                  <a:moveTo>
                    <a:pt x="0" y="99466"/>
                  </a:moveTo>
                  <a:lnTo>
                    <a:pt x="7817" y="60752"/>
                  </a:lnTo>
                  <a:lnTo>
                    <a:pt x="29136" y="29135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2872320" y="0"/>
                  </a:lnTo>
                  <a:lnTo>
                    <a:pt x="2911042" y="7817"/>
                  </a:lnTo>
                  <a:lnTo>
                    <a:pt x="2942663" y="29135"/>
                  </a:lnTo>
                  <a:lnTo>
                    <a:pt x="2963982" y="60752"/>
                  </a:lnTo>
                  <a:lnTo>
                    <a:pt x="2971800" y="99466"/>
                  </a:lnTo>
                  <a:lnTo>
                    <a:pt x="2971800" y="497408"/>
                  </a:lnTo>
                  <a:lnTo>
                    <a:pt x="2963982" y="536131"/>
                  </a:lnTo>
                  <a:lnTo>
                    <a:pt x="2942663" y="567756"/>
                  </a:lnTo>
                  <a:lnTo>
                    <a:pt x="2911042" y="589080"/>
                  </a:lnTo>
                  <a:lnTo>
                    <a:pt x="2872320" y="596900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66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458212" y="3365512"/>
              <a:ext cx="685800" cy="419100"/>
            </a:xfrm>
            <a:custGeom>
              <a:avLst/>
              <a:gdLst/>
              <a:ahLst/>
              <a:cxnLst/>
              <a:rect l="l" t="t" r="r" b="b"/>
              <a:pathLst>
                <a:path w="685800" h="419100">
                  <a:moveTo>
                    <a:pt x="0" y="0"/>
                  </a:moveTo>
                  <a:lnTo>
                    <a:pt x="0" y="419100"/>
                  </a:lnTo>
                  <a:lnTo>
                    <a:pt x="685799" y="419100"/>
                  </a:lnTo>
                  <a:lnTo>
                    <a:pt x="6857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6432485" y="3285953"/>
            <a:ext cx="2679700" cy="4800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Discontinuity</a:t>
            </a:r>
            <a:r>
              <a:rPr dirty="0" sz="2400" spc="-1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400" spc="-30" b="1">
                <a:solidFill>
                  <a:srgbClr val="ED2024"/>
                </a:solidFill>
                <a:latin typeface="Calibri"/>
                <a:cs typeface="Calibri"/>
              </a:rPr>
              <a:t>at</a:t>
            </a:r>
            <a:r>
              <a:rPr dirty="0" sz="2400" spc="-29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baseline="-2824" sz="4425">
                <a:solidFill>
                  <a:srgbClr val="231F20"/>
                </a:solidFill>
                <a:latin typeface="Symbol"/>
                <a:cs typeface="Symbol"/>
              </a:rPr>
              <a:t></a:t>
            </a:r>
            <a:r>
              <a:rPr dirty="0" baseline="-2824" sz="4425" spc="232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2976" sz="4200">
                <a:solidFill>
                  <a:srgbClr val="231F20"/>
                </a:solidFill>
                <a:latin typeface="Times New Roman"/>
                <a:cs typeface="Times New Roman"/>
              </a:rPr>
              <a:t>/</a:t>
            </a:r>
            <a:r>
              <a:rPr dirty="0" baseline="-2976" sz="4200" spc="-202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2976" sz="4200" spc="-75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baseline="-2976" sz="4200">
              <a:latin typeface="Times New Roman"/>
              <a:cs typeface="Times New Roman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808675" y="3873512"/>
            <a:ext cx="3613150" cy="1859280"/>
            <a:chOff x="5808675" y="3873512"/>
            <a:chExt cx="3613150" cy="1859280"/>
          </a:xfrm>
        </p:grpSpPr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08675" y="5491175"/>
              <a:ext cx="2143125" cy="20955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26400" y="5503875"/>
              <a:ext cx="1495425" cy="22860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8669350" y="3873512"/>
              <a:ext cx="0" cy="1454150"/>
            </a:xfrm>
            <a:custGeom>
              <a:avLst/>
              <a:gdLst/>
              <a:ahLst/>
              <a:cxnLst/>
              <a:rect l="l" t="t" r="r" b="b"/>
              <a:pathLst>
                <a:path w="0" h="1454150">
                  <a:moveTo>
                    <a:pt x="0" y="0"/>
                  </a:moveTo>
                  <a:lnTo>
                    <a:pt x="0" y="1454150"/>
                  </a:lnTo>
                </a:path>
              </a:pathLst>
            </a:custGeom>
            <a:ln w="63500">
              <a:solidFill>
                <a:srgbClr val="F6EB1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574113" y="5295900"/>
              <a:ext cx="190500" cy="191135"/>
            </a:xfrm>
            <a:custGeom>
              <a:avLst/>
              <a:gdLst/>
              <a:ahLst/>
              <a:cxnLst/>
              <a:rect l="l" t="t" r="r" b="b"/>
              <a:pathLst>
                <a:path w="190500" h="191135">
                  <a:moveTo>
                    <a:pt x="0" y="0"/>
                  </a:moveTo>
                  <a:lnTo>
                    <a:pt x="95237" y="190512"/>
                  </a:lnTo>
                  <a:lnTo>
                    <a:pt x="190500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3396" y="790956"/>
              <a:ext cx="4433315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15184" y="790956"/>
              <a:ext cx="126492" cy="123139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6712" y="790956"/>
              <a:ext cx="728472" cy="12313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911860">
              <a:lnSpc>
                <a:spcPct val="100000"/>
              </a:lnSpc>
              <a:spcBef>
                <a:spcPts val="105"/>
              </a:spcBef>
            </a:pPr>
            <a:r>
              <a:rPr dirty="0" b="0">
                <a:solidFill>
                  <a:srgbClr val="231F20"/>
                </a:solidFill>
                <a:latin typeface="Calibri"/>
                <a:cs typeface="Calibri"/>
              </a:rPr>
              <a:t>Week</a:t>
            </a:r>
            <a:r>
              <a:rPr dirty="0" spc="-130" b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231F20"/>
                </a:solidFill>
                <a:latin typeface="Calibri"/>
                <a:cs typeface="Calibri"/>
              </a:rPr>
              <a:t>8:</a:t>
            </a:r>
            <a:r>
              <a:rPr dirty="0" spc="-110" b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/>
              <a:t>Frequency</a:t>
            </a:r>
            <a:r>
              <a:rPr dirty="0" spc="-110"/>
              <a:t> </a:t>
            </a:r>
            <a:r>
              <a:rPr dirty="0" spc="-10"/>
              <a:t>Analysis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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540"/>
              </a:spcBef>
            </a:pPr>
          </a:p>
          <a:p>
            <a:pPr marL="469900" marR="5080" indent="-457200">
              <a:lnSpc>
                <a:spcPct val="100000"/>
              </a:lnSpc>
              <a:tabLst>
                <a:tab pos="555625" algn="l"/>
              </a:tabLst>
            </a:pPr>
            <a:r>
              <a:rPr dirty="0" spc="-50"/>
              <a:t></a:t>
            </a:r>
            <a:r>
              <a:rPr dirty="0">
                <a:latin typeface="Times New Roman"/>
                <a:cs typeface="Times New Roman"/>
              </a:rPr>
              <a:t>		</a:t>
            </a:r>
            <a:r>
              <a:rPr dirty="0" spc="-10" b="1">
                <a:solidFill>
                  <a:srgbClr val="231F20"/>
                </a:solidFill>
                <a:latin typeface="Calibri"/>
                <a:cs typeface="Calibri"/>
              </a:rPr>
              <a:t>Frequency</a:t>
            </a:r>
            <a:r>
              <a:rPr dirty="0" spc="-8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231F20"/>
                </a:solidFill>
                <a:latin typeface="Calibri"/>
                <a:cs typeface="Calibri"/>
              </a:rPr>
              <a:t>Analysis</a:t>
            </a:r>
            <a:r>
              <a:rPr dirty="0" spc="-5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pc="-8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continuous</a:t>
            </a:r>
            <a:r>
              <a:rPr dirty="0" spc="-7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time</a:t>
            </a:r>
            <a:r>
              <a:rPr dirty="0" spc="-80" b="1"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00B04F"/>
                </a:solidFill>
                <a:latin typeface="Calibri"/>
                <a:cs typeface="Calibri"/>
              </a:rPr>
              <a:t>aperiodic </a:t>
            </a:r>
            <a:r>
              <a:rPr dirty="0" spc="-10" b="1">
                <a:solidFill>
                  <a:srgbClr val="231F20"/>
                </a:solidFill>
                <a:latin typeface="Calibri"/>
                <a:cs typeface="Calibri"/>
              </a:rPr>
              <a:t>signals</a:t>
            </a:r>
          </a:p>
          <a:p>
            <a:pPr marL="12700">
              <a:lnSpc>
                <a:spcPct val="100000"/>
              </a:lnSpc>
              <a:spcBef>
                <a:spcPts val="3600"/>
              </a:spcBef>
            </a:pPr>
            <a:r>
              <a:rPr dirty="0" spc="-50"/>
              <a:t>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540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50"/>
              <a:t>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8563" y="2060676"/>
            <a:ext cx="4814237" cy="122036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sp>
          <p:nvSpPr>
            <p:cNvPr id="4" name="object 4" descr=""/>
            <p:cNvSpPr/>
            <p:nvPr/>
          </p:nvSpPr>
          <p:spPr>
            <a:xfrm>
              <a:off x="914400" y="731837"/>
              <a:ext cx="8230234" cy="1143000"/>
            </a:xfrm>
            <a:custGeom>
              <a:avLst/>
              <a:gdLst/>
              <a:ahLst/>
              <a:cxnLst/>
              <a:rect l="l" t="t" r="r" b="b"/>
              <a:pathLst>
                <a:path w="8230234" h="1143000">
                  <a:moveTo>
                    <a:pt x="0" y="0"/>
                  </a:moveTo>
                  <a:lnTo>
                    <a:pt x="0" y="1143000"/>
                  </a:lnTo>
                  <a:lnTo>
                    <a:pt x="8229612" y="1143000"/>
                  </a:lnTo>
                  <a:lnTo>
                    <a:pt x="82296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5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6409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9" name="object 9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85800" y="3276612"/>
            <a:ext cx="2301875" cy="516255"/>
          </a:xfrm>
          <a:prstGeom prst="rect">
            <a:avLst/>
          </a:prstGeom>
          <a:solidFill>
            <a:srgbClr val="FCD5B5"/>
          </a:solidFill>
        </p:spPr>
        <p:txBody>
          <a:bodyPr wrap="square" lIns="0" tIns="0" rIns="0" bIns="0" rtlCol="0" vert="horz">
            <a:spAutoFit/>
          </a:bodyPr>
          <a:lstStyle/>
          <a:p>
            <a:pPr marL="48895">
              <a:lnSpc>
                <a:spcPts val="3105"/>
              </a:lnSpc>
              <a:tabLst>
                <a:tab pos="1609090" algn="l"/>
              </a:tabLst>
            </a:pPr>
            <a:r>
              <a:rPr dirty="0" sz="2550" spc="-10">
                <a:solidFill>
                  <a:srgbClr val="231F20"/>
                </a:solidFill>
                <a:latin typeface="Times New Roman"/>
                <a:cs typeface="Times New Roman"/>
              </a:rPr>
              <a:t>Increase</a:t>
            </a:r>
            <a:r>
              <a:rPr dirty="0" sz="2550" spc="-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spc="-25" i="1">
                <a:solidFill>
                  <a:srgbClr val="231F20"/>
                </a:solidFill>
                <a:latin typeface="Times New Roman"/>
                <a:cs typeface="Times New Roman"/>
              </a:rPr>
              <a:t>T</a:t>
            </a:r>
            <a:r>
              <a:rPr dirty="0" baseline="-24904" sz="2175" spc="-37" i="1">
                <a:solidFill>
                  <a:srgbClr val="231F20"/>
                </a:solidFill>
                <a:latin typeface="Times New Roman"/>
                <a:cs typeface="Times New Roman"/>
              </a:rPr>
              <a:t>p</a:t>
            </a:r>
            <a:r>
              <a:rPr dirty="0" baseline="-24904" sz="2175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550">
                <a:solidFill>
                  <a:srgbClr val="231F20"/>
                </a:solidFill>
                <a:latin typeface="Times New Roman"/>
                <a:cs typeface="Times New Roman"/>
              </a:rPr>
              <a:t>fix</a:t>
            </a:r>
            <a:r>
              <a:rPr dirty="0" sz="255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700" spc="-50">
                <a:solidFill>
                  <a:srgbClr val="231F20"/>
                </a:solidFill>
                <a:latin typeface="Symbol"/>
                <a:cs typeface="Symbol"/>
              </a:rPr>
              <a:t></a:t>
            </a:r>
            <a:endParaRPr sz="2700">
              <a:latin typeface="Symbol"/>
              <a:cs typeface="Symbo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33149" y="3204349"/>
            <a:ext cx="4227220" cy="3644696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1816100" y="3949712"/>
            <a:ext cx="2663825" cy="1397000"/>
            <a:chOff x="1816100" y="3949712"/>
            <a:chExt cx="2663825" cy="1397000"/>
          </a:xfrm>
        </p:grpSpPr>
        <p:sp>
          <p:nvSpPr>
            <p:cNvPr id="13" name="object 13" descr=""/>
            <p:cNvSpPr/>
            <p:nvPr/>
          </p:nvSpPr>
          <p:spPr>
            <a:xfrm>
              <a:off x="1828800" y="3962412"/>
              <a:ext cx="2638425" cy="1371600"/>
            </a:xfrm>
            <a:custGeom>
              <a:avLst/>
              <a:gdLst/>
              <a:ahLst/>
              <a:cxnLst/>
              <a:rect l="l" t="t" r="r" b="b"/>
              <a:pathLst>
                <a:path w="2638425" h="1371600">
                  <a:moveTo>
                    <a:pt x="0" y="228600"/>
                  </a:moveTo>
                  <a:lnTo>
                    <a:pt x="0" y="1142987"/>
                  </a:lnTo>
                  <a:lnTo>
                    <a:pt x="4644" y="1189061"/>
                  </a:lnTo>
                  <a:lnTo>
                    <a:pt x="17964" y="1231975"/>
                  </a:lnTo>
                  <a:lnTo>
                    <a:pt x="39041" y="1270808"/>
                  </a:lnTo>
                  <a:lnTo>
                    <a:pt x="66955" y="1304642"/>
                  </a:lnTo>
                  <a:lnTo>
                    <a:pt x="100788" y="1332557"/>
                  </a:lnTo>
                  <a:lnTo>
                    <a:pt x="139619" y="1353635"/>
                  </a:lnTo>
                  <a:lnTo>
                    <a:pt x="182529" y="1366955"/>
                  </a:lnTo>
                  <a:lnTo>
                    <a:pt x="228600" y="1371600"/>
                  </a:lnTo>
                  <a:lnTo>
                    <a:pt x="2409825" y="1371600"/>
                  </a:lnTo>
                  <a:lnTo>
                    <a:pt x="2455895" y="1366955"/>
                  </a:lnTo>
                  <a:lnTo>
                    <a:pt x="2498805" y="1353635"/>
                  </a:lnTo>
                  <a:lnTo>
                    <a:pt x="2537636" y="1332557"/>
                  </a:lnTo>
                  <a:lnTo>
                    <a:pt x="2571469" y="1304642"/>
                  </a:lnTo>
                  <a:lnTo>
                    <a:pt x="2599383" y="1270808"/>
                  </a:lnTo>
                  <a:lnTo>
                    <a:pt x="2620460" y="1231975"/>
                  </a:lnTo>
                  <a:lnTo>
                    <a:pt x="2633780" y="1189061"/>
                  </a:lnTo>
                  <a:lnTo>
                    <a:pt x="2638425" y="1142987"/>
                  </a:lnTo>
                  <a:lnTo>
                    <a:pt x="2638425" y="228600"/>
                  </a:lnTo>
                  <a:lnTo>
                    <a:pt x="2633780" y="182529"/>
                  </a:lnTo>
                  <a:lnTo>
                    <a:pt x="2620460" y="139619"/>
                  </a:lnTo>
                  <a:lnTo>
                    <a:pt x="2599383" y="100788"/>
                  </a:lnTo>
                  <a:lnTo>
                    <a:pt x="2571469" y="66955"/>
                  </a:lnTo>
                  <a:lnTo>
                    <a:pt x="2537636" y="39041"/>
                  </a:lnTo>
                  <a:lnTo>
                    <a:pt x="2498805" y="17964"/>
                  </a:lnTo>
                  <a:lnTo>
                    <a:pt x="2455895" y="4644"/>
                  </a:lnTo>
                  <a:lnTo>
                    <a:pt x="2409825" y="0"/>
                  </a:lnTo>
                  <a:lnTo>
                    <a:pt x="228599" y="0"/>
                  </a:ln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828800" y="3962412"/>
              <a:ext cx="2638425" cy="1371600"/>
            </a:xfrm>
            <a:custGeom>
              <a:avLst/>
              <a:gdLst/>
              <a:ahLst/>
              <a:cxnLst/>
              <a:rect l="l" t="t" r="r" b="b"/>
              <a:pathLst>
                <a:path w="2638425" h="1371600">
                  <a:moveTo>
                    <a:pt x="0" y="228600"/>
                  </a:moveTo>
                  <a:lnTo>
                    <a:pt x="4644" y="182529"/>
                  </a:lnTo>
                  <a:lnTo>
                    <a:pt x="17964" y="139619"/>
                  </a:lnTo>
                  <a:lnTo>
                    <a:pt x="39041" y="100788"/>
                  </a:lnTo>
                  <a:lnTo>
                    <a:pt x="66955" y="66955"/>
                  </a:lnTo>
                  <a:lnTo>
                    <a:pt x="100788" y="39041"/>
                  </a:lnTo>
                  <a:lnTo>
                    <a:pt x="139619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409825" y="0"/>
                  </a:lnTo>
                  <a:lnTo>
                    <a:pt x="2455895" y="4644"/>
                  </a:lnTo>
                  <a:lnTo>
                    <a:pt x="2498805" y="17964"/>
                  </a:lnTo>
                  <a:lnTo>
                    <a:pt x="2537636" y="39041"/>
                  </a:lnTo>
                  <a:lnTo>
                    <a:pt x="2571469" y="66955"/>
                  </a:lnTo>
                  <a:lnTo>
                    <a:pt x="2599383" y="100788"/>
                  </a:lnTo>
                  <a:lnTo>
                    <a:pt x="2620460" y="139619"/>
                  </a:lnTo>
                  <a:lnTo>
                    <a:pt x="2633780" y="182529"/>
                  </a:lnTo>
                  <a:lnTo>
                    <a:pt x="2638425" y="228600"/>
                  </a:lnTo>
                  <a:lnTo>
                    <a:pt x="2638425" y="1142987"/>
                  </a:lnTo>
                  <a:lnTo>
                    <a:pt x="2633780" y="1189061"/>
                  </a:lnTo>
                  <a:lnTo>
                    <a:pt x="2620460" y="1231975"/>
                  </a:lnTo>
                  <a:lnTo>
                    <a:pt x="2599383" y="1270808"/>
                  </a:lnTo>
                  <a:lnTo>
                    <a:pt x="2571469" y="1304642"/>
                  </a:lnTo>
                  <a:lnTo>
                    <a:pt x="2537636" y="1332557"/>
                  </a:lnTo>
                  <a:lnTo>
                    <a:pt x="2498805" y="1353635"/>
                  </a:lnTo>
                  <a:lnTo>
                    <a:pt x="2455895" y="1366955"/>
                  </a:lnTo>
                  <a:lnTo>
                    <a:pt x="2409825" y="1371600"/>
                  </a:lnTo>
                  <a:lnTo>
                    <a:pt x="228600" y="1371600"/>
                  </a:lnTo>
                  <a:lnTo>
                    <a:pt x="182529" y="1366955"/>
                  </a:lnTo>
                  <a:lnTo>
                    <a:pt x="139619" y="1353635"/>
                  </a:lnTo>
                  <a:lnTo>
                    <a:pt x="100788" y="1332557"/>
                  </a:lnTo>
                  <a:lnTo>
                    <a:pt x="66955" y="1304642"/>
                  </a:lnTo>
                  <a:lnTo>
                    <a:pt x="39041" y="1270808"/>
                  </a:lnTo>
                  <a:lnTo>
                    <a:pt x="17964" y="1231975"/>
                  </a:lnTo>
                  <a:lnTo>
                    <a:pt x="4644" y="1189061"/>
                  </a:lnTo>
                  <a:lnTo>
                    <a:pt x="0" y="1142987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032692" y="4161544"/>
            <a:ext cx="222821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Lines</a:t>
            </a:r>
            <a:r>
              <a:rPr dirty="0" sz="20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come</a:t>
            </a:r>
            <a:r>
              <a:rPr dirty="0" sz="2000" spc="-4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closer</a:t>
            </a:r>
            <a:r>
              <a:rPr dirty="0" sz="20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ED2024"/>
                </a:solidFill>
                <a:latin typeface="Calibri"/>
                <a:cs typeface="Calibri"/>
              </a:rPr>
              <a:t>to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each</a:t>
            </a:r>
            <a:r>
              <a:rPr dirty="0" sz="2000" spc="-5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ED2024"/>
                </a:solidFill>
                <a:latin typeface="Calibri"/>
                <a:cs typeface="Calibri"/>
              </a:rPr>
              <a:t>other.</a:t>
            </a:r>
            <a:r>
              <a:rPr dirty="0" sz="2000" spc="-6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Envelope 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remains</a:t>
            </a:r>
            <a:r>
              <a:rPr dirty="0" sz="2000" spc="-6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same.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44537" y="5486412"/>
            <a:ext cx="1084580" cy="516255"/>
          </a:xfrm>
          <a:prstGeom prst="rect">
            <a:avLst/>
          </a:prstGeom>
          <a:solidFill>
            <a:srgbClr val="FCD5B5"/>
          </a:solidFill>
        </p:spPr>
        <p:txBody>
          <a:bodyPr wrap="square" lIns="0" tIns="190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5"/>
              </a:spcBef>
            </a:pP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T</a:t>
            </a:r>
            <a:r>
              <a:rPr dirty="0" baseline="-24904" sz="2175" i="1">
                <a:solidFill>
                  <a:srgbClr val="231F20"/>
                </a:solidFill>
                <a:latin typeface="Times New Roman"/>
                <a:cs typeface="Times New Roman"/>
              </a:rPr>
              <a:t>p</a:t>
            </a:r>
            <a:r>
              <a:rPr dirty="0" baseline="-24904" sz="2175" spc="112" i="1">
                <a:solidFill>
                  <a:srgbClr val="231F20"/>
                </a:solidFill>
                <a:latin typeface="Times New Roman"/>
                <a:cs typeface="Times New Roman"/>
              </a:rPr>
              <a:t>  </a:t>
            </a:r>
            <a:r>
              <a:rPr dirty="0" sz="2550">
                <a:solidFill>
                  <a:srgbClr val="231F20"/>
                </a:solidFill>
                <a:latin typeface="Symbol"/>
                <a:cs typeface="Symbol"/>
              </a:rPr>
              <a:t></a:t>
            </a:r>
            <a:r>
              <a:rPr dirty="0" sz="2550" spc="-1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spc="-50">
                <a:solidFill>
                  <a:srgbClr val="231F20"/>
                </a:solidFill>
                <a:latin typeface="Symbol"/>
                <a:cs typeface="Symbol"/>
              </a:rPr>
              <a:t></a:t>
            </a:r>
            <a:endParaRPr sz="2550">
              <a:latin typeface="Symbol"/>
              <a:cs typeface="Symbo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866900" y="5715012"/>
            <a:ext cx="2663825" cy="1397000"/>
            <a:chOff x="1866900" y="5715012"/>
            <a:chExt cx="2663825" cy="1397000"/>
          </a:xfrm>
        </p:grpSpPr>
        <p:sp>
          <p:nvSpPr>
            <p:cNvPr id="18" name="object 18" descr=""/>
            <p:cNvSpPr/>
            <p:nvPr/>
          </p:nvSpPr>
          <p:spPr>
            <a:xfrm>
              <a:off x="1879600" y="5727712"/>
              <a:ext cx="2638425" cy="1371600"/>
            </a:xfrm>
            <a:custGeom>
              <a:avLst/>
              <a:gdLst/>
              <a:ahLst/>
              <a:cxnLst/>
              <a:rect l="l" t="t" r="r" b="b"/>
              <a:pathLst>
                <a:path w="2638425" h="1371600">
                  <a:moveTo>
                    <a:pt x="0" y="228600"/>
                  </a:moveTo>
                  <a:lnTo>
                    <a:pt x="0" y="1142987"/>
                  </a:lnTo>
                  <a:lnTo>
                    <a:pt x="4644" y="1189061"/>
                  </a:lnTo>
                  <a:lnTo>
                    <a:pt x="17964" y="1231975"/>
                  </a:lnTo>
                  <a:lnTo>
                    <a:pt x="39041" y="1270808"/>
                  </a:lnTo>
                  <a:lnTo>
                    <a:pt x="66955" y="1304642"/>
                  </a:lnTo>
                  <a:lnTo>
                    <a:pt x="100788" y="1332557"/>
                  </a:lnTo>
                  <a:lnTo>
                    <a:pt x="139619" y="1353635"/>
                  </a:lnTo>
                  <a:lnTo>
                    <a:pt x="182529" y="1366955"/>
                  </a:lnTo>
                  <a:lnTo>
                    <a:pt x="228600" y="1371600"/>
                  </a:lnTo>
                  <a:lnTo>
                    <a:pt x="2409825" y="1371599"/>
                  </a:lnTo>
                  <a:lnTo>
                    <a:pt x="2455895" y="1366955"/>
                  </a:lnTo>
                  <a:lnTo>
                    <a:pt x="2498805" y="1353635"/>
                  </a:lnTo>
                  <a:lnTo>
                    <a:pt x="2537636" y="1332557"/>
                  </a:lnTo>
                  <a:lnTo>
                    <a:pt x="2571469" y="1304642"/>
                  </a:lnTo>
                  <a:lnTo>
                    <a:pt x="2599383" y="1270808"/>
                  </a:lnTo>
                  <a:lnTo>
                    <a:pt x="2620460" y="1231975"/>
                  </a:lnTo>
                  <a:lnTo>
                    <a:pt x="2633780" y="1189061"/>
                  </a:lnTo>
                  <a:lnTo>
                    <a:pt x="2638425" y="1142987"/>
                  </a:lnTo>
                  <a:lnTo>
                    <a:pt x="2638425" y="228599"/>
                  </a:lnTo>
                  <a:lnTo>
                    <a:pt x="2633780" y="182529"/>
                  </a:lnTo>
                  <a:lnTo>
                    <a:pt x="2620460" y="139619"/>
                  </a:lnTo>
                  <a:lnTo>
                    <a:pt x="2599383" y="100788"/>
                  </a:lnTo>
                  <a:lnTo>
                    <a:pt x="2571469" y="66955"/>
                  </a:lnTo>
                  <a:lnTo>
                    <a:pt x="2537636" y="39041"/>
                  </a:lnTo>
                  <a:lnTo>
                    <a:pt x="2498805" y="17964"/>
                  </a:lnTo>
                  <a:lnTo>
                    <a:pt x="2455895" y="4644"/>
                  </a:lnTo>
                  <a:lnTo>
                    <a:pt x="2409825" y="0"/>
                  </a:lnTo>
                  <a:lnTo>
                    <a:pt x="228599" y="0"/>
                  </a:ln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879600" y="5727712"/>
              <a:ext cx="2638425" cy="1371600"/>
            </a:xfrm>
            <a:custGeom>
              <a:avLst/>
              <a:gdLst/>
              <a:ahLst/>
              <a:cxnLst/>
              <a:rect l="l" t="t" r="r" b="b"/>
              <a:pathLst>
                <a:path w="2638425" h="1371600">
                  <a:moveTo>
                    <a:pt x="0" y="228600"/>
                  </a:moveTo>
                  <a:lnTo>
                    <a:pt x="4644" y="182529"/>
                  </a:lnTo>
                  <a:lnTo>
                    <a:pt x="17964" y="139619"/>
                  </a:lnTo>
                  <a:lnTo>
                    <a:pt x="39041" y="100788"/>
                  </a:lnTo>
                  <a:lnTo>
                    <a:pt x="66955" y="66955"/>
                  </a:lnTo>
                  <a:lnTo>
                    <a:pt x="100788" y="39041"/>
                  </a:lnTo>
                  <a:lnTo>
                    <a:pt x="139619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409825" y="0"/>
                  </a:lnTo>
                  <a:lnTo>
                    <a:pt x="2455895" y="4644"/>
                  </a:lnTo>
                  <a:lnTo>
                    <a:pt x="2498805" y="17964"/>
                  </a:lnTo>
                  <a:lnTo>
                    <a:pt x="2537636" y="39041"/>
                  </a:lnTo>
                  <a:lnTo>
                    <a:pt x="2571469" y="66955"/>
                  </a:lnTo>
                  <a:lnTo>
                    <a:pt x="2599383" y="100788"/>
                  </a:lnTo>
                  <a:lnTo>
                    <a:pt x="2620460" y="139619"/>
                  </a:lnTo>
                  <a:lnTo>
                    <a:pt x="2633780" y="182529"/>
                  </a:lnTo>
                  <a:lnTo>
                    <a:pt x="2638425" y="228599"/>
                  </a:lnTo>
                  <a:lnTo>
                    <a:pt x="2638425" y="1142987"/>
                  </a:lnTo>
                  <a:lnTo>
                    <a:pt x="2633780" y="1189061"/>
                  </a:lnTo>
                  <a:lnTo>
                    <a:pt x="2620460" y="1231975"/>
                  </a:lnTo>
                  <a:lnTo>
                    <a:pt x="2599383" y="1270808"/>
                  </a:lnTo>
                  <a:lnTo>
                    <a:pt x="2571469" y="1304642"/>
                  </a:lnTo>
                  <a:lnTo>
                    <a:pt x="2537636" y="1332557"/>
                  </a:lnTo>
                  <a:lnTo>
                    <a:pt x="2498805" y="1353635"/>
                  </a:lnTo>
                  <a:lnTo>
                    <a:pt x="2455895" y="1366955"/>
                  </a:lnTo>
                  <a:lnTo>
                    <a:pt x="2409825" y="1371599"/>
                  </a:lnTo>
                  <a:lnTo>
                    <a:pt x="228600" y="1371600"/>
                  </a:lnTo>
                  <a:lnTo>
                    <a:pt x="182529" y="1366955"/>
                  </a:lnTo>
                  <a:lnTo>
                    <a:pt x="139619" y="1353635"/>
                  </a:lnTo>
                  <a:lnTo>
                    <a:pt x="100788" y="1332557"/>
                  </a:lnTo>
                  <a:lnTo>
                    <a:pt x="66955" y="1304642"/>
                  </a:lnTo>
                  <a:lnTo>
                    <a:pt x="39041" y="1270808"/>
                  </a:lnTo>
                  <a:lnTo>
                    <a:pt x="17964" y="1231975"/>
                  </a:lnTo>
                  <a:lnTo>
                    <a:pt x="4644" y="1189061"/>
                  </a:lnTo>
                  <a:lnTo>
                    <a:pt x="0" y="1142987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2025298" y="5836932"/>
            <a:ext cx="217487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Spectrum</a:t>
            </a:r>
            <a:r>
              <a:rPr dirty="0" sz="18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ED2024"/>
                </a:solidFill>
                <a:latin typeface="Calibri"/>
                <a:cs typeface="Calibri"/>
              </a:rPr>
              <a:t>becomes continuous</a:t>
            </a:r>
            <a:endParaRPr sz="1800">
              <a:latin typeface="Calibri"/>
              <a:cs typeface="Calibri"/>
            </a:endParaRPr>
          </a:p>
          <a:p>
            <a:pPr marL="355600" marR="434975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00" b="1" i="1">
                <a:solidFill>
                  <a:srgbClr val="ED2024"/>
                </a:solidFill>
                <a:latin typeface="Calibri"/>
                <a:cs typeface="Calibri"/>
              </a:rPr>
              <a:t>x(t)</a:t>
            </a:r>
            <a:r>
              <a:rPr dirty="0" sz="1800" spc="-10" b="1" i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is</a:t>
            </a:r>
            <a:r>
              <a:rPr dirty="0" sz="1800" spc="-2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no</a:t>
            </a:r>
            <a:r>
              <a:rPr dirty="0" sz="1800" spc="-20" b="1">
                <a:solidFill>
                  <a:srgbClr val="ED2024"/>
                </a:solidFill>
                <a:latin typeface="Calibri"/>
                <a:cs typeface="Calibri"/>
              </a:rPr>
              <a:t> more </a:t>
            </a:r>
            <a:r>
              <a:rPr dirty="0" sz="1800" spc="-10" b="1">
                <a:solidFill>
                  <a:srgbClr val="ED2024"/>
                </a:solidFill>
                <a:latin typeface="Calibri"/>
                <a:cs typeface="Calibri"/>
              </a:rPr>
              <a:t>periodic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704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62935" y="3835730"/>
            <a:ext cx="3384244" cy="64960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59137" y="5999175"/>
            <a:ext cx="3152775" cy="59055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9962" y="2195512"/>
            <a:ext cx="5562612" cy="154305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9513" y="4694250"/>
            <a:ext cx="5162561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6409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901700" y="2044700"/>
            <a:ext cx="3302000" cy="711200"/>
            <a:chOff x="901700" y="2044700"/>
            <a:chExt cx="3302000" cy="711200"/>
          </a:xfrm>
        </p:grpSpPr>
        <p:sp>
          <p:nvSpPr>
            <p:cNvPr id="9" name="object 9" descr=""/>
            <p:cNvSpPr/>
            <p:nvPr/>
          </p:nvSpPr>
          <p:spPr>
            <a:xfrm>
              <a:off x="914400" y="2057400"/>
              <a:ext cx="3276600" cy="685800"/>
            </a:xfrm>
            <a:custGeom>
              <a:avLst/>
              <a:gdLst/>
              <a:ahLst/>
              <a:cxnLst/>
              <a:rect l="l" t="t" r="r" b="b"/>
              <a:pathLst>
                <a:path w="32766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3162300" y="685800"/>
                  </a:lnTo>
                  <a:lnTo>
                    <a:pt x="3206787" y="676816"/>
                  </a:lnTo>
                  <a:lnTo>
                    <a:pt x="3243119" y="652319"/>
                  </a:lnTo>
                  <a:lnTo>
                    <a:pt x="3267616" y="615987"/>
                  </a:lnTo>
                  <a:lnTo>
                    <a:pt x="3276600" y="571500"/>
                  </a:lnTo>
                  <a:lnTo>
                    <a:pt x="3276600" y="114300"/>
                  </a:lnTo>
                  <a:lnTo>
                    <a:pt x="3267616" y="69806"/>
                  </a:lnTo>
                  <a:lnTo>
                    <a:pt x="3243119" y="33475"/>
                  </a:lnTo>
                  <a:lnTo>
                    <a:pt x="3206787" y="8981"/>
                  </a:lnTo>
                  <a:lnTo>
                    <a:pt x="31623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4400" y="2057400"/>
              <a:ext cx="3276600" cy="685800"/>
            </a:xfrm>
            <a:custGeom>
              <a:avLst/>
              <a:gdLst/>
              <a:ahLst/>
              <a:cxnLst/>
              <a:rect l="l" t="t" r="r" b="b"/>
              <a:pathLst>
                <a:path w="32766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3162300" y="0"/>
                  </a:lnTo>
                  <a:lnTo>
                    <a:pt x="3206787" y="8981"/>
                  </a:lnTo>
                  <a:lnTo>
                    <a:pt x="3243119" y="33475"/>
                  </a:lnTo>
                  <a:lnTo>
                    <a:pt x="3267616" y="69806"/>
                  </a:lnTo>
                  <a:lnTo>
                    <a:pt x="3276600" y="114300"/>
                  </a:lnTo>
                  <a:lnTo>
                    <a:pt x="3276600" y="571500"/>
                  </a:lnTo>
                  <a:lnTo>
                    <a:pt x="3267616" y="615987"/>
                  </a:lnTo>
                  <a:lnTo>
                    <a:pt x="3243119" y="652319"/>
                  </a:lnTo>
                  <a:lnTo>
                    <a:pt x="3206787" y="676816"/>
                  </a:lnTo>
                  <a:lnTo>
                    <a:pt x="31623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129254" y="2218441"/>
            <a:ext cx="5899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CTFT: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860977" y="2218441"/>
            <a:ext cx="21120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Dirichlet</a:t>
            </a:r>
            <a:r>
              <a:rPr dirty="0" sz="2000" spc="-3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Conditions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2394" y="3443731"/>
            <a:ext cx="6742277" cy="237419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6409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901700" y="2044700"/>
            <a:ext cx="3302000" cy="711200"/>
            <a:chOff x="901700" y="2044700"/>
            <a:chExt cx="3302000" cy="711200"/>
          </a:xfrm>
        </p:grpSpPr>
        <p:sp>
          <p:nvSpPr>
            <p:cNvPr id="9" name="object 9" descr=""/>
            <p:cNvSpPr/>
            <p:nvPr/>
          </p:nvSpPr>
          <p:spPr>
            <a:xfrm>
              <a:off x="914400" y="2057400"/>
              <a:ext cx="3276600" cy="685800"/>
            </a:xfrm>
            <a:custGeom>
              <a:avLst/>
              <a:gdLst/>
              <a:ahLst/>
              <a:cxnLst/>
              <a:rect l="l" t="t" r="r" b="b"/>
              <a:pathLst>
                <a:path w="32766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3162300" y="685800"/>
                  </a:lnTo>
                  <a:lnTo>
                    <a:pt x="3206787" y="676816"/>
                  </a:lnTo>
                  <a:lnTo>
                    <a:pt x="3243119" y="652319"/>
                  </a:lnTo>
                  <a:lnTo>
                    <a:pt x="3267616" y="615987"/>
                  </a:lnTo>
                  <a:lnTo>
                    <a:pt x="3276600" y="571500"/>
                  </a:lnTo>
                  <a:lnTo>
                    <a:pt x="3276600" y="114300"/>
                  </a:lnTo>
                  <a:lnTo>
                    <a:pt x="3267616" y="69806"/>
                  </a:lnTo>
                  <a:lnTo>
                    <a:pt x="3243119" y="33475"/>
                  </a:lnTo>
                  <a:lnTo>
                    <a:pt x="3206787" y="8981"/>
                  </a:lnTo>
                  <a:lnTo>
                    <a:pt x="31623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4400" y="2057400"/>
              <a:ext cx="3276600" cy="685800"/>
            </a:xfrm>
            <a:custGeom>
              <a:avLst/>
              <a:gdLst/>
              <a:ahLst/>
              <a:cxnLst/>
              <a:rect l="l" t="t" r="r" b="b"/>
              <a:pathLst>
                <a:path w="32766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3162300" y="0"/>
                  </a:lnTo>
                  <a:lnTo>
                    <a:pt x="3206787" y="8981"/>
                  </a:lnTo>
                  <a:lnTo>
                    <a:pt x="3243119" y="33475"/>
                  </a:lnTo>
                  <a:lnTo>
                    <a:pt x="3267616" y="69806"/>
                  </a:lnTo>
                  <a:lnTo>
                    <a:pt x="3276600" y="114300"/>
                  </a:lnTo>
                  <a:lnTo>
                    <a:pt x="3276600" y="571500"/>
                  </a:lnTo>
                  <a:lnTo>
                    <a:pt x="3267616" y="615987"/>
                  </a:lnTo>
                  <a:lnTo>
                    <a:pt x="3243119" y="652319"/>
                  </a:lnTo>
                  <a:lnTo>
                    <a:pt x="3206787" y="676816"/>
                  </a:lnTo>
                  <a:lnTo>
                    <a:pt x="31623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363944" y="2218441"/>
            <a:ext cx="5899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CTFT: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095972" y="2218441"/>
            <a:ext cx="16427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Representation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054100" y="3324568"/>
            <a:ext cx="3073400" cy="622300"/>
            <a:chOff x="1054100" y="3324568"/>
            <a:chExt cx="3073400" cy="622300"/>
          </a:xfrm>
        </p:grpSpPr>
        <p:sp>
          <p:nvSpPr>
            <p:cNvPr id="14" name="object 14" descr=""/>
            <p:cNvSpPr/>
            <p:nvPr/>
          </p:nvSpPr>
          <p:spPr>
            <a:xfrm>
              <a:off x="1066800" y="3337268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66"/>
                  </a:moveTo>
                  <a:lnTo>
                    <a:pt x="0" y="497395"/>
                  </a:lnTo>
                  <a:lnTo>
                    <a:pt x="7817" y="536126"/>
                  </a:lnTo>
                  <a:lnTo>
                    <a:pt x="29136" y="567755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48520" y="596900"/>
                  </a:lnTo>
                  <a:lnTo>
                    <a:pt x="2987242" y="589080"/>
                  </a:lnTo>
                  <a:lnTo>
                    <a:pt x="3018863" y="567755"/>
                  </a:lnTo>
                  <a:lnTo>
                    <a:pt x="3040182" y="536126"/>
                  </a:lnTo>
                  <a:lnTo>
                    <a:pt x="3048000" y="497395"/>
                  </a:lnTo>
                  <a:lnTo>
                    <a:pt x="3048000" y="99466"/>
                  </a:lnTo>
                  <a:lnTo>
                    <a:pt x="3040182" y="60752"/>
                  </a:lnTo>
                  <a:lnTo>
                    <a:pt x="3018863" y="29135"/>
                  </a:lnTo>
                  <a:lnTo>
                    <a:pt x="2987242" y="7817"/>
                  </a:lnTo>
                  <a:lnTo>
                    <a:pt x="29485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5"/>
                  </a:lnTo>
                  <a:lnTo>
                    <a:pt x="7817" y="60752"/>
                  </a:lnTo>
                  <a:lnTo>
                    <a:pt x="0" y="99466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66800" y="3337268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66"/>
                  </a:moveTo>
                  <a:lnTo>
                    <a:pt x="7817" y="60752"/>
                  </a:lnTo>
                  <a:lnTo>
                    <a:pt x="29136" y="29135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2948520" y="0"/>
                  </a:lnTo>
                  <a:lnTo>
                    <a:pt x="2987242" y="7817"/>
                  </a:lnTo>
                  <a:lnTo>
                    <a:pt x="3018863" y="29135"/>
                  </a:lnTo>
                  <a:lnTo>
                    <a:pt x="3040182" y="60752"/>
                  </a:lnTo>
                  <a:lnTo>
                    <a:pt x="3048000" y="99466"/>
                  </a:lnTo>
                  <a:lnTo>
                    <a:pt x="3048000" y="497395"/>
                  </a:lnTo>
                  <a:lnTo>
                    <a:pt x="3040182" y="536126"/>
                  </a:lnTo>
                  <a:lnTo>
                    <a:pt x="3018863" y="567755"/>
                  </a:lnTo>
                  <a:lnTo>
                    <a:pt x="2987242" y="589080"/>
                  </a:lnTo>
                  <a:lnTo>
                    <a:pt x="2948520" y="596900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5"/>
                  </a:lnTo>
                  <a:lnTo>
                    <a:pt x="7817" y="536126"/>
                  </a:lnTo>
                  <a:lnTo>
                    <a:pt x="0" y="497395"/>
                  </a:lnTo>
                  <a:lnTo>
                    <a:pt x="0" y="99466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243331" y="3420308"/>
            <a:ext cx="26936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Magnitude</a:t>
            </a:r>
            <a:r>
              <a:rPr dirty="0" sz="2400" spc="-5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066800" y="4102112"/>
            <a:ext cx="7849234" cy="914400"/>
          </a:xfrm>
          <a:custGeom>
            <a:avLst/>
            <a:gdLst/>
            <a:ahLst/>
            <a:cxnLst/>
            <a:rect l="l" t="t" r="r" b="b"/>
            <a:pathLst>
              <a:path w="7849234" h="914400">
                <a:moveTo>
                  <a:pt x="0" y="0"/>
                </a:moveTo>
                <a:lnTo>
                  <a:pt x="0" y="914400"/>
                </a:lnTo>
                <a:lnTo>
                  <a:pt x="7848612" y="914400"/>
                </a:lnTo>
                <a:lnTo>
                  <a:pt x="7848612" y="0"/>
                </a:lnTo>
                <a:lnTo>
                  <a:pt x="0" y="0"/>
                </a:lnTo>
                <a:close/>
              </a:path>
            </a:pathLst>
          </a:custGeom>
          <a:solidFill>
            <a:srgbClr val="4E81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066800" y="4102112"/>
            <a:ext cx="7849234" cy="914400"/>
          </a:xfrm>
          <a:prstGeom prst="rect">
            <a:avLst/>
          </a:prstGeom>
          <a:ln w="25400">
            <a:solidFill>
              <a:srgbClr val="385D8A"/>
            </a:solidFill>
          </a:ln>
        </p:spPr>
        <p:txBody>
          <a:bodyPr wrap="square" lIns="0" tIns="23812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875"/>
              </a:spcBef>
              <a:tabLst>
                <a:tab pos="2242185" algn="l"/>
              </a:tabLst>
            </a:pP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Plot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	as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frequency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2165997" y="4262094"/>
            <a:ext cx="1029335" cy="596265"/>
            <a:chOff x="2165997" y="4262094"/>
            <a:chExt cx="1029335" cy="596265"/>
          </a:xfrm>
        </p:grpSpPr>
        <p:sp>
          <p:nvSpPr>
            <p:cNvPr id="20" name="object 20" descr=""/>
            <p:cNvSpPr/>
            <p:nvPr/>
          </p:nvSpPr>
          <p:spPr>
            <a:xfrm>
              <a:off x="2165997" y="4262094"/>
              <a:ext cx="1029335" cy="596265"/>
            </a:xfrm>
            <a:custGeom>
              <a:avLst/>
              <a:gdLst/>
              <a:ahLst/>
              <a:cxnLst/>
              <a:rect l="l" t="t" r="r" b="b"/>
              <a:pathLst>
                <a:path w="1029335" h="596264">
                  <a:moveTo>
                    <a:pt x="0" y="0"/>
                  </a:moveTo>
                  <a:lnTo>
                    <a:pt x="0" y="596036"/>
                  </a:lnTo>
                  <a:lnTo>
                    <a:pt x="1028992" y="596036"/>
                  </a:lnTo>
                  <a:lnTo>
                    <a:pt x="10289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227897" y="4342472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w="0" h="435610">
                  <a:moveTo>
                    <a:pt x="0" y="0"/>
                  </a:moveTo>
                  <a:lnTo>
                    <a:pt x="0" y="435178"/>
                  </a:lnTo>
                </a:path>
              </a:pathLst>
            </a:custGeom>
            <a:ln w="1607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104629" y="4342472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w="0" h="435610">
                  <a:moveTo>
                    <a:pt x="0" y="0"/>
                  </a:moveTo>
                  <a:lnTo>
                    <a:pt x="0" y="435178"/>
                  </a:lnTo>
                </a:path>
              </a:pathLst>
            </a:custGeom>
            <a:ln w="1607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2165997" y="4262094"/>
            <a:ext cx="1029335" cy="596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6364">
              <a:lnSpc>
                <a:spcPts val="3654"/>
              </a:lnSpc>
            </a:pP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2550" spc="3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19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-3316" sz="5025" spc="-8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sz="2550" spc="-229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509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endParaRPr baseline="-3316" sz="5025">
              <a:latin typeface="Symbol"/>
              <a:cs typeface="Symbo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028700" y="5905512"/>
            <a:ext cx="7849234" cy="914400"/>
            <a:chOff x="1028700" y="5905512"/>
            <a:chExt cx="7849234" cy="914400"/>
          </a:xfrm>
        </p:grpSpPr>
        <p:sp>
          <p:nvSpPr>
            <p:cNvPr id="25" name="object 25" descr=""/>
            <p:cNvSpPr/>
            <p:nvPr/>
          </p:nvSpPr>
          <p:spPr>
            <a:xfrm>
              <a:off x="1028700" y="5905512"/>
              <a:ext cx="7849234" cy="914400"/>
            </a:xfrm>
            <a:custGeom>
              <a:avLst/>
              <a:gdLst/>
              <a:ahLst/>
              <a:cxnLst/>
              <a:rect l="l" t="t" r="r" b="b"/>
              <a:pathLst>
                <a:path w="7849234" h="914400">
                  <a:moveTo>
                    <a:pt x="0" y="0"/>
                  </a:moveTo>
                  <a:lnTo>
                    <a:pt x="0" y="914400"/>
                  </a:lnTo>
                  <a:lnTo>
                    <a:pt x="7848612" y="914400"/>
                  </a:lnTo>
                  <a:lnTo>
                    <a:pt x="78486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8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128837" y="6062675"/>
              <a:ext cx="952500" cy="598805"/>
            </a:xfrm>
            <a:custGeom>
              <a:avLst/>
              <a:gdLst/>
              <a:ahLst/>
              <a:cxnLst/>
              <a:rect l="l" t="t" r="r" b="b"/>
              <a:pathLst>
                <a:path w="952500" h="598804">
                  <a:moveTo>
                    <a:pt x="0" y="0"/>
                  </a:moveTo>
                  <a:lnTo>
                    <a:pt x="0" y="598487"/>
                  </a:lnTo>
                  <a:lnTo>
                    <a:pt x="952500" y="598487"/>
                  </a:lnTo>
                  <a:lnTo>
                    <a:pt x="952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028700" y="5905512"/>
            <a:ext cx="7849234" cy="914400"/>
          </a:xfrm>
          <a:prstGeom prst="rect">
            <a:avLst/>
          </a:prstGeom>
          <a:ln w="25400">
            <a:solidFill>
              <a:srgbClr val="385D8A"/>
            </a:solidFill>
          </a:ln>
        </p:spPr>
        <p:txBody>
          <a:bodyPr wrap="square" lIns="0" tIns="1022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805"/>
              </a:spcBef>
              <a:tabLst>
                <a:tab pos="1148080" algn="l"/>
              </a:tabLst>
            </a:pPr>
            <a:r>
              <a:rPr dirty="0" baseline="1068" sz="3900">
                <a:solidFill>
                  <a:srgbClr val="FFFFFF"/>
                </a:solidFill>
                <a:latin typeface="Calibri"/>
                <a:cs typeface="Calibri"/>
              </a:rPr>
              <a:t>Plot</a:t>
            </a:r>
            <a:r>
              <a:rPr dirty="0" baseline="1068" sz="3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1068" sz="3900" spc="-37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baseline="1068" sz="39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baseline="3968" sz="4200" spc="-37">
                <a:solidFill>
                  <a:srgbClr val="231F20"/>
                </a:solidFill>
                <a:latin typeface="Symbol"/>
                <a:cs typeface="Symbol"/>
              </a:rPr>
              <a:t></a:t>
            </a:r>
            <a:r>
              <a:rPr dirty="0" sz="3700" spc="-25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3700" spc="-6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3968" sz="420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baseline="3968" sz="4200" spc="-382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700" spc="-325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sz="3700" spc="3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1068" sz="39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baseline="1068" sz="3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1068" sz="39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baseline="1068" sz="3900" spc="-22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1068" sz="390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dirty="0" baseline="1068" sz="3900" spc="-52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1068" sz="39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baseline="1068" sz="3900" spc="-15">
                <a:solidFill>
                  <a:srgbClr val="FFFFFF"/>
                </a:solidFill>
                <a:latin typeface="Calibri"/>
                <a:cs typeface="Calibri"/>
              </a:rPr>
              <a:t> frequency</a:t>
            </a:r>
            <a:endParaRPr baseline="1068" sz="3900">
              <a:latin typeface="Calibri"/>
              <a:cs typeface="Calibr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003300" y="5168912"/>
            <a:ext cx="3124200" cy="622300"/>
            <a:chOff x="1003300" y="5168912"/>
            <a:chExt cx="3124200" cy="622300"/>
          </a:xfrm>
        </p:grpSpPr>
        <p:sp>
          <p:nvSpPr>
            <p:cNvPr id="29" name="object 29" descr=""/>
            <p:cNvSpPr/>
            <p:nvPr/>
          </p:nvSpPr>
          <p:spPr>
            <a:xfrm>
              <a:off x="1016000" y="5181612"/>
              <a:ext cx="3098800" cy="596900"/>
            </a:xfrm>
            <a:custGeom>
              <a:avLst/>
              <a:gdLst/>
              <a:ahLst/>
              <a:cxnLst/>
              <a:rect l="l" t="t" r="r" b="b"/>
              <a:pathLst>
                <a:path w="3098800" h="596900">
                  <a:moveTo>
                    <a:pt x="0" y="99479"/>
                  </a:moveTo>
                  <a:lnTo>
                    <a:pt x="0" y="497420"/>
                  </a:lnTo>
                  <a:lnTo>
                    <a:pt x="7817" y="536137"/>
                  </a:lnTo>
                  <a:lnTo>
                    <a:pt x="29136" y="567758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99320" y="596899"/>
                  </a:lnTo>
                  <a:lnTo>
                    <a:pt x="3038042" y="589080"/>
                  </a:lnTo>
                  <a:lnTo>
                    <a:pt x="3069663" y="567758"/>
                  </a:lnTo>
                  <a:lnTo>
                    <a:pt x="3090982" y="536137"/>
                  </a:lnTo>
                  <a:lnTo>
                    <a:pt x="3098800" y="497420"/>
                  </a:lnTo>
                  <a:lnTo>
                    <a:pt x="3098800" y="99479"/>
                  </a:lnTo>
                  <a:lnTo>
                    <a:pt x="3090982" y="60762"/>
                  </a:lnTo>
                  <a:lnTo>
                    <a:pt x="3069663" y="29141"/>
                  </a:lnTo>
                  <a:lnTo>
                    <a:pt x="3038042" y="7819"/>
                  </a:lnTo>
                  <a:lnTo>
                    <a:pt x="2999320" y="0"/>
                  </a:lnTo>
                  <a:lnTo>
                    <a:pt x="99479" y="0"/>
                  </a:lnTo>
                  <a:lnTo>
                    <a:pt x="60757" y="7819"/>
                  </a:lnTo>
                  <a:lnTo>
                    <a:pt x="29136" y="29141"/>
                  </a:lnTo>
                  <a:lnTo>
                    <a:pt x="7817" y="60762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16000" y="5181612"/>
              <a:ext cx="3098800" cy="596900"/>
            </a:xfrm>
            <a:custGeom>
              <a:avLst/>
              <a:gdLst/>
              <a:ahLst/>
              <a:cxnLst/>
              <a:rect l="l" t="t" r="r" b="b"/>
              <a:pathLst>
                <a:path w="3098800" h="596900">
                  <a:moveTo>
                    <a:pt x="0" y="99479"/>
                  </a:moveTo>
                  <a:lnTo>
                    <a:pt x="7817" y="60762"/>
                  </a:lnTo>
                  <a:lnTo>
                    <a:pt x="29136" y="29141"/>
                  </a:lnTo>
                  <a:lnTo>
                    <a:pt x="60757" y="7819"/>
                  </a:lnTo>
                  <a:lnTo>
                    <a:pt x="99479" y="0"/>
                  </a:lnTo>
                  <a:lnTo>
                    <a:pt x="2999320" y="0"/>
                  </a:lnTo>
                  <a:lnTo>
                    <a:pt x="3038042" y="7819"/>
                  </a:lnTo>
                  <a:lnTo>
                    <a:pt x="3069663" y="29141"/>
                  </a:lnTo>
                  <a:lnTo>
                    <a:pt x="3090982" y="60762"/>
                  </a:lnTo>
                  <a:lnTo>
                    <a:pt x="3098800" y="99479"/>
                  </a:lnTo>
                  <a:lnTo>
                    <a:pt x="3098800" y="497420"/>
                  </a:lnTo>
                  <a:lnTo>
                    <a:pt x="3090982" y="536137"/>
                  </a:lnTo>
                  <a:lnTo>
                    <a:pt x="3069663" y="567758"/>
                  </a:lnTo>
                  <a:lnTo>
                    <a:pt x="3038042" y="589080"/>
                  </a:lnTo>
                  <a:lnTo>
                    <a:pt x="29993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8"/>
                  </a:lnTo>
                  <a:lnTo>
                    <a:pt x="7817" y="536137"/>
                  </a:lnTo>
                  <a:lnTo>
                    <a:pt x="0" y="497420"/>
                  </a:lnTo>
                  <a:lnTo>
                    <a:pt x="0" y="99479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1533908" y="5264669"/>
            <a:ext cx="20605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953A4"/>
                </a:solidFill>
                <a:latin typeface="Calibri"/>
                <a:cs typeface="Calibri"/>
              </a:rPr>
              <a:t>Phase</a:t>
            </a:r>
            <a:r>
              <a:rPr dirty="0" sz="2400" spc="-7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5181612" y="2147887"/>
            <a:ext cx="2870200" cy="595630"/>
            <a:chOff x="5181612" y="2147887"/>
            <a:chExt cx="2870200" cy="595630"/>
          </a:xfrm>
        </p:grpSpPr>
        <p:sp>
          <p:nvSpPr>
            <p:cNvPr id="33" name="object 33" descr=""/>
            <p:cNvSpPr/>
            <p:nvPr/>
          </p:nvSpPr>
          <p:spPr>
            <a:xfrm>
              <a:off x="5181612" y="2147887"/>
              <a:ext cx="2870200" cy="595630"/>
            </a:xfrm>
            <a:custGeom>
              <a:avLst/>
              <a:gdLst/>
              <a:ahLst/>
              <a:cxnLst/>
              <a:rect l="l" t="t" r="r" b="b"/>
              <a:pathLst>
                <a:path w="2870200" h="595630">
                  <a:moveTo>
                    <a:pt x="0" y="0"/>
                  </a:moveTo>
                  <a:lnTo>
                    <a:pt x="0" y="595312"/>
                  </a:lnTo>
                  <a:lnTo>
                    <a:pt x="2870200" y="595312"/>
                  </a:lnTo>
                  <a:lnTo>
                    <a:pt x="2870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379972" y="2227795"/>
              <a:ext cx="0" cy="434975"/>
            </a:xfrm>
            <a:custGeom>
              <a:avLst/>
              <a:gdLst/>
              <a:ahLst/>
              <a:cxnLst/>
              <a:rect l="l" t="t" r="r" b="b"/>
              <a:pathLst>
                <a:path w="0" h="434975">
                  <a:moveTo>
                    <a:pt x="0" y="0"/>
                  </a:moveTo>
                  <a:lnTo>
                    <a:pt x="0" y="434682"/>
                  </a:lnTo>
                </a:path>
              </a:pathLst>
            </a:custGeom>
            <a:ln w="1606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256500" y="2227795"/>
              <a:ext cx="0" cy="434975"/>
            </a:xfrm>
            <a:custGeom>
              <a:avLst/>
              <a:gdLst/>
              <a:ahLst/>
              <a:cxnLst/>
              <a:rect l="l" t="t" r="r" b="b"/>
              <a:pathLst>
                <a:path w="0" h="434975">
                  <a:moveTo>
                    <a:pt x="0" y="0"/>
                  </a:moveTo>
                  <a:lnTo>
                    <a:pt x="0" y="434682"/>
                  </a:lnTo>
                </a:path>
              </a:pathLst>
            </a:custGeom>
            <a:ln w="1606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5181612" y="2147887"/>
            <a:ext cx="2870200" cy="595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4295">
              <a:lnSpc>
                <a:spcPts val="3654"/>
              </a:lnSpc>
              <a:tabLst>
                <a:tab pos="1263650" algn="l"/>
              </a:tabLst>
            </a:pP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2550" spc="3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19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-3316" sz="5025" spc="-8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sz="2550" spc="-229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19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316" sz="5025" spc="-412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spc="-5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255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2550" spc="6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19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-3316" sz="5025" spc="-79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sz="2550" spc="-21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19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316" sz="5025" spc="-15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spc="-20" i="1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dirty="0" sz="2550" spc="-26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49808" sz="2175" i="1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r>
              <a:rPr dirty="0" baseline="49808" sz="2175">
                <a:solidFill>
                  <a:srgbClr val="231F20"/>
                </a:solidFill>
                <a:latin typeface="Symbol"/>
                <a:cs typeface="Symbol"/>
              </a:rPr>
              <a:t></a:t>
            </a:r>
            <a:r>
              <a:rPr dirty="0" baseline="33625" sz="2850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49808" sz="2175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baseline="49808" sz="2175" spc="-187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33625" sz="2850" spc="-75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endParaRPr baseline="33625" sz="28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6409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1054100" y="3324568"/>
            <a:ext cx="3073400" cy="622300"/>
            <a:chOff x="1054100" y="3324568"/>
            <a:chExt cx="3073400" cy="622300"/>
          </a:xfrm>
        </p:grpSpPr>
        <p:sp>
          <p:nvSpPr>
            <p:cNvPr id="9" name="object 9" descr=""/>
            <p:cNvSpPr/>
            <p:nvPr/>
          </p:nvSpPr>
          <p:spPr>
            <a:xfrm>
              <a:off x="1066800" y="3337268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66"/>
                  </a:moveTo>
                  <a:lnTo>
                    <a:pt x="0" y="497395"/>
                  </a:lnTo>
                  <a:lnTo>
                    <a:pt x="7817" y="536126"/>
                  </a:lnTo>
                  <a:lnTo>
                    <a:pt x="29136" y="567755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48520" y="596900"/>
                  </a:lnTo>
                  <a:lnTo>
                    <a:pt x="2987242" y="589080"/>
                  </a:lnTo>
                  <a:lnTo>
                    <a:pt x="3018863" y="567755"/>
                  </a:lnTo>
                  <a:lnTo>
                    <a:pt x="3040182" y="536126"/>
                  </a:lnTo>
                  <a:lnTo>
                    <a:pt x="3048000" y="497395"/>
                  </a:lnTo>
                  <a:lnTo>
                    <a:pt x="3048000" y="99466"/>
                  </a:lnTo>
                  <a:lnTo>
                    <a:pt x="3040182" y="60752"/>
                  </a:lnTo>
                  <a:lnTo>
                    <a:pt x="3018863" y="29135"/>
                  </a:lnTo>
                  <a:lnTo>
                    <a:pt x="2987242" y="7817"/>
                  </a:lnTo>
                  <a:lnTo>
                    <a:pt x="29485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5"/>
                  </a:lnTo>
                  <a:lnTo>
                    <a:pt x="7817" y="60752"/>
                  </a:lnTo>
                  <a:lnTo>
                    <a:pt x="0" y="99466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66800" y="3337268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66"/>
                  </a:moveTo>
                  <a:lnTo>
                    <a:pt x="7817" y="60752"/>
                  </a:lnTo>
                  <a:lnTo>
                    <a:pt x="29136" y="29135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2948520" y="0"/>
                  </a:lnTo>
                  <a:lnTo>
                    <a:pt x="2987242" y="7817"/>
                  </a:lnTo>
                  <a:lnTo>
                    <a:pt x="3018863" y="29135"/>
                  </a:lnTo>
                  <a:lnTo>
                    <a:pt x="3040182" y="60752"/>
                  </a:lnTo>
                  <a:lnTo>
                    <a:pt x="3048000" y="99466"/>
                  </a:lnTo>
                  <a:lnTo>
                    <a:pt x="3048000" y="497395"/>
                  </a:lnTo>
                  <a:lnTo>
                    <a:pt x="3040182" y="536126"/>
                  </a:lnTo>
                  <a:lnTo>
                    <a:pt x="3018863" y="567755"/>
                  </a:lnTo>
                  <a:lnTo>
                    <a:pt x="2987242" y="589080"/>
                  </a:lnTo>
                  <a:lnTo>
                    <a:pt x="2948520" y="596900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5"/>
                  </a:lnTo>
                  <a:lnTo>
                    <a:pt x="7817" y="536126"/>
                  </a:lnTo>
                  <a:lnTo>
                    <a:pt x="0" y="497395"/>
                  </a:lnTo>
                  <a:lnTo>
                    <a:pt x="0" y="99466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506985" y="3420308"/>
            <a:ext cx="2167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953A4"/>
                </a:solidFill>
                <a:latin typeface="Calibri"/>
                <a:cs typeface="Calibri"/>
              </a:rPr>
              <a:t>Energy</a:t>
            </a:r>
            <a:r>
              <a:rPr dirty="0" sz="2400" spc="-114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066800" y="4102112"/>
            <a:ext cx="7849234" cy="914400"/>
          </a:xfrm>
          <a:custGeom>
            <a:avLst/>
            <a:gdLst/>
            <a:ahLst/>
            <a:cxnLst/>
            <a:rect l="l" t="t" r="r" b="b"/>
            <a:pathLst>
              <a:path w="7849234" h="914400">
                <a:moveTo>
                  <a:pt x="0" y="0"/>
                </a:moveTo>
                <a:lnTo>
                  <a:pt x="0" y="914400"/>
                </a:lnTo>
                <a:lnTo>
                  <a:pt x="7848612" y="914400"/>
                </a:lnTo>
                <a:lnTo>
                  <a:pt x="7848612" y="0"/>
                </a:lnTo>
                <a:lnTo>
                  <a:pt x="0" y="0"/>
                </a:lnTo>
                <a:close/>
              </a:path>
            </a:pathLst>
          </a:custGeom>
          <a:solidFill>
            <a:srgbClr val="4E81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066800" y="4102112"/>
            <a:ext cx="7849234" cy="914400"/>
          </a:xfrm>
          <a:prstGeom prst="rect">
            <a:avLst/>
          </a:prstGeom>
          <a:ln w="25400">
            <a:solidFill>
              <a:srgbClr val="385D8A"/>
            </a:solidFill>
          </a:ln>
        </p:spPr>
        <p:txBody>
          <a:bodyPr wrap="square" lIns="0" tIns="23812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875"/>
              </a:spcBef>
              <a:tabLst>
                <a:tab pos="3807460" algn="l"/>
              </a:tabLst>
            </a:pP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Plot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	as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frequency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260904" y="4234675"/>
            <a:ext cx="2463800" cy="650875"/>
            <a:chOff x="2260904" y="4234675"/>
            <a:chExt cx="2463800" cy="650875"/>
          </a:xfrm>
        </p:grpSpPr>
        <p:sp>
          <p:nvSpPr>
            <p:cNvPr id="15" name="object 15" descr=""/>
            <p:cNvSpPr/>
            <p:nvPr/>
          </p:nvSpPr>
          <p:spPr>
            <a:xfrm>
              <a:off x="2260904" y="4234675"/>
              <a:ext cx="2463800" cy="650875"/>
            </a:xfrm>
            <a:custGeom>
              <a:avLst/>
              <a:gdLst/>
              <a:ahLst/>
              <a:cxnLst/>
              <a:rect l="l" t="t" r="r" b="b"/>
              <a:pathLst>
                <a:path w="2463800" h="650875">
                  <a:moveTo>
                    <a:pt x="0" y="0"/>
                  </a:moveTo>
                  <a:lnTo>
                    <a:pt x="0" y="650875"/>
                  </a:lnTo>
                  <a:lnTo>
                    <a:pt x="2463507" y="650875"/>
                  </a:lnTo>
                  <a:lnTo>
                    <a:pt x="24635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669791" y="4369650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w="0" h="435610">
                  <a:moveTo>
                    <a:pt x="0" y="0"/>
                  </a:moveTo>
                  <a:lnTo>
                    <a:pt x="0" y="435571"/>
                  </a:lnTo>
                </a:path>
              </a:pathLst>
            </a:custGeom>
            <a:ln w="160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546333" y="4369650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w="0" h="435610">
                  <a:moveTo>
                    <a:pt x="0" y="0"/>
                  </a:moveTo>
                  <a:lnTo>
                    <a:pt x="0" y="435571"/>
                  </a:lnTo>
                </a:path>
              </a:pathLst>
            </a:custGeom>
            <a:ln w="160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581432" y="4247390"/>
            <a:ext cx="10668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450" spc="-5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289636" y="4229589"/>
            <a:ext cx="2268855" cy="537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1444625" algn="l"/>
              </a:tabLst>
            </a:pPr>
            <a:r>
              <a:rPr dirty="0" sz="2550" spc="65" i="1">
                <a:solidFill>
                  <a:srgbClr val="231F20"/>
                </a:solidFill>
                <a:latin typeface="Times New Roman"/>
                <a:cs typeface="Times New Roman"/>
              </a:rPr>
              <a:t>S</a:t>
            </a:r>
            <a:r>
              <a:rPr dirty="0" baseline="-24904" sz="2175" spc="97" i="1">
                <a:solidFill>
                  <a:srgbClr val="231F20"/>
                </a:solidFill>
                <a:latin typeface="Times New Roman"/>
                <a:cs typeface="Times New Roman"/>
              </a:rPr>
              <a:t>XX</a:t>
            </a:r>
            <a:r>
              <a:rPr dirty="0" baseline="-24904" sz="2175" spc="622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19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-3316" sz="5025" spc="-8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sz="2550" spc="-23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19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316" sz="5025" spc="-4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spc="-5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255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2550" spc="3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19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-3316" sz="5025" spc="-8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sz="2550" spc="-23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94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endParaRPr baseline="-3316" sz="5025">
              <a:latin typeface="Symbol"/>
              <a:cs typeface="Symbo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66800" y="5257812"/>
            <a:ext cx="7849234" cy="923925"/>
          </a:xfrm>
          <a:prstGeom prst="rect">
            <a:avLst/>
          </a:prstGeom>
          <a:solidFill>
            <a:srgbClr val="F2F2F3"/>
          </a:solidFill>
        </p:spPr>
        <p:txBody>
          <a:bodyPr wrap="square" lIns="0" tIns="30480" rIns="0" bIns="0" rtlCol="0" vert="horz">
            <a:spAutoFit/>
          </a:bodyPr>
          <a:lstStyle/>
          <a:p>
            <a:pPr algn="just" marL="91440" marR="401320">
              <a:lnSpc>
                <a:spcPct val="100000"/>
              </a:lnSpc>
              <a:spcBef>
                <a:spcPts val="240"/>
              </a:spcBef>
            </a:pP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Remember!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aperiodic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signals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energy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signals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i.e.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finite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energy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zero 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power.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Energy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signal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computed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either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time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domain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frequency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domain.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Parseval’s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Theorem: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901700" y="2044700"/>
            <a:ext cx="3302000" cy="711200"/>
            <a:chOff x="901700" y="2044700"/>
            <a:chExt cx="3302000" cy="711200"/>
          </a:xfrm>
        </p:grpSpPr>
        <p:sp>
          <p:nvSpPr>
            <p:cNvPr id="22" name="object 22" descr=""/>
            <p:cNvSpPr/>
            <p:nvPr/>
          </p:nvSpPr>
          <p:spPr>
            <a:xfrm>
              <a:off x="914400" y="2057400"/>
              <a:ext cx="3276600" cy="685800"/>
            </a:xfrm>
            <a:custGeom>
              <a:avLst/>
              <a:gdLst/>
              <a:ahLst/>
              <a:cxnLst/>
              <a:rect l="l" t="t" r="r" b="b"/>
              <a:pathLst>
                <a:path w="32766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3162300" y="685800"/>
                  </a:lnTo>
                  <a:lnTo>
                    <a:pt x="3206787" y="676816"/>
                  </a:lnTo>
                  <a:lnTo>
                    <a:pt x="3243119" y="652319"/>
                  </a:lnTo>
                  <a:lnTo>
                    <a:pt x="3267616" y="615987"/>
                  </a:lnTo>
                  <a:lnTo>
                    <a:pt x="3276600" y="571500"/>
                  </a:lnTo>
                  <a:lnTo>
                    <a:pt x="3276600" y="114300"/>
                  </a:lnTo>
                  <a:lnTo>
                    <a:pt x="3267616" y="69806"/>
                  </a:lnTo>
                  <a:lnTo>
                    <a:pt x="3243119" y="33475"/>
                  </a:lnTo>
                  <a:lnTo>
                    <a:pt x="3206787" y="8981"/>
                  </a:lnTo>
                  <a:lnTo>
                    <a:pt x="31623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14400" y="2057400"/>
              <a:ext cx="3276600" cy="685800"/>
            </a:xfrm>
            <a:custGeom>
              <a:avLst/>
              <a:gdLst/>
              <a:ahLst/>
              <a:cxnLst/>
              <a:rect l="l" t="t" r="r" b="b"/>
              <a:pathLst>
                <a:path w="32766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3162300" y="0"/>
                  </a:lnTo>
                  <a:lnTo>
                    <a:pt x="3206787" y="8981"/>
                  </a:lnTo>
                  <a:lnTo>
                    <a:pt x="3243119" y="33475"/>
                  </a:lnTo>
                  <a:lnTo>
                    <a:pt x="3267616" y="69806"/>
                  </a:lnTo>
                  <a:lnTo>
                    <a:pt x="3276600" y="114300"/>
                  </a:lnTo>
                  <a:lnTo>
                    <a:pt x="3276600" y="571500"/>
                  </a:lnTo>
                  <a:lnTo>
                    <a:pt x="3267616" y="615987"/>
                  </a:lnTo>
                  <a:lnTo>
                    <a:pt x="3243119" y="652319"/>
                  </a:lnTo>
                  <a:lnTo>
                    <a:pt x="3206787" y="676816"/>
                  </a:lnTo>
                  <a:lnTo>
                    <a:pt x="31623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363944" y="2218441"/>
            <a:ext cx="5899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CTFT: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095972" y="2218441"/>
            <a:ext cx="16427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Representation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181612" y="2147887"/>
            <a:ext cx="2870200" cy="595630"/>
            <a:chOff x="5181612" y="2147887"/>
            <a:chExt cx="2870200" cy="595630"/>
          </a:xfrm>
        </p:grpSpPr>
        <p:sp>
          <p:nvSpPr>
            <p:cNvPr id="27" name="object 27" descr=""/>
            <p:cNvSpPr/>
            <p:nvPr/>
          </p:nvSpPr>
          <p:spPr>
            <a:xfrm>
              <a:off x="5181612" y="2147887"/>
              <a:ext cx="2870200" cy="595630"/>
            </a:xfrm>
            <a:custGeom>
              <a:avLst/>
              <a:gdLst/>
              <a:ahLst/>
              <a:cxnLst/>
              <a:rect l="l" t="t" r="r" b="b"/>
              <a:pathLst>
                <a:path w="2870200" h="595630">
                  <a:moveTo>
                    <a:pt x="0" y="0"/>
                  </a:moveTo>
                  <a:lnTo>
                    <a:pt x="0" y="595312"/>
                  </a:lnTo>
                  <a:lnTo>
                    <a:pt x="2870200" y="595312"/>
                  </a:lnTo>
                  <a:lnTo>
                    <a:pt x="2870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379972" y="2227795"/>
              <a:ext cx="0" cy="434975"/>
            </a:xfrm>
            <a:custGeom>
              <a:avLst/>
              <a:gdLst/>
              <a:ahLst/>
              <a:cxnLst/>
              <a:rect l="l" t="t" r="r" b="b"/>
              <a:pathLst>
                <a:path w="0" h="434975">
                  <a:moveTo>
                    <a:pt x="0" y="0"/>
                  </a:moveTo>
                  <a:lnTo>
                    <a:pt x="0" y="434682"/>
                  </a:lnTo>
                </a:path>
              </a:pathLst>
            </a:custGeom>
            <a:ln w="1606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256500" y="2227795"/>
              <a:ext cx="0" cy="434975"/>
            </a:xfrm>
            <a:custGeom>
              <a:avLst/>
              <a:gdLst/>
              <a:ahLst/>
              <a:cxnLst/>
              <a:rect l="l" t="t" r="r" b="b"/>
              <a:pathLst>
                <a:path w="0" h="434975">
                  <a:moveTo>
                    <a:pt x="0" y="0"/>
                  </a:moveTo>
                  <a:lnTo>
                    <a:pt x="0" y="434682"/>
                  </a:lnTo>
                </a:path>
              </a:pathLst>
            </a:custGeom>
            <a:ln w="1606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5181612" y="2147887"/>
            <a:ext cx="2870200" cy="595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4295">
              <a:lnSpc>
                <a:spcPts val="3654"/>
              </a:lnSpc>
              <a:tabLst>
                <a:tab pos="1263650" algn="l"/>
              </a:tabLst>
            </a:pP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2550" spc="3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19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-3316" sz="5025" spc="-8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sz="2550" spc="-229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19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316" sz="5025" spc="-412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spc="-5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255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2550" spc="6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19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-3316" sz="5025" spc="-79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sz="2550" spc="-21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19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316" sz="5025" spc="-15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spc="-20" i="1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dirty="0" sz="2550" spc="-26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49808" sz="2175" i="1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r>
              <a:rPr dirty="0" baseline="49808" sz="2175">
                <a:solidFill>
                  <a:srgbClr val="231F20"/>
                </a:solidFill>
                <a:latin typeface="Symbol"/>
                <a:cs typeface="Symbol"/>
              </a:rPr>
              <a:t></a:t>
            </a:r>
            <a:r>
              <a:rPr dirty="0" baseline="33625" sz="2850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49808" sz="2175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baseline="49808" sz="2175" spc="-187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33625" sz="2850" spc="-75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endParaRPr baseline="33625" sz="2850">
              <a:latin typeface="Symbol"/>
              <a:cs typeface="Symbo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3442817" y="6207023"/>
            <a:ext cx="3963670" cy="904240"/>
            <a:chOff x="3442817" y="6207023"/>
            <a:chExt cx="3963670" cy="904240"/>
          </a:xfrm>
        </p:grpSpPr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11880" y="6449428"/>
              <a:ext cx="3667136" cy="555307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3461867" y="6226073"/>
              <a:ext cx="3925570" cy="866140"/>
            </a:xfrm>
            <a:custGeom>
              <a:avLst/>
              <a:gdLst/>
              <a:ahLst/>
              <a:cxnLst/>
              <a:rect l="l" t="t" r="r" b="b"/>
              <a:pathLst>
                <a:path w="3925570" h="866140">
                  <a:moveTo>
                    <a:pt x="0" y="865822"/>
                  </a:moveTo>
                  <a:lnTo>
                    <a:pt x="0" y="0"/>
                  </a:lnTo>
                  <a:lnTo>
                    <a:pt x="3925265" y="0"/>
                  </a:lnTo>
                  <a:lnTo>
                    <a:pt x="3925265" y="865822"/>
                  </a:lnTo>
                  <a:lnTo>
                    <a:pt x="0" y="865822"/>
                  </a:lnTo>
                  <a:close/>
                </a:path>
              </a:pathLst>
            </a:custGeom>
            <a:ln w="381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914400" y="1876425"/>
            <a:ext cx="8230234" cy="725805"/>
            <a:chOff x="914400" y="1876425"/>
            <a:chExt cx="8230234" cy="725805"/>
          </a:xfrm>
        </p:grpSpPr>
        <p:sp>
          <p:nvSpPr>
            <p:cNvPr id="9" name="object 9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22600" y="1992261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99479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3177120" y="596899"/>
                  </a:lnTo>
                  <a:lnTo>
                    <a:pt x="3215842" y="589080"/>
                  </a:lnTo>
                  <a:lnTo>
                    <a:pt x="3247463" y="567756"/>
                  </a:lnTo>
                  <a:lnTo>
                    <a:pt x="3268782" y="536131"/>
                  </a:lnTo>
                  <a:lnTo>
                    <a:pt x="3276600" y="497408"/>
                  </a:lnTo>
                  <a:lnTo>
                    <a:pt x="3276600" y="99479"/>
                  </a:lnTo>
                  <a:lnTo>
                    <a:pt x="3268782" y="60757"/>
                  </a:lnTo>
                  <a:lnTo>
                    <a:pt x="3247463" y="29136"/>
                  </a:lnTo>
                  <a:lnTo>
                    <a:pt x="3215842" y="7817"/>
                  </a:lnTo>
                  <a:lnTo>
                    <a:pt x="31771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6"/>
                  </a:lnTo>
                  <a:lnTo>
                    <a:pt x="7817" y="60757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22600" y="1992261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99479"/>
                  </a:moveTo>
                  <a:lnTo>
                    <a:pt x="7817" y="60757"/>
                  </a:lnTo>
                  <a:lnTo>
                    <a:pt x="29136" y="29136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3177120" y="0"/>
                  </a:lnTo>
                  <a:lnTo>
                    <a:pt x="3215842" y="7817"/>
                  </a:lnTo>
                  <a:lnTo>
                    <a:pt x="3247463" y="29136"/>
                  </a:lnTo>
                  <a:lnTo>
                    <a:pt x="3268782" y="60757"/>
                  </a:lnTo>
                  <a:lnTo>
                    <a:pt x="3276600" y="99479"/>
                  </a:lnTo>
                  <a:lnTo>
                    <a:pt x="3276600" y="497408"/>
                  </a:lnTo>
                  <a:lnTo>
                    <a:pt x="3268782" y="536131"/>
                  </a:lnTo>
                  <a:lnTo>
                    <a:pt x="3247463" y="567756"/>
                  </a:lnTo>
                  <a:lnTo>
                    <a:pt x="3215842" y="589080"/>
                  </a:lnTo>
                  <a:lnTo>
                    <a:pt x="31771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79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205270" y="2075312"/>
            <a:ext cx="29114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0119" algn="l"/>
              </a:tabLst>
            </a:pP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CTFT: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	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Representation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054100" y="6013462"/>
            <a:ext cx="3073400" cy="622300"/>
            <a:chOff x="1054100" y="6013462"/>
            <a:chExt cx="3073400" cy="622300"/>
          </a:xfrm>
        </p:grpSpPr>
        <p:sp>
          <p:nvSpPr>
            <p:cNvPr id="14" name="object 14" descr=""/>
            <p:cNvSpPr/>
            <p:nvPr/>
          </p:nvSpPr>
          <p:spPr>
            <a:xfrm>
              <a:off x="1066800" y="6026162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79"/>
                  </a:moveTo>
                  <a:lnTo>
                    <a:pt x="0" y="497420"/>
                  </a:lnTo>
                  <a:lnTo>
                    <a:pt x="7817" y="536137"/>
                  </a:lnTo>
                  <a:lnTo>
                    <a:pt x="29136" y="567758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48520" y="596899"/>
                  </a:lnTo>
                  <a:lnTo>
                    <a:pt x="2987242" y="589080"/>
                  </a:lnTo>
                  <a:lnTo>
                    <a:pt x="3018863" y="567758"/>
                  </a:lnTo>
                  <a:lnTo>
                    <a:pt x="3040182" y="536137"/>
                  </a:lnTo>
                  <a:lnTo>
                    <a:pt x="3048000" y="497420"/>
                  </a:lnTo>
                  <a:lnTo>
                    <a:pt x="3048000" y="99479"/>
                  </a:lnTo>
                  <a:lnTo>
                    <a:pt x="3040182" y="60762"/>
                  </a:lnTo>
                  <a:lnTo>
                    <a:pt x="3018863" y="29141"/>
                  </a:lnTo>
                  <a:lnTo>
                    <a:pt x="2987242" y="7819"/>
                  </a:lnTo>
                  <a:lnTo>
                    <a:pt x="2948520" y="0"/>
                  </a:lnTo>
                  <a:lnTo>
                    <a:pt x="99479" y="0"/>
                  </a:lnTo>
                  <a:lnTo>
                    <a:pt x="60757" y="7819"/>
                  </a:lnTo>
                  <a:lnTo>
                    <a:pt x="29136" y="29141"/>
                  </a:lnTo>
                  <a:lnTo>
                    <a:pt x="7817" y="60762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66800" y="6026162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79"/>
                  </a:moveTo>
                  <a:lnTo>
                    <a:pt x="7817" y="60762"/>
                  </a:lnTo>
                  <a:lnTo>
                    <a:pt x="29136" y="29141"/>
                  </a:lnTo>
                  <a:lnTo>
                    <a:pt x="60757" y="7819"/>
                  </a:lnTo>
                  <a:lnTo>
                    <a:pt x="99479" y="0"/>
                  </a:lnTo>
                  <a:lnTo>
                    <a:pt x="2948520" y="0"/>
                  </a:lnTo>
                  <a:lnTo>
                    <a:pt x="2987242" y="7819"/>
                  </a:lnTo>
                  <a:lnTo>
                    <a:pt x="3018863" y="29141"/>
                  </a:lnTo>
                  <a:lnTo>
                    <a:pt x="3040182" y="60762"/>
                  </a:lnTo>
                  <a:lnTo>
                    <a:pt x="3048000" y="99479"/>
                  </a:lnTo>
                  <a:lnTo>
                    <a:pt x="3048000" y="497420"/>
                  </a:lnTo>
                  <a:lnTo>
                    <a:pt x="3040182" y="536137"/>
                  </a:lnTo>
                  <a:lnTo>
                    <a:pt x="3018863" y="567758"/>
                  </a:lnTo>
                  <a:lnTo>
                    <a:pt x="2987242" y="589080"/>
                  </a:lnTo>
                  <a:lnTo>
                    <a:pt x="29485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8"/>
                  </a:lnTo>
                  <a:lnTo>
                    <a:pt x="7817" y="536137"/>
                  </a:lnTo>
                  <a:lnTo>
                    <a:pt x="0" y="497420"/>
                  </a:lnTo>
                  <a:lnTo>
                    <a:pt x="0" y="99479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506985" y="6109220"/>
            <a:ext cx="2167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953A4"/>
                </a:solidFill>
                <a:latin typeface="Calibri"/>
                <a:cs typeface="Calibri"/>
              </a:rPr>
              <a:t>Energy</a:t>
            </a:r>
            <a:r>
              <a:rPr dirty="0" sz="2400" spc="-114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632864" y="2744876"/>
            <a:ext cx="5895340" cy="541655"/>
            <a:chOff x="1632864" y="2744876"/>
            <a:chExt cx="5895340" cy="541655"/>
          </a:xfrm>
        </p:grpSpPr>
        <p:sp>
          <p:nvSpPr>
            <p:cNvPr id="18" name="object 18" descr=""/>
            <p:cNvSpPr/>
            <p:nvPr/>
          </p:nvSpPr>
          <p:spPr>
            <a:xfrm>
              <a:off x="1632864" y="2744876"/>
              <a:ext cx="5895340" cy="541655"/>
            </a:xfrm>
            <a:custGeom>
              <a:avLst/>
              <a:gdLst/>
              <a:ahLst/>
              <a:cxnLst/>
              <a:rect l="l" t="t" r="r" b="b"/>
              <a:pathLst>
                <a:path w="5895340" h="541654">
                  <a:moveTo>
                    <a:pt x="5894794" y="0"/>
                  </a:moveTo>
                  <a:lnTo>
                    <a:pt x="3285515" y="0"/>
                  </a:lnTo>
                  <a:lnTo>
                    <a:pt x="3285515" y="23749"/>
                  </a:lnTo>
                  <a:lnTo>
                    <a:pt x="0" y="23749"/>
                  </a:lnTo>
                  <a:lnTo>
                    <a:pt x="0" y="516178"/>
                  </a:lnTo>
                  <a:lnTo>
                    <a:pt x="3285515" y="516178"/>
                  </a:lnTo>
                  <a:lnTo>
                    <a:pt x="3285515" y="541197"/>
                  </a:lnTo>
                  <a:lnTo>
                    <a:pt x="5894794" y="541197"/>
                  </a:lnTo>
                  <a:lnTo>
                    <a:pt x="5894794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009043" y="2817825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w="0" h="395605">
                  <a:moveTo>
                    <a:pt x="0" y="0"/>
                  </a:moveTo>
                  <a:lnTo>
                    <a:pt x="0" y="395135"/>
                  </a:lnTo>
                </a:path>
              </a:pathLst>
            </a:custGeom>
            <a:ln w="1461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806069" y="2817825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w="0" h="395605">
                  <a:moveTo>
                    <a:pt x="0" y="0"/>
                  </a:moveTo>
                  <a:lnTo>
                    <a:pt x="0" y="395135"/>
                  </a:lnTo>
                </a:path>
              </a:pathLst>
            </a:custGeom>
            <a:ln w="1461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632864" y="2744876"/>
            <a:ext cx="5895340" cy="5416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3595"/>
              </a:lnSpc>
              <a:tabLst>
                <a:tab pos="3352800" algn="l"/>
                <a:tab pos="4434205" algn="l"/>
              </a:tabLst>
            </a:pP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CT</a:t>
            </a:r>
            <a:r>
              <a:rPr dirty="0" sz="2600" spc="-7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Fourier</a:t>
            </a:r>
            <a:r>
              <a:rPr dirty="0" sz="2600" spc="-6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spc="-30" b="1">
                <a:solidFill>
                  <a:srgbClr val="231F20"/>
                </a:solidFill>
                <a:latin typeface="Calibri"/>
                <a:cs typeface="Calibri"/>
              </a:rPr>
              <a:t>Transform</a:t>
            </a:r>
            <a:r>
              <a:rPr dirty="0" sz="2600" spc="-6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spc="-50" b="1">
                <a:solidFill>
                  <a:srgbClr val="231F20"/>
                </a:solidFill>
                <a:latin typeface="Calibri"/>
                <a:cs typeface="Calibri"/>
              </a:rPr>
              <a:t>=</a:t>
            </a: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baseline="6038" sz="345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baseline="6038" sz="3450" spc="67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1821" sz="4575" spc="-382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1821" sz="4575" spc="-73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6038" sz="345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baseline="6038" sz="3450" spc="-30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1821" sz="4575" spc="-382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1821" sz="4575" spc="-35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6038" sz="3450" spc="-75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baseline="6038" sz="345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baseline="6038" sz="345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baseline="6038" sz="3450" spc="7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1821" sz="4575" spc="-382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1821" sz="4575" spc="-72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6038" sz="345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baseline="6038" sz="3450" spc="-292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1821" sz="4575" spc="-382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1821" sz="4575" spc="-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6038" sz="3450" i="1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dirty="0" baseline="6038" sz="3450" spc="-359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59670" sz="2025" i="1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r>
              <a:rPr dirty="0" baseline="59670" sz="2025">
                <a:solidFill>
                  <a:srgbClr val="231F20"/>
                </a:solidFill>
                <a:latin typeface="Symbol"/>
                <a:cs typeface="Symbol"/>
              </a:rPr>
              <a:t></a:t>
            </a:r>
            <a:r>
              <a:rPr dirty="0" baseline="42857" sz="2625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59670" sz="2025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baseline="59670" sz="2025" spc="-187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42857" sz="2625" spc="-75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endParaRPr baseline="42857" sz="2625">
              <a:latin typeface="Symbol"/>
              <a:cs typeface="Symbo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054100" y="3620160"/>
            <a:ext cx="3073400" cy="622300"/>
            <a:chOff x="1054100" y="3620160"/>
            <a:chExt cx="3073400" cy="622300"/>
          </a:xfrm>
        </p:grpSpPr>
        <p:sp>
          <p:nvSpPr>
            <p:cNvPr id="23" name="object 23" descr=""/>
            <p:cNvSpPr/>
            <p:nvPr/>
          </p:nvSpPr>
          <p:spPr>
            <a:xfrm>
              <a:off x="1066800" y="3632860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79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48520" y="596899"/>
                  </a:lnTo>
                  <a:lnTo>
                    <a:pt x="2987242" y="589080"/>
                  </a:lnTo>
                  <a:lnTo>
                    <a:pt x="3018863" y="567756"/>
                  </a:lnTo>
                  <a:lnTo>
                    <a:pt x="3040182" y="536131"/>
                  </a:lnTo>
                  <a:lnTo>
                    <a:pt x="3048000" y="497408"/>
                  </a:lnTo>
                  <a:lnTo>
                    <a:pt x="3048000" y="99479"/>
                  </a:lnTo>
                  <a:lnTo>
                    <a:pt x="3040182" y="60757"/>
                  </a:lnTo>
                  <a:lnTo>
                    <a:pt x="3018863" y="29136"/>
                  </a:lnTo>
                  <a:lnTo>
                    <a:pt x="2987242" y="7817"/>
                  </a:lnTo>
                  <a:lnTo>
                    <a:pt x="29485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6"/>
                  </a:lnTo>
                  <a:lnTo>
                    <a:pt x="7817" y="60757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066800" y="3632860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79"/>
                  </a:moveTo>
                  <a:lnTo>
                    <a:pt x="7817" y="60757"/>
                  </a:lnTo>
                  <a:lnTo>
                    <a:pt x="29136" y="29136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2948520" y="0"/>
                  </a:lnTo>
                  <a:lnTo>
                    <a:pt x="2987242" y="7817"/>
                  </a:lnTo>
                  <a:lnTo>
                    <a:pt x="3018863" y="29136"/>
                  </a:lnTo>
                  <a:lnTo>
                    <a:pt x="3040182" y="60757"/>
                  </a:lnTo>
                  <a:lnTo>
                    <a:pt x="3048000" y="99479"/>
                  </a:lnTo>
                  <a:lnTo>
                    <a:pt x="3048000" y="497408"/>
                  </a:lnTo>
                  <a:lnTo>
                    <a:pt x="3040182" y="536131"/>
                  </a:lnTo>
                  <a:lnTo>
                    <a:pt x="3018863" y="567756"/>
                  </a:lnTo>
                  <a:lnTo>
                    <a:pt x="2987242" y="589080"/>
                  </a:lnTo>
                  <a:lnTo>
                    <a:pt x="29485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79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1243331" y="3715900"/>
            <a:ext cx="26936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Magnitude</a:t>
            </a:r>
            <a:r>
              <a:rPr dirty="0" sz="2400" spc="-5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1054100" y="4845062"/>
            <a:ext cx="3124835" cy="622300"/>
            <a:chOff x="1054100" y="4845062"/>
            <a:chExt cx="3124835" cy="622300"/>
          </a:xfrm>
        </p:grpSpPr>
        <p:sp>
          <p:nvSpPr>
            <p:cNvPr id="27" name="object 27" descr=""/>
            <p:cNvSpPr/>
            <p:nvPr/>
          </p:nvSpPr>
          <p:spPr>
            <a:xfrm>
              <a:off x="1066800" y="4857762"/>
              <a:ext cx="3099435" cy="596900"/>
            </a:xfrm>
            <a:custGeom>
              <a:avLst/>
              <a:gdLst/>
              <a:ahLst/>
              <a:cxnLst/>
              <a:rect l="l" t="t" r="r" b="b"/>
              <a:pathLst>
                <a:path w="3099435" h="596900">
                  <a:moveTo>
                    <a:pt x="0" y="99479"/>
                  </a:moveTo>
                  <a:lnTo>
                    <a:pt x="0" y="497420"/>
                  </a:lnTo>
                  <a:lnTo>
                    <a:pt x="7817" y="536137"/>
                  </a:lnTo>
                  <a:lnTo>
                    <a:pt x="29136" y="567758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99320" y="596899"/>
                  </a:lnTo>
                  <a:lnTo>
                    <a:pt x="3038044" y="589080"/>
                  </a:lnTo>
                  <a:lnTo>
                    <a:pt x="3069669" y="567758"/>
                  </a:lnTo>
                  <a:lnTo>
                    <a:pt x="3090993" y="536137"/>
                  </a:lnTo>
                  <a:lnTo>
                    <a:pt x="3098812" y="497420"/>
                  </a:lnTo>
                  <a:lnTo>
                    <a:pt x="3098812" y="99479"/>
                  </a:lnTo>
                  <a:lnTo>
                    <a:pt x="3090993" y="60762"/>
                  </a:lnTo>
                  <a:lnTo>
                    <a:pt x="3069669" y="29141"/>
                  </a:lnTo>
                  <a:lnTo>
                    <a:pt x="3038044" y="7819"/>
                  </a:lnTo>
                  <a:lnTo>
                    <a:pt x="2999320" y="0"/>
                  </a:lnTo>
                  <a:lnTo>
                    <a:pt x="99479" y="0"/>
                  </a:lnTo>
                  <a:lnTo>
                    <a:pt x="60757" y="7819"/>
                  </a:lnTo>
                  <a:lnTo>
                    <a:pt x="29136" y="29141"/>
                  </a:lnTo>
                  <a:lnTo>
                    <a:pt x="7817" y="60762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66800" y="4857762"/>
              <a:ext cx="3099435" cy="596900"/>
            </a:xfrm>
            <a:custGeom>
              <a:avLst/>
              <a:gdLst/>
              <a:ahLst/>
              <a:cxnLst/>
              <a:rect l="l" t="t" r="r" b="b"/>
              <a:pathLst>
                <a:path w="3099435" h="596900">
                  <a:moveTo>
                    <a:pt x="0" y="99479"/>
                  </a:moveTo>
                  <a:lnTo>
                    <a:pt x="7817" y="60762"/>
                  </a:lnTo>
                  <a:lnTo>
                    <a:pt x="29136" y="29141"/>
                  </a:lnTo>
                  <a:lnTo>
                    <a:pt x="60757" y="7819"/>
                  </a:lnTo>
                  <a:lnTo>
                    <a:pt x="99479" y="0"/>
                  </a:lnTo>
                  <a:lnTo>
                    <a:pt x="2999320" y="0"/>
                  </a:lnTo>
                  <a:lnTo>
                    <a:pt x="3038044" y="7819"/>
                  </a:lnTo>
                  <a:lnTo>
                    <a:pt x="3069669" y="29141"/>
                  </a:lnTo>
                  <a:lnTo>
                    <a:pt x="3090993" y="60762"/>
                  </a:lnTo>
                  <a:lnTo>
                    <a:pt x="3098812" y="99479"/>
                  </a:lnTo>
                  <a:lnTo>
                    <a:pt x="3098812" y="497420"/>
                  </a:lnTo>
                  <a:lnTo>
                    <a:pt x="3090993" y="536137"/>
                  </a:lnTo>
                  <a:lnTo>
                    <a:pt x="3069669" y="567758"/>
                  </a:lnTo>
                  <a:lnTo>
                    <a:pt x="3038044" y="589080"/>
                  </a:lnTo>
                  <a:lnTo>
                    <a:pt x="29993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8"/>
                  </a:lnTo>
                  <a:lnTo>
                    <a:pt x="7817" y="536137"/>
                  </a:lnTo>
                  <a:lnTo>
                    <a:pt x="0" y="497420"/>
                  </a:lnTo>
                  <a:lnTo>
                    <a:pt x="0" y="99479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1584709" y="4940818"/>
            <a:ext cx="20605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953A4"/>
                </a:solidFill>
                <a:latin typeface="Calibri"/>
                <a:cs typeface="Calibri"/>
              </a:rPr>
              <a:t>Phase</a:t>
            </a:r>
            <a:r>
              <a:rPr dirty="0" sz="2400" spc="-7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5295912" y="3756672"/>
            <a:ext cx="3606800" cy="2799080"/>
            <a:chOff x="5295912" y="3756672"/>
            <a:chExt cx="3606800" cy="2799080"/>
          </a:xfrm>
        </p:grpSpPr>
        <p:sp>
          <p:nvSpPr>
            <p:cNvPr id="31" name="object 31" descr=""/>
            <p:cNvSpPr/>
            <p:nvPr/>
          </p:nvSpPr>
          <p:spPr>
            <a:xfrm>
              <a:off x="5308612" y="3769372"/>
              <a:ext cx="3581400" cy="2773680"/>
            </a:xfrm>
            <a:custGeom>
              <a:avLst/>
              <a:gdLst/>
              <a:ahLst/>
              <a:cxnLst/>
              <a:rect l="l" t="t" r="r" b="b"/>
              <a:pathLst>
                <a:path w="3581400" h="2773679">
                  <a:moveTo>
                    <a:pt x="0" y="462292"/>
                  </a:moveTo>
                  <a:lnTo>
                    <a:pt x="0" y="2773680"/>
                  </a:lnTo>
                  <a:lnTo>
                    <a:pt x="3581400" y="2773680"/>
                  </a:lnTo>
                  <a:lnTo>
                    <a:pt x="3581400" y="462292"/>
                  </a:lnTo>
                  <a:lnTo>
                    <a:pt x="3119120" y="0"/>
                  </a:lnTo>
                  <a:lnTo>
                    <a:pt x="462292" y="0"/>
                  </a:lnTo>
                  <a:lnTo>
                    <a:pt x="415025" y="2386"/>
                  </a:lnTo>
                  <a:lnTo>
                    <a:pt x="369123" y="9391"/>
                  </a:lnTo>
                  <a:lnTo>
                    <a:pt x="324819" y="20783"/>
                  </a:lnTo>
                  <a:lnTo>
                    <a:pt x="282346" y="36328"/>
                  </a:lnTo>
                  <a:lnTo>
                    <a:pt x="241934" y="55795"/>
                  </a:lnTo>
                  <a:lnTo>
                    <a:pt x="203818" y="78951"/>
                  </a:lnTo>
                  <a:lnTo>
                    <a:pt x="168230" y="105564"/>
                  </a:lnTo>
                  <a:lnTo>
                    <a:pt x="135401" y="135401"/>
                  </a:lnTo>
                  <a:lnTo>
                    <a:pt x="105564" y="168230"/>
                  </a:lnTo>
                  <a:lnTo>
                    <a:pt x="78951" y="203818"/>
                  </a:lnTo>
                  <a:lnTo>
                    <a:pt x="55795" y="241934"/>
                  </a:lnTo>
                  <a:lnTo>
                    <a:pt x="36328" y="282346"/>
                  </a:lnTo>
                  <a:lnTo>
                    <a:pt x="20783" y="324819"/>
                  </a:lnTo>
                  <a:lnTo>
                    <a:pt x="9391" y="369123"/>
                  </a:lnTo>
                  <a:lnTo>
                    <a:pt x="2386" y="415025"/>
                  </a:lnTo>
                  <a:lnTo>
                    <a:pt x="0" y="462292"/>
                  </a:lnTo>
                  <a:close/>
                </a:path>
              </a:pathLst>
            </a:custGeom>
            <a:solidFill>
              <a:srgbClr val="4E8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308612" y="3769372"/>
              <a:ext cx="3581400" cy="2773680"/>
            </a:xfrm>
            <a:custGeom>
              <a:avLst/>
              <a:gdLst/>
              <a:ahLst/>
              <a:cxnLst/>
              <a:rect l="l" t="t" r="r" b="b"/>
              <a:pathLst>
                <a:path w="3581400" h="2773679">
                  <a:moveTo>
                    <a:pt x="462292" y="0"/>
                  </a:moveTo>
                  <a:lnTo>
                    <a:pt x="3119120" y="0"/>
                  </a:lnTo>
                  <a:lnTo>
                    <a:pt x="3581400" y="462292"/>
                  </a:lnTo>
                  <a:lnTo>
                    <a:pt x="3581400" y="2773680"/>
                  </a:lnTo>
                  <a:lnTo>
                    <a:pt x="0" y="2773680"/>
                  </a:lnTo>
                  <a:lnTo>
                    <a:pt x="0" y="462292"/>
                  </a:lnTo>
                  <a:lnTo>
                    <a:pt x="2386" y="415025"/>
                  </a:lnTo>
                  <a:lnTo>
                    <a:pt x="9391" y="369123"/>
                  </a:lnTo>
                  <a:lnTo>
                    <a:pt x="20783" y="324819"/>
                  </a:lnTo>
                  <a:lnTo>
                    <a:pt x="36328" y="282346"/>
                  </a:lnTo>
                  <a:lnTo>
                    <a:pt x="55795" y="241934"/>
                  </a:lnTo>
                  <a:lnTo>
                    <a:pt x="78951" y="203818"/>
                  </a:lnTo>
                  <a:lnTo>
                    <a:pt x="105564" y="168230"/>
                  </a:lnTo>
                  <a:lnTo>
                    <a:pt x="135401" y="135401"/>
                  </a:lnTo>
                  <a:lnTo>
                    <a:pt x="168230" y="105564"/>
                  </a:lnTo>
                  <a:lnTo>
                    <a:pt x="203818" y="78951"/>
                  </a:lnTo>
                  <a:lnTo>
                    <a:pt x="241934" y="55795"/>
                  </a:lnTo>
                  <a:lnTo>
                    <a:pt x="282346" y="36328"/>
                  </a:lnTo>
                  <a:lnTo>
                    <a:pt x="324819" y="20783"/>
                  </a:lnTo>
                  <a:lnTo>
                    <a:pt x="369123" y="9391"/>
                  </a:lnTo>
                  <a:lnTo>
                    <a:pt x="415025" y="2386"/>
                  </a:lnTo>
                  <a:lnTo>
                    <a:pt x="462292" y="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5523341" y="4001155"/>
            <a:ext cx="3056255" cy="2403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  <a:tabLst>
                <a:tab pos="1714500" algn="l"/>
              </a:tabLst>
            </a:pPr>
            <a:r>
              <a:rPr dirty="0" sz="2600" spc="-10" b="1">
                <a:solidFill>
                  <a:srgbClr val="FFFFFF"/>
                </a:solidFill>
                <a:latin typeface="Calibri"/>
                <a:cs typeface="Calibri"/>
              </a:rPr>
              <a:t>Continuous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600" spc="-10" b="1">
                <a:solidFill>
                  <a:srgbClr val="FFFFFF"/>
                </a:solidFill>
                <a:latin typeface="Calibri"/>
                <a:cs typeface="Calibri"/>
              </a:rPr>
              <a:t>Spectrum</a:t>
            </a:r>
            <a:endParaRPr sz="2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2600" spc="-50" b="1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endParaRPr sz="2600">
              <a:latin typeface="Calibri"/>
              <a:cs typeface="Calibri"/>
            </a:endParaRPr>
          </a:p>
          <a:p>
            <a:pPr algn="ctr" marL="436245" marR="431165" indent="1905">
              <a:lnSpc>
                <a:spcPct val="100000"/>
              </a:lnSpc>
            </a:pPr>
            <a:r>
              <a:rPr dirty="0" sz="2600" spc="-10" b="1">
                <a:solidFill>
                  <a:srgbClr val="FFFFFF"/>
                </a:solidFill>
                <a:latin typeface="Calibri"/>
                <a:cs typeface="Calibri"/>
              </a:rPr>
              <a:t>Envelope</a:t>
            </a:r>
            <a:r>
              <a:rPr dirty="0" sz="26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 b="1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2600" spc="-10" b="1">
                <a:solidFill>
                  <a:srgbClr val="FFFFFF"/>
                </a:solidFill>
                <a:latin typeface="Calibri"/>
                <a:cs typeface="Calibri"/>
              </a:rPr>
              <a:t>corresponding 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periodic</a:t>
            </a:r>
            <a:r>
              <a:rPr dirty="0" sz="26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30" b="1">
                <a:solidFill>
                  <a:srgbClr val="FFFFFF"/>
                </a:solidFill>
                <a:latin typeface="Calibri"/>
                <a:cs typeface="Calibri"/>
              </a:rPr>
              <a:t>signal’s </a:t>
            </a:r>
            <a:r>
              <a:rPr dirty="0" sz="2600" spc="-10" b="1">
                <a:solidFill>
                  <a:srgbClr val="FFFFFF"/>
                </a:solidFill>
                <a:latin typeface="Calibri"/>
                <a:cs typeface="Calibri"/>
              </a:rPr>
              <a:t>spectra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sp>
          <p:nvSpPr>
            <p:cNvPr id="3" name="object 3" descr=""/>
            <p:cNvSpPr/>
            <p:nvPr/>
          </p:nvSpPr>
          <p:spPr>
            <a:xfrm>
              <a:off x="914400" y="731837"/>
              <a:ext cx="8230234" cy="1143000"/>
            </a:xfrm>
            <a:custGeom>
              <a:avLst/>
              <a:gdLst/>
              <a:ahLst/>
              <a:cxnLst/>
              <a:rect l="l" t="t" r="r" b="b"/>
              <a:pathLst>
                <a:path w="8230234" h="1143000">
                  <a:moveTo>
                    <a:pt x="0" y="0"/>
                  </a:moveTo>
                  <a:lnTo>
                    <a:pt x="0" y="1143000"/>
                  </a:lnTo>
                  <a:lnTo>
                    <a:pt x="8229612" y="1143000"/>
                  </a:lnTo>
                  <a:lnTo>
                    <a:pt x="82296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5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914400" y="953834"/>
            <a:ext cx="8230234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86409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ED2024"/>
                </a:solidFill>
                <a:latin typeface="Calibri"/>
                <a:cs typeface="Calibri"/>
              </a:rPr>
              <a:t>Continuous</a:t>
            </a:r>
            <a:r>
              <a:rPr dirty="0" sz="4000" spc="-16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4000" b="1">
                <a:solidFill>
                  <a:srgbClr val="ED2024"/>
                </a:solidFill>
                <a:latin typeface="Calibri"/>
                <a:cs typeface="Calibri"/>
              </a:rPr>
              <a:t>time</a:t>
            </a:r>
            <a:r>
              <a:rPr dirty="0" sz="4000" spc="-16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4000" b="1">
                <a:solidFill>
                  <a:srgbClr val="ED2024"/>
                </a:solidFill>
                <a:latin typeface="Calibri"/>
                <a:cs typeface="Calibri"/>
              </a:rPr>
              <a:t>Fourier</a:t>
            </a:r>
            <a:r>
              <a:rPr dirty="0" sz="4000" spc="-16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4000" spc="-10" b="1">
                <a:solidFill>
                  <a:srgbClr val="ED2024"/>
                </a:solidFill>
                <a:latin typeface="Calibri"/>
                <a:cs typeface="Calibri"/>
              </a:rPr>
              <a:t>Transform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901700" y="2070100"/>
            <a:ext cx="2921000" cy="711200"/>
            <a:chOff x="901700" y="2070100"/>
            <a:chExt cx="2921000" cy="711200"/>
          </a:xfrm>
        </p:grpSpPr>
        <p:sp>
          <p:nvSpPr>
            <p:cNvPr id="10" name="object 10" descr=""/>
            <p:cNvSpPr/>
            <p:nvPr/>
          </p:nvSpPr>
          <p:spPr>
            <a:xfrm>
              <a:off x="914400" y="2082800"/>
              <a:ext cx="2895600" cy="685800"/>
            </a:xfrm>
            <a:custGeom>
              <a:avLst/>
              <a:gdLst/>
              <a:ahLst/>
              <a:cxnLst/>
              <a:rect l="l" t="t" r="r" b="b"/>
              <a:pathLst>
                <a:path w="28956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2781300" y="685800"/>
                  </a:lnTo>
                  <a:lnTo>
                    <a:pt x="2825787" y="676816"/>
                  </a:lnTo>
                  <a:lnTo>
                    <a:pt x="2862119" y="652319"/>
                  </a:lnTo>
                  <a:lnTo>
                    <a:pt x="2886616" y="615987"/>
                  </a:lnTo>
                  <a:lnTo>
                    <a:pt x="2895600" y="571500"/>
                  </a:lnTo>
                  <a:lnTo>
                    <a:pt x="2895600" y="114300"/>
                  </a:lnTo>
                  <a:lnTo>
                    <a:pt x="2886616" y="69806"/>
                  </a:lnTo>
                  <a:lnTo>
                    <a:pt x="2862119" y="33475"/>
                  </a:lnTo>
                  <a:lnTo>
                    <a:pt x="2825787" y="8981"/>
                  </a:lnTo>
                  <a:lnTo>
                    <a:pt x="27813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14400" y="2082800"/>
              <a:ext cx="2895600" cy="685800"/>
            </a:xfrm>
            <a:custGeom>
              <a:avLst/>
              <a:gdLst/>
              <a:ahLst/>
              <a:cxnLst/>
              <a:rect l="l" t="t" r="r" b="b"/>
              <a:pathLst>
                <a:path w="28956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2781300" y="0"/>
                  </a:lnTo>
                  <a:lnTo>
                    <a:pt x="2825787" y="8981"/>
                  </a:lnTo>
                  <a:lnTo>
                    <a:pt x="2862119" y="33475"/>
                  </a:lnTo>
                  <a:lnTo>
                    <a:pt x="2886616" y="69806"/>
                  </a:lnTo>
                  <a:lnTo>
                    <a:pt x="2895600" y="114300"/>
                  </a:lnTo>
                  <a:lnTo>
                    <a:pt x="2895600" y="571500"/>
                  </a:lnTo>
                  <a:lnTo>
                    <a:pt x="2886616" y="615987"/>
                  </a:lnTo>
                  <a:lnTo>
                    <a:pt x="2862119" y="652319"/>
                  </a:lnTo>
                  <a:lnTo>
                    <a:pt x="2825787" y="676816"/>
                  </a:lnTo>
                  <a:lnTo>
                    <a:pt x="27813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173450" y="2243841"/>
            <a:ext cx="5899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CTFT: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905478" y="2243841"/>
            <a:ext cx="16427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Representation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4102112" y="2133612"/>
            <a:ext cx="5055235" cy="622300"/>
            <a:chOff x="4102112" y="2133612"/>
            <a:chExt cx="5055235" cy="622300"/>
          </a:xfrm>
        </p:grpSpPr>
        <p:sp>
          <p:nvSpPr>
            <p:cNvPr id="15" name="object 15" descr=""/>
            <p:cNvSpPr/>
            <p:nvPr/>
          </p:nvSpPr>
          <p:spPr>
            <a:xfrm>
              <a:off x="4114812" y="2146312"/>
              <a:ext cx="5029835" cy="596900"/>
            </a:xfrm>
            <a:custGeom>
              <a:avLst/>
              <a:gdLst/>
              <a:ahLst/>
              <a:cxnLst/>
              <a:rect l="l" t="t" r="r" b="b"/>
              <a:pathLst>
                <a:path w="5029834" h="596900">
                  <a:moveTo>
                    <a:pt x="0" y="99466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4929733" y="596899"/>
                  </a:lnTo>
                  <a:lnTo>
                    <a:pt x="4968455" y="589080"/>
                  </a:lnTo>
                  <a:lnTo>
                    <a:pt x="5000075" y="567756"/>
                  </a:lnTo>
                  <a:lnTo>
                    <a:pt x="5021395" y="536131"/>
                  </a:lnTo>
                  <a:lnTo>
                    <a:pt x="5029212" y="497408"/>
                  </a:lnTo>
                  <a:lnTo>
                    <a:pt x="5029212" y="99466"/>
                  </a:lnTo>
                  <a:lnTo>
                    <a:pt x="5021395" y="60752"/>
                  </a:lnTo>
                  <a:lnTo>
                    <a:pt x="5000075" y="29135"/>
                  </a:lnTo>
                  <a:lnTo>
                    <a:pt x="4968455" y="7817"/>
                  </a:lnTo>
                  <a:lnTo>
                    <a:pt x="4929733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5"/>
                  </a:lnTo>
                  <a:lnTo>
                    <a:pt x="7817" y="60752"/>
                  </a:lnTo>
                  <a:lnTo>
                    <a:pt x="0" y="99466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114812" y="2146312"/>
              <a:ext cx="5029835" cy="596900"/>
            </a:xfrm>
            <a:custGeom>
              <a:avLst/>
              <a:gdLst/>
              <a:ahLst/>
              <a:cxnLst/>
              <a:rect l="l" t="t" r="r" b="b"/>
              <a:pathLst>
                <a:path w="5029834" h="596900">
                  <a:moveTo>
                    <a:pt x="0" y="99466"/>
                  </a:moveTo>
                  <a:lnTo>
                    <a:pt x="7817" y="60752"/>
                  </a:lnTo>
                  <a:lnTo>
                    <a:pt x="29136" y="29135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4929733" y="0"/>
                  </a:lnTo>
                  <a:lnTo>
                    <a:pt x="4968455" y="7817"/>
                  </a:lnTo>
                  <a:lnTo>
                    <a:pt x="5000075" y="29135"/>
                  </a:lnTo>
                  <a:lnTo>
                    <a:pt x="5021395" y="60752"/>
                  </a:lnTo>
                  <a:lnTo>
                    <a:pt x="5029212" y="99466"/>
                  </a:lnTo>
                  <a:lnTo>
                    <a:pt x="5029212" y="497408"/>
                  </a:lnTo>
                  <a:lnTo>
                    <a:pt x="5021395" y="536131"/>
                  </a:lnTo>
                  <a:lnTo>
                    <a:pt x="5000075" y="567756"/>
                  </a:lnTo>
                  <a:lnTo>
                    <a:pt x="4968455" y="589080"/>
                  </a:lnTo>
                  <a:lnTo>
                    <a:pt x="4929733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66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865659" y="2229363"/>
            <a:ext cx="15265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If</a:t>
            </a:r>
            <a:r>
              <a:rPr dirty="0" sz="2400" spc="-4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231F20"/>
                </a:solidFill>
                <a:latin typeface="Calibri"/>
                <a:cs typeface="Calibri"/>
              </a:rPr>
              <a:t>x(t)</a:t>
            </a:r>
            <a:r>
              <a:rPr dirty="0" sz="2400" spc="-15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24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231F20"/>
                </a:solidFill>
                <a:latin typeface="Calibri"/>
                <a:cs typeface="Calibri"/>
              </a:rPr>
              <a:t>real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058426" y="4609122"/>
            <a:ext cx="3533140" cy="2229485"/>
            <a:chOff x="3058426" y="4609122"/>
            <a:chExt cx="3533140" cy="2229485"/>
          </a:xfrm>
        </p:grpSpPr>
        <p:sp>
          <p:nvSpPr>
            <p:cNvPr id="19" name="object 19" descr=""/>
            <p:cNvSpPr/>
            <p:nvPr/>
          </p:nvSpPr>
          <p:spPr>
            <a:xfrm>
              <a:off x="3058426" y="4609122"/>
              <a:ext cx="3533140" cy="2229485"/>
            </a:xfrm>
            <a:custGeom>
              <a:avLst/>
              <a:gdLst/>
              <a:ahLst/>
              <a:cxnLst/>
              <a:rect l="l" t="t" r="r" b="b"/>
              <a:pathLst>
                <a:path w="3533140" h="2229484">
                  <a:moveTo>
                    <a:pt x="0" y="0"/>
                  </a:moveTo>
                  <a:lnTo>
                    <a:pt x="0" y="2229180"/>
                  </a:lnTo>
                  <a:lnTo>
                    <a:pt x="3532886" y="2229180"/>
                  </a:lnTo>
                  <a:lnTo>
                    <a:pt x="35328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E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140494" y="4711369"/>
              <a:ext cx="0" cy="577850"/>
            </a:xfrm>
            <a:custGeom>
              <a:avLst/>
              <a:gdLst/>
              <a:ahLst/>
              <a:cxnLst/>
              <a:rect l="l" t="t" r="r" b="b"/>
              <a:pathLst>
                <a:path w="0" h="577850">
                  <a:moveTo>
                    <a:pt x="0" y="0"/>
                  </a:moveTo>
                  <a:lnTo>
                    <a:pt x="0" y="577519"/>
                  </a:lnTo>
                </a:path>
              </a:pathLst>
            </a:custGeom>
            <a:ln w="2137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557598" y="4711369"/>
              <a:ext cx="0" cy="577850"/>
            </a:xfrm>
            <a:custGeom>
              <a:avLst/>
              <a:gdLst/>
              <a:ahLst/>
              <a:cxnLst/>
              <a:rect l="l" t="t" r="r" b="b"/>
              <a:pathLst>
                <a:path w="0" h="577850">
                  <a:moveTo>
                    <a:pt x="0" y="0"/>
                  </a:moveTo>
                  <a:lnTo>
                    <a:pt x="0" y="577519"/>
                  </a:lnTo>
                </a:path>
              </a:pathLst>
            </a:custGeom>
            <a:ln w="2137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044249" y="4711369"/>
              <a:ext cx="0" cy="577850"/>
            </a:xfrm>
            <a:custGeom>
              <a:avLst/>
              <a:gdLst/>
              <a:ahLst/>
              <a:cxnLst/>
              <a:rect l="l" t="t" r="r" b="b"/>
              <a:pathLst>
                <a:path w="0" h="577850">
                  <a:moveTo>
                    <a:pt x="0" y="0"/>
                  </a:moveTo>
                  <a:lnTo>
                    <a:pt x="0" y="577519"/>
                  </a:lnTo>
                </a:path>
              </a:pathLst>
            </a:custGeom>
            <a:ln w="2137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211290" y="4711369"/>
              <a:ext cx="0" cy="577850"/>
            </a:xfrm>
            <a:custGeom>
              <a:avLst/>
              <a:gdLst/>
              <a:ahLst/>
              <a:cxnLst/>
              <a:rect l="l" t="t" r="r" b="b"/>
              <a:pathLst>
                <a:path w="0" h="577850">
                  <a:moveTo>
                    <a:pt x="0" y="0"/>
                  </a:moveTo>
                  <a:lnTo>
                    <a:pt x="0" y="577519"/>
                  </a:lnTo>
                </a:path>
              </a:pathLst>
            </a:custGeom>
            <a:ln w="2137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3058426" y="4609122"/>
            <a:ext cx="3533140" cy="2229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8910">
              <a:lnSpc>
                <a:spcPts val="4820"/>
              </a:lnSpc>
              <a:tabLst>
                <a:tab pos="2072639" algn="l"/>
              </a:tabLst>
            </a:pPr>
            <a:r>
              <a:rPr dirty="0" sz="340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3400" spc="8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121" sz="6675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3400">
                <a:solidFill>
                  <a:srgbClr val="231F20"/>
                </a:solidFill>
                <a:latin typeface="Symbol"/>
                <a:cs typeface="Symbol"/>
              </a:rPr>
              <a:t></a:t>
            </a:r>
            <a:r>
              <a:rPr dirty="0" sz="340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sz="3400" spc="-28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121" sz="6675" spc="-562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121" sz="6675" spc="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400" spc="-6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34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340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3400" spc="4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121" sz="6675" spc="-562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-3121" sz="6675" spc="-10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40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sz="3400" spc="-31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121" sz="6675" spc="-637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endParaRPr baseline="-3121" sz="6675">
              <a:latin typeface="Symbol"/>
              <a:cs typeface="Symbol"/>
            </a:endParaRPr>
          </a:p>
          <a:p>
            <a:pPr marL="71755" marR="56515" indent="-13970">
              <a:lnSpc>
                <a:spcPct val="107000"/>
              </a:lnSpc>
              <a:spcBef>
                <a:spcPts val="265"/>
              </a:spcBef>
              <a:tabLst>
                <a:tab pos="756285" algn="l"/>
                <a:tab pos="2799715" algn="l"/>
              </a:tabLst>
            </a:pPr>
            <a:r>
              <a:rPr dirty="0" sz="3400" spc="110">
                <a:solidFill>
                  <a:srgbClr val="231F20"/>
                </a:solidFill>
                <a:latin typeface="Symbol"/>
                <a:cs typeface="Symbol"/>
              </a:rPr>
              <a:t></a:t>
            </a:r>
            <a:r>
              <a:rPr dirty="0" baseline="-3121" sz="6675" spc="165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3400" spc="110">
                <a:solidFill>
                  <a:srgbClr val="231F20"/>
                </a:solidFill>
                <a:latin typeface="Symbol"/>
                <a:cs typeface="Symbol"/>
              </a:rPr>
              <a:t></a:t>
            </a:r>
            <a:r>
              <a:rPr dirty="0" sz="3400" spc="11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sz="3400" spc="-30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121" sz="6675" spc="-562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121" sz="6675" spc="-532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3400" spc="-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400" spc="-10">
                <a:solidFill>
                  <a:srgbClr val="231F20"/>
                </a:solidFill>
                <a:latin typeface="Symbol"/>
                <a:cs typeface="Symbol"/>
              </a:rPr>
              <a:t></a:t>
            </a:r>
            <a:r>
              <a:rPr dirty="0" baseline="-3121" sz="6675" spc="-15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-3121" sz="6675" spc="-1072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40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sz="3400" spc="-30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121" sz="6675" spc="-637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121" sz="6675" spc="-63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400" spc="60" i="1">
                <a:solidFill>
                  <a:srgbClr val="231F20"/>
                </a:solidFill>
                <a:latin typeface="Times New Roman"/>
                <a:cs typeface="Times New Roman"/>
              </a:rPr>
              <a:t>S</a:t>
            </a:r>
            <a:r>
              <a:rPr dirty="0" baseline="-25641" sz="2925" spc="89" i="1">
                <a:solidFill>
                  <a:srgbClr val="231F20"/>
                </a:solidFill>
                <a:latin typeface="Times New Roman"/>
                <a:cs typeface="Times New Roman"/>
              </a:rPr>
              <a:t>XX</a:t>
            </a:r>
            <a:r>
              <a:rPr dirty="0" baseline="-25641" sz="2925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baseline="-3121" sz="6675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3400">
                <a:solidFill>
                  <a:srgbClr val="231F20"/>
                </a:solidFill>
                <a:latin typeface="Symbol"/>
                <a:cs typeface="Symbol"/>
              </a:rPr>
              <a:t></a:t>
            </a:r>
            <a:r>
              <a:rPr dirty="0" sz="340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sz="3400" spc="-28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121" sz="6675" spc="-562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121" sz="6675" spc="-4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3400" spc="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400" spc="60" i="1">
                <a:solidFill>
                  <a:srgbClr val="231F20"/>
                </a:solidFill>
                <a:latin typeface="Times New Roman"/>
                <a:cs typeface="Times New Roman"/>
              </a:rPr>
              <a:t>S</a:t>
            </a:r>
            <a:r>
              <a:rPr dirty="0" baseline="-25641" sz="2925" spc="89" i="1">
                <a:solidFill>
                  <a:srgbClr val="231F20"/>
                </a:solidFill>
                <a:latin typeface="Times New Roman"/>
                <a:cs typeface="Times New Roman"/>
              </a:rPr>
              <a:t>XX</a:t>
            </a:r>
            <a:r>
              <a:rPr dirty="0" baseline="-25641" sz="2925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baseline="-3121" sz="6675" spc="-562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-3121" sz="6675" spc="-1072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40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sz="3400" spc="-31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121" sz="6675" spc="-637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endParaRPr baseline="-3121" sz="6675">
              <a:latin typeface="Symbol"/>
              <a:cs typeface="Symbo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3087255" y="2997212"/>
            <a:ext cx="3473450" cy="720725"/>
            <a:chOff x="3087255" y="2997212"/>
            <a:chExt cx="3473450" cy="720725"/>
          </a:xfrm>
        </p:grpSpPr>
        <p:sp>
          <p:nvSpPr>
            <p:cNvPr id="26" name="object 26" descr=""/>
            <p:cNvSpPr/>
            <p:nvPr/>
          </p:nvSpPr>
          <p:spPr>
            <a:xfrm>
              <a:off x="3087255" y="2997212"/>
              <a:ext cx="3473450" cy="720725"/>
            </a:xfrm>
            <a:custGeom>
              <a:avLst/>
              <a:gdLst/>
              <a:ahLst/>
              <a:cxnLst/>
              <a:rect l="l" t="t" r="r" b="b"/>
              <a:pathLst>
                <a:path w="3473450" h="720725">
                  <a:moveTo>
                    <a:pt x="0" y="0"/>
                  </a:moveTo>
                  <a:lnTo>
                    <a:pt x="0" y="720331"/>
                  </a:lnTo>
                  <a:lnTo>
                    <a:pt x="3472954" y="720331"/>
                  </a:lnTo>
                  <a:lnTo>
                    <a:pt x="34729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C01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537735" y="3094405"/>
              <a:ext cx="0" cy="526415"/>
            </a:xfrm>
            <a:custGeom>
              <a:avLst/>
              <a:gdLst/>
              <a:ahLst/>
              <a:cxnLst/>
              <a:rect l="l" t="t" r="r" b="b"/>
              <a:pathLst>
                <a:path w="0" h="526414">
                  <a:moveTo>
                    <a:pt x="0" y="0"/>
                  </a:moveTo>
                  <a:lnTo>
                    <a:pt x="0" y="525919"/>
                  </a:lnTo>
                </a:path>
              </a:pathLst>
            </a:custGeom>
            <a:ln w="1944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598363" y="3094405"/>
              <a:ext cx="0" cy="526415"/>
            </a:xfrm>
            <a:custGeom>
              <a:avLst/>
              <a:gdLst/>
              <a:ahLst/>
              <a:cxnLst/>
              <a:rect l="l" t="t" r="r" b="b"/>
              <a:pathLst>
                <a:path w="0" h="526414">
                  <a:moveTo>
                    <a:pt x="0" y="0"/>
                  </a:moveTo>
                  <a:lnTo>
                    <a:pt x="0" y="525919"/>
                  </a:lnTo>
                </a:path>
              </a:pathLst>
            </a:custGeom>
            <a:ln w="1944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3087255" y="2997212"/>
            <a:ext cx="3473450" cy="720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9535">
              <a:lnSpc>
                <a:spcPts val="4420"/>
              </a:lnSpc>
              <a:tabLst>
                <a:tab pos="1529080" algn="l"/>
              </a:tabLst>
            </a:pPr>
            <a:r>
              <a:rPr dirty="0" sz="310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3100" spc="4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429" sz="6075" spc="-509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-3429" sz="6075" spc="-982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10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sz="3100" spc="-28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429" sz="6075" spc="-509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429" sz="6075" spc="-48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100" spc="-5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31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310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3100" spc="8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429" sz="6075" spc="-509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-3429" sz="6075" spc="-96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100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sz="3100" spc="-26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429" sz="6075" spc="-509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429" sz="6075" spc="-1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100" spc="-20" i="1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dirty="0" sz="3100" spc="-32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49206" sz="2625" i="1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r>
              <a:rPr dirty="0" baseline="49206" sz="2625">
                <a:solidFill>
                  <a:srgbClr val="231F20"/>
                </a:solidFill>
                <a:latin typeface="Symbol"/>
                <a:cs typeface="Symbol"/>
              </a:rPr>
              <a:t></a:t>
            </a:r>
            <a:r>
              <a:rPr dirty="0" baseline="33816" sz="3450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49206" sz="2625" i="1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dirty="0" baseline="49206" sz="2625" spc="-22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33816" sz="3450" spc="-75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endParaRPr baseline="33816" sz="3450">
              <a:latin typeface="Symbol"/>
              <a:cs typeface="Symbol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4546612" y="3797312"/>
            <a:ext cx="406400" cy="635000"/>
            <a:chOff x="4546612" y="3797312"/>
            <a:chExt cx="406400" cy="635000"/>
          </a:xfrm>
        </p:grpSpPr>
        <p:sp>
          <p:nvSpPr>
            <p:cNvPr id="31" name="object 31" descr=""/>
            <p:cNvSpPr/>
            <p:nvPr/>
          </p:nvSpPr>
          <p:spPr>
            <a:xfrm>
              <a:off x="4559312" y="3810012"/>
              <a:ext cx="381000" cy="609600"/>
            </a:xfrm>
            <a:custGeom>
              <a:avLst/>
              <a:gdLst/>
              <a:ahLst/>
              <a:cxnLst/>
              <a:rect l="l" t="t" r="r" b="b"/>
              <a:pathLst>
                <a:path w="381000" h="609600">
                  <a:moveTo>
                    <a:pt x="0" y="419100"/>
                  </a:moveTo>
                  <a:lnTo>
                    <a:pt x="190500" y="609600"/>
                  </a:lnTo>
                  <a:lnTo>
                    <a:pt x="381000" y="419099"/>
                  </a:lnTo>
                  <a:lnTo>
                    <a:pt x="285750" y="419099"/>
                  </a:lnTo>
                  <a:lnTo>
                    <a:pt x="285749" y="0"/>
                  </a:lnTo>
                  <a:lnTo>
                    <a:pt x="95249" y="0"/>
                  </a:lnTo>
                  <a:lnTo>
                    <a:pt x="9525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8981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559312" y="3810012"/>
              <a:ext cx="381000" cy="609600"/>
            </a:xfrm>
            <a:custGeom>
              <a:avLst/>
              <a:gdLst/>
              <a:ahLst/>
              <a:cxnLst/>
              <a:rect l="l" t="t" r="r" b="b"/>
              <a:pathLst>
                <a:path w="381000" h="609600">
                  <a:moveTo>
                    <a:pt x="0" y="419100"/>
                  </a:moveTo>
                  <a:lnTo>
                    <a:pt x="95250" y="419100"/>
                  </a:lnTo>
                  <a:lnTo>
                    <a:pt x="95249" y="0"/>
                  </a:lnTo>
                  <a:lnTo>
                    <a:pt x="285749" y="0"/>
                  </a:lnTo>
                  <a:lnTo>
                    <a:pt x="285750" y="419099"/>
                  </a:lnTo>
                  <a:lnTo>
                    <a:pt x="381000" y="419099"/>
                  </a:lnTo>
                  <a:lnTo>
                    <a:pt x="190500" y="609600"/>
                  </a:lnTo>
                  <a:lnTo>
                    <a:pt x="0" y="419100"/>
                  </a:lnTo>
                  <a:close/>
                </a:path>
              </a:pathLst>
            </a:custGeom>
            <a:ln w="2540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0562" y="1922462"/>
            <a:ext cx="7334262" cy="1876437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sp>
          <p:nvSpPr>
            <p:cNvPr id="4" name="object 4" descr=""/>
            <p:cNvSpPr/>
            <p:nvPr/>
          </p:nvSpPr>
          <p:spPr>
            <a:xfrm>
              <a:off x="914400" y="731837"/>
              <a:ext cx="8230234" cy="1143000"/>
            </a:xfrm>
            <a:custGeom>
              <a:avLst/>
              <a:gdLst/>
              <a:ahLst/>
              <a:cxnLst/>
              <a:rect l="l" t="t" r="r" b="b"/>
              <a:pathLst>
                <a:path w="8230234" h="1143000">
                  <a:moveTo>
                    <a:pt x="0" y="0"/>
                  </a:moveTo>
                  <a:lnTo>
                    <a:pt x="0" y="1143000"/>
                  </a:lnTo>
                  <a:lnTo>
                    <a:pt x="8229612" y="1143000"/>
                  </a:lnTo>
                  <a:lnTo>
                    <a:pt x="82296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5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9660" y="838200"/>
              <a:ext cx="8145792" cy="111861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03663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6409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8" name="object 8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2962" y="2138362"/>
            <a:ext cx="2514600" cy="46672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74315" y="4844716"/>
            <a:ext cx="4132969" cy="633888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5778512" y="4102112"/>
            <a:ext cx="3607435" cy="1818639"/>
            <a:chOff x="5778512" y="4102112"/>
            <a:chExt cx="3607435" cy="1818639"/>
          </a:xfrm>
        </p:grpSpPr>
        <p:sp>
          <p:nvSpPr>
            <p:cNvPr id="12" name="object 12" descr=""/>
            <p:cNvSpPr/>
            <p:nvPr/>
          </p:nvSpPr>
          <p:spPr>
            <a:xfrm>
              <a:off x="5791212" y="4114812"/>
              <a:ext cx="3582035" cy="1793239"/>
            </a:xfrm>
            <a:custGeom>
              <a:avLst/>
              <a:gdLst/>
              <a:ahLst/>
              <a:cxnLst/>
              <a:rect l="l" t="t" r="r" b="b"/>
              <a:pathLst>
                <a:path w="3582034" h="1793239">
                  <a:moveTo>
                    <a:pt x="0" y="298881"/>
                  </a:moveTo>
                  <a:lnTo>
                    <a:pt x="0" y="1793240"/>
                  </a:lnTo>
                  <a:lnTo>
                    <a:pt x="3581412" y="1793239"/>
                  </a:lnTo>
                  <a:lnTo>
                    <a:pt x="3581412" y="298881"/>
                  </a:lnTo>
                  <a:lnTo>
                    <a:pt x="3282518" y="0"/>
                  </a:lnTo>
                  <a:lnTo>
                    <a:pt x="298881" y="0"/>
                  </a:lnTo>
                  <a:lnTo>
                    <a:pt x="250403" y="3911"/>
                  </a:lnTo>
                  <a:lnTo>
                    <a:pt x="204414" y="15236"/>
                  </a:lnTo>
                  <a:lnTo>
                    <a:pt x="161531" y="33359"/>
                  </a:lnTo>
                  <a:lnTo>
                    <a:pt x="122368" y="57664"/>
                  </a:lnTo>
                  <a:lnTo>
                    <a:pt x="87542" y="87537"/>
                  </a:lnTo>
                  <a:lnTo>
                    <a:pt x="57668" y="122363"/>
                  </a:lnTo>
                  <a:lnTo>
                    <a:pt x="33361" y="161525"/>
                  </a:lnTo>
                  <a:lnTo>
                    <a:pt x="15237" y="204409"/>
                  </a:lnTo>
                  <a:lnTo>
                    <a:pt x="3912" y="250399"/>
                  </a:lnTo>
                  <a:lnTo>
                    <a:pt x="0" y="298881"/>
                  </a:lnTo>
                  <a:close/>
                </a:path>
              </a:pathLst>
            </a:custGeom>
            <a:solidFill>
              <a:srgbClr val="4E8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791212" y="4114812"/>
              <a:ext cx="3582035" cy="1793239"/>
            </a:xfrm>
            <a:custGeom>
              <a:avLst/>
              <a:gdLst/>
              <a:ahLst/>
              <a:cxnLst/>
              <a:rect l="l" t="t" r="r" b="b"/>
              <a:pathLst>
                <a:path w="3582034" h="1793239">
                  <a:moveTo>
                    <a:pt x="298881" y="0"/>
                  </a:moveTo>
                  <a:lnTo>
                    <a:pt x="3282518" y="0"/>
                  </a:lnTo>
                  <a:lnTo>
                    <a:pt x="3581412" y="298881"/>
                  </a:lnTo>
                  <a:lnTo>
                    <a:pt x="3581412" y="1793239"/>
                  </a:lnTo>
                  <a:lnTo>
                    <a:pt x="0" y="1793240"/>
                  </a:lnTo>
                  <a:lnTo>
                    <a:pt x="0" y="298881"/>
                  </a:lnTo>
                  <a:lnTo>
                    <a:pt x="3912" y="250399"/>
                  </a:lnTo>
                  <a:lnTo>
                    <a:pt x="15237" y="204409"/>
                  </a:lnTo>
                  <a:lnTo>
                    <a:pt x="33361" y="161525"/>
                  </a:lnTo>
                  <a:lnTo>
                    <a:pt x="57668" y="122363"/>
                  </a:lnTo>
                  <a:lnTo>
                    <a:pt x="87542" y="87537"/>
                  </a:lnTo>
                  <a:lnTo>
                    <a:pt x="122368" y="57664"/>
                  </a:lnTo>
                  <a:lnTo>
                    <a:pt x="161531" y="33359"/>
                  </a:lnTo>
                  <a:lnTo>
                    <a:pt x="204414" y="15236"/>
                  </a:lnTo>
                  <a:lnTo>
                    <a:pt x="250403" y="3911"/>
                  </a:lnTo>
                  <a:lnTo>
                    <a:pt x="298881" y="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6015683" y="4204292"/>
            <a:ext cx="307022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Spectrum</a:t>
            </a:r>
            <a:r>
              <a:rPr dirty="0" sz="1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rectangular</a:t>
            </a:r>
            <a:r>
              <a:rPr dirty="0" sz="1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pulse</a:t>
            </a:r>
            <a:r>
              <a:rPr dirty="0" sz="1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envelope</a:t>
            </a:r>
            <a:r>
              <a:rPr dirty="0" sz="1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line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spectrum</a:t>
            </a:r>
            <a:r>
              <a:rPr dirty="0" sz="18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(CTFS</a:t>
            </a:r>
            <a:r>
              <a:rPr dirty="0" sz="18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coefficients)</a:t>
            </a:r>
            <a:r>
              <a:rPr dirty="0" sz="18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periodic</a:t>
            </a: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signal</a:t>
            </a:r>
            <a:r>
              <a:rPr dirty="0" sz="18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obtained</a:t>
            </a: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by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periodically</a:t>
            </a:r>
            <a:r>
              <a:rPr dirty="0" sz="18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repeating</a:t>
            </a:r>
            <a:r>
              <a:rPr dirty="0" sz="18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pulse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period</a:t>
            </a:r>
            <a:r>
              <a:rPr dirty="0" sz="18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Tp.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01913" y="5960083"/>
            <a:ext cx="3221432" cy="71122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6409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19382" y="2145464"/>
            <a:ext cx="6525819" cy="296771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14400" y="5608713"/>
            <a:ext cx="8230234" cy="1464310"/>
          </a:xfrm>
          <a:prstGeom prst="rect">
            <a:avLst/>
          </a:prstGeom>
          <a:ln w="25400">
            <a:solidFill>
              <a:srgbClr val="385D8A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marL="377190" indent="-28575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77190" algn="l"/>
              </a:tabLst>
            </a:pP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Zero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crossing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at</a:t>
            </a:r>
            <a:r>
              <a:rPr dirty="0" sz="1800" spc="-6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multiples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1/tau.</a:t>
            </a:r>
            <a:endParaRPr sz="1800">
              <a:latin typeface="Calibri"/>
              <a:cs typeface="Calibri"/>
            </a:endParaRPr>
          </a:p>
          <a:p>
            <a:pPr marL="429259" indent="-337820">
              <a:lnSpc>
                <a:spcPct val="100000"/>
              </a:lnSpc>
              <a:buFont typeface="Arial MT"/>
              <a:buChar char="•"/>
              <a:tabLst>
                <a:tab pos="429259" algn="l"/>
              </a:tabLst>
            </a:pP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Width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main</a:t>
            </a:r>
            <a:r>
              <a:rPr dirty="0" sz="1800" spc="-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lobe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=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2/tau.</a:t>
            </a:r>
            <a:endParaRPr sz="1800">
              <a:latin typeface="Calibri"/>
              <a:cs typeface="Calibri"/>
            </a:endParaRPr>
          </a:p>
          <a:p>
            <a:pPr marL="377825" marR="560705" indent="-287020">
              <a:lnSpc>
                <a:spcPct val="100000"/>
              </a:lnSpc>
              <a:buFont typeface="Arial MT"/>
              <a:buChar char="•"/>
              <a:tabLst>
                <a:tab pos="377825" algn="l"/>
              </a:tabLst>
            </a:pP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As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pulse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duration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i.e.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tau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increases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decreases,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main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lobe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becomes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more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narrower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wider,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we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say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that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more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energy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moved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lower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higher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frequencies</a:t>
            </a:r>
            <a:r>
              <a:rPr dirty="0" sz="1800" spc="-9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respectively.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704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9162" y="2125662"/>
            <a:ext cx="5495936" cy="488633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704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9162" y="2138362"/>
            <a:ext cx="5648335" cy="473393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704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3125" y="2199322"/>
            <a:ext cx="8224850" cy="453677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704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5830" y="2072004"/>
            <a:ext cx="8141030" cy="45786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704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7262" y="2138362"/>
            <a:ext cx="6867537" cy="478156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704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9162" y="2138362"/>
            <a:ext cx="7010412" cy="449581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704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9162" y="2062162"/>
            <a:ext cx="6858012" cy="480061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704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4562" y="2062162"/>
            <a:ext cx="6934212" cy="472441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704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9162" y="2176462"/>
            <a:ext cx="6858012" cy="472441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704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70038" y="2170401"/>
            <a:ext cx="3443783" cy="49010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704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9798" y="2820894"/>
            <a:ext cx="2079158" cy="57049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11267" y="2117277"/>
            <a:ext cx="3042671" cy="191434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71724" y="5383107"/>
            <a:ext cx="2091844" cy="57049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74675" y="4489338"/>
            <a:ext cx="3093374" cy="196505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704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8792" y="3088341"/>
            <a:ext cx="2374201" cy="237420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72805" y="2902732"/>
            <a:ext cx="3742999" cy="239305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704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4765" y="2215565"/>
            <a:ext cx="7468374" cy="411452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3396" y="790956"/>
              <a:ext cx="4433315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15184" y="790956"/>
              <a:ext cx="126492" cy="123139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6712" y="790956"/>
              <a:ext cx="728472" cy="12313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911860">
              <a:lnSpc>
                <a:spcPct val="100000"/>
              </a:lnSpc>
              <a:spcBef>
                <a:spcPts val="105"/>
              </a:spcBef>
            </a:pPr>
            <a:r>
              <a:rPr dirty="0" b="0">
                <a:solidFill>
                  <a:srgbClr val="231F20"/>
                </a:solidFill>
                <a:latin typeface="Calibri"/>
                <a:cs typeface="Calibri"/>
              </a:rPr>
              <a:t>Week</a:t>
            </a:r>
            <a:r>
              <a:rPr dirty="0" spc="-130" b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231F20"/>
                </a:solidFill>
                <a:latin typeface="Calibri"/>
                <a:cs typeface="Calibri"/>
              </a:rPr>
              <a:t>8:</a:t>
            </a:r>
            <a:r>
              <a:rPr dirty="0" spc="-110" b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/>
              <a:t>Frequency</a:t>
            </a:r>
            <a:r>
              <a:rPr dirty="0" spc="-110"/>
              <a:t> </a:t>
            </a:r>
            <a:r>
              <a:rPr dirty="0" spc="-10"/>
              <a:t>Analysis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01092" y="2116839"/>
            <a:ext cx="7519670" cy="4598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>
                <a:solidFill>
                  <a:srgbClr val="3953A4"/>
                </a:solidFill>
                <a:latin typeface="Wingdings"/>
                <a:cs typeface="Wingdings"/>
              </a:rPr>
              <a:t></a:t>
            </a:r>
            <a:endParaRPr sz="300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300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3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dirty="0" sz="3000" spc="-50">
                <a:solidFill>
                  <a:srgbClr val="3953A4"/>
                </a:solidFill>
                <a:latin typeface="Wingdings"/>
                <a:cs typeface="Wingdings"/>
              </a:rPr>
              <a:t></a:t>
            </a:r>
            <a:endParaRPr sz="300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300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3000">
              <a:latin typeface="Wingdings"/>
              <a:cs typeface="Wingdings"/>
            </a:endParaRPr>
          </a:p>
          <a:p>
            <a:pPr marL="469900" marR="5080" indent="-457200">
              <a:lnSpc>
                <a:spcPct val="100000"/>
              </a:lnSpc>
              <a:tabLst>
                <a:tab pos="555625" algn="l"/>
              </a:tabLst>
            </a:pPr>
            <a:r>
              <a:rPr dirty="0" sz="3000" spc="-50">
                <a:solidFill>
                  <a:srgbClr val="3953A4"/>
                </a:solidFill>
                <a:latin typeface="Wingdings"/>
                <a:cs typeface="Wingdings"/>
              </a:rPr>
              <a:t></a:t>
            </a:r>
            <a:r>
              <a:rPr dirty="0" sz="3000">
                <a:solidFill>
                  <a:srgbClr val="3953A4"/>
                </a:solidFill>
                <a:latin typeface="Times New Roman"/>
                <a:cs typeface="Times New Roman"/>
              </a:rPr>
              <a:t>		</a:t>
            </a:r>
            <a:r>
              <a:rPr dirty="0" sz="3000" spc="-10" b="1">
                <a:solidFill>
                  <a:srgbClr val="231F20"/>
                </a:solidFill>
                <a:latin typeface="Calibri"/>
                <a:cs typeface="Calibri"/>
              </a:rPr>
              <a:t>Frequency</a:t>
            </a:r>
            <a:r>
              <a:rPr dirty="0" sz="3000" spc="-8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231F20"/>
                </a:solidFill>
                <a:latin typeface="Calibri"/>
                <a:cs typeface="Calibri"/>
              </a:rPr>
              <a:t>Analysis</a:t>
            </a:r>
            <a:r>
              <a:rPr dirty="0" sz="3000" spc="-5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3000" spc="-9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C878B1"/>
                </a:solidFill>
                <a:latin typeface="Calibri"/>
                <a:cs typeface="Calibri"/>
              </a:rPr>
              <a:t>discrete</a:t>
            </a:r>
            <a:r>
              <a:rPr dirty="0" sz="3000" spc="-85" b="1">
                <a:solidFill>
                  <a:srgbClr val="C878B1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C878B1"/>
                </a:solidFill>
                <a:latin typeface="Calibri"/>
                <a:cs typeface="Calibri"/>
              </a:rPr>
              <a:t>time</a:t>
            </a:r>
            <a:r>
              <a:rPr dirty="0" sz="3000" spc="-55" b="1">
                <a:solidFill>
                  <a:srgbClr val="C878B1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ED2024"/>
                </a:solidFill>
                <a:latin typeface="Calibri"/>
                <a:cs typeface="Calibri"/>
              </a:rPr>
              <a:t>periodic </a:t>
            </a:r>
            <a:r>
              <a:rPr dirty="0" sz="3000" spc="-10" b="1">
                <a:solidFill>
                  <a:srgbClr val="231F20"/>
                </a:solidFill>
                <a:latin typeface="Calibri"/>
                <a:cs typeface="Calibri"/>
              </a:rPr>
              <a:t>signals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0"/>
              </a:spcBef>
            </a:pPr>
            <a:r>
              <a:rPr dirty="0" sz="3000" spc="-50">
                <a:solidFill>
                  <a:srgbClr val="3953A4"/>
                </a:solidFill>
                <a:latin typeface="Wingdings"/>
                <a:cs typeface="Wingdings"/>
              </a:rPr>
              <a:t></a:t>
            </a:r>
            <a:endParaRPr sz="30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7527" y="790956"/>
              <a:ext cx="6377952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63952" y="790956"/>
              <a:ext cx="126492" cy="123139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35480" y="790956"/>
              <a:ext cx="728472" cy="12313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988694">
              <a:lnSpc>
                <a:spcPct val="100000"/>
              </a:lnSpc>
              <a:spcBef>
                <a:spcPts val="105"/>
              </a:spcBef>
            </a:pPr>
            <a:r>
              <a:rPr dirty="0"/>
              <a:t>Discrete</a:t>
            </a:r>
            <a:r>
              <a:rPr dirty="0" spc="-114"/>
              <a:t> </a:t>
            </a:r>
            <a:r>
              <a:rPr dirty="0"/>
              <a:t>time</a:t>
            </a:r>
            <a:r>
              <a:rPr dirty="0" spc="-114"/>
              <a:t> </a:t>
            </a:r>
            <a:r>
              <a:rPr dirty="0"/>
              <a:t>Fourier</a:t>
            </a:r>
            <a:r>
              <a:rPr dirty="0" spc="-120"/>
              <a:t> </a:t>
            </a:r>
            <a:r>
              <a:rPr dirty="0" spc="-10"/>
              <a:t>Series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8245" y="2138845"/>
            <a:ext cx="5039689" cy="418053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2020" y="1911337"/>
            <a:ext cx="3461029" cy="55782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8245" y="2138845"/>
            <a:ext cx="4348175" cy="513397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sp>
          <p:nvSpPr>
            <p:cNvPr id="5" name="object 5" descr=""/>
            <p:cNvSpPr/>
            <p:nvPr/>
          </p:nvSpPr>
          <p:spPr>
            <a:xfrm>
              <a:off x="914400" y="731837"/>
              <a:ext cx="8230234" cy="1143000"/>
            </a:xfrm>
            <a:custGeom>
              <a:avLst/>
              <a:gdLst/>
              <a:ahLst/>
              <a:cxnLst/>
              <a:rect l="l" t="t" r="r" b="b"/>
              <a:pathLst>
                <a:path w="8230234" h="1143000">
                  <a:moveTo>
                    <a:pt x="0" y="0"/>
                  </a:moveTo>
                  <a:lnTo>
                    <a:pt x="0" y="1143000"/>
                  </a:lnTo>
                  <a:lnTo>
                    <a:pt x="8229612" y="1143000"/>
                  </a:lnTo>
                  <a:lnTo>
                    <a:pt x="82296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5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7527" y="1874837"/>
              <a:ext cx="6377952" cy="14751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7527" y="790956"/>
              <a:ext cx="7232916" cy="123139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35480" y="1911337"/>
              <a:ext cx="728472" cy="11101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35480" y="790956"/>
              <a:ext cx="728472" cy="1083881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988694">
              <a:lnSpc>
                <a:spcPct val="100000"/>
              </a:lnSpc>
              <a:spcBef>
                <a:spcPts val="105"/>
              </a:spcBef>
            </a:pPr>
            <a:r>
              <a:rPr dirty="0"/>
              <a:t>Discrete</a:t>
            </a:r>
            <a:r>
              <a:rPr dirty="0" spc="-114"/>
              <a:t> </a:t>
            </a:r>
            <a:r>
              <a:rPr dirty="0"/>
              <a:t>time</a:t>
            </a:r>
            <a:r>
              <a:rPr dirty="0" spc="-114"/>
              <a:t> </a:t>
            </a:r>
            <a:r>
              <a:rPr dirty="0"/>
              <a:t>Fourier</a:t>
            </a:r>
            <a:r>
              <a:rPr dirty="0" spc="-120"/>
              <a:t> </a:t>
            </a:r>
            <a:r>
              <a:rPr dirty="0" spc="-10"/>
              <a:t>Series</a:t>
            </a:r>
          </a:p>
        </p:txBody>
      </p:sp>
      <p:sp>
        <p:nvSpPr>
          <p:cNvPr id="11" name="object 11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43012" y="3281362"/>
            <a:ext cx="5419737" cy="150495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81182" y="5295581"/>
            <a:ext cx="6742283" cy="124472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7527" y="790956"/>
              <a:ext cx="6377952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63952" y="790956"/>
              <a:ext cx="126492" cy="123139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35480" y="790956"/>
              <a:ext cx="728472" cy="12313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988694">
              <a:lnSpc>
                <a:spcPct val="100000"/>
              </a:lnSpc>
              <a:spcBef>
                <a:spcPts val="105"/>
              </a:spcBef>
            </a:pPr>
            <a:r>
              <a:rPr dirty="0"/>
              <a:t>Discrete</a:t>
            </a:r>
            <a:r>
              <a:rPr dirty="0" spc="-114"/>
              <a:t> </a:t>
            </a:r>
            <a:r>
              <a:rPr dirty="0"/>
              <a:t>time</a:t>
            </a:r>
            <a:r>
              <a:rPr dirty="0" spc="-114"/>
              <a:t> </a:t>
            </a:r>
            <a:r>
              <a:rPr dirty="0"/>
              <a:t>Fourier</a:t>
            </a:r>
            <a:r>
              <a:rPr dirty="0" spc="-120"/>
              <a:t> </a:t>
            </a:r>
            <a:r>
              <a:rPr dirty="0" spc="-10"/>
              <a:t>Series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0169" y="2137937"/>
            <a:ext cx="6557884" cy="493281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0234" cy="6091555"/>
            <a:chOff x="914400" y="731837"/>
            <a:chExt cx="8230234" cy="60915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986" y="1874837"/>
              <a:ext cx="7018883" cy="4948047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14400" y="731837"/>
              <a:ext cx="8230234" cy="1143000"/>
            </a:xfrm>
            <a:custGeom>
              <a:avLst/>
              <a:gdLst/>
              <a:ahLst/>
              <a:cxnLst/>
              <a:rect l="l" t="t" r="r" b="b"/>
              <a:pathLst>
                <a:path w="8230234" h="1143000">
                  <a:moveTo>
                    <a:pt x="0" y="0"/>
                  </a:moveTo>
                  <a:lnTo>
                    <a:pt x="0" y="1143000"/>
                  </a:lnTo>
                  <a:lnTo>
                    <a:pt x="8229612" y="1143000"/>
                  </a:lnTo>
                  <a:lnTo>
                    <a:pt x="82296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5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7527" y="1936165"/>
              <a:ext cx="6377952" cy="8618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7527" y="790956"/>
              <a:ext cx="6377952" cy="108388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63952" y="790956"/>
              <a:ext cx="126492" cy="123139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35480" y="1874837"/>
              <a:ext cx="728472" cy="14751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35480" y="1936165"/>
              <a:ext cx="245389" cy="8618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35480" y="790956"/>
              <a:ext cx="728472" cy="1083881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988694">
              <a:lnSpc>
                <a:spcPct val="100000"/>
              </a:lnSpc>
              <a:spcBef>
                <a:spcPts val="105"/>
              </a:spcBef>
            </a:pPr>
            <a:r>
              <a:rPr dirty="0"/>
              <a:t>Discrete</a:t>
            </a:r>
            <a:r>
              <a:rPr dirty="0" spc="-114"/>
              <a:t> </a:t>
            </a:r>
            <a:r>
              <a:rPr dirty="0"/>
              <a:t>time</a:t>
            </a:r>
            <a:r>
              <a:rPr dirty="0" spc="-114"/>
              <a:t> </a:t>
            </a:r>
            <a:r>
              <a:rPr dirty="0"/>
              <a:t>Fourier</a:t>
            </a:r>
            <a:r>
              <a:rPr dirty="0" spc="-120"/>
              <a:t> </a:t>
            </a:r>
            <a:r>
              <a:rPr dirty="0" spc="-10"/>
              <a:t>Series</a:t>
            </a:r>
          </a:p>
        </p:txBody>
      </p:sp>
      <p:sp>
        <p:nvSpPr>
          <p:cNvPr id="12" name="object 12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7527" y="790956"/>
              <a:ext cx="6377952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63952" y="790956"/>
              <a:ext cx="126492" cy="123139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35480" y="790956"/>
              <a:ext cx="728472" cy="12313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algn="ctr" marL="118110">
              <a:lnSpc>
                <a:spcPct val="100000"/>
              </a:lnSpc>
              <a:spcBef>
                <a:spcPts val="105"/>
              </a:spcBef>
            </a:pPr>
            <a:r>
              <a:rPr dirty="0"/>
              <a:t>Discrete</a:t>
            </a:r>
            <a:r>
              <a:rPr dirty="0" spc="-114"/>
              <a:t> </a:t>
            </a:r>
            <a:r>
              <a:rPr dirty="0"/>
              <a:t>time</a:t>
            </a:r>
            <a:r>
              <a:rPr dirty="0" spc="-114"/>
              <a:t> </a:t>
            </a:r>
            <a:r>
              <a:rPr dirty="0"/>
              <a:t>Fourier</a:t>
            </a:r>
            <a:r>
              <a:rPr dirty="0" spc="-120"/>
              <a:t> </a:t>
            </a:r>
            <a:r>
              <a:rPr dirty="0" spc="-10"/>
              <a:t>Series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93141" y="2151384"/>
            <a:ext cx="774382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So,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only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N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distinct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Fourier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coefficients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i.e.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for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k=0,1,2,</a:t>
            </a:r>
            <a:r>
              <a:rPr dirty="0" sz="1800" spc="-1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…</a:t>
            </a:r>
            <a:r>
              <a:rPr dirty="0" sz="1800" spc="-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,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N-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1.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range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covers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the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fundamental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frequency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range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i.e.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f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goes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from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0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to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1.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Outside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this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range,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Fourier coefficients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periodic: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81238" y="3319462"/>
            <a:ext cx="5276861" cy="6477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57637" y="4310075"/>
            <a:ext cx="828674" cy="14287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219200" y="4800612"/>
            <a:ext cx="7468234" cy="1143000"/>
          </a:xfrm>
          <a:prstGeom prst="rect">
            <a:avLst/>
          </a:prstGeom>
          <a:ln w="25400">
            <a:solidFill>
              <a:srgbClr val="385D8A"/>
            </a:solidFill>
          </a:ln>
        </p:spPr>
        <p:txBody>
          <a:bodyPr wrap="square" lIns="0" tIns="185420" rIns="0" bIns="0" rtlCol="0" vert="horz">
            <a:spAutoFit/>
          </a:bodyPr>
          <a:lstStyle/>
          <a:p>
            <a:pPr marL="1894839" marR="137795" indent="-1752600">
              <a:lnSpc>
                <a:spcPct val="100000"/>
              </a:lnSpc>
              <a:spcBef>
                <a:spcPts val="1460"/>
              </a:spcBef>
            </a:pPr>
            <a:r>
              <a:rPr dirty="0" sz="2400" spc="-10" b="1">
                <a:solidFill>
                  <a:srgbClr val="231F20"/>
                </a:solidFill>
                <a:latin typeface="Calibri"/>
                <a:cs typeface="Calibri"/>
              </a:rPr>
              <a:t>Spectrum</a:t>
            </a:r>
            <a:r>
              <a:rPr dirty="0" sz="2400" spc="-6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2400" spc="-6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a</a:t>
            </a:r>
            <a:r>
              <a:rPr dirty="0" sz="2400" spc="-6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periodic</a:t>
            </a:r>
            <a:r>
              <a:rPr dirty="0" sz="2400" spc="-6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discrete</a:t>
            </a:r>
            <a:r>
              <a:rPr dirty="0" sz="24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time</a:t>
            </a:r>
            <a:r>
              <a:rPr dirty="0" sz="2400" spc="-6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signal</a:t>
            </a:r>
            <a:r>
              <a:rPr dirty="0" sz="2400" spc="-6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2400" spc="-6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period</a:t>
            </a:r>
            <a:r>
              <a:rPr dirty="0" sz="2400" spc="-6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spc="-50" b="1">
                <a:solidFill>
                  <a:srgbClr val="231F20"/>
                </a:solidFill>
                <a:latin typeface="Calibri"/>
                <a:cs typeface="Calibri"/>
              </a:rPr>
              <a:t>N </a:t>
            </a: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2400" spc="-4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also</a:t>
            </a:r>
            <a:r>
              <a:rPr dirty="0" sz="2400" spc="-4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periodic</a:t>
            </a:r>
            <a:r>
              <a:rPr dirty="0" sz="2400" spc="-4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with</a:t>
            </a:r>
            <a:r>
              <a:rPr dirty="0" sz="2400" spc="-1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period</a:t>
            </a:r>
            <a:r>
              <a:rPr dirty="0" sz="2400" spc="-4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spc="-50" b="1">
                <a:solidFill>
                  <a:srgbClr val="231F20"/>
                </a:solidFill>
                <a:latin typeface="Calibri"/>
                <a:cs typeface="Calibri"/>
              </a:rPr>
              <a:t>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914400" y="1876425"/>
            <a:ext cx="8230234" cy="725805"/>
            <a:chOff x="914400" y="1876425"/>
            <a:chExt cx="8230234" cy="725805"/>
          </a:xfrm>
        </p:grpSpPr>
        <p:sp>
          <p:nvSpPr>
            <p:cNvPr id="9" name="object 9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22600" y="1992261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99479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3177120" y="596899"/>
                  </a:lnTo>
                  <a:lnTo>
                    <a:pt x="3215842" y="589080"/>
                  </a:lnTo>
                  <a:lnTo>
                    <a:pt x="3247463" y="567756"/>
                  </a:lnTo>
                  <a:lnTo>
                    <a:pt x="3268782" y="536131"/>
                  </a:lnTo>
                  <a:lnTo>
                    <a:pt x="3276600" y="497408"/>
                  </a:lnTo>
                  <a:lnTo>
                    <a:pt x="3276600" y="99479"/>
                  </a:lnTo>
                  <a:lnTo>
                    <a:pt x="3268782" y="60757"/>
                  </a:lnTo>
                  <a:lnTo>
                    <a:pt x="3247463" y="29136"/>
                  </a:lnTo>
                  <a:lnTo>
                    <a:pt x="3215842" y="7817"/>
                  </a:lnTo>
                  <a:lnTo>
                    <a:pt x="31771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6"/>
                  </a:lnTo>
                  <a:lnTo>
                    <a:pt x="7817" y="60757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22600" y="1992261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99479"/>
                  </a:moveTo>
                  <a:lnTo>
                    <a:pt x="7817" y="60757"/>
                  </a:lnTo>
                  <a:lnTo>
                    <a:pt x="29136" y="29136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3177120" y="0"/>
                  </a:lnTo>
                  <a:lnTo>
                    <a:pt x="3215842" y="7817"/>
                  </a:lnTo>
                  <a:lnTo>
                    <a:pt x="3247463" y="29136"/>
                  </a:lnTo>
                  <a:lnTo>
                    <a:pt x="3268782" y="60757"/>
                  </a:lnTo>
                  <a:lnTo>
                    <a:pt x="3276600" y="99479"/>
                  </a:lnTo>
                  <a:lnTo>
                    <a:pt x="3276600" y="497408"/>
                  </a:lnTo>
                  <a:lnTo>
                    <a:pt x="3268782" y="536131"/>
                  </a:lnTo>
                  <a:lnTo>
                    <a:pt x="3247463" y="567756"/>
                  </a:lnTo>
                  <a:lnTo>
                    <a:pt x="3215842" y="589080"/>
                  </a:lnTo>
                  <a:lnTo>
                    <a:pt x="31771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79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191516" y="2075312"/>
            <a:ext cx="2938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8060" algn="l"/>
              </a:tabLst>
            </a:pP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DTFS: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	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Representation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054100" y="3324568"/>
            <a:ext cx="3073400" cy="622300"/>
            <a:chOff x="1054100" y="3324568"/>
            <a:chExt cx="3073400" cy="622300"/>
          </a:xfrm>
        </p:grpSpPr>
        <p:sp>
          <p:nvSpPr>
            <p:cNvPr id="14" name="object 14" descr=""/>
            <p:cNvSpPr/>
            <p:nvPr/>
          </p:nvSpPr>
          <p:spPr>
            <a:xfrm>
              <a:off x="1066800" y="3337268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66"/>
                  </a:moveTo>
                  <a:lnTo>
                    <a:pt x="0" y="497395"/>
                  </a:lnTo>
                  <a:lnTo>
                    <a:pt x="7817" y="536126"/>
                  </a:lnTo>
                  <a:lnTo>
                    <a:pt x="29136" y="567755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48520" y="596900"/>
                  </a:lnTo>
                  <a:lnTo>
                    <a:pt x="2987242" y="589080"/>
                  </a:lnTo>
                  <a:lnTo>
                    <a:pt x="3018863" y="567755"/>
                  </a:lnTo>
                  <a:lnTo>
                    <a:pt x="3040182" y="536126"/>
                  </a:lnTo>
                  <a:lnTo>
                    <a:pt x="3048000" y="497395"/>
                  </a:lnTo>
                  <a:lnTo>
                    <a:pt x="3048000" y="99466"/>
                  </a:lnTo>
                  <a:lnTo>
                    <a:pt x="3040182" y="60752"/>
                  </a:lnTo>
                  <a:lnTo>
                    <a:pt x="3018863" y="29135"/>
                  </a:lnTo>
                  <a:lnTo>
                    <a:pt x="2987242" y="7817"/>
                  </a:lnTo>
                  <a:lnTo>
                    <a:pt x="29485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5"/>
                  </a:lnTo>
                  <a:lnTo>
                    <a:pt x="7817" y="60752"/>
                  </a:lnTo>
                  <a:lnTo>
                    <a:pt x="0" y="99466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66800" y="3337268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66"/>
                  </a:moveTo>
                  <a:lnTo>
                    <a:pt x="7817" y="60752"/>
                  </a:lnTo>
                  <a:lnTo>
                    <a:pt x="29136" y="29135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2948520" y="0"/>
                  </a:lnTo>
                  <a:lnTo>
                    <a:pt x="2987242" y="7817"/>
                  </a:lnTo>
                  <a:lnTo>
                    <a:pt x="3018863" y="29135"/>
                  </a:lnTo>
                  <a:lnTo>
                    <a:pt x="3040182" y="60752"/>
                  </a:lnTo>
                  <a:lnTo>
                    <a:pt x="3048000" y="99466"/>
                  </a:lnTo>
                  <a:lnTo>
                    <a:pt x="3048000" y="497395"/>
                  </a:lnTo>
                  <a:lnTo>
                    <a:pt x="3040182" y="536126"/>
                  </a:lnTo>
                  <a:lnTo>
                    <a:pt x="3018863" y="567755"/>
                  </a:lnTo>
                  <a:lnTo>
                    <a:pt x="2987242" y="589080"/>
                  </a:lnTo>
                  <a:lnTo>
                    <a:pt x="2948520" y="596900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5"/>
                  </a:lnTo>
                  <a:lnTo>
                    <a:pt x="7817" y="536126"/>
                  </a:lnTo>
                  <a:lnTo>
                    <a:pt x="0" y="497395"/>
                  </a:lnTo>
                  <a:lnTo>
                    <a:pt x="0" y="99466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243331" y="3420308"/>
            <a:ext cx="26936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Magnitude</a:t>
            </a:r>
            <a:r>
              <a:rPr dirty="0" sz="2400" spc="-5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066800" y="4102112"/>
            <a:ext cx="7849234" cy="914400"/>
          </a:xfrm>
          <a:custGeom>
            <a:avLst/>
            <a:gdLst/>
            <a:ahLst/>
            <a:cxnLst/>
            <a:rect l="l" t="t" r="r" b="b"/>
            <a:pathLst>
              <a:path w="7849234" h="914400">
                <a:moveTo>
                  <a:pt x="0" y="0"/>
                </a:moveTo>
                <a:lnTo>
                  <a:pt x="0" y="914400"/>
                </a:lnTo>
                <a:lnTo>
                  <a:pt x="7848612" y="914400"/>
                </a:lnTo>
                <a:lnTo>
                  <a:pt x="7848612" y="0"/>
                </a:lnTo>
                <a:lnTo>
                  <a:pt x="0" y="0"/>
                </a:lnTo>
                <a:close/>
              </a:path>
            </a:pathLst>
          </a:custGeom>
          <a:solidFill>
            <a:srgbClr val="4E81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066800" y="4102112"/>
            <a:ext cx="7849234" cy="914400"/>
          </a:xfrm>
          <a:prstGeom prst="rect">
            <a:avLst/>
          </a:prstGeom>
          <a:ln w="25400">
            <a:solidFill>
              <a:srgbClr val="385D8A"/>
            </a:solidFill>
          </a:ln>
        </p:spPr>
        <p:txBody>
          <a:bodyPr wrap="square" lIns="0" tIns="23812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875"/>
              </a:spcBef>
              <a:tabLst>
                <a:tab pos="1940560" algn="l"/>
              </a:tabLst>
            </a:pP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Plot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	as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frequency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2284412" y="4260862"/>
            <a:ext cx="536575" cy="596900"/>
            <a:chOff x="2284412" y="4260862"/>
            <a:chExt cx="536575" cy="596900"/>
          </a:xfrm>
        </p:grpSpPr>
        <p:sp>
          <p:nvSpPr>
            <p:cNvPr id="20" name="object 20" descr=""/>
            <p:cNvSpPr/>
            <p:nvPr/>
          </p:nvSpPr>
          <p:spPr>
            <a:xfrm>
              <a:off x="2284412" y="4260862"/>
              <a:ext cx="536575" cy="596900"/>
            </a:xfrm>
            <a:custGeom>
              <a:avLst/>
              <a:gdLst/>
              <a:ahLst/>
              <a:cxnLst/>
              <a:rect l="l" t="t" r="r" b="b"/>
              <a:pathLst>
                <a:path w="536575" h="596900">
                  <a:moveTo>
                    <a:pt x="0" y="0"/>
                  </a:moveTo>
                  <a:lnTo>
                    <a:pt x="0" y="596900"/>
                  </a:lnTo>
                  <a:lnTo>
                    <a:pt x="536575" y="596900"/>
                  </a:lnTo>
                  <a:lnTo>
                    <a:pt x="5365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352370" y="4346536"/>
              <a:ext cx="0" cy="425450"/>
            </a:xfrm>
            <a:custGeom>
              <a:avLst/>
              <a:gdLst/>
              <a:ahLst/>
              <a:cxnLst/>
              <a:rect l="l" t="t" r="r" b="b"/>
              <a:pathLst>
                <a:path w="0" h="425450">
                  <a:moveTo>
                    <a:pt x="0" y="0"/>
                  </a:moveTo>
                  <a:lnTo>
                    <a:pt x="0" y="425310"/>
                  </a:lnTo>
                </a:path>
              </a:pathLst>
            </a:custGeom>
            <a:ln w="1771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723121" y="4346536"/>
              <a:ext cx="0" cy="425450"/>
            </a:xfrm>
            <a:custGeom>
              <a:avLst/>
              <a:gdLst/>
              <a:ahLst/>
              <a:cxnLst/>
              <a:rect l="l" t="t" r="r" b="b"/>
              <a:pathLst>
                <a:path w="0" h="425450">
                  <a:moveTo>
                    <a:pt x="0" y="0"/>
                  </a:moveTo>
                  <a:lnTo>
                    <a:pt x="0" y="425310"/>
                  </a:lnTo>
                </a:path>
              </a:pathLst>
            </a:custGeom>
            <a:ln w="1771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2284412" y="4260862"/>
            <a:ext cx="536575" cy="59690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254"/>
              </a:spcBef>
            </a:pPr>
            <a:r>
              <a:rPr dirty="0" sz="2800" spc="-25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r>
              <a:rPr dirty="0" baseline="-26041" sz="2400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baseline="-26041" sz="24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028700" y="5905512"/>
            <a:ext cx="7849234" cy="914400"/>
          </a:xfrm>
          <a:prstGeom prst="rect">
            <a:avLst/>
          </a:prstGeom>
          <a:solidFill>
            <a:srgbClr val="4E81BE"/>
          </a:solidFill>
          <a:ln w="25400">
            <a:solidFill>
              <a:srgbClr val="385D8A"/>
            </a:solidFill>
          </a:ln>
        </p:spPr>
        <p:txBody>
          <a:bodyPr wrap="square" lIns="0" tIns="23812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875"/>
              </a:spcBef>
              <a:tabLst>
                <a:tab pos="1940560" algn="l"/>
              </a:tabLst>
            </a:pP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Plot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	as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frequency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271712" y="6092837"/>
            <a:ext cx="387350" cy="538480"/>
          </a:xfrm>
          <a:prstGeom prst="rect">
            <a:avLst/>
          </a:prstGeom>
          <a:solidFill>
            <a:srgbClr val="F6EB13"/>
          </a:solidFill>
        </p:spPr>
        <p:txBody>
          <a:bodyPr wrap="square" lIns="0" tIns="0" rIns="0" bIns="0" rtlCol="0" vert="horz">
            <a:spAutoFit/>
          </a:bodyPr>
          <a:lstStyle/>
          <a:p>
            <a:pPr marL="20320">
              <a:lnSpc>
                <a:spcPts val="3415"/>
              </a:lnSpc>
            </a:pPr>
            <a:r>
              <a:rPr dirty="0" sz="2950" spc="-25">
                <a:solidFill>
                  <a:srgbClr val="231F20"/>
                </a:solidFill>
                <a:latin typeface="Symbol"/>
                <a:cs typeface="Symbol"/>
              </a:rPr>
              <a:t></a:t>
            </a:r>
            <a:r>
              <a:rPr dirty="0" baseline="-26041" sz="2400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baseline="-26041" sz="2400">
              <a:latin typeface="Times New Roman"/>
              <a:cs typeface="Times New Roman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1003300" y="5168912"/>
            <a:ext cx="3124200" cy="622300"/>
            <a:chOff x="1003300" y="5168912"/>
            <a:chExt cx="3124200" cy="622300"/>
          </a:xfrm>
        </p:grpSpPr>
        <p:sp>
          <p:nvSpPr>
            <p:cNvPr id="27" name="object 27" descr=""/>
            <p:cNvSpPr/>
            <p:nvPr/>
          </p:nvSpPr>
          <p:spPr>
            <a:xfrm>
              <a:off x="1016000" y="5181612"/>
              <a:ext cx="3098800" cy="596900"/>
            </a:xfrm>
            <a:custGeom>
              <a:avLst/>
              <a:gdLst/>
              <a:ahLst/>
              <a:cxnLst/>
              <a:rect l="l" t="t" r="r" b="b"/>
              <a:pathLst>
                <a:path w="3098800" h="596900">
                  <a:moveTo>
                    <a:pt x="0" y="99479"/>
                  </a:moveTo>
                  <a:lnTo>
                    <a:pt x="0" y="497420"/>
                  </a:lnTo>
                  <a:lnTo>
                    <a:pt x="7817" y="536137"/>
                  </a:lnTo>
                  <a:lnTo>
                    <a:pt x="29136" y="567758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99320" y="596899"/>
                  </a:lnTo>
                  <a:lnTo>
                    <a:pt x="3038042" y="589080"/>
                  </a:lnTo>
                  <a:lnTo>
                    <a:pt x="3069663" y="567758"/>
                  </a:lnTo>
                  <a:lnTo>
                    <a:pt x="3090982" y="536137"/>
                  </a:lnTo>
                  <a:lnTo>
                    <a:pt x="3098800" y="497420"/>
                  </a:lnTo>
                  <a:lnTo>
                    <a:pt x="3098800" y="99479"/>
                  </a:lnTo>
                  <a:lnTo>
                    <a:pt x="3090982" y="60762"/>
                  </a:lnTo>
                  <a:lnTo>
                    <a:pt x="3069663" y="29141"/>
                  </a:lnTo>
                  <a:lnTo>
                    <a:pt x="3038042" y="7819"/>
                  </a:lnTo>
                  <a:lnTo>
                    <a:pt x="2999320" y="0"/>
                  </a:lnTo>
                  <a:lnTo>
                    <a:pt x="99479" y="0"/>
                  </a:lnTo>
                  <a:lnTo>
                    <a:pt x="60757" y="7819"/>
                  </a:lnTo>
                  <a:lnTo>
                    <a:pt x="29136" y="29141"/>
                  </a:lnTo>
                  <a:lnTo>
                    <a:pt x="7817" y="60762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16000" y="5181612"/>
              <a:ext cx="3098800" cy="596900"/>
            </a:xfrm>
            <a:custGeom>
              <a:avLst/>
              <a:gdLst/>
              <a:ahLst/>
              <a:cxnLst/>
              <a:rect l="l" t="t" r="r" b="b"/>
              <a:pathLst>
                <a:path w="3098800" h="596900">
                  <a:moveTo>
                    <a:pt x="0" y="99479"/>
                  </a:moveTo>
                  <a:lnTo>
                    <a:pt x="7817" y="60762"/>
                  </a:lnTo>
                  <a:lnTo>
                    <a:pt x="29136" y="29141"/>
                  </a:lnTo>
                  <a:lnTo>
                    <a:pt x="60757" y="7819"/>
                  </a:lnTo>
                  <a:lnTo>
                    <a:pt x="99479" y="0"/>
                  </a:lnTo>
                  <a:lnTo>
                    <a:pt x="2999320" y="0"/>
                  </a:lnTo>
                  <a:lnTo>
                    <a:pt x="3038042" y="7819"/>
                  </a:lnTo>
                  <a:lnTo>
                    <a:pt x="3069663" y="29141"/>
                  </a:lnTo>
                  <a:lnTo>
                    <a:pt x="3090982" y="60762"/>
                  </a:lnTo>
                  <a:lnTo>
                    <a:pt x="3098800" y="99479"/>
                  </a:lnTo>
                  <a:lnTo>
                    <a:pt x="3098800" y="497420"/>
                  </a:lnTo>
                  <a:lnTo>
                    <a:pt x="3090982" y="536137"/>
                  </a:lnTo>
                  <a:lnTo>
                    <a:pt x="3069663" y="567758"/>
                  </a:lnTo>
                  <a:lnTo>
                    <a:pt x="3038042" y="589080"/>
                  </a:lnTo>
                  <a:lnTo>
                    <a:pt x="29993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8"/>
                  </a:lnTo>
                  <a:lnTo>
                    <a:pt x="7817" y="536137"/>
                  </a:lnTo>
                  <a:lnTo>
                    <a:pt x="0" y="497420"/>
                  </a:lnTo>
                  <a:lnTo>
                    <a:pt x="0" y="99479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1533908" y="5264669"/>
            <a:ext cx="20605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953A4"/>
                </a:solidFill>
                <a:latin typeface="Calibri"/>
                <a:cs typeface="Calibri"/>
              </a:rPr>
              <a:t>Phase</a:t>
            </a:r>
            <a:r>
              <a:rPr dirty="0" sz="2400" spc="-7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2413000" y="2723934"/>
            <a:ext cx="5055235" cy="492759"/>
          </a:xfrm>
          <a:custGeom>
            <a:avLst/>
            <a:gdLst/>
            <a:ahLst/>
            <a:cxnLst/>
            <a:rect l="l" t="t" r="r" b="b"/>
            <a:pathLst>
              <a:path w="5055234" h="492760">
                <a:moveTo>
                  <a:pt x="0" y="0"/>
                </a:moveTo>
                <a:lnTo>
                  <a:pt x="0" y="492442"/>
                </a:lnTo>
                <a:lnTo>
                  <a:pt x="5054612" y="492442"/>
                </a:lnTo>
                <a:lnTo>
                  <a:pt x="50546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6EB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2491744" y="2735610"/>
            <a:ext cx="416623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Complex</a:t>
            </a:r>
            <a:r>
              <a:rPr dirty="0" sz="2600" spc="-9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Fourier</a:t>
            </a:r>
            <a:r>
              <a:rPr dirty="0" sz="2600" spc="-9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231F20"/>
                </a:solidFill>
                <a:latin typeface="Calibri"/>
                <a:cs typeface="Calibri"/>
              </a:rPr>
              <a:t>coefficients</a:t>
            </a:r>
            <a:r>
              <a:rPr dirty="0" sz="2600" spc="-9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spc="-50" b="1">
                <a:solidFill>
                  <a:srgbClr val="231F20"/>
                </a:solidFill>
                <a:latin typeface="Calibri"/>
                <a:cs typeface="Calibri"/>
              </a:rPr>
              <a:t>=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7364133" y="2663723"/>
            <a:ext cx="1703705" cy="597535"/>
            <a:chOff x="7364133" y="2663723"/>
            <a:chExt cx="1703705" cy="597535"/>
          </a:xfrm>
        </p:grpSpPr>
        <p:sp>
          <p:nvSpPr>
            <p:cNvPr id="33" name="object 33" descr=""/>
            <p:cNvSpPr/>
            <p:nvPr/>
          </p:nvSpPr>
          <p:spPr>
            <a:xfrm>
              <a:off x="7364133" y="2663723"/>
              <a:ext cx="1703705" cy="597535"/>
            </a:xfrm>
            <a:custGeom>
              <a:avLst/>
              <a:gdLst/>
              <a:ahLst/>
              <a:cxnLst/>
              <a:rect l="l" t="t" r="r" b="b"/>
              <a:pathLst>
                <a:path w="1703704" h="597535">
                  <a:moveTo>
                    <a:pt x="0" y="0"/>
                  </a:moveTo>
                  <a:lnTo>
                    <a:pt x="0" y="597331"/>
                  </a:lnTo>
                  <a:lnTo>
                    <a:pt x="1703679" y="597331"/>
                  </a:lnTo>
                  <a:lnTo>
                    <a:pt x="17036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091868" y="2749880"/>
              <a:ext cx="0" cy="426084"/>
            </a:xfrm>
            <a:custGeom>
              <a:avLst/>
              <a:gdLst/>
              <a:ahLst/>
              <a:cxnLst/>
              <a:rect l="l" t="t" r="r" b="b"/>
              <a:pathLst>
                <a:path w="0" h="426085">
                  <a:moveTo>
                    <a:pt x="0" y="0"/>
                  </a:moveTo>
                  <a:lnTo>
                    <a:pt x="0" y="425564"/>
                  </a:lnTo>
                </a:path>
              </a:pathLst>
            </a:custGeom>
            <a:ln w="177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463623" y="2749880"/>
              <a:ext cx="0" cy="426084"/>
            </a:xfrm>
            <a:custGeom>
              <a:avLst/>
              <a:gdLst/>
              <a:ahLst/>
              <a:cxnLst/>
              <a:rect l="l" t="t" r="r" b="b"/>
              <a:pathLst>
                <a:path w="0" h="426085">
                  <a:moveTo>
                    <a:pt x="0" y="0"/>
                  </a:moveTo>
                  <a:lnTo>
                    <a:pt x="0" y="425564"/>
                  </a:lnTo>
                </a:path>
              </a:pathLst>
            </a:custGeom>
            <a:ln w="177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7556026" y="2924429"/>
            <a:ext cx="835025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29615" algn="l"/>
              </a:tabLst>
            </a:pPr>
            <a:r>
              <a:rPr dirty="0" sz="1600" spc="-50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r>
              <a:rPr dirty="0" sz="1600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600" spc="-50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8495479" y="2515677"/>
            <a:ext cx="515620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25793" sz="4200" i="1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dirty="0" baseline="-25793" sz="4200" spc="-45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600" spc="-25" i="1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r>
              <a:rPr dirty="0" sz="1700" spc="-25">
                <a:solidFill>
                  <a:srgbClr val="231F20"/>
                </a:solidFill>
                <a:latin typeface="Symbol"/>
                <a:cs typeface="Symbol"/>
              </a:rPr>
              <a:t></a:t>
            </a:r>
            <a:r>
              <a:rPr dirty="0" baseline="-21739" sz="1725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baseline="-21739" sz="1725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7399999" y="2680878"/>
            <a:ext cx="902335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96875" algn="l"/>
                <a:tab pos="729615" algn="l"/>
              </a:tabLst>
            </a:pPr>
            <a:r>
              <a:rPr dirty="0" sz="2800" spc="-50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r>
              <a:rPr dirty="0" sz="2800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800" spc="-5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28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800" spc="-50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6451612" y="3208604"/>
            <a:ext cx="2628900" cy="478155"/>
          </a:xfrm>
          <a:custGeom>
            <a:avLst/>
            <a:gdLst/>
            <a:ahLst/>
            <a:cxnLst/>
            <a:rect l="l" t="t" r="r" b="b"/>
            <a:pathLst>
              <a:path w="2628900" h="478154">
                <a:moveTo>
                  <a:pt x="0" y="0"/>
                </a:moveTo>
                <a:lnTo>
                  <a:pt x="0" y="477837"/>
                </a:lnTo>
                <a:lnTo>
                  <a:pt x="2628900" y="477837"/>
                </a:lnTo>
                <a:lnTo>
                  <a:pt x="2628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6EB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6492917" y="3166041"/>
            <a:ext cx="2557145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800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r>
              <a:rPr dirty="0" sz="2800" spc="21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2800" spc="-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 spc="-75">
                <a:solidFill>
                  <a:srgbClr val="231F20"/>
                </a:solidFill>
                <a:latin typeface="Times New Roman"/>
                <a:cs typeface="Times New Roman"/>
              </a:rPr>
              <a:t>0,1,</a:t>
            </a:r>
            <a:r>
              <a:rPr dirty="0" sz="2800" spc="-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31F20"/>
                </a:solidFill>
                <a:latin typeface="Times New Roman"/>
                <a:cs typeface="Times New Roman"/>
              </a:rPr>
              <a:t>2,...,</a:t>
            </a:r>
            <a:r>
              <a:rPr dirty="0" sz="2800" spc="-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 i="1">
                <a:solidFill>
                  <a:srgbClr val="231F20"/>
                </a:solidFill>
                <a:latin typeface="Times New Roman"/>
                <a:cs typeface="Times New Roman"/>
              </a:rPr>
              <a:t>N</a:t>
            </a:r>
            <a:r>
              <a:rPr dirty="0" sz="2800" spc="10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31F20"/>
                </a:solidFill>
                <a:latin typeface="Symbol"/>
                <a:cs typeface="Symbol"/>
              </a:rPr>
              <a:t></a:t>
            </a:r>
            <a:r>
              <a:rPr dirty="0" sz="2800" spc="55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914400" y="1876425"/>
            <a:ext cx="8230234" cy="725805"/>
            <a:chOff x="914400" y="1876425"/>
            <a:chExt cx="8230234" cy="725805"/>
          </a:xfrm>
        </p:grpSpPr>
        <p:sp>
          <p:nvSpPr>
            <p:cNvPr id="9" name="object 9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22600" y="1992261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99479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3177120" y="596899"/>
                  </a:lnTo>
                  <a:lnTo>
                    <a:pt x="3215842" y="589080"/>
                  </a:lnTo>
                  <a:lnTo>
                    <a:pt x="3247463" y="567756"/>
                  </a:lnTo>
                  <a:lnTo>
                    <a:pt x="3268782" y="536131"/>
                  </a:lnTo>
                  <a:lnTo>
                    <a:pt x="3276600" y="497408"/>
                  </a:lnTo>
                  <a:lnTo>
                    <a:pt x="3276600" y="99479"/>
                  </a:lnTo>
                  <a:lnTo>
                    <a:pt x="3268782" y="60757"/>
                  </a:lnTo>
                  <a:lnTo>
                    <a:pt x="3247463" y="29136"/>
                  </a:lnTo>
                  <a:lnTo>
                    <a:pt x="3215842" y="7817"/>
                  </a:lnTo>
                  <a:lnTo>
                    <a:pt x="31771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6"/>
                  </a:lnTo>
                  <a:lnTo>
                    <a:pt x="7817" y="60757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22600" y="1992261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99479"/>
                  </a:moveTo>
                  <a:lnTo>
                    <a:pt x="7817" y="60757"/>
                  </a:lnTo>
                  <a:lnTo>
                    <a:pt x="29136" y="29136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3177120" y="0"/>
                  </a:lnTo>
                  <a:lnTo>
                    <a:pt x="3215842" y="7817"/>
                  </a:lnTo>
                  <a:lnTo>
                    <a:pt x="3247463" y="29136"/>
                  </a:lnTo>
                  <a:lnTo>
                    <a:pt x="3268782" y="60757"/>
                  </a:lnTo>
                  <a:lnTo>
                    <a:pt x="3276600" y="99479"/>
                  </a:lnTo>
                  <a:lnTo>
                    <a:pt x="3276600" y="497408"/>
                  </a:lnTo>
                  <a:lnTo>
                    <a:pt x="3268782" y="536131"/>
                  </a:lnTo>
                  <a:lnTo>
                    <a:pt x="3247463" y="567756"/>
                  </a:lnTo>
                  <a:lnTo>
                    <a:pt x="3215842" y="589080"/>
                  </a:lnTo>
                  <a:lnTo>
                    <a:pt x="31771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79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191516" y="2075312"/>
            <a:ext cx="2938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8060" algn="l"/>
              </a:tabLst>
            </a:pP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DTFS: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	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Representation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054100" y="3324568"/>
            <a:ext cx="3073400" cy="622300"/>
            <a:chOff x="1054100" y="3324568"/>
            <a:chExt cx="3073400" cy="622300"/>
          </a:xfrm>
        </p:grpSpPr>
        <p:sp>
          <p:nvSpPr>
            <p:cNvPr id="14" name="object 14" descr=""/>
            <p:cNvSpPr/>
            <p:nvPr/>
          </p:nvSpPr>
          <p:spPr>
            <a:xfrm>
              <a:off x="1066800" y="3337268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66"/>
                  </a:moveTo>
                  <a:lnTo>
                    <a:pt x="0" y="497395"/>
                  </a:lnTo>
                  <a:lnTo>
                    <a:pt x="7817" y="536126"/>
                  </a:lnTo>
                  <a:lnTo>
                    <a:pt x="29136" y="567755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48520" y="596900"/>
                  </a:lnTo>
                  <a:lnTo>
                    <a:pt x="2987242" y="589080"/>
                  </a:lnTo>
                  <a:lnTo>
                    <a:pt x="3018863" y="567755"/>
                  </a:lnTo>
                  <a:lnTo>
                    <a:pt x="3040182" y="536126"/>
                  </a:lnTo>
                  <a:lnTo>
                    <a:pt x="3048000" y="497395"/>
                  </a:lnTo>
                  <a:lnTo>
                    <a:pt x="3048000" y="99466"/>
                  </a:lnTo>
                  <a:lnTo>
                    <a:pt x="3040182" y="60752"/>
                  </a:lnTo>
                  <a:lnTo>
                    <a:pt x="3018863" y="29135"/>
                  </a:lnTo>
                  <a:lnTo>
                    <a:pt x="2987242" y="7817"/>
                  </a:lnTo>
                  <a:lnTo>
                    <a:pt x="29485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5"/>
                  </a:lnTo>
                  <a:lnTo>
                    <a:pt x="7817" y="60752"/>
                  </a:lnTo>
                  <a:lnTo>
                    <a:pt x="0" y="99466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66800" y="3337268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66"/>
                  </a:moveTo>
                  <a:lnTo>
                    <a:pt x="7817" y="60752"/>
                  </a:lnTo>
                  <a:lnTo>
                    <a:pt x="29136" y="29135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2948520" y="0"/>
                  </a:lnTo>
                  <a:lnTo>
                    <a:pt x="2987242" y="7817"/>
                  </a:lnTo>
                  <a:lnTo>
                    <a:pt x="3018863" y="29135"/>
                  </a:lnTo>
                  <a:lnTo>
                    <a:pt x="3040182" y="60752"/>
                  </a:lnTo>
                  <a:lnTo>
                    <a:pt x="3048000" y="99466"/>
                  </a:lnTo>
                  <a:lnTo>
                    <a:pt x="3048000" y="497395"/>
                  </a:lnTo>
                  <a:lnTo>
                    <a:pt x="3040182" y="536126"/>
                  </a:lnTo>
                  <a:lnTo>
                    <a:pt x="3018863" y="567755"/>
                  </a:lnTo>
                  <a:lnTo>
                    <a:pt x="2987242" y="589080"/>
                  </a:lnTo>
                  <a:lnTo>
                    <a:pt x="2948520" y="596900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5"/>
                  </a:lnTo>
                  <a:lnTo>
                    <a:pt x="7817" y="536126"/>
                  </a:lnTo>
                  <a:lnTo>
                    <a:pt x="0" y="497395"/>
                  </a:lnTo>
                  <a:lnTo>
                    <a:pt x="0" y="99466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532919" y="3420308"/>
            <a:ext cx="21145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953A4"/>
                </a:solidFill>
                <a:latin typeface="Calibri"/>
                <a:cs typeface="Calibri"/>
              </a:rPr>
              <a:t>Power</a:t>
            </a:r>
            <a:r>
              <a:rPr dirty="0" sz="2400" spc="-100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066800" y="4102112"/>
            <a:ext cx="7849234" cy="914400"/>
          </a:xfrm>
          <a:custGeom>
            <a:avLst/>
            <a:gdLst/>
            <a:ahLst/>
            <a:cxnLst/>
            <a:rect l="l" t="t" r="r" b="b"/>
            <a:pathLst>
              <a:path w="7849234" h="914400">
                <a:moveTo>
                  <a:pt x="0" y="0"/>
                </a:moveTo>
                <a:lnTo>
                  <a:pt x="0" y="914400"/>
                </a:lnTo>
                <a:lnTo>
                  <a:pt x="7848612" y="914400"/>
                </a:lnTo>
                <a:lnTo>
                  <a:pt x="7848612" y="0"/>
                </a:lnTo>
                <a:lnTo>
                  <a:pt x="0" y="0"/>
                </a:lnTo>
                <a:close/>
              </a:path>
            </a:pathLst>
          </a:custGeom>
          <a:solidFill>
            <a:srgbClr val="4E81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066800" y="4102112"/>
            <a:ext cx="7849234" cy="914400"/>
          </a:xfrm>
          <a:prstGeom prst="rect">
            <a:avLst/>
          </a:prstGeom>
          <a:ln w="25400">
            <a:solidFill>
              <a:srgbClr val="385D8A"/>
            </a:solidFill>
          </a:ln>
        </p:spPr>
        <p:txBody>
          <a:bodyPr wrap="square" lIns="0" tIns="23812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875"/>
              </a:spcBef>
              <a:tabLst>
                <a:tab pos="2914015" algn="l"/>
              </a:tabLst>
            </a:pP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Plot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	as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dirty="0" sz="2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frequency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2333637" y="4232287"/>
            <a:ext cx="1400175" cy="655955"/>
            <a:chOff x="2333637" y="4232287"/>
            <a:chExt cx="1400175" cy="655955"/>
          </a:xfrm>
        </p:grpSpPr>
        <p:sp>
          <p:nvSpPr>
            <p:cNvPr id="20" name="object 20" descr=""/>
            <p:cNvSpPr/>
            <p:nvPr/>
          </p:nvSpPr>
          <p:spPr>
            <a:xfrm>
              <a:off x="2333637" y="4232287"/>
              <a:ext cx="1400175" cy="655955"/>
            </a:xfrm>
            <a:custGeom>
              <a:avLst/>
              <a:gdLst/>
              <a:ahLst/>
              <a:cxnLst/>
              <a:rect l="l" t="t" r="r" b="b"/>
              <a:pathLst>
                <a:path w="1400175" h="655954">
                  <a:moveTo>
                    <a:pt x="0" y="0"/>
                  </a:moveTo>
                  <a:lnTo>
                    <a:pt x="0" y="655637"/>
                  </a:lnTo>
                  <a:lnTo>
                    <a:pt x="1400174" y="655637"/>
                  </a:lnTo>
                  <a:lnTo>
                    <a:pt x="14001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149104" y="4377461"/>
              <a:ext cx="0" cy="424815"/>
            </a:xfrm>
            <a:custGeom>
              <a:avLst/>
              <a:gdLst/>
              <a:ahLst/>
              <a:cxnLst/>
              <a:rect l="l" t="t" r="r" b="b"/>
              <a:pathLst>
                <a:path w="0" h="424814">
                  <a:moveTo>
                    <a:pt x="0" y="0"/>
                  </a:moveTo>
                  <a:lnTo>
                    <a:pt x="0" y="424688"/>
                  </a:lnTo>
                </a:path>
              </a:pathLst>
            </a:custGeom>
            <a:ln w="1769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519627" y="4377461"/>
              <a:ext cx="0" cy="424815"/>
            </a:xfrm>
            <a:custGeom>
              <a:avLst/>
              <a:gdLst/>
              <a:ahLst/>
              <a:cxnLst/>
              <a:rect l="l" t="t" r="r" b="b"/>
              <a:pathLst>
                <a:path w="0" h="424814">
                  <a:moveTo>
                    <a:pt x="0" y="0"/>
                  </a:moveTo>
                  <a:lnTo>
                    <a:pt x="0" y="424688"/>
                  </a:lnTo>
                </a:path>
              </a:pathLst>
            </a:custGeom>
            <a:ln w="1769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3558787" y="4244723"/>
            <a:ext cx="116205" cy="2736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600" spc="-5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373392" y="4308990"/>
            <a:ext cx="1099820" cy="4546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  <a:tabLst>
                <a:tab pos="481965" algn="l"/>
                <a:tab pos="813435" algn="l"/>
              </a:tabLst>
            </a:pPr>
            <a:r>
              <a:rPr dirty="0" sz="2800" spc="-25" i="1">
                <a:solidFill>
                  <a:srgbClr val="231F20"/>
                </a:solidFill>
                <a:latin typeface="Times New Roman"/>
                <a:cs typeface="Times New Roman"/>
              </a:rPr>
              <a:t>P</a:t>
            </a:r>
            <a:r>
              <a:rPr dirty="0" baseline="-26041" sz="2400" spc="-37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baseline="-26041" sz="2400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800" spc="-5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28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800" spc="-25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r>
              <a:rPr dirty="0" baseline="-26041" sz="2400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baseline="-26041" sz="24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066800" y="5257812"/>
            <a:ext cx="7849234" cy="923925"/>
          </a:xfrm>
          <a:prstGeom prst="rect">
            <a:avLst/>
          </a:prstGeom>
          <a:solidFill>
            <a:srgbClr val="F2F2F3"/>
          </a:solidFill>
        </p:spPr>
        <p:txBody>
          <a:bodyPr wrap="square" lIns="0" tIns="30480" rIns="0" bIns="0" rtlCol="0" vert="horz">
            <a:spAutoFit/>
          </a:bodyPr>
          <a:lstStyle/>
          <a:p>
            <a:pPr marL="91440" marR="335280">
              <a:lnSpc>
                <a:spcPct val="100000"/>
              </a:lnSpc>
              <a:spcBef>
                <a:spcPts val="240"/>
              </a:spcBef>
            </a:pP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Remember!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Periodic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signals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power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signals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i.e.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1800" spc="-5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infinite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energy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finite 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power.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Power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signal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computed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either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time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domain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frequency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domain.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Parseval’s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Theorem: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2413000" y="2723934"/>
            <a:ext cx="5055235" cy="492759"/>
          </a:xfrm>
          <a:custGeom>
            <a:avLst/>
            <a:gdLst/>
            <a:ahLst/>
            <a:cxnLst/>
            <a:rect l="l" t="t" r="r" b="b"/>
            <a:pathLst>
              <a:path w="5055234" h="492760">
                <a:moveTo>
                  <a:pt x="0" y="0"/>
                </a:moveTo>
                <a:lnTo>
                  <a:pt x="0" y="492442"/>
                </a:lnTo>
                <a:lnTo>
                  <a:pt x="5054612" y="492442"/>
                </a:lnTo>
                <a:lnTo>
                  <a:pt x="50546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6EB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2491744" y="2735610"/>
            <a:ext cx="416623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Complex</a:t>
            </a:r>
            <a:r>
              <a:rPr dirty="0" sz="2600" spc="-9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Fourier</a:t>
            </a:r>
            <a:r>
              <a:rPr dirty="0" sz="2600" spc="-9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231F20"/>
                </a:solidFill>
                <a:latin typeface="Calibri"/>
                <a:cs typeface="Calibri"/>
              </a:rPr>
              <a:t>coefficients</a:t>
            </a:r>
            <a:r>
              <a:rPr dirty="0" sz="2600" spc="-9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spc="-50" b="1">
                <a:solidFill>
                  <a:srgbClr val="231F20"/>
                </a:solidFill>
                <a:latin typeface="Calibri"/>
                <a:cs typeface="Calibri"/>
              </a:rPr>
              <a:t>=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7364133" y="2663723"/>
            <a:ext cx="1703705" cy="597535"/>
            <a:chOff x="7364133" y="2663723"/>
            <a:chExt cx="1703705" cy="597535"/>
          </a:xfrm>
        </p:grpSpPr>
        <p:sp>
          <p:nvSpPr>
            <p:cNvPr id="29" name="object 29" descr=""/>
            <p:cNvSpPr/>
            <p:nvPr/>
          </p:nvSpPr>
          <p:spPr>
            <a:xfrm>
              <a:off x="7364133" y="2663723"/>
              <a:ext cx="1703705" cy="597535"/>
            </a:xfrm>
            <a:custGeom>
              <a:avLst/>
              <a:gdLst/>
              <a:ahLst/>
              <a:cxnLst/>
              <a:rect l="l" t="t" r="r" b="b"/>
              <a:pathLst>
                <a:path w="1703704" h="597535">
                  <a:moveTo>
                    <a:pt x="0" y="0"/>
                  </a:moveTo>
                  <a:lnTo>
                    <a:pt x="0" y="597331"/>
                  </a:lnTo>
                  <a:lnTo>
                    <a:pt x="1703679" y="597331"/>
                  </a:lnTo>
                  <a:lnTo>
                    <a:pt x="17036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091868" y="2749880"/>
              <a:ext cx="0" cy="426084"/>
            </a:xfrm>
            <a:custGeom>
              <a:avLst/>
              <a:gdLst/>
              <a:ahLst/>
              <a:cxnLst/>
              <a:rect l="l" t="t" r="r" b="b"/>
              <a:pathLst>
                <a:path w="0" h="426085">
                  <a:moveTo>
                    <a:pt x="0" y="0"/>
                  </a:moveTo>
                  <a:lnTo>
                    <a:pt x="0" y="425564"/>
                  </a:lnTo>
                </a:path>
              </a:pathLst>
            </a:custGeom>
            <a:ln w="177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463623" y="2749880"/>
              <a:ext cx="0" cy="426084"/>
            </a:xfrm>
            <a:custGeom>
              <a:avLst/>
              <a:gdLst/>
              <a:ahLst/>
              <a:cxnLst/>
              <a:rect l="l" t="t" r="r" b="b"/>
              <a:pathLst>
                <a:path w="0" h="426085">
                  <a:moveTo>
                    <a:pt x="0" y="0"/>
                  </a:moveTo>
                  <a:lnTo>
                    <a:pt x="0" y="425564"/>
                  </a:lnTo>
                </a:path>
              </a:pathLst>
            </a:custGeom>
            <a:ln w="177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7556026" y="2924429"/>
            <a:ext cx="835025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29615" algn="l"/>
              </a:tabLst>
            </a:pPr>
            <a:r>
              <a:rPr dirty="0" sz="1600" spc="-50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r>
              <a:rPr dirty="0" sz="1600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600" spc="-50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8495479" y="2515677"/>
            <a:ext cx="515620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25793" sz="4200" i="1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dirty="0" baseline="-25793" sz="4200" spc="-45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600" spc="-25" i="1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r>
              <a:rPr dirty="0" sz="1700" spc="-25">
                <a:solidFill>
                  <a:srgbClr val="231F20"/>
                </a:solidFill>
                <a:latin typeface="Symbol"/>
                <a:cs typeface="Symbol"/>
              </a:rPr>
              <a:t></a:t>
            </a:r>
            <a:r>
              <a:rPr dirty="0" baseline="-21739" sz="1725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baseline="-21739" sz="1725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399999" y="2680878"/>
            <a:ext cx="902335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96875" algn="l"/>
                <a:tab pos="729615" algn="l"/>
              </a:tabLst>
            </a:pPr>
            <a:r>
              <a:rPr dirty="0" sz="2800" spc="-50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r>
              <a:rPr dirty="0" sz="2800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800" spc="-5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28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800" spc="-50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6451612" y="3208604"/>
            <a:ext cx="2628900" cy="478155"/>
          </a:xfrm>
          <a:custGeom>
            <a:avLst/>
            <a:gdLst/>
            <a:ahLst/>
            <a:cxnLst/>
            <a:rect l="l" t="t" r="r" b="b"/>
            <a:pathLst>
              <a:path w="2628900" h="478154">
                <a:moveTo>
                  <a:pt x="0" y="0"/>
                </a:moveTo>
                <a:lnTo>
                  <a:pt x="0" y="477837"/>
                </a:lnTo>
                <a:lnTo>
                  <a:pt x="2628900" y="477837"/>
                </a:lnTo>
                <a:lnTo>
                  <a:pt x="2628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6EB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6492917" y="3166041"/>
            <a:ext cx="2557145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800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r>
              <a:rPr dirty="0" sz="2800" spc="21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2800" spc="-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 spc="-75">
                <a:solidFill>
                  <a:srgbClr val="231F20"/>
                </a:solidFill>
                <a:latin typeface="Times New Roman"/>
                <a:cs typeface="Times New Roman"/>
              </a:rPr>
              <a:t>0,1,</a:t>
            </a:r>
            <a:r>
              <a:rPr dirty="0" sz="2800" spc="-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31F20"/>
                </a:solidFill>
                <a:latin typeface="Times New Roman"/>
                <a:cs typeface="Times New Roman"/>
              </a:rPr>
              <a:t>2,...,</a:t>
            </a:r>
            <a:r>
              <a:rPr dirty="0" sz="2800" spc="-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 i="1">
                <a:solidFill>
                  <a:srgbClr val="231F20"/>
                </a:solidFill>
                <a:latin typeface="Times New Roman"/>
                <a:cs typeface="Times New Roman"/>
              </a:rPr>
              <a:t>N</a:t>
            </a:r>
            <a:r>
              <a:rPr dirty="0" sz="2800" spc="10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31F20"/>
                </a:solidFill>
                <a:latin typeface="Symbol"/>
                <a:cs typeface="Symbol"/>
              </a:rPr>
              <a:t></a:t>
            </a:r>
            <a:r>
              <a:rPr dirty="0" sz="2800" spc="55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37" name="object 3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58565" y="6279248"/>
            <a:ext cx="2336482" cy="69151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914400" y="1876425"/>
            <a:ext cx="8230234" cy="725805"/>
            <a:chOff x="914400" y="1876425"/>
            <a:chExt cx="8230234" cy="725805"/>
          </a:xfrm>
        </p:grpSpPr>
        <p:sp>
          <p:nvSpPr>
            <p:cNvPr id="9" name="object 9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22600" y="1992261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99479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3177120" y="596899"/>
                  </a:lnTo>
                  <a:lnTo>
                    <a:pt x="3215842" y="589080"/>
                  </a:lnTo>
                  <a:lnTo>
                    <a:pt x="3247463" y="567756"/>
                  </a:lnTo>
                  <a:lnTo>
                    <a:pt x="3268782" y="536131"/>
                  </a:lnTo>
                  <a:lnTo>
                    <a:pt x="3276600" y="497408"/>
                  </a:lnTo>
                  <a:lnTo>
                    <a:pt x="3276600" y="99479"/>
                  </a:lnTo>
                  <a:lnTo>
                    <a:pt x="3268782" y="60757"/>
                  </a:lnTo>
                  <a:lnTo>
                    <a:pt x="3247463" y="29136"/>
                  </a:lnTo>
                  <a:lnTo>
                    <a:pt x="3215842" y="7817"/>
                  </a:lnTo>
                  <a:lnTo>
                    <a:pt x="31771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6"/>
                  </a:lnTo>
                  <a:lnTo>
                    <a:pt x="7817" y="60757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22600" y="1992261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99479"/>
                  </a:moveTo>
                  <a:lnTo>
                    <a:pt x="7817" y="60757"/>
                  </a:lnTo>
                  <a:lnTo>
                    <a:pt x="29136" y="29136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3177120" y="0"/>
                  </a:lnTo>
                  <a:lnTo>
                    <a:pt x="3215842" y="7817"/>
                  </a:lnTo>
                  <a:lnTo>
                    <a:pt x="3247463" y="29136"/>
                  </a:lnTo>
                  <a:lnTo>
                    <a:pt x="3268782" y="60757"/>
                  </a:lnTo>
                  <a:lnTo>
                    <a:pt x="3276600" y="99479"/>
                  </a:lnTo>
                  <a:lnTo>
                    <a:pt x="3276600" y="497408"/>
                  </a:lnTo>
                  <a:lnTo>
                    <a:pt x="3268782" y="536131"/>
                  </a:lnTo>
                  <a:lnTo>
                    <a:pt x="3247463" y="567756"/>
                  </a:lnTo>
                  <a:lnTo>
                    <a:pt x="3215842" y="589080"/>
                  </a:lnTo>
                  <a:lnTo>
                    <a:pt x="31771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79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191516" y="2075312"/>
            <a:ext cx="2938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8060" algn="l"/>
              </a:tabLst>
            </a:pP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DTFS: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	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Representation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054100" y="6013462"/>
            <a:ext cx="3073400" cy="622300"/>
            <a:chOff x="1054100" y="6013462"/>
            <a:chExt cx="3073400" cy="622300"/>
          </a:xfrm>
        </p:grpSpPr>
        <p:sp>
          <p:nvSpPr>
            <p:cNvPr id="14" name="object 14" descr=""/>
            <p:cNvSpPr/>
            <p:nvPr/>
          </p:nvSpPr>
          <p:spPr>
            <a:xfrm>
              <a:off x="1066800" y="6026162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79"/>
                  </a:moveTo>
                  <a:lnTo>
                    <a:pt x="0" y="497420"/>
                  </a:lnTo>
                  <a:lnTo>
                    <a:pt x="7817" y="536137"/>
                  </a:lnTo>
                  <a:lnTo>
                    <a:pt x="29136" y="567758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48520" y="596899"/>
                  </a:lnTo>
                  <a:lnTo>
                    <a:pt x="2987242" y="589080"/>
                  </a:lnTo>
                  <a:lnTo>
                    <a:pt x="3018863" y="567758"/>
                  </a:lnTo>
                  <a:lnTo>
                    <a:pt x="3040182" y="536137"/>
                  </a:lnTo>
                  <a:lnTo>
                    <a:pt x="3048000" y="497420"/>
                  </a:lnTo>
                  <a:lnTo>
                    <a:pt x="3048000" y="99479"/>
                  </a:lnTo>
                  <a:lnTo>
                    <a:pt x="3040182" y="60762"/>
                  </a:lnTo>
                  <a:lnTo>
                    <a:pt x="3018863" y="29141"/>
                  </a:lnTo>
                  <a:lnTo>
                    <a:pt x="2987242" y="7819"/>
                  </a:lnTo>
                  <a:lnTo>
                    <a:pt x="2948520" y="0"/>
                  </a:lnTo>
                  <a:lnTo>
                    <a:pt x="99479" y="0"/>
                  </a:lnTo>
                  <a:lnTo>
                    <a:pt x="60757" y="7819"/>
                  </a:lnTo>
                  <a:lnTo>
                    <a:pt x="29136" y="29141"/>
                  </a:lnTo>
                  <a:lnTo>
                    <a:pt x="7817" y="60762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66800" y="6026162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79"/>
                  </a:moveTo>
                  <a:lnTo>
                    <a:pt x="7817" y="60762"/>
                  </a:lnTo>
                  <a:lnTo>
                    <a:pt x="29136" y="29141"/>
                  </a:lnTo>
                  <a:lnTo>
                    <a:pt x="60757" y="7819"/>
                  </a:lnTo>
                  <a:lnTo>
                    <a:pt x="99479" y="0"/>
                  </a:lnTo>
                  <a:lnTo>
                    <a:pt x="2948520" y="0"/>
                  </a:lnTo>
                  <a:lnTo>
                    <a:pt x="2987242" y="7819"/>
                  </a:lnTo>
                  <a:lnTo>
                    <a:pt x="3018863" y="29141"/>
                  </a:lnTo>
                  <a:lnTo>
                    <a:pt x="3040182" y="60762"/>
                  </a:lnTo>
                  <a:lnTo>
                    <a:pt x="3048000" y="99479"/>
                  </a:lnTo>
                  <a:lnTo>
                    <a:pt x="3048000" y="497420"/>
                  </a:lnTo>
                  <a:lnTo>
                    <a:pt x="3040182" y="536137"/>
                  </a:lnTo>
                  <a:lnTo>
                    <a:pt x="3018863" y="567758"/>
                  </a:lnTo>
                  <a:lnTo>
                    <a:pt x="2987242" y="589080"/>
                  </a:lnTo>
                  <a:lnTo>
                    <a:pt x="29485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8"/>
                  </a:lnTo>
                  <a:lnTo>
                    <a:pt x="7817" y="536137"/>
                  </a:lnTo>
                  <a:lnTo>
                    <a:pt x="0" y="497420"/>
                  </a:lnTo>
                  <a:lnTo>
                    <a:pt x="0" y="99479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532919" y="6109220"/>
            <a:ext cx="21145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953A4"/>
                </a:solidFill>
                <a:latin typeface="Calibri"/>
                <a:cs typeface="Calibri"/>
              </a:rPr>
              <a:t>Power</a:t>
            </a:r>
            <a:r>
              <a:rPr dirty="0" sz="2400" spc="-100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054100" y="3620160"/>
            <a:ext cx="3073400" cy="622300"/>
            <a:chOff x="1054100" y="3620160"/>
            <a:chExt cx="3073400" cy="622300"/>
          </a:xfrm>
        </p:grpSpPr>
        <p:sp>
          <p:nvSpPr>
            <p:cNvPr id="18" name="object 18" descr=""/>
            <p:cNvSpPr/>
            <p:nvPr/>
          </p:nvSpPr>
          <p:spPr>
            <a:xfrm>
              <a:off x="1066800" y="3632860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79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48520" y="596899"/>
                  </a:lnTo>
                  <a:lnTo>
                    <a:pt x="2987242" y="589080"/>
                  </a:lnTo>
                  <a:lnTo>
                    <a:pt x="3018863" y="567756"/>
                  </a:lnTo>
                  <a:lnTo>
                    <a:pt x="3040182" y="536131"/>
                  </a:lnTo>
                  <a:lnTo>
                    <a:pt x="3048000" y="497408"/>
                  </a:lnTo>
                  <a:lnTo>
                    <a:pt x="3048000" y="99479"/>
                  </a:lnTo>
                  <a:lnTo>
                    <a:pt x="3040182" y="60757"/>
                  </a:lnTo>
                  <a:lnTo>
                    <a:pt x="3018863" y="29136"/>
                  </a:lnTo>
                  <a:lnTo>
                    <a:pt x="2987242" y="7817"/>
                  </a:lnTo>
                  <a:lnTo>
                    <a:pt x="29485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6"/>
                  </a:lnTo>
                  <a:lnTo>
                    <a:pt x="7817" y="60757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066800" y="3632860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79"/>
                  </a:moveTo>
                  <a:lnTo>
                    <a:pt x="7817" y="60757"/>
                  </a:lnTo>
                  <a:lnTo>
                    <a:pt x="29136" y="29136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2948520" y="0"/>
                  </a:lnTo>
                  <a:lnTo>
                    <a:pt x="2987242" y="7817"/>
                  </a:lnTo>
                  <a:lnTo>
                    <a:pt x="3018863" y="29136"/>
                  </a:lnTo>
                  <a:lnTo>
                    <a:pt x="3040182" y="60757"/>
                  </a:lnTo>
                  <a:lnTo>
                    <a:pt x="3048000" y="99479"/>
                  </a:lnTo>
                  <a:lnTo>
                    <a:pt x="3048000" y="497408"/>
                  </a:lnTo>
                  <a:lnTo>
                    <a:pt x="3040182" y="536131"/>
                  </a:lnTo>
                  <a:lnTo>
                    <a:pt x="3018863" y="567756"/>
                  </a:lnTo>
                  <a:lnTo>
                    <a:pt x="2987242" y="589080"/>
                  </a:lnTo>
                  <a:lnTo>
                    <a:pt x="29485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79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243331" y="3715900"/>
            <a:ext cx="26936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Magnitude</a:t>
            </a:r>
            <a:r>
              <a:rPr dirty="0" sz="2400" spc="-5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054100" y="4845062"/>
            <a:ext cx="3124835" cy="622300"/>
            <a:chOff x="1054100" y="4845062"/>
            <a:chExt cx="3124835" cy="622300"/>
          </a:xfrm>
        </p:grpSpPr>
        <p:sp>
          <p:nvSpPr>
            <p:cNvPr id="22" name="object 22" descr=""/>
            <p:cNvSpPr/>
            <p:nvPr/>
          </p:nvSpPr>
          <p:spPr>
            <a:xfrm>
              <a:off x="1066800" y="4857762"/>
              <a:ext cx="3099435" cy="596900"/>
            </a:xfrm>
            <a:custGeom>
              <a:avLst/>
              <a:gdLst/>
              <a:ahLst/>
              <a:cxnLst/>
              <a:rect l="l" t="t" r="r" b="b"/>
              <a:pathLst>
                <a:path w="3099435" h="596900">
                  <a:moveTo>
                    <a:pt x="0" y="99479"/>
                  </a:moveTo>
                  <a:lnTo>
                    <a:pt x="0" y="497420"/>
                  </a:lnTo>
                  <a:lnTo>
                    <a:pt x="7817" y="536137"/>
                  </a:lnTo>
                  <a:lnTo>
                    <a:pt x="29136" y="567758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99320" y="596899"/>
                  </a:lnTo>
                  <a:lnTo>
                    <a:pt x="3038044" y="589080"/>
                  </a:lnTo>
                  <a:lnTo>
                    <a:pt x="3069669" y="567758"/>
                  </a:lnTo>
                  <a:lnTo>
                    <a:pt x="3090993" y="536137"/>
                  </a:lnTo>
                  <a:lnTo>
                    <a:pt x="3098812" y="497420"/>
                  </a:lnTo>
                  <a:lnTo>
                    <a:pt x="3098812" y="99479"/>
                  </a:lnTo>
                  <a:lnTo>
                    <a:pt x="3090993" y="60762"/>
                  </a:lnTo>
                  <a:lnTo>
                    <a:pt x="3069669" y="29141"/>
                  </a:lnTo>
                  <a:lnTo>
                    <a:pt x="3038044" y="7819"/>
                  </a:lnTo>
                  <a:lnTo>
                    <a:pt x="2999320" y="0"/>
                  </a:lnTo>
                  <a:lnTo>
                    <a:pt x="99479" y="0"/>
                  </a:lnTo>
                  <a:lnTo>
                    <a:pt x="60757" y="7819"/>
                  </a:lnTo>
                  <a:lnTo>
                    <a:pt x="29136" y="29141"/>
                  </a:lnTo>
                  <a:lnTo>
                    <a:pt x="7817" y="60762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066800" y="4857762"/>
              <a:ext cx="3099435" cy="596900"/>
            </a:xfrm>
            <a:custGeom>
              <a:avLst/>
              <a:gdLst/>
              <a:ahLst/>
              <a:cxnLst/>
              <a:rect l="l" t="t" r="r" b="b"/>
              <a:pathLst>
                <a:path w="3099435" h="596900">
                  <a:moveTo>
                    <a:pt x="0" y="99479"/>
                  </a:moveTo>
                  <a:lnTo>
                    <a:pt x="7817" y="60762"/>
                  </a:lnTo>
                  <a:lnTo>
                    <a:pt x="29136" y="29141"/>
                  </a:lnTo>
                  <a:lnTo>
                    <a:pt x="60757" y="7819"/>
                  </a:lnTo>
                  <a:lnTo>
                    <a:pt x="99479" y="0"/>
                  </a:lnTo>
                  <a:lnTo>
                    <a:pt x="2999320" y="0"/>
                  </a:lnTo>
                  <a:lnTo>
                    <a:pt x="3038044" y="7819"/>
                  </a:lnTo>
                  <a:lnTo>
                    <a:pt x="3069669" y="29141"/>
                  </a:lnTo>
                  <a:lnTo>
                    <a:pt x="3090993" y="60762"/>
                  </a:lnTo>
                  <a:lnTo>
                    <a:pt x="3098812" y="99479"/>
                  </a:lnTo>
                  <a:lnTo>
                    <a:pt x="3098812" y="497420"/>
                  </a:lnTo>
                  <a:lnTo>
                    <a:pt x="3090993" y="536137"/>
                  </a:lnTo>
                  <a:lnTo>
                    <a:pt x="3069669" y="567758"/>
                  </a:lnTo>
                  <a:lnTo>
                    <a:pt x="3038044" y="589080"/>
                  </a:lnTo>
                  <a:lnTo>
                    <a:pt x="29993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8"/>
                  </a:lnTo>
                  <a:lnTo>
                    <a:pt x="7817" y="536137"/>
                  </a:lnTo>
                  <a:lnTo>
                    <a:pt x="0" y="497420"/>
                  </a:lnTo>
                  <a:lnTo>
                    <a:pt x="0" y="99479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584709" y="4940818"/>
            <a:ext cx="20605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953A4"/>
                </a:solidFill>
                <a:latin typeface="Calibri"/>
                <a:cs typeface="Calibri"/>
              </a:rPr>
              <a:t>Phase</a:t>
            </a:r>
            <a:r>
              <a:rPr dirty="0" sz="2400" spc="-7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5321312" y="4217047"/>
            <a:ext cx="3607435" cy="1663064"/>
            <a:chOff x="5321312" y="4217047"/>
            <a:chExt cx="3607435" cy="1663064"/>
          </a:xfrm>
        </p:grpSpPr>
        <p:sp>
          <p:nvSpPr>
            <p:cNvPr id="26" name="object 26" descr=""/>
            <p:cNvSpPr/>
            <p:nvPr/>
          </p:nvSpPr>
          <p:spPr>
            <a:xfrm>
              <a:off x="5334012" y="4229747"/>
              <a:ext cx="3582035" cy="1637664"/>
            </a:xfrm>
            <a:custGeom>
              <a:avLst/>
              <a:gdLst/>
              <a:ahLst/>
              <a:cxnLst/>
              <a:rect l="l" t="t" r="r" b="b"/>
              <a:pathLst>
                <a:path w="3582034" h="1637664">
                  <a:moveTo>
                    <a:pt x="0" y="272948"/>
                  </a:moveTo>
                  <a:lnTo>
                    <a:pt x="0" y="1637665"/>
                  </a:lnTo>
                  <a:lnTo>
                    <a:pt x="3581412" y="1637664"/>
                  </a:lnTo>
                  <a:lnTo>
                    <a:pt x="3581412" y="272948"/>
                  </a:lnTo>
                  <a:lnTo>
                    <a:pt x="3308451" y="0"/>
                  </a:lnTo>
                  <a:lnTo>
                    <a:pt x="272948" y="0"/>
                  </a:lnTo>
                  <a:lnTo>
                    <a:pt x="223884" y="4397"/>
                  </a:lnTo>
                  <a:lnTo>
                    <a:pt x="177706" y="17075"/>
                  </a:lnTo>
                  <a:lnTo>
                    <a:pt x="135184" y="37264"/>
                  </a:lnTo>
                  <a:lnTo>
                    <a:pt x="97089" y="64192"/>
                  </a:lnTo>
                  <a:lnTo>
                    <a:pt x="64192" y="97089"/>
                  </a:lnTo>
                  <a:lnTo>
                    <a:pt x="37264" y="135184"/>
                  </a:lnTo>
                  <a:lnTo>
                    <a:pt x="17075" y="177706"/>
                  </a:lnTo>
                  <a:lnTo>
                    <a:pt x="4397" y="223884"/>
                  </a:lnTo>
                  <a:lnTo>
                    <a:pt x="0" y="272948"/>
                  </a:lnTo>
                  <a:close/>
                </a:path>
              </a:pathLst>
            </a:custGeom>
            <a:solidFill>
              <a:srgbClr val="4E8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334012" y="4229747"/>
              <a:ext cx="3582035" cy="1637664"/>
            </a:xfrm>
            <a:custGeom>
              <a:avLst/>
              <a:gdLst/>
              <a:ahLst/>
              <a:cxnLst/>
              <a:rect l="l" t="t" r="r" b="b"/>
              <a:pathLst>
                <a:path w="3582034" h="1637664">
                  <a:moveTo>
                    <a:pt x="272948" y="0"/>
                  </a:moveTo>
                  <a:lnTo>
                    <a:pt x="3308451" y="0"/>
                  </a:lnTo>
                  <a:lnTo>
                    <a:pt x="3581412" y="272948"/>
                  </a:lnTo>
                  <a:lnTo>
                    <a:pt x="3581412" y="1637664"/>
                  </a:lnTo>
                  <a:lnTo>
                    <a:pt x="0" y="1637665"/>
                  </a:lnTo>
                  <a:lnTo>
                    <a:pt x="0" y="272948"/>
                  </a:lnTo>
                  <a:lnTo>
                    <a:pt x="4397" y="223884"/>
                  </a:lnTo>
                  <a:lnTo>
                    <a:pt x="17075" y="177706"/>
                  </a:lnTo>
                  <a:lnTo>
                    <a:pt x="37264" y="135184"/>
                  </a:lnTo>
                  <a:lnTo>
                    <a:pt x="64192" y="97089"/>
                  </a:lnTo>
                  <a:lnTo>
                    <a:pt x="97089" y="64192"/>
                  </a:lnTo>
                  <a:lnTo>
                    <a:pt x="135184" y="37264"/>
                  </a:lnTo>
                  <a:lnTo>
                    <a:pt x="177706" y="17075"/>
                  </a:lnTo>
                  <a:lnTo>
                    <a:pt x="223884" y="4397"/>
                  </a:lnTo>
                  <a:lnTo>
                    <a:pt x="272948" y="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5544918" y="4460145"/>
            <a:ext cx="3103245" cy="1214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dirty="0" sz="26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Periodic</a:t>
            </a:r>
            <a:r>
              <a:rPr dirty="0" sz="26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Spectrum </a:t>
            </a:r>
            <a:r>
              <a:rPr dirty="0" u="heavy" sz="26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or</a:t>
            </a:r>
            <a:r>
              <a:rPr dirty="0" sz="2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Discrete</a:t>
            </a:r>
            <a:r>
              <a:rPr dirty="0" sz="26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Periodic Spectrum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2413000" y="2723934"/>
            <a:ext cx="5055235" cy="492759"/>
          </a:xfrm>
          <a:custGeom>
            <a:avLst/>
            <a:gdLst/>
            <a:ahLst/>
            <a:cxnLst/>
            <a:rect l="l" t="t" r="r" b="b"/>
            <a:pathLst>
              <a:path w="5055234" h="492760">
                <a:moveTo>
                  <a:pt x="0" y="0"/>
                </a:moveTo>
                <a:lnTo>
                  <a:pt x="0" y="492442"/>
                </a:lnTo>
                <a:lnTo>
                  <a:pt x="5054612" y="492442"/>
                </a:lnTo>
                <a:lnTo>
                  <a:pt x="50546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6EB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2491744" y="2735610"/>
            <a:ext cx="416623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Complex</a:t>
            </a:r>
            <a:r>
              <a:rPr dirty="0" sz="2600" spc="-9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Fourier</a:t>
            </a:r>
            <a:r>
              <a:rPr dirty="0" sz="2600" spc="-9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231F20"/>
                </a:solidFill>
                <a:latin typeface="Calibri"/>
                <a:cs typeface="Calibri"/>
              </a:rPr>
              <a:t>coefficients</a:t>
            </a:r>
            <a:r>
              <a:rPr dirty="0" sz="2600" spc="-9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spc="-50" b="1">
                <a:solidFill>
                  <a:srgbClr val="231F20"/>
                </a:solidFill>
                <a:latin typeface="Calibri"/>
                <a:cs typeface="Calibri"/>
              </a:rPr>
              <a:t>=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7364133" y="2663723"/>
            <a:ext cx="1703705" cy="597535"/>
            <a:chOff x="7364133" y="2663723"/>
            <a:chExt cx="1703705" cy="597535"/>
          </a:xfrm>
        </p:grpSpPr>
        <p:sp>
          <p:nvSpPr>
            <p:cNvPr id="32" name="object 32" descr=""/>
            <p:cNvSpPr/>
            <p:nvPr/>
          </p:nvSpPr>
          <p:spPr>
            <a:xfrm>
              <a:off x="7364133" y="2663723"/>
              <a:ext cx="1703705" cy="597535"/>
            </a:xfrm>
            <a:custGeom>
              <a:avLst/>
              <a:gdLst/>
              <a:ahLst/>
              <a:cxnLst/>
              <a:rect l="l" t="t" r="r" b="b"/>
              <a:pathLst>
                <a:path w="1703704" h="597535">
                  <a:moveTo>
                    <a:pt x="0" y="0"/>
                  </a:moveTo>
                  <a:lnTo>
                    <a:pt x="0" y="597331"/>
                  </a:lnTo>
                  <a:lnTo>
                    <a:pt x="1703679" y="597331"/>
                  </a:lnTo>
                  <a:lnTo>
                    <a:pt x="17036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091868" y="2749880"/>
              <a:ext cx="0" cy="426084"/>
            </a:xfrm>
            <a:custGeom>
              <a:avLst/>
              <a:gdLst/>
              <a:ahLst/>
              <a:cxnLst/>
              <a:rect l="l" t="t" r="r" b="b"/>
              <a:pathLst>
                <a:path w="0" h="426085">
                  <a:moveTo>
                    <a:pt x="0" y="0"/>
                  </a:moveTo>
                  <a:lnTo>
                    <a:pt x="0" y="425564"/>
                  </a:lnTo>
                </a:path>
              </a:pathLst>
            </a:custGeom>
            <a:ln w="177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463623" y="2749880"/>
              <a:ext cx="0" cy="426084"/>
            </a:xfrm>
            <a:custGeom>
              <a:avLst/>
              <a:gdLst/>
              <a:ahLst/>
              <a:cxnLst/>
              <a:rect l="l" t="t" r="r" b="b"/>
              <a:pathLst>
                <a:path w="0" h="426085">
                  <a:moveTo>
                    <a:pt x="0" y="0"/>
                  </a:moveTo>
                  <a:lnTo>
                    <a:pt x="0" y="425564"/>
                  </a:lnTo>
                </a:path>
              </a:pathLst>
            </a:custGeom>
            <a:ln w="177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7556026" y="2924429"/>
            <a:ext cx="835025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29615" algn="l"/>
              </a:tabLst>
            </a:pPr>
            <a:r>
              <a:rPr dirty="0" sz="1600" spc="-50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r>
              <a:rPr dirty="0" sz="1600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1600" spc="-50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8495479" y="2515677"/>
            <a:ext cx="515620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25793" sz="4200" i="1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dirty="0" baseline="-25793" sz="4200" spc="-45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1600" spc="-25" i="1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r>
              <a:rPr dirty="0" sz="1700" spc="-25">
                <a:solidFill>
                  <a:srgbClr val="231F20"/>
                </a:solidFill>
                <a:latin typeface="Symbol"/>
                <a:cs typeface="Symbol"/>
              </a:rPr>
              <a:t></a:t>
            </a:r>
            <a:r>
              <a:rPr dirty="0" baseline="-21739" sz="1725" spc="-37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endParaRPr baseline="-21739" sz="1725">
              <a:latin typeface="Times New Roman"/>
              <a:cs typeface="Times New Roma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399999" y="2680878"/>
            <a:ext cx="902335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96875" algn="l"/>
                <a:tab pos="729615" algn="l"/>
              </a:tabLst>
            </a:pPr>
            <a:r>
              <a:rPr dirty="0" sz="2800" spc="-50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r>
              <a:rPr dirty="0" sz="2800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800" spc="-5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28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800" spc="-50" i="1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6451612" y="3208604"/>
            <a:ext cx="2628900" cy="478155"/>
          </a:xfrm>
          <a:custGeom>
            <a:avLst/>
            <a:gdLst/>
            <a:ahLst/>
            <a:cxnLst/>
            <a:rect l="l" t="t" r="r" b="b"/>
            <a:pathLst>
              <a:path w="2628900" h="478154">
                <a:moveTo>
                  <a:pt x="0" y="0"/>
                </a:moveTo>
                <a:lnTo>
                  <a:pt x="0" y="477837"/>
                </a:lnTo>
                <a:lnTo>
                  <a:pt x="2628900" y="477837"/>
                </a:lnTo>
                <a:lnTo>
                  <a:pt x="2628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6EB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6492917" y="3166041"/>
            <a:ext cx="2557145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800" i="1">
                <a:solidFill>
                  <a:srgbClr val="231F20"/>
                </a:solidFill>
                <a:latin typeface="Times New Roman"/>
                <a:cs typeface="Times New Roman"/>
              </a:rPr>
              <a:t>k</a:t>
            </a:r>
            <a:r>
              <a:rPr dirty="0" sz="2800" spc="21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2800" spc="-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 spc="-75">
                <a:solidFill>
                  <a:srgbClr val="231F20"/>
                </a:solidFill>
                <a:latin typeface="Times New Roman"/>
                <a:cs typeface="Times New Roman"/>
              </a:rPr>
              <a:t>0,1,</a:t>
            </a:r>
            <a:r>
              <a:rPr dirty="0" sz="2800" spc="-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31F20"/>
                </a:solidFill>
                <a:latin typeface="Times New Roman"/>
                <a:cs typeface="Times New Roman"/>
              </a:rPr>
              <a:t>2,...,</a:t>
            </a:r>
            <a:r>
              <a:rPr dirty="0" sz="2800" spc="-18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 i="1">
                <a:solidFill>
                  <a:srgbClr val="231F20"/>
                </a:solidFill>
                <a:latin typeface="Times New Roman"/>
                <a:cs typeface="Times New Roman"/>
              </a:rPr>
              <a:t>N</a:t>
            </a:r>
            <a:r>
              <a:rPr dirty="0" sz="2800" spc="10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 spc="55">
                <a:solidFill>
                  <a:srgbClr val="231F20"/>
                </a:solidFill>
                <a:latin typeface="Symbol"/>
                <a:cs typeface="Symbol"/>
              </a:rPr>
              <a:t></a:t>
            </a:r>
            <a:r>
              <a:rPr dirty="0" sz="2800" spc="55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6409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901700" y="2070100"/>
            <a:ext cx="2921000" cy="711200"/>
            <a:chOff x="901700" y="2070100"/>
            <a:chExt cx="2921000" cy="711200"/>
          </a:xfrm>
        </p:grpSpPr>
        <p:sp>
          <p:nvSpPr>
            <p:cNvPr id="9" name="object 9" descr=""/>
            <p:cNvSpPr/>
            <p:nvPr/>
          </p:nvSpPr>
          <p:spPr>
            <a:xfrm>
              <a:off x="914400" y="2082800"/>
              <a:ext cx="2895600" cy="685800"/>
            </a:xfrm>
            <a:custGeom>
              <a:avLst/>
              <a:gdLst/>
              <a:ahLst/>
              <a:cxnLst/>
              <a:rect l="l" t="t" r="r" b="b"/>
              <a:pathLst>
                <a:path w="28956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2781300" y="685800"/>
                  </a:lnTo>
                  <a:lnTo>
                    <a:pt x="2825787" y="676816"/>
                  </a:lnTo>
                  <a:lnTo>
                    <a:pt x="2862119" y="652319"/>
                  </a:lnTo>
                  <a:lnTo>
                    <a:pt x="2886616" y="615987"/>
                  </a:lnTo>
                  <a:lnTo>
                    <a:pt x="2895600" y="571500"/>
                  </a:lnTo>
                  <a:lnTo>
                    <a:pt x="2895600" y="114300"/>
                  </a:lnTo>
                  <a:lnTo>
                    <a:pt x="2886616" y="69806"/>
                  </a:lnTo>
                  <a:lnTo>
                    <a:pt x="2862119" y="33475"/>
                  </a:lnTo>
                  <a:lnTo>
                    <a:pt x="2825787" y="8981"/>
                  </a:lnTo>
                  <a:lnTo>
                    <a:pt x="27813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4400" y="2082800"/>
              <a:ext cx="2895600" cy="685800"/>
            </a:xfrm>
            <a:custGeom>
              <a:avLst/>
              <a:gdLst/>
              <a:ahLst/>
              <a:cxnLst/>
              <a:rect l="l" t="t" r="r" b="b"/>
              <a:pathLst>
                <a:path w="28956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2781300" y="0"/>
                  </a:lnTo>
                  <a:lnTo>
                    <a:pt x="2825787" y="8981"/>
                  </a:lnTo>
                  <a:lnTo>
                    <a:pt x="2862119" y="33475"/>
                  </a:lnTo>
                  <a:lnTo>
                    <a:pt x="2886616" y="69806"/>
                  </a:lnTo>
                  <a:lnTo>
                    <a:pt x="2895600" y="114300"/>
                  </a:lnTo>
                  <a:lnTo>
                    <a:pt x="2895600" y="571500"/>
                  </a:lnTo>
                  <a:lnTo>
                    <a:pt x="2886616" y="615987"/>
                  </a:lnTo>
                  <a:lnTo>
                    <a:pt x="2862119" y="652319"/>
                  </a:lnTo>
                  <a:lnTo>
                    <a:pt x="2825787" y="676816"/>
                  </a:lnTo>
                  <a:lnTo>
                    <a:pt x="27813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162751" y="2243841"/>
            <a:ext cx="6140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DTFS: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918894" y="2243841"/>
            <a:ext cx="16421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Representation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102112" y="2133612"/>
            <a:ext cx="5055235" cy="622300"/>
            <a:chOff x="4102112" y="2133612"/>
            <a:chExt cx="5055235" cy="622300"/>
          </a:xfrm>
        </p:grpSpPr>
        <p:sp>
          <p:nvSpPr>
            <p:cNvPr id="14" name="object 14" descr=""/>
            <p:cNvSpPr/>
            <p:nvPr/>
          </p:nvSpPr>
          <p:spPr>
            <a:xfrm>
              <a:off x="4114812" y="2146312"/>
              <a:ext cx="5029835" cy="596900"/>
            </a:xfrm>
            <a:custGeom>
              <a:avLst/>
              <a:gdLst/>
              <a:ahLst/>
              <a:cxnLst/>
              <a:rect l="l" t="t" r="r" b="b"/>
              <a:pathLst>
                <a:path w="5029834" h="596900">
                  <a:moveTo>
                    <a:pt x="0" y="99466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4929733" y="596899"/>
                  </a:lnTo>
                  <a:lnTo>
                    <a:pt x="4968455" y="589080"/>
                  </a:lnTo>
                  <a:lnTo>
                    <a:pt x="5000075" y="567756"/>
                  </a:lnTo>
                  <a:lnTo>
                    <a:pt x="5021395" y="536131"/>
                  </a:lnTo>
                  <a:lnTo>
                    <a:pt x="5029212" y="497408"/>
                  </a:lnTo>
                  <a:lnTo>
                    <a:pt x="5029212" y="99466"/>
                  </a:lnTo>
                  <a:lnTo>
                    <a:pt x="5021395" y="60752"/>
                  </a:lnTo>
                  <a:lnTo>
                    <a:pt x="5000075" y="29135"/>
                  </a:lnTo>
                  <a:lnTo>
                    <a:pt x="4968455" y="7817"/>
                  </a:lnTo>
                  <a:lnTo>
                    <a:pt x="4929733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5"/>
                  </a:lnTo>
                  <a:lnTo>
                    <a:pt x="7817" y="60752"/>
                  </a:lnTo>
                  <a:lnTo>
                    <a:pt x="0" y="99466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114812" y="2146312"/>
              <a:ext cx="5029835" cy="596900"/>
            </a:xfrm>
            <a:custGeom>
              <a:avLst/>
              <a:gdLst/>
              <a:ahLst/>
              <a:cxnLst/>
              <a:rect l="l" t="t" r="r" b="b"/>
              <a:pathLst>
                <a:path w="5029834" h="596900">
                  <a:moveTo>
                    <a:pt x="0" y="99466"/>
                  </a:moveTo>
                  <a:lnTo>
                    <a:pt x="7817" y="60752"/>
                  </a:lnTo>
                  <a:lnTo>
                    <a:pt x="29136" y="29135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4929733" y="0"/>
                  </a:lnTo>
                  <a:lnTo>
                    <a:pt x="4968455" y="7817"/>
                  </a:lnTo>
                  <a:lnTo>
                    <a:pt x="5000075" y="29135"/>
                  </a:lnTo>
                  <a:lnTo>
                    <a:pt x="5021395" y="60752"/>
                  </a:lnTo>
                  <a:lnTo>
                    <a:pt x="5029212" y="99466"/>
                  </a:lnTo>
                  <a:lnTo>
                    <a:pt x="5029212" y="497408"/>
                  </a:lnTo>
                  <a:lnTo>
                    <a:pt x="5021395" y="536131"/>
                  </a:lnTo>
                  <a:lnTo>
                    <a:pt x="5000075" y="567756"/>
                  </a:lnTo>
                  <a:lnTo>
                    <a:pt x="4968455" y="589080"/>
                  </a:lnTo>
                  <a:lnTo>
                    <a:pt x="4929733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66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839763" y="2229363"/>
            <a:ext cx="15805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If</a:t>
            </a:r>
            <a:r>
              <a:rPr dirty="0" sz="24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231F20"/>
                </a:solidFill>
                <a:latin typeface="Calibri"/>
                <a:cs typeface="Calibri"/>
              </a:rPr>
              <a:t>x(n)</a:t>
            </a:r>
            <a:r>
              <a:rPr dirty="0" sz="2400" spc="-20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2400" spc="-1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231F20"/>
                </a:solidFill>
                <a:latin typeface="Calibri"/>
                <a:cs typeface="Calibri"/>
              </a:rPr>
              <a:t>real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64075" y="3292868"/>
            <a:ext cx="704850" cy="20955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27700" y="3280168"/>
            <a:ext cx="3067049" cy="619125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41825" y="4383494"/>
            <a:ext cx="1038225" cy="180975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05525" y="4379124"/>
            <a:ext cx="1314449" cy="171450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74887" y="6088075"/>
            <a:ext cx="5324487" cy="971550"/>
          </a:xfrm>
          <a:prstGeom prst="rect">
            <a:avLst/>
          </a:prstGeom>
        </p:spPr>
      </p:pic>
      <p:grpSp>
        <p:nvGrpSpPr>
          <p:cNvPr id="22" name="object 22" descr=""/>
          <p:cNvGrpSpPr/>
          <p:nvPr/>
        </p:nvGrpSpPr>
        <p:grpSpPr>
          <a:xfrm>
            <a:off x="4876812" y="4736325"/>
            <a:ext cx="4737735" cy="1071880"/>
            <a:chOff x="4876812" y="4736325"/>
            <a:chExt cx="4737735" cy="1071880"/>
          </a:xfrm>
        </p:grpSpPr>
        <p:sp>
          <p:nvSpPr>
            <p:cNvPr id="23" name="object 23" descr=""/>
            <p:cNvSpPr/>
            <p:nvPr/>
          </p:nvSpPr>
          <p:spPr>
            <a:xfrm>
              <a:off x="4889512" y="4749025"/>
              <a:ext cx="4712335" cy="1046480"/>
            </a:xfrm>
            <a:custGeom>
              <a:avLst/>
              <a:gdLst/>
              <a:ahLst/>
              <a:cxnLst/>
              <a:rect l="l" t="t" r="r" b="b"/>
              <a:pathLst>
                <a:path w="4712334" h="1046479">
                  <a:moveTo>
                    <a:pt x="0" y="174358"/>
                  </a:moveTo>
                  <a:lnTo>
                    <a:pt x="0" y="871791"/>
                  </a:lnTo>
                  <a:lnTo>
                    <a:pt x="6228" y="918146"/>
                  </a:lnTo>
                  <a:lnTo>
                    <a:pt x="23805" y="959800"/>
                  </a:lnTo>
                  <a:lnTo>
                    <a:pt x="51069" y="995091"/>
                  </a:lnTo>
                  <a:lnTo>
                    <a:pt x="86358" y="1022356"/>
                  </a:lnTo>
                  <a:lnTo>
                    <a:pt x="128008" y="1039933"/>
                  </a:lnTo>
                  <a:lnTo>
                    <a:pt x="174358" y="1046162"/>
                  </a:lnTo>
                  <a:lnTo>
                    <a:pt x="4537354" y="1046162"/>
                  </a:lnTo>
                  <a:lnTo>
                    <a:pt x="4583704" y="1039933"/>
                  </a:lnTo>
                  <a:lnTo>
                    <a:pt x="4625354" y="1022356"/>
                  </a:lnTo>
                  <a:lnTo>
                    <a:pt x="4660642" y="995091"/>
                  </a:lnTo>
                  <a:lnTo>
                    <a:pt x="4687906" y="959800"/>
                  </a:lnTo>
                  <a:lnTo>
                    <a:pt x="4705484" y="918146"/>
                  </a:lnTo>
                  <a:lnTo>
                    <a:pt x="4711712" y="871791"/>
                  </a:lnTo>
                  <a:lnTo>
                    <a:pt x="4711712" y="174358"/>
                  </a:lnTo>
                  <a:lnTo>
                    <a:pt x="4705484" y="128003"/>
                  </a:lnTo>
                  <a:lnTo>
                    <a:pt x="4687906" y="86352"/>
                  </a:lnTo>
                  <a:lnTo>
                    <a:pt x="4660642" y="51065"/>
                  </a:lnTo>
                  <a:lnTo>
                    <a:pt x="4625354" y="23803"/>
                  </a:lnTo>
                  <a:lnTo>
                    <a:pt x="4583704" y="6227"/>
                  </a:lnTo>
                  <a:lnTo>
                    <a:pt x="4537354" y="0"/>
                  </a:lnTo>
                  <a:lnTo>
                    <a:pt x="174358" y="0"/>
                  </a:lnTo>
                  <a:lnTo>
                    <a:pt x="128008" y="6227"/>
                  </a:lnTo>
                  <a:lnTo>
                    <a:pt x="86358" y="23803"/>
                  </a:lnTo>
                  <a:lnTo>
                    <a:pt x="51069" y="51065"/>
                  </a:lnTo>
                  <a:lnTo>
                    <a:pt x="23805" y="86352"/>
                  </a:lnTo>
                  <a:lnTo>
                    <a:pt x="6228" y="128003"/>
                  </a:lnTo>
                  <a:lnTo>
                    <a:pt x="0" y="174358"/>
                  </a:lnTo>
                  <a:close/>
                </a:path>
              </a:pathLst>
            </a:custGeom>
            <a:solidFill>
              <a:srgbClr val="4E8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889512" y="4749025"/>
              <a:ext cx="4712335" cy="1046480"/>
            </a:xfrm>
            <a:custGeom>
              <a:avLst/>
              <a:gdLst/>
              <a:ahLst/>
              <a:cxnLst/>
              <a:rect l="l" t="t" r="r" b="b"/>
              <a:pathLst>
                <a:path w="4712334" h="1046479">
                  <a:moveTo>
                    <a:pt x="0" y="174358"/>
                  </a:moveTo>
                  <a:lnTo>
                    <a:pt x="6228" y="128003"/>
                  </a:lnTo>
                  <a:lnTo>
                    <a:pt x="23805" y="86352"/>
                  </a:lnTo>
                  <a:lnTo>
                    <a:pt x="51069" y="51065"/>
                  </a:lnTo>
                  <a:lnTo>
                    <a:pt x="86358" y="23803"/>
                  </a:lnTo>
                  <a:lnTo>
                    <a:pt x="128008" y="6227"/>
                  </a:lnTo>
                  <a:lnTo>
                    <a:pt x="174358" y="0"/>
                  </a:lnTo>
                  <a:lnTo>
                    <a:pt x="4537354" y="0"/>
                  </a:lnTo>
                  <a:lnTo>
                    <a:pt x="4583704" y="6227"/>
                  </a:lnTo>
                  <a:lnTo>
                    <a:pt x="4625354" y="23803"/>
                  </a:lnTo>
                  <a:lnTo>
                    <a:pt x="4660642" y="51065"/>
                  </a:lnTo>
                  <a:lnTo>
                    <a:pt x="4687906" y="86352"/>
                  </a:lnTo>
                  <a:lnTo>
                    <a:pt x="4705484" y="128003"/>
                  </a:lnTo>
                  <a:lnTo>
                    <a:pt x="4711712" y="174358"/>
                  </a:lnTo>
                  <a:lnTo>
                    <a:pt x="4711712" y="871791"/>
                  </a:lnTo>
                  <a:lnTo>
                    <a:pt x="4705484" y="918146"/>
                  </a:lnTo>
                  <a:lnTo>
                    <a:pt x="4687906" y="959800"/>
                  </a:lnTo>
                  <a:lnTo>
                    <a:pt x="4660642" y="995091"/>
                  </a:lnTo>
                  <a:lnTo>
                    <a:pt x="4625354" y="1022356"/>
                  </a:lnTo>
                  <a:lnTo>
                    <a:pt x="4583704" y="1039933"/>
                  </a:lnTo>
                  <a:lnTo>
                    <a:pt x="4537354" y="1046162"/>
                  </a:lnTo>
                  <a:lnTo>
                    <a:pt x="174358" y="1046162"/>
                  </a:lnTo>
                  <a:lnTo>
                    <a:pt x="128008" y="1039933"/>
                  </a:lnTo>
                  <a:lnTo>
                    <a:pt x="86358" y="1022356"/>
                  </a:lnTo>
                  <a:lnTo>
                    <a:pt x="51069" y="995091"/>
                  </a:lnTo>
                  <a:lnTo>
                    <a:pt x="23805" y="959800"/>
                  </a:lnTo>
                  <a:lnTo>
                    <a:pt x="6228" y="918146"/>
                  </a:lnTo>
                  <a:lnTo>
                    <a:pt x="0" y="871791"/>
                  </a:lnTo>
                  <a:lnTo>
                    <a:pt x="0" y="174358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5146138" y="4832677"/>
            <a:ext cx="419798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254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dirty="0" sz="18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x(n),</a:t>
            </a:r>
            <a:r>
              <a:rPr dirty="0" sz="18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18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N/2</a:t>
            </a:r>
            <a:r>
              <a:rPr dirty="0" sz="18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Fourier</a:t>
            </a: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coefficients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completely</a:t>
            </a:r>
            <a:r>
              <a:rPr dirty="0" sz="1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specify</a:t>
            </a:r>
            <a:r>
              <a:rPr dirty="0" sz="18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dirty="0" sz="18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spectrum.</a:t>
            </a:r>
            <a:r>
              <a:rPr dirty="0" sz="1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Rest</a:t>
            </a: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18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calculated</a:t>
            </a:r>
            <a:r>
              <a:rPr dirty="0" sz="18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8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dirty="0" sz="1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N/2</a:t>
            </a:r>
            <a:r>
              <a:rPr dirty="0" sz="18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coefficients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790575" y="4221962"/>
            <a:ext cx="2895600" cy="466090"/>
          </a:xfrm>
          <a:custGeom>
            <a:avLst/>
            <a:gdLst/>
            <a:ahLst/>
            <a:cxnLst/>
            <a:rect l="l" t="t" r="r" b="b"/>
            <a:pathLst>
              <a:path w="2895600" h="466089">
                <a:moveTo>
                  <a:pt x="0" y="77660"/>
                </a:moveTo>
                <a:lnTo>
                  <a:pt x="22747" y="22747"/>
                </a:lnTo>
                <a:lnTo>
                  <a:pt x="77660" y="0"/>
                </a:lnTo>
                <a:lnTo>
                  <a:pt x="2817939" y="0"/>
                </a:lnTo>
                <a:lnTo>
                  <a:pt x="2848167" y="6103"/>
                </a:lnTo>
                <a:lnTo>
                  <a:pt x="2872852" y="22747"/>
                </a:lnTo>
                <a:lnTo>
                  <a:pt x="2889496" y="47432"/>
                </a:lnTo>
                <a:lnTo>
                  <a:pt x="2895600" y="77660"/>
                </a:lnTo>
                <a:lnTo>
                  <a:pt x="2895600" y="388277"/>
                </a:lnTo>
                <a:lnTo>
                  <a:pt x="2872852" y="443190"/>
                </a:lnTo>
                <a:lnTo>
                  <a:pt x="2817939" y="465937"/>
                </a:lnTo>
                <a:lnTo>
                  <a:pt x="77660" y="465937"/>
                </a:lnTo>
                <a:lnTo>
                  <a:pt x="47432" y="459834"/>
                </a:lnTo>
                <a:lnTo>
                  <a:pt x="22747" y="443190"/>
                </a:lnTo>
                <a:lnTo>
                  <a:pt x="6103" y="418504"/>
                </a:lnTo>
                <a:lnTo>
                  <a:pt x="0" y="388277"/>
                </a:lnTo>
                <a:lnTo>
                  <a:pt x="0" y="77660"/>
                </a:lnTo>
                <a:close/>
              </a:path>
            </a:pathLst>
          </a:custGeom>
          <a:ln w="25400">
            <a:solidFill>
              <a:srgbClr val="385D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974505" y="4289827"/>
            <a:ext cx="2527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From</a:t>
            </a:r>
            <a:r>
              <a:rPr dirty="0" sz="1800" spc="-4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periodicity</a:t>
            </a:r>
            <a:r>
              <a:rPr dirty="0" sz="1800" spc="-6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ED2024"/>
                </a:solidFill>
                <a:latin typeface="Calibri"/>
                <a:cs typeface="Calibri"/>
              </a:rPr>
              <a:t>property: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828675" y="3119843"/>
            <a:ext cx="2895600" cy="466090"/>
          </a:xfrm>
          <a:custGeom>
            <a:avLst/>
            <a:gdLst/>
            <a:ahLst/>
            <a:cxnLst/>
            <a:rect l="l" t="t" r="r" b="b"/>
            <a:pathLst>
              <a:path w="2895600" h="466089">
                <a:moveTo>
                  <a:pt x="0" y="77660"/>
                </a:moveTo>
                <a:lnTo>
                  <a:pt x="22747" y="22747"/>
                </a:lnTo>
                <a:lnTo>
                  <a:pt x="77660" y="0"/>
                </a:lnTo>
                <a:lnTo>
                  <a:pt x="2817939" y="0"/>
                </a:lnTo>
                <a:lnTo>
                  <a:pt x="2848167" y="6103"/>
                </a:lnTo>
                <a:lnTo>
                  <a:pt x="2872852" y="22747"/>
                </a:lnTo>
                <a:lnTo>
                  <a:pt x="2889496" y="47432"/>
                </a:lnTo>
                <a:lnTo>
                  <a:pt x="2895600" y="77660"/>
                </a:lnTo>
                <a:lnTo>
                  <a:pt x="2895600" y="388277"/>
                </a:lnTo>
                <a:lnTo>
                  <a:pt x="2872852" y="443190"/>
                </a:lnTo>
                <a:lnTo>
                  <a:pt x="2817939" y="465937"/>
                </a:lnTo>
                <a:lnTo>
                  <a:pt x="77660" y="465937"/>
                </a:lnTo>
                <a:lnTo>
                  <a:pt x="47432" y="459834"/>
                </a:lnTo>
                <a:lnTo>
                  <a:pt x="22747" y="443190"/>
                </a:lnTo>
                <a:lnTo>
                  <a:pt x="6103" y="418504"/>
                </a:lnTo>
                <a:lnTo>
                  <a:pt x="0" y="388277"/>
                </a:lnTo>
                <a:lnTo>
                  <a:pt x="0" y="77660"/>
                </a:lnTo>
                <a:close/>
              </a:path>
            </a:pathLst>
          </a:custGeom>
          <a:ln w="25400">
            <a:solidFill>
              <a:srgbClr val="385D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1306743" y="3187706"/>
            <a:ext cx="1938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Symmetry</a:t>
            </a:r>
            <a:r>
              <a:rPr dirty="0" sz="1800" spc="-5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ED2024"/>
                </a:solidFill>
                <a:latin typeface="Calibri"/>
                <a:cs typeface="Calibri"/>
              </a:rPr>
              <a:t>property: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790575" y="5272100"/>
            <a:ext cx="2895600" cy="466090"/>
          </a:xfrm>
          <a:custGeom>
            <a:avLst/>
            <a:gdLst/>
            <a:ahLst/>
            <a:cxnLst/>
            <a:rect l="l" t="t" r="r" b="b"/>
            <a:pathLst>
              <a:path w="2895600" h="466089">
                <a:moveTo>
                  <a:pt x="0" y="77660"/>
                </a:moveTo>
                <a:lnTo>
                  <a:pt x="22747" y="22747"/>
                </a:lnTo>
                <a:lnTo>
                  <a:pt x="77660" y="0"/>
                </a:lnTo>
                <a:lnTo>
                  <a:pt x="2817939" y="0"/>
                </a:lnTo>
                <a:lnTo>
                  <a:pt x="2848167" y="6103"/>
                </a:lnTo>
                <a:lnTo>
                  <a:pt x="2872852" y="22747"/>
                </a:lnTo>
                <a:lnTo>
                  <a:pt x="2889496" y="47432"/>
                </a:lnTo>
                <a:lnTo>
                  <a:pt x="2895600" y="77660"/>
                </a:lnTo>
                <a:lnTo>
                  <a:pt x="2895600" y="388277"/>
                </a:lnTo>
                <a:lnTo>
                  <a:pt x="2872852" y="443190"/>
                </a:lnTo>
                <a:lnTo>
                  <a:pt x="2817939" y="465937"/>
                </a:lnTo>
                <a:lnTo>
                  <a:pt x="77660" y="465937"/>
                </a:lnTo>
                <a:lnTo>
                  <a:pt x="47432" y="459834"/>
                </a:lnTo>
                <a:lnTo>
                  <a:pt x="22747" y="443190"/>
                </a:lnTo>
                <a:lnTo>
                  <a:pt x="6103" y="418504"/>
                </a:lnTo>
                <a:lnTo>
                  <a:pt x="0" y="388277"/>
                </a:lnTo>
                <a:lnTo>
                  <a:pt x="0" y="77660"/>
                </a:lnTo>
                <a:close/>
              </a:path>
            </a:pathLst>
          </a:custGeom>
          <a:ln w="25400">
            <a:solidFill>
              <a:srgbClr val="385D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698398" y="5339967"/>
            <a:ext cx="1079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From</a:t>
            </a:r>
            <a:r>
              <a:rPr dirty="0" sz="18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ED2024"/>
                </a:solidFill>
                <a:latin typeface="Calibri"/>
                <a:cs typeface="Calibri"/>
              </a:rPr>
              <a:t>both: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7527" y="790956"/>
              <a:ext cx="6377952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63952" y="790956"/>
              <a:ext cx="126492" cy="123139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35480" y="790956"/>
              <a:ext cx="728472" cy="12313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988694">
              <a:lnSpc>
                <a:spcPct val="100000"/>
              </a:lnSpc>
              <a:spcBef>
                <a:spcPts val="105"/>
              </a:spcBef>
            </a:pPr>
            <a:r>
              <a:rPr dirty="0"/>
              <a:t>Discrete</a:t>
            </a:r>
            <a:r>
              <a:rPr dirty="0" spc="-114"/>
              <a:t> </a:t>
            </a:r>
            <a:r>
              <a:rPr dirty="0"/>
              <a:t>time</a:t>
            </a:r>
            <a:r>
              <a:rPr dirty="0" spc="-114"/>
              <a:t> </a:t>
            </a:r>
            <a:r>
              <a:rPr dirty="0"/>
              <a:t>Fourier</a:t>
            </a:r>
            <a:r>
              <a:rPr dirty="0" spc="-120"/>
              <a:t> </a:t>
            </a:r>
            <a:r>
              <a:rPr dirty="0" spc="-10"/>
              <a:t>Series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9162" y="2214562"/>
            <a:ext cx="2076450" cy="4191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38512" y="2303462"/>
            <a:ext cx="5915037" cy="13335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43088" y="3881450"/>
            <a:ext cx="5133986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7527" y="790956"/>
              <a:ext cx="6377952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63952" y="790956"/>
              <a:ext cx="126492" cy="123139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35480" y="790956"/>
              <a:ext cx="728472" cy="12313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988694">
              <a:lnSpc>
                <a:spcPct val="100000"/>
              </a:lnSpc>
              <a:spcBef>
                <a:spcPts val="105"/>
              </a:spcBef>
            </a:pPr>
            <a:r>
              <a:rPr dirty="0"/>
              <a:t>Discrete</a:t>
            </a:r>
            <a:r>
              <a:rPr dirty="0" spc="-114"/>
              <a:t> </a:t>
            </a:r>
            <a:r>
              <a:rPr dirty="0"/>
              <a:t>time</a:t>
            </a:r>
            <a:r>
              <a:rPr dirty="0" spc="-114"/>
              <a:t> </a:t>
            </a:r>
            <a:r>
              <a:rPr dirty="0"/>
              <a:t>Fourier</a:t>
            </a:r>
            <a:r>
              <a:rPr dirty="0" spc="-120"/>
              <a:t> </a:t>
            </a:r>
            <a:r>
              <a:rPr dirty="0" spc="-10"/>
              <a:t>Series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8587" y="2151227"/>
            <a:ext cx="6705612" cy="4547247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3396" y="790956"/>
              <a:ext cx="4433315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15184" y="790956"/>
              <a:ext cx="126492" cy="123139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6712" y="790956"/>
              <a:ext cx="728472" cy="12313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911860">
              <a:lnSpc>
                <a:spcPct val="100000"/>
              </a:lnSpc>
              <a:spcBef>
                <a:spcPts val="105"/>
              </a:spcBef>
            </a:pPr>
            <a:r>
              <a:rPr dirty="0" b="0">
                <a:solidFill>
                  <a:srgbClr val="231F20"/>
                </a:solidFill>
                <a:latin typeface="Calibri"/>
                <a:cs typeface="Calibri"/>
              </a:rPr>
              <a:t>Week</a:t>
            </a:r>
            <a:r>
              <a:rPr dirty="0" spc="-130" b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231F20"/>
                </a:solidFill>
                <a:latin typeface="Calibri"/>
                <a:cs typeface="Calibri"/>
              </a:rPr>
              <a:t>8:</a:t>
            </a:r>
            <a:r>
              <a:rPr dirty="0" spc="-110" b="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/>
              <a:t>Frequency</a:t>
            </a:r>
            <a:r>
              <a:rPr dirty="0" spc="-110"/>
              <a:t> </a:t>
            </a:r>
            <a:r>
              <a:rPr dirty="0" spc="-10"/>
              <a:t>Analysis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101092" y="2116839"/>
            <a:ext cx="7706995" cy="3683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>
                <a:solidFill>
                  <a:srgbClr val="3953A4"/>
                </a:solidFill>
                <a:latin typeface="Wingdings"/>
                <a:cs typeface="Wingdings"/>
              </a:rPr>
              <a:t></a:t>
            </a:r>
            <a:endParaRPr sz="300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3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dirty="0" sz="3000" spc="-50">
                <a:solidFill>
                  <a:srgbClr val="3953A4"/>
                </a:solidFill>
                <a:latin typeface="Wingdings"/>
                <a:cs typeface="Wingdings"/>
              </a:rPr>
              <a:t></a:t>
            </a:r>
            <a:endParaRPr sz="300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30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dirty="0" sz="3000" spc="-50">
                <a:solidFill>
                  <a:srgbClr val="3953A4"/>
                </a:solidFill>
                <a:latin typeface="Wingdings"/>
                <a:cs typeface="Wingdings"/>
              </a:rPr>
              <a:t></a:t>
            </a:r>
            <a:endParaRPr sz="300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3000">
              <a:latin typeface="Wingdings"/>
              <a:cs typeface="Wingdings"/>
            </a:endParaRPr>
          </a:p>
          <a:p>
            <a:pPr marL="469900" marR="5080" indent="-457200">
              <a:lnSpc>
                <a:spcPct val="100000"/>
              </a:lnSpc>
              <a:tabLst>
                <a:tab pos="555625" algn="l"/>
              </a:tabLst>
            </a:pPr>
            <a:r>
              <a:rPr dirty="0" sz="3000" spc="-50">
                <a:solidFill>
                  <a:srgbClr val="3953A4"/>
                </a:solidFill>
                <a:latin typeface="Wingdings"/>
                <a:cs typeface="Wingdings"/>
              </a:rPr>
              <a:t></a:t>
            </a:r>
            <a:r>
              <a:rPr dirty="0" sz="3000">
                <a:solidFill>
                  <a:srgbClr val="3953A4"/>
                </a:solidFill>
                <a:latin typeface="Times New Roman"/>
                <a:cs typeface="Times New Roman"/>
              </a:rPr>
              <a:t>		</a:t>
            </a:r>
            <a:r>
              <a:rPr dirty="0" sz="3000" spc="-10" b="1">
                <a:solidFill>
                  <a:srgbClr val="231F20"/>
                </a:solidFill>
                <a:latin typeface="Calibri"/>
                <a:cs typeface="Calibri"/>
              </a:rPr>
              <a:t>Frequency</a:t>
            </a:r>
            <a:r>
              <a:rPr dirty="0" sz="3000" spc="-8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231F20"/>
                </a:solidFill>
                <a:latin typeface="Calibri"/>
                <a:cs typeface="Calibri"/>
              </a:rPr>
              <a:t>Analysis</a:t>
            </a:r>
            <a:r>
              <a:rPr dirty="0" sz="3000" spc="-5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3000" spc="-9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C878B1"/>
                </a:solidFill>
                <a:latin typeface="Calibri"/>
                <a:cs typeface="Calibri"/>
              </a:rPr>
              <a:t>discrete</a:t>
            </a:r>
            <a:r>
              <a:rPr dirty="0" sz="3000" spc="-85" b="1">
                <a:solidFill>
                  <a:srgbClr val="C878B1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C878B1"/>
                </a:solidFill>
                <a:latin typeface="Calibri"/>
                <a:cs typeface="Calibri"/>
              </a:rPr>
              <a:t>time</a:t>
            </a:r>
            <a:r>
              <a:rPr dirty="0" sz="3000" spc="-55" b="1">
                <a:solidFill>
                  <a:srgbClr val="C878B1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00B04F"/>
                </a:solidFill>
                <a:latin typeface="Calibri"/>
                <a:cs typeface="Calibri"/>
              </a:rPr>
              <a:t>aperiodic </a:t>
            </a:r>
            <a:r>
              <a:rPr dirty="0" sz="3000" spc="-10" b="1">
                <a:solidFill>
                  <a:srgbClr val="231F20"/>
                </a:solidFill>
                <a:latin typeface="Calibri"/>
                <a:cs typeface="Calibri"/>
              </a:rPr>
              <a:t>signals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59775" cy="1290955"/>
            <a:chOff x="914400" y="731837"/>
            <a:chExt cx="835977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944" y="790956"/>
              <a:ext cx="734264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8588" y="790956"/>
              <a:ext cx="854963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8588" y="790956"/>
              <a:ext cx="725424" cy="108388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Discrete</a:t>
            </a:r>
            <a:r>
              <a:rPr dirty="0" spc="-114"/>
              <a:t> </a:t>
            </a:r>
            <a:r>
              <a:rPr dirty="0"/>
              <a:t>time</a:t>
            </a:r>
            <a:r>
              <a:rPr dirty="0" spc="-114"/>
              <a:t> </a:t>
            </a:r>
            <a:r>
              <a:rPr dirty="0"/>
              <a:t>Fourier</a:t>
            </a:r>
            <a:r>
              <a:rPr dirty="0" spc="-120"/>
              <a:t> </a:t>
            </a:r>
            <a:r>
              <a:rPr dirty="0" spc="-35"/>
              <a:t>Transform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914400" y="1876425"/>
            <a:ext cx="8230234" cy="4958715"/>
            <a:chOff x="914400" y="1876425"/>
            <a:chExt cx="8230234" cy="4958715"/>
          </a:xfrm>
        </p:grpSpPr>
        <p:sp>
          <p:nvSpPr>
            <p:cNvPr id="8" name="object 8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2489" y="1991779"/>
              <a:ext cx="7416507" cy="48429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59775" cy="1290955"/>
            <a:chOff x="914400" y="731837"/>
            <a:chExt cx="835977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944" y="790956"/>
              <a:ext cx="734264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8588" y="790956"/>
              <a:ext cx="854963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8588" y="790956"/>
              <a:ext cx="725424" cy="108388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506095">
              <a:lnSpc>
                <a:spcPct val="100000"/>
              </a:lnSpc>
              <a:spcBef>
                <a:spcPts val="105"/>
              </a:spcBef>
            </a:pPr>
            <a:r>
              <a:rPr dirty="0"/>
              <a:t>Discrete</a:t>
            </a:r>
            <a:r>
              <a:rPr dirty="0" spc="-114"/>
              <a:t> </a:t>
            </a:r>
            <a:r>
              <a:rPr dirty="0"/>
              <a:t>time</a:t>
            </a:r>
            <a:r>
              <a:rPr dirty="0" spc="-114"/>
              <a:t> </a:t>
            </a:r>
            <a:r>
              <a:rPr dirty="0"/>
              <a:t>Fourier</a:t>
            </a:r>
            <a:r>
              <a:rPr dirty="0" spc="-120"/>
              <a:t> </a:t>
            </a:r>
            <a:r>
              <a:rPr dirty="0" spc="-10"/>
              <a:t>Transform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920165" y="2276424"/>
            <a:ext cx="7239634" cy="1193165"/>
            <a:chOff x="920165" y="2276424"/>
            <a:chExt cx="7239634" cy="1193165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0165" y="2276424"/>
              <a:ext cx="4978914" cy="47254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96978" y="2512695"/>
              <a:ext cx="2362669" cy="956589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889000" y="3609543"/>
            <a:ext cx="8166734" cy="646430"/>
          </a:xfrm>
          <a:prstGeom prst="rect">
            <a:avLst/>
          </a:prstGeom>
          <a:solidFill>
            <a:srgbClr val="FAF394"/>
          </a:solidFill>
        </p:spPr>
        <p:txBody>
          <a:bodyPr wrap="square" lIns="0" tIns="16510" rIns="0" bIns="0" rtlCol="0" vert="horz">
            <a:spAutoFit/>
          </a:bodyPr>
          <a:lstStyle/>
          <a:p>
            <a:pPr algn="ctr" marL="23495">
              <a:lnSpc>
                <a:spcPct val="100000"/>
              </a:lnSpc>
              <a:spcBef>
                <a:spcPts val="130"/>
              </a:spcBef>
              <a:tabLst>
                <a:tab pos="2606040" algn="l"/>
                <a:tab pos="5275580" algn="l"/>
              </a:tabLst>
            </a:pPr>
            <a:r>
              <a:rPr dirty="0" sz="3600" spc="-20">
                <a:solidFill>
                  <a:srgbClr val="3953A4"/>
                </a:solidFill>
                <a:latin typeface="Calibri"/>
                <a:cs typeface="Calibri"/>
              </a:rPr>
              <a:t>DTFT</a:t>
            </a:r>
            <a:r>
              <a:rPr dirty="0" sz="3600">
                <a:solidFill>
                  <a:srgbClr val="3953A4"/>
                </a:solidFill>
                <a:latin typeface="Calibri"/>
                <a:cs typeface="Calibri"/>
              </a:rPr>
              <a:t>	</a:t>
            </a:r>
            <a:r>
              <a:rPr dirty="0" sz="3600" spc="-25">
                <a:solidFill>
                  <a:srgbClr val="3953A4"/>
                </a:solidFill>
                <a:latin typeface="Calibri"/>
                <a:cs typeface="Calibri"/>
              </a:rPr>
              <a:t>vs.</a:t>
            </a:r>
            <a:r>
              <a:rPr dirty="0" sz="3600">
                <a:solidFill>
                  <a:srgbClr val="3953A4"/>
                </a:solidFill>
                <a:latin typeface="Calibri"/>
                <a:cs typeface="Calibri"/>
              </a:rPr>
              <a:t>	</a:t>
            </a:r>
            <a:r>
              <a:rPr dirty="0" sz="3600" spc="-20">
                <a:solidFill>
                  <a:srgbClr val="3953A4"/>
                </a:solidFill>
                <a:latin typeface="Calibri"/>
                <a:cs typeface="Calibri"/>
              </a:rPr>
              <a:t>CTFT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04950" y="4551057"/>
            <a:ext cx="2336482" cy="639127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83993" y="4555719"/>
            <a:ext cx="2687693" cy="545151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2073275" y="5486412"/>
            <a:ext cx="5798185" cy="1193800"/>
          </a:xfrm>
          <a:custGeom>
            <a:avLst/>
            <a:gdLst/>
            <a:ahLst/>
            <a:cxnLst/>
            <a:rect l="l" t="t" r="r" b="b"/>
            <a:pathLst>
              <a:path w="5798184" h="1193800">
                <a:moveTo>
                  <a:pt x="0" y="0"/>
                </a:moveTo>
                <a:lnTo>
                  <a:pt x="0" y="1193800"/>
                </a:lnTo>
                <a:lnTo>
                  <a:pt x="5797562" y="1193800"/>
                </a:lnTo>
                <a:lnTo>
                  <a:pt x="5797562" y="0"/>
                </a:lnTo>
                <a:lnTo>
                  <a:pt x="0" y="0"/>
                </a:lnTo>
                <a:close/>
              </a:path>
            </a:pathLst>
          </a:custGeom>
          <a:solidFill>
            <a:srgbClr val="F6EB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2065442" y="5147296"/>
            <a:ext cx="5681345" cy="1480820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512445" indent="-461645">
              <a:lnSpc>
                <a:spcPct val="100000"/>
              </a:lnSpc>
              <a:spcBef>
                <a:spcPts val="1780"/>
              </a:spcBef>
              <a:buSzPct val="66666"/>
              <a:buChar char=""/>
              <a:tabLst>
                <a:tab pos="512445" algn="l"/>
                <a:tab pos="1652905" algn="l"/>
              </a:tabLst>
            </a:pPr>
            <a:r>
              <a:rPr dirty="0" baseline="-8597" sz="6300" spc="-75">
                <a:solidFill>
                  <a:srgbClr val="231F20"/>
                </a:solidFill>
                <a:latin typeface="Symbol"/>
                <a:cs typeface="Symbol"/>
              </a:rPr>
              <a:t></a:t>
            </a:r>
            <a:r>
              <a:rPr dirty="0" baseline="-8597" sz="63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800" spc="-25">
                <a:solidFill>
                  <a:srgbClr val="231F20"/>
                </a:solidFill>
                <a:latin typeface="Times New Roman"/>
                <a:cs typeface="Times New Roman"/>
              </a:rPr>
              <a:t>vs.</a:t>
            </a:r>
            <a:endParaRPr sz="2800">
              <a:latin typeface="Times New Roman"/>
              <a:cs typeface="Times New Roman"/>
            </a:endParaRPr>
          </a:p>
          <a:p>
            <a:pPr marL="582295" indent="-531495">
              <a:lnSpc>
                <a:spcPct val="100000"/>
              </a:lnSpc>
              <a:spcBef>
                <a:spcPts val="1190"/>
              </a:spcBef>
              <a:buChar char=""/>
              <a:tabLst>
                <a:tab pos="582295" algn="l"/>
                <a:tab pos="1143000" algn="l"/>
              </a:tabLst>
            </a:pPr>
            <a:r>
              <a:rPr dirty="0" sz="2800" spc="-50">
                <a:solidFill>
                  <a:srgbClr val="231F20"/>
                </a:solidFill>
                <a:latin typeface="Symbol"/>
                <a:cs typeface="Symbol"/>
              </a:rPr>
              <a:t></a:t>
            </a:r>
            <a:r>
              <a:rPr dirty="0" sz="2800">
                <a:solidFill>
                  <a:srgbClr val="231F20"/>
                </a:solidFill>
                <a:latin typeface="Times New Roman"/>
                <a:cs typeface="Times New Roman"/>
              </a:rPr>
              <a:t>	is</a:t>
            </a:r>
            <a:r>
              <a:rPr dirty="0" sz="2800" spc="-1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31F20"/>
                </a:solidFill>
                <a:latin typeface="Times New Roman"/>
                <a:cs typeface="Times New Roman"/>
              </a:rPr>
              <a:t>aperiodic</a:t>
            </a:r>
            <a:r>
              <a:rPr dirty="0" sz="2800" spc="-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31F20"/>
                </a:solidFill>
                <a:latin typeface="Times New Roman"/>
                <a:cs typeface="Times New Roman"/>
              </a:rPr>
              <a:t>while</a:t>
            </a:r>
            <a:r>
              <a:rPr dirty="0" sz="2800" spc="-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950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2950" spc="2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231F20"/>
                </a:solidFill>
                <a:latin typeface="Times New Roman"/>
                <a:cs typeface="Times New Roman"/>
              </a:rPr>
              <a:t>is</a:t>
            </a:r>
            <a:r>
              <a:rPr dirty="0" sz="2800" spc="-10">
                <a:solidFill>
                  <a:srgbClr val="231F20"/>
                </a:solidFill>
                <a:latin typeface="Times New Roman"/>
                <a:cs typeface="Times New Roman"/>
              </a:rPr>
              <a:t> periodic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778059" y="5485943"/>
            <a:ext cx="160655" cy="670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4200" spc="-50">
                <a:solidFill>
                  <a:srgbClr val="231F20"/>
                </a:solidFill>
                <a:latin typeface="Symbol"/>
                <a:cs typeface="Symbol"/>
              </a:rPr>
              <a:t></a:t>
            </a:r>
            <a:endParaRPr sz="42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6409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901700" y="2044700"/>
            <a:ext cx="3302000" cy="711200"/>
            <a:chOff x="901700" y="2044700"/>
            <a:chExt cx="3302000" cy="711200"/>
          </a:xfrm>
        </p:grpSpPr>
        <p:sp>
          <p:nvSpPr>
            <p:cNvPr id="9" name="object 9" descr=""/>
            <p:cNvSpPr/>
            <p:nvPr/>
          </p:nvSpPr>
          <p:spPr>
            <a:xfrm>
              <a:off x="914400" y="2057400"/>
              <a:ext cx="3276600" cy="685800"/>
            </a:xfrm>
            <a:custGeom>
              <a:avLst/>
              <a:gdLst/>
              <a:ahLst/>
              <a:cxnLst/>
              <a:rect l="l" t="t" r="r" b="b"/>
              <a:pathLst>
                <a:path w="32766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3162300" y="685800"/>
                  </a:lnTo>
                  <a:lnTo>
                    <a:pt x="3206787" y="676816"/>
                  </a:lnTo>
                  <a:lnTo>
                    <a:pt x="3243119" y="652319"/>
                  </a:lnTo>
                  <a:lnTo>
                    <a:pt x="3267616" y="615987"/>
                  </a:lnTo>
                  <a:lnTo>
                    <a:pt x="3276600" y="571500"/>
                  </a:lnTo>
                  <a:lnTo>
                    <a:pt x="3276600" y="114300"/>
                  </a:lnTo>
                  <a:lnTo>
                    <a:pt x="3267616" y="69806"/>
                  </a:lnTo>
                  <a:lnTo>
                    <a:pt x="3243119" y="33475"/>
                  </a:lnTo>
                  <a:lnTo>
                    <a:pt x="3206787" y="8981"/>
                  </a:lnTo>
                  <a:lnTo>
                    <a:pt x="31623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4400" y="2057400"/>
              <a:ext cx="3276600" cy="685800"/>
            </a:xfrm>
            <a:custGeom>
              <a:avLst/>
              <a:gdLst/>
              <a:ahLst/>
              <a:cxnLst/>
              <a:rect l="l" t="t" r="r" b="b"/>
              <a:pathLst>
                <a:path w="32766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3162300" y="0"/>
                  </a:lnTo>
                  <a:lnTo>
                    <a:pt x="3206787" y="8981"/>
                  </a:lnTo>
                  <a:lnTo>
                    <a:pt x="3243119" y="33475"/>
                  </a:lnTo>
                  <a:lnTo>
                    <a:pt x="3267616" y="69806"/>
                  </a:lnTo>
                  <a:lnTo>
                    <a:pt x="3276600" y="114300"/>
                  </a:lnTo>
                  <a:lnTo>
                    <a:pt x="3276600" y="571500"/>
                  </a:lnTo>
                  <a:lnTo>
                    <a:pt x="3267616" y="615987"/>
                  </a:lnTo>
                  <a:lnTo>
                    <a:pt x="3243119" y="652319"/>
                  </a:lnTo>
                  <a:lnTo>
                    <a:pt x="3206787" y="676816"/>
                  </a:lnTo>
                  <a:lnTo>
                    <a:pt x="31623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353251" y="2218441"/>
            <a:ext cx="6121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DTFT: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107400" y="2218441"/>
            <a:ext cx="16421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Representation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054100" y="3324568"/>
            <a:ext cx="3073400" cy="622300"/>
            <a:chOff x="1054100" y="3324568"/>
            <a:chExt cx="3073400" cy="622300"/>
          </a:xfrm>
        </p:grpSpPr>
        <p:sp>
          <p:nvSpPr>
            <p:cNvPr id="14" name="object 14" descr=""/>
            <p:cNvSpPr/>
            <p:nvPr/>
          </p:nvSpPr>
          <p:spPr>
            <a:xfrm>
              <a:off x="1066800" y="3337268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66"/>
                  </a:moveTo>
                  <a:lnTo>
                    <a:pt x="0" y="497395"/>
                  </a:lnTo>
                  <a:lnTo>
                    <a:pt x="7817" y="536126"/>
                  </a:lnTo>
                  <a:lnTo>
                    <a:pt x="29136" y="567755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48520" y="596900"/>
                  </a:lnTo>
                  <a:lnTo>
                    <a:pt x="2987242" y="589080"/>
                  </a:lnTo>
                  <a:lnTo>
                    <a:pt x="3018863" y="567755"/>
                  </a:lnTo>
                  <a:lnTo>
                    <a:pt x="3040182" y="536126"/>
                  </a:lnTo>
                  <a:lnTo>
                    <a:pt x="3048000" y="497395"/>
                  </a:lnTo>
                  <a:lnTo>
                    <a:pt x="3048000" y="99466"/>
                  </a:lnTo>
                  <a:lnTo>
                    <a:pt x="3040182" y="60752"/>
                  </a:lnTo>
                  <a:lnTo>
                    <a:pt x="3018863" y="29135"/>
                  </a:lnTo>
                  <a:lnTo>
                    <a:pt x="2987242" y="7817"/>
                  </a:lnTo>
                  <a:lnTo>
                    <a:pt x="29485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5"/>
                  </a:lnTo>
                  <a:lnTo>
                    <a:pt x="7817" y="60752"/>
                  </a:lnTo>
                  <a:lnTo>
                    <a:pt x="0" y="99466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66800" y="3337268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66"/>
                  </a:moveTo>
                  <a:lnTo>
                    <a:pt x="7817" y="60752"/>
                  </a:lnTo>
                  <a:lnTo>
                    <a:pt x="29136" y="29135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2948520" y="0"/>
                  </a:lnTo>
                  <a:lnTo>
                    <a:pt x="2987242" y="7817"/>
                  </a:lnTo>
                  <a:lnTo>
                    <a:pt x="3018863" y="29135"/>
                  </a:lnTo>
                  <a:lnTo>
                    <a:pt x="3040182" y="60752"/>
                  </a:lnTo>
                  <a:lnTo>
                    <a:pt x="3048000" y="99466"/>
                  </a:lnTo>
                  <a:lnTo>
                    <a:pt x="3048000" y="497395"/>
                  </a:lnTo>
                  <a:lnTo>
                    <a:pt x="3040182" y="536126"/>
                  </a:lnTo>
                  <a:lnTo>
                    <a:pt x="3018863" y="567755"/>
                  </a:lnTo>
                  <a:lnTo>
                    <a:pt x="2987242" y="589080"/>
                  </a:lnTo>
                  <a:lnTo>
                    <a:pt x="2948520" y="596900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5"/>
                  </a:lnTo>
                  <a:lnTo>
                    <a:pt x="7817" y="536126"/>
                  </a:lnTo>
                  <a:lnTo>
                    <a:pt x="0" y="497395"/>
                  </a:lnTo>
                  <a:lnTo>
                    <a:pt x="0" y="99466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243331" y="3420308"/>
            <a:ext cx="26936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Magnitude</a:t>
            </a:r>
            <a:r>
              <a:rPr dirty="0" sz="2400" spc="-5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104900" y="4064012"/>
            <a:ext cx="7849234" cy="914400"/>
          </a:xfrm>
          <a:custGeom>
            <a:avLst/>
            <a:gdLst/>
            <a:ahLst/>
            <a:cxnLst/>
            <a:rect l="l" t="t" r="r" b="b"/>
            <a:pathLst>
              <a:path w="7849234" h="914400">
                <a:moveTo>
                  <a:pt x="0" y="0"/>
                </a:moveTo>
                <a:lnTo>
                  <a:pt x="0" y="914400"/>
                </a:lnTo>
                <a:lnTo>
                  <a:pt x="7848612" y="914400"/>
                </a:lnTo>
                <a:lnTo>
                  <a:pt x="7848612" y="0"/>
                </a:lnTo>
                <a:lnTo>
                  <a:pt x="0" y="0"/>
                </a:lnTo>
                <a:close/>
              </a:path>
            </a:pathLst>
          </a:custGeom>
          <a:solidFill>
            <a:srgbClr val="4E81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04900" y="4064012"/>
            <a:ext cx="7849234" cy="914400"/>
          </a:xfrm>
          <a:prstGeom prst="rect">
            <a:avLst/>
          </a:prstGeom>
          <a:ln w="25400">
            <a:solidFill>
              <a:srgbClr val="385D8A"/>
            </a:solidFill>
          </a:ln>
        </p:spPr>
        <p:txBody>
          <a:bodyPr wrap="square" lIns="0" tIns="23812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875"/>
              </a:spcBef>
              <a:tabLst>
                <a:tab pos="2242185" algn="l"/>
              </a:tabLst>
            </a:pP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Plot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	as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dirty="0" sz="26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frequency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2216150" y="4224350"/>
            <a:ext cx="1003300" cy="595630"/>
            <a:chOff x="2216150" y="4224350"/>
            <a:chExt cx="1003300" cy="595630"/>
          </a:xfrm>
        </p:grpSpPr>
        <p:sp>
          <p:nvSpPr>
            <p:cNvPr id="20" name="object 20" descr=""/>
            <p:cNvSpPr/>
            <p:nvPr/>
          </p:nvSpPr>
          <p:spPr>
            <a:xfrm>
              <a:off x="2216150" y="4224350"/>
              <a:ext cx="1003300" cy="595630"/>
            </a:xfrm>
            <a:custGeom>
              <a:avLst/>
              <a:gdLst/>
              <a:ahLst/>
              <a:cxnLst/>
              <a:rect l="l" t="t" r="r" b="b"/>
              <a:pathLst>
                <a:path w="1003300" h="595629">
                  <a:moveTo>
                    <a:pt x="0" y="0"/>
                  </a:moveTo>
                  <a:lnTo>
                    <a:pt x="0" y="595312"/>
                  </a:lnTo>
                  <a:lnTo>
                    <a:pt x="1003300" y="595312"/>
                  </a:lnTo>
                  <a:lnTo>
                    <a:pt x="1003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278113" y="4304423"/>
              <a:ext cx="0" cy="434975"/>
            </a:xfrm>
            <a:custGeom>
              <a:avLst/>
              <a:gdLst/>
              <a:ahLst/>
              <a:cxnLst/>
              <a:rect l="l" t="t" r="r" b="b"/>
              <a:pathLst>
                <a:path w="0" h="434975">
                  <a:moveTo>
                    <a:pt x="0" y="0"/>
                  </a:moveTo>
                  <a:lnTo>
                    <a:pt x="0" y="434682"/>
                  </a:lnTo>
                </a:path>
              </a:pathLst>
            </a:custGeom>
            <a:ln w="160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135706" y="4304423"/>
              <a:ext cx="0" cy="434975"/>
            </a:xfrm>
            <a:custGeom>
              <a:avLst/>
              <a:gdLst/>
              <a:ahLst/>
              <a:cxnLst/>
              <a:rect l="l" t="t" r="r" b="b"/>
              <a:pathLst>
                <a:path w="0" h="434975">
                  <a:moveTo>
                    <a:pt x="0" y="0"/>
                  </a:moveTo>
                  <a:lnTo>
                    <a:pt x="0" y="434682"/>
                  </a:lnTo>
                </a:path>
              </a:pathLst>
            </a:custGeom>
            <a:ln w="1609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2216150" y="4224350"/>
            <a:ext cx="1003300" cy="595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0">
              <a:lnSpc>
                <a:spcPts val="3654"/>
              </a:lnSpc>
            </a:pP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2550" spc="4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247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2700" spc="-165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2700" spc="-3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509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endParaRPr baseline="-3316" sz="5025">
              <a:latin typeface="Symbol"/>
              <a:cs typeface="Symbo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028700" y="5905512"/>
            <a:ext cx="7849234" cy="914400"/>
            <a:chOff x="1028700" y="5905512"/>
            <a:chExt cx="7849234" cy="914400"/>
          </a:xfrm>
        </p:grpSpPr>
        <p:sp>
          <p:nvSpPr>
            <p:cNvPr id="25" name="object 25" descr=""/>
            <p:cNvSpPr/>
            <p:nvPr/>
          </p:nvSpPr>
          <p:spPr>
            <a:xfrm>
              <a:off x="1028700" y="5905512"/>
              <a:ext cx="7849234" cy="914400"/>
            </a:xfrm>
            <a:custGeom>
              <a:avLst/>
              <a:gdLst/>
              <a:ahLst/>
              <a:cxnLst/>
              <a:rect l="l" t="t" r="r" b="b"/>
              <a:pathLst>
                <a:path w="7849234" h="914400">
                  <a:moveTo>
                    <a:pt x="0" y="0"/>
                  </a:moveTo>
                  <a:lnTo>
                    <a:pt x="0" y="914400"/>
                  </a:lnTo>
                  <a:lnTo>
                    <a:pt x="7848612" y="914400"/>
                  </a:lnTo>
                  <a:lnTo>
                    <a:pt x="78486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8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143125" y="6062675"/>
              <a:ext cx="922655" cy="598805"/>
            </a:xfrm>
            <a:custGeom>
              <a:avLst/>
              <a:gdLst/>
              <a:ahLst/>
              <a:cxnLst/>
              <a:rect l="l" t="t" r="r" b="b"/>
              <a:pathLst>
                <a:path w="922655" h="598804">
                  <a:moveTo>
                    <a:pt x="0" y="0"/>
                  </a:moveTo>
                  <a:lnTo>
                    <a:pt x="0" y="598487"/>
                  </a:lnTo>
                  <a:lnTo>
                    <a:pt x="922337" y="598487"/>
                  </a:lnTo>
                  <a:lnTo>
                    <a:pt x="9223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028700" y="5905512"/>
            <a:ext cx="7849234" cy="914400"/>
          </a:xfrm>
          <a:prstGeom prst="rect">
            <a:avLst/>
          </a:prstGeom>
          <a:ln w="25400">
            <a:solidFill>
              <a:srgbClr val="385D8A"/>
            </a:solidFill>
          </a:ln>
        </p:spPr>
        <p:txBody>
          <a:bodyPr wrap="square" lIns="0" tIns="1022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805"/>
              </a:spcBef>
              <a:tabLst>
                <a:tab pos="1162685" algn="l"/>
              </a:tabLst>
            </a:pPr>
            <a:r>
              <a:rPr dirty="0" baseline="1068" sz="3900">
                <a:solidFill>
                  <a:srgbClr val="FFFFFF"/>
                </a:solidFill>
                <a:latin typeface="Calibri"/>
                <a:cs typeface="Calibri"/>
              </a:rPr>
              <a:t>Plot</a:t>
            </a:r>
            <a:r>
              <a:rPr dirty="0" baseline="1068" sz="39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1068" sz="3900" spc="-37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baseline="1068" sz="39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baseline="3968" sz="4200" spc="-52">
                <a:solidFill>
                  <a:srgbClr val="231F20"/>
                </a:solidFill>
                <a:latin typeface="Symbol"/>
                <a:cs typeface="Symbol"/>
              </a:rPr>
              <a:t></a:t>
            </a:r>
            <a:r>
              <a:rPr dirty="0" sz="3700" spc="-35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3766" sz="4425" spc="-52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baseline="3766" sz="4425" spc="-622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700" spc="-325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sz="3700" spc="43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1068" sz="39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baseline="1068" sz="39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1068" sz="39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baseline="1068" sz="3900" spc="-7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1068" sz="390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dirty="0" baseline="1068" sz="3900" spc="-52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baseline="1068" sz="39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baseline="1068" sz="3900" spc="-15">
                <a:solidFill>
                  <a:srgbClr val="FFFFFF"/>
                </a:solidFill>
                <a:latin typeface="Calibri"/>
                <a:cs typeface="Calibri"/>
              </a:rPr>
              <a:t> frequency</a:t>
            </a:r>
            <a:endParaRPr baseline="1068" sz="3900">
              <a:latin typeface="Calibri"/>
              <a:cs typeface="Calibr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003300" y="5168912"/>
            <a:ext cx="3124200" cy="622300"/>
            <a:chOff x="1003300" y="5168912"/>
            <a:chExt cx="3124200" cy="622300"/>
          </a:xfrm>
        </p:grpSpPr>
        <p:sp>
          <p:nvSpPr>
            <p:cNvPr id="29" name="object 29" descr=""/>
            <p:cNvSpPr/>
            <p:nvPr/>
          </p:nvSpPr>
          <p:spPr>
            <a:xfrm>
              <a:off x="1016000" y="5181612"/>
              <a:ext cx="3098800" cy="596900"/>
            </a:xfrm>
            <a:custGeom>
              <a:avLst/>
              <a:gdLst/>
              <a:ahLst/>
              <a:cxnLst/>
              <a:rect l="l" t="t" r="r" b="b"/>
              <a:pathLst>
                <a:path w="3098800" h="596900">
                  <a:moveTo>
                    <a:pt x="0" y="99479"/>
                  </a:moveTo>
                  <a:lnTo>
                    <a:pt x="0" y="497420"/>
                  </a:lnTo>
                  <a:lnTo>
                    <a:pt x="7817" y="536137"/>
                  </a:lnTo>
                  <a:lnTo>
                    <a:pt x="29136" y="567758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99320" y="596899"/>
                  </a:lnTo>
                  <a:lnTo>
                    <a:pt x="3038042" y="589080"/>
                  </a:lnTo>
                  <a:lnTo>
                    <a:pt x="3069663" y="567758"/>
                  </a:lnTo>
                  <a:lnTo>
                    <a:pt x="3090982" y="536137"/>
                  </a:lnTo>
                  <a:lnTo>
                    <a:pt x="3098800" y="497420"/>
                  </a:lnTo>
                  <a:lnTo>
                    <a:pt x="3098800" y="99479"/>
                  </a:lnTo>
                  <a:lnTo>
                    <a:pt x="3090982" y="60762"/>
                  </a:lnTo>
                  <a:lnTo>
                    <a:pt x="3069663" y="29141"/>
                  </a:lnTo>
                  <a:lnTo>
                    <a:pt x="3038042" y="7819"/>
                  </a:lnTo>
                  <a:lnTo>
                    <a:pt x="2999320" y="0"/>
                  </a:lnTo>
                  <a:lnTo>
                    <a:pt x="99479" y="0"/>
                  </a:lnTo>
                  <a:lnTo>
                    <a:pt x="60757" y="7819"/>
                  </a:lnTo>
                  <a:lnTo>
                    <a:pt x="29136" y="29141"/>
                  </a:lnTo>
                  <a:lnTo>
                    <a:pt x="7817" y="60762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16000" y="5181612"/>
              <a:ext cx="3098800" cy="596900"/>
            </a:xfrm>
            <a:custGeom>
              <a:avLst/>
              <a:gdLst/>
              <a:ahLst/>
              <a:cxnLst/>
              <a:rect l="l" t="t" r="r" b="b"/>
              <a:pathLst>
                <a:path w="3098800" h="596900">
                  <a:moveTo>
                    <a:pt x="0" y="99479"/>
                  </a:moveTo>
                  <a:lnTo>
                    <a:pt x="7817" y="60762"/>
                  </a:lnTo>
                  <a:lnTo>
                    <a:pt x="29136" y="29141"/>
                  </a:lnTo>
                  <a:lnTo>
                    <a:pt x="60757" y="7819"/>
                  </a:lnTo>
                  <a:lnTo>
                    <a:pt x="99479" y="0"/>
                  </a:lnTo>
                  <a:lnTo>
                    <a:pt x="2999320" y="0"/>
                  </a:lnTo>
                  <a:lnTo>
                    <a:pt x="3038042" y="7819"/>
                  </a:lnTo>
                  <a:lnTo>
                    <a:pt x="3069663" y="29141"/>
                  </a:lnTo>
                  <a:lnTo>
                    <a:pt x="3090982" y="60762"/>
                  </a:lnTo>
                  <a:lnTo>
                    <a:pt x="3098800" y="99479"/>
                  </a:lnTo>
                  <a:lnTo>
                    <a:pt x="3098800" y="497420"/>
                  </a:lnTo>
                  <a:lnTo>
                    <a:pt x="3090982" y="536137"/>
                  </a:lnTo>
                  <a:lnTo>
                    <a:pt x="3069663" y="567758"/>
                  </a:lnTo>
                  <a:lnTo>
                    <a:pt x="3038042" y="589080"/>
                  </a:lnTo>
                  <a:lnTo>
                    <a:pt x="29993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8"/>
                  </a:lnTo>
                  <a:lnTo>
                    <a:pt x="7817" y="536137"/>
                  </a:lnTo>
                  <a:lnTo>
                    <a:pt x="0" y="497420"/>
                  </a:lnTo>
                  <a:lnTo>
                    <a:pt x="0" y="99479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1533908" y="5264669"/>
            <a:ext cx="20605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953A4"/>
                </a:solidFill>
                <a:latin typeface="Calibri"/>
                <a:cs typeface="Calibri"/>
              </a:rPr>
              <a:t>Phase</a:t>
            </a:r>
            <a:r>
              <a:rPr dirty="0" sz="2400" spc="-7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5208600" y="2147887"/>
            <a:ext cx="2816225" cy="595630"/>
            <a:chOff x="5208600" y="2147887"/>
            <a:chExt cx="2816225" cy="595630"/>
          </a:xfrm>
        </p:grpSpPr>
        <p:sp>
          <p:nvSpPr>
            <p:cNvPr id="33" name="object 33" descr=""/>
            <p:cNvSpPr/>
            <p:nvPr/>
          </p:nvSpPr>
          <p:spPr>
            <a:xfrm>
              <a:off x="5208600" y="2147887"/>
              <a:ext cx="2816225" cy="595630"/>
            </a:xfrm>
            <a:custGeom>
              <a:avLst/>
              <a:gdLst/>
              <a:ahLst/>
              <a:cxnLst/>
              <a:rect l="l" t="t" r="r" b="b"/>
              <a:pathLst>
                <a:path w="2816225" h="595630">
                  <a:moveTo>
                    <a:pt x="0" y="0"/>
                  </a:moveTo>
                  <a:lnTo>
                    <a:pt x="0" y="595312"/>
                  </a:lnTo>
                  <a:lnTo>
                    <a:pt x="2816225" y="595312"/>
                  </a:lnTo>
                  <a:lnTo>
                    <a:pt x="28162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387693" y="2227783"/>
              <a:ext cx="0" cy="434975"/>
            </a:xfrm>
            <a:custGeom>
              <a:avLst/>
              <a:gdLst/>
              <a:ahLst/>
              <a:cxnLst/>
              <a:rect l="l" t="t" r="r" b="b"/>
              <a:pathLst>
                <a:path w="0" h="434975">
                  <a:moveTo>
                    <a:pt x="0" y="0"/>
                  </a:moveTo>
                  <a:lnTo>
                    <a:pt x="0" y="434682"/>
                  </a:lnTo>
                </a:path>
              </a:pathLst>
            </a:custGeom>
            <a:ln w="1607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244118" y="2227783"/>
              <a:ext cx="0" cy="434975"/>
            </a:xfrm>
            <a:custGeom>
              <a:avLst/>
              <a:gdLst/>
              <a:ahLst/>
              <a:cxnLst/>
              <a:rect l="l" t="t" r="r" b="b"/>
              <a:pathLst>
                <a:path w="0" h="434975">
                  <a:moveTo>
                    <a:pt x="0" y="0"/>
                  </a:moveTo>
                  <a:lnTo>
                    <a:pt x="0" y="434682"/>
                  </a:lnTo>
                </a:path>
              </a:pathLst>
            </a:custGeom>
            <a:ln w="1607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5208600" y="2147887"/>
            <a:ext cx="2816225" cy="595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4295">
              <a:lnSpc>
                <a:spcPts val="3654"/>
              </a:lnSpc>
              <a:tabLst>
                <a:tab pos="1243330" algn="l"/>
              </a:tabLst>
            </a:pP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2550" spc="4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262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2700" spc="-175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2700" spc="-3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19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316" sz="5025" spc="-4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spc="-5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255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2550" spc="5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262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2700" spc="-175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2700" spc="-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19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316" sz="5025" spc="-17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spc="-20" i="1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dirty="0" sz="2550" spc="-28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49808" sz="2175" spc="-44" i="1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r>
              <a:rPr dirty="0" baseline="49808" sz="2175" spc="-44">
                <a:solidFill>
                  <a:srgbClr val="231F20"/>
                </a:solidFill>
                <a:latin typeface="Symbol"/>
                <a:cs typeface="Symbol"/>
              </a:rPr>
              <a:t></a:t>
            </a:r>
            <a:r>
              <a:rPr dirty="0" baseline="33625" sz="2850" spc="-44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46594" sz="2325" spc="-44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baseline="46594" sz="2325" spc="-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33625" sz="2850" spc="-75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endParaRPr baseline="33625" sz="28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863" rIns="0" bIns="0" rtlCol="0" vert="horz">
            <a:spAutoFit/>
          </a:bodyPr>
          <a:lstStyle/>
          <a:p>
            <a:pPr marL="486409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Continuous</a:t>
            </a:r>
            <a:r>
              <a:rPr dirty="0" sz="4000" spc="-160"/>
              <a:t> </a:t>
            </a:r>
            <a:r>
              <a:rPr dirty="0" sz="4000"/>
              <a:t>time</a:t>
            </a:r>
            <a:r>
              <a:rPr dirty="0" sz="4000" spc="-165"/>
              <a:t> </a:t>
            </a:r>
            <a:r>
              <a:rPr dirty="0" sz="4000"/>
              <a:t>Fourier</a:t>
            </a:r>
            <a:r>
              <a:rPr dirty="0" sz="4000" spc="-165"/>
              <a:t> </a:t>
            </a:r>
            <a:r>
              <a:rPr dirty="0" sz="4000" spc="-10"/>
              <a:t>Transform</a:t>
            </a:r>
            <a:endParaRPr sz="4000"/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1054100" y="3324568"/>
            <a:ext cx="3073400" cy="622300"/>
            <a:chOff x="1054100" y="3324568"/>
            <a:chExt cx="3073400" cy="622300"/>
          </a:xfrm>
        </p:grpSpPr>
        <p:sp>
          <p:nvSpPr>
            <p:cNvPr id="9" name="object 9" descr=""/>
            <p:cNvSpPr/>
            <p:nvPr/>
          </p:nvSpPr>
          <p:spPr>
            <a:xfrm>
              <a:off x="1066800" y="3337268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66"/>
                  </a:moveTo>
                  <a:lnTo>
                    <a:pt x="0" y="497395"/>
                  </a:lnTo>
                  <a:lnTo>
                    <a:pt x="7817" y="536126"/>
                  </a:lnTo>
                  <a:lnTo>
                    <a:pt x="29136" y="567755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48520" y="596900"/>
                  </a:lnTo>
                  <a:lnTo>
                    <a:pt x="2987242" y="589080"/>
                  </a:lnTo>
                  <a:lnTo>
                    <a:pt x="3018863" y="567755"/>
                  </a:lnTo>
                  <a:lnTo>
                    <a:pt x="3040182" y="536126"/>
                  </a:lnTo>
                  <a:lnTo>
                    <a:pt x="3048000" y="497395"/>
                  </a:lnTo>
                  <a:lnTo>
                    <a:pt x="3048000" y="99466"/>
                  </a:lnTo>
                  <a:lnTo>
                    <a:pt x="3040182" y="60752"/>
                  </a:lnTo>
                  <a:lnTo>
                    <a:pt x="3018863" y="29135"/>
                  </a:lnTo>
                  <a:lnTo>
                    <a:pt x="2987242" y="7817"/>
                  </a:lnTo>
                  <a:lnTo>
                    <a:pt x="29485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5"/>
                  </a:lnTo>
                  <a:lnTo>
                    <a:pt x="7817" y="60752"/>
                  </a:lnTo>
                  <a:lnTo>
                    <a:pt x="0" y="99466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66800" y="3337268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66"/>
                  </a:moveTo>
                  <a:lnTo>
                    <a:pt x="7817" y="60752"/>
                  </a:lnTo>
                  <a:lnTo>
                    <a:pt x="29136" y="29135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2948520" y="0"/>
                  </a:lnTo>
                  <a:lnTo>
                    <a:pt x="2987242" y="7817"/>
                  </a:lnTo>
                  <a:lnTo>
                    <a:pt x="3018863" y="29135"/>
                  </a:lnTo>
                  <a:lnTo>
                    <a:pt x="3040182" y="60752"/>
                  </a:lnTo>
                  <a:lnTo>
                    <a:pt x="3048000" y="99466"/>
                  </a:lnTo>
                  <a:lnTo>
                    <a:pt x="3048000" y="497395"/>
                  </a:lnTo>
                  <a:lnTo>
                    <a:pt x="3040182" y="536126"/>
                  </a:lnTo>
                  <a:lnTo>
                    <a:pt x="3018863" y="567755"/>
                  </a:lnTo>
                  <a:lnTo>
                    <a:pt x="2987242" y="589080"/>
                  </a:lnTo>
                  <a:lnTo>
                    <a:pt x="2948520" y="596900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5"/>
                  </a:lnTo>
                  <a:lnTo>
                    <a:pt x="7817" y="536126"/>
                  </a:lnTo>
                  <a:lnTo>
                    <a:pt x="0" y="497395"/>
                  </a:lnTo>
                  <a:lnTo>
                    <a:pt x="0" y="99466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506985" y="3420308"/>
            <a:ext cx="2167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953A4"/>
                </a:solidFill>
                <a:latin typeface="Calibri"/>
                <a:cs typeface="Calibri"/>
              </a:rPr>
              <a:t>Energy</a:t>
            </a:r>
            <a:r>
              <a:rPr dirty="0" sz="2400" spc="-114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066800" y="4102112"/>
            <a:ext cx="7849234" cy="914400"/>
          </a:xfrm>
          <a:custGeom>
            <a:avLst/>
            <a:gdLst/>
            <a:ahLst/>
            <a:cxnLst/>
            <a:rect l="l" t="t" r="r" b="b"/>
            <a:pathLst>
              <a:path w="7849234" h="914400">
                <a:moveTo>
                  <a:pt x="0" y="0"/>
                </a:moveTo>
                <a:lnTo>
                  <a:pt x="0" y="914400"/>
                </a:lnTo>
                <a:lnTo>
                  <a:pt x="7848612" y="914400"/>
                </a:lnTo>
                <a:lnTo>
                  <a:pt x="7848612" y="0"/>
                </a:lnTo>
                <a:lnTo>
                  <a:pt x="0" y="0"/>
                </a:lnTo>
                <a:close/>
              </a:path>
            </a:pathLst>
          </a:custGeom>
          <a:solidFill>
            <a:srgbClr val="4E81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066800" y="4102112"/>
            <a:ext cx="7849234" cy="914400"/>
          </a:xfrm>
          <a:prstGeom prst="rect">
            <a:avLst/>
          </a:prstGeom>
          <a:ln w="25400">
            <a:solidFill>
              <a:srgbClr val="385D8A"/>
            </a:solidFill>
          </a:ln>
        </p:spPr>
        <p:txBody>
          <a:bodyPr wrap="square" lIns="0" tIns="23812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875"/>
              </a:spcBef>
              <a:tabLst>
                <a:tab pos="3807460" algn="l"/>
              </a:tabLst>
            </a:pP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Plot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	as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libri"/>
                <a:cs typeface="Calibri"/>
              </a:rPr>
              <a:t>frequency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274900" y="4235462"/>
            <a:ext cx="2435225" cy="650875"/>
            <a:chOff x="2274900" y="4235462"/>
            <a:chExt cx="2435225" cy="650875"/>
          </a:xfrm>
        </p:grpSpPr>
        <p:sp>
          <p:nvSpPr>
            <p:cNvPr id="15" name="object 15" descr=""/>
            <p:cNvSpPr/>
            <p:nvPr/>
          </p:nvSpPr>
          <p:spPr>
            <a:xfrm>
              <a:off x="2274900" y="4235462"/>
              <a:ext cx="2435225" cy="650875"/>
            </a:xfrm>
            <a:custGeom>
              <a:avLst/>
              <a:gdLst/>
              <a:ahLst/>
              <a:cxnLst/>
              <a:rect l="l" t="t" r="r" b="b"/>
              <a:pathLst>
                <a:path w="2435225" h="650875">
                  <a:moveTo>
                    <a:pt x="0" y="0"/>
                  </a:moveTo>
                  <a:lnTo>
                    <a:pt x="0" y="650875"/>
                  </a:lnTo>
                  <a:lnTo>
                    <a:pt x="2435224" y="650875"/>
                  </a:lnTo>
                  <a:lnTo>
                    <a:pt x="24352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662197" y="4370438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w="0" h="435610">
                  <a:moveTo>
                    <a:pt x="0" y="0"/>
                  </a:moveTo>
                  <a:lnTo>
                    <a:pt x="0" y="435584"/>
                  </a:lnTo>
                </a:path>
              </a:pathLst>
            </a:custGeom>
            <a:ln w="1607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517834" y="4370438"/>
              <a:ext cx="0" cy="435609"/>
            </a:xfrm>
            <a:custGeom>
              <a:avLst/>
              <a:gdLst/>
              <a:ahLst/>
              <a:cxnLst/>
              <a:rect l="l" t="t" r="r" b="b"/>
              <a:pathLst>
                <a:path w="0" h="435610">
                  <a:moveTo>
                    <a:pt x="0" y="0"/>
                  </a:moveTo>
                  <a:lnTo>
                    <a:pt x="0" y="435584"/>
                  </a:lnTo>
                </a:path>
              </a:pathLst>
            </a:custGeom>
            <a:ln w="1607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553695" y="4248177"/>
            <a:ext cx="10668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450" spc="-50">
                <a:solidFill>
                  <a:srgbClr val="231F20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303618" y="4230389"/>
            <a:ext cx="2227580" cy="537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1423670" algn="l"/>
              </a:tabLst>
            </a:pPr>
            <a:r>
              <a:rPr dirty="0" sz="2550" spc="65" i="1">
                <a:solidFill>
                  <a:srgbClr val="231F20"/>
                </a:solidFill>
                <a:latin typeface="Times New Roman"/>
                <a:cs typeface="Times New Roman"/>
              </a:rPr>
              <a:t>S</a:t>
            </a:r>
            <a:r>
              <a:rPr dirty="0" baseline="-24904" sz="2175" spc="97" i="1">
                <a:solidFill>
                  <a:srgbClr val="231F20"/>
                </a:solidFill>
                <a:latin typeface="Times New Roman"/>
                <a:cs typeface="Times New Roman"/>
              </a:rPr>
              <a:t>XX</a:t>
            </a:r>
            <a:r>
              <a:rPr dirty="0" baseline="-24904" sz="2175" spc="63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262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2700" spc="-175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2700" spc="-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19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316" sz="5025" spc="-39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spc="-5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255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2550" spc="3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262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2700" spc="-175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2700" spc="-3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94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endParaRPr baseline="-3316" sz="5025">
              <a:latin typeface="Symbol"/>
              <a:cs typeface="Symbo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66800" y="5257812"/>
            <a:ext cx="7849234" cy="923925"/>
          </a:xfrm>
          <a:prstGeom prst="rect">
            <a:avLst/>
          </a:prstGeom>
          <a:solidFill>
            <a:srgbClr val="F2F2F3"/>
          </a:solidFill>
        </p:spPr>
        <p:txBody>
          <a:bodyPr wrap="square" lIns="0" tIns="30480" rIns="0" bIns="0" rtlCol="0" vert="horz">
            <a:spAutoFit/>
          </a:bodyPr>
          <a:lstStyle/>
          <a:p>
            <a:pPr algn="just" marL="91440" marR="401320">
              <a:lnSpc>
                <a:spcPct val="100000"/>
              </a:lnSpc>
              <a:spcBef>
                <a:spcPts val="240"/>
              </a:spcBef>
            </a:pP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Remember!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aperiodic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signals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are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energy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signals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i.e.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have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finite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energy</a:t>
            </a:r>
            <a:r>
              <a:rPr dirty="0" sz="1800" spc="-4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and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231F20"/>
                </a:solidFill>
                <a:latin typeface="Calibri"/>
                <a:cs typeface="Calibri"/>
              </a:rPr>
              <a:t>zero 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power.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Energy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of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signal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can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be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computed</a:t>
            </a:r>
            <a:r>
              <a:rPr dirty="0" sz="1800" spc="-35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either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time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domain</a:t>
            </a:r>
            <a:r>
              <a:rPr dirty="0" sz="1800" spc="-4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or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in</a:t>
            </a:r>
            <a:r>
              <a:rPr dirty="0" sz="1800" spc="-3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frequency </a:t>
            </a:r>
            <a:r>
              <a:rPr dirty="0" sz="1800">
                <a:solidFill>
                  <a:srgbClr val="231F20"/>
                </a:solidFill>
                <a:latin typeface="Calibri"/>
                <a:cs typeface="Calibri"/>
              </a:rPr>
              <a:t>domain.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231F20"/>
                </a:solidFill>
                <a:latin typeface="Calibri"/>
                <a:cs typeface="Calibri"/>
              </a:rPr>
              <a:t>Parseval’s</a:t>
            </a:r>
            <a:r>
              <a:rPr dirty="0" sz="1800" spc="-50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31F20"/>
                </a:solidFill>
                <a:latin typeface="Calibri"/>
                <a:cs typeface="Calibri"/>
              </a:rPr>
              <a:t>Theorem: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901700" y="2044700"/>
            <a:ext cx="3302000" cy="711200"/>
            <a:chOff x="901700" y="2044700"/>
            <a:chExt cx="3302000" cy="711200"/>
          </a:xfrm>
        </p:grpSpPr>
        <p:sp>
          <p:nvSpPr>
            <p:cNvPr id="22" name="object 22" descr=""/>
            <p:cNvSpPr/>
            <p:nvPr/>
          </p:nvSpPr>
          <p:spPr>
            <a:xfrm>
              <a:off x="914400" y="2057400"/>
              <a:ext cx="3276600" cy="685800"/>
            </a:xfrm>
            <a:custGeom>
              <a:avLst/>
              <a:gdLst/>
              <a:ahLst/>
              <a:cxnLst/>
              <a:rect l="l" t="t" r="r" b="b"/>
              <a:pathLst>
                <a:path w="32766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3162300" y="685800"/>
                  </a:lnTo>
                  <a:lnTo>
                    <a:pt x="3206787" y="676816"/>
                  </a:lnTo>
                  <a:lnTo>
                    <a:pt x="3243119" y="652319"/>
                  </a:lnTo>
                  <a:lnTo>
                    <a:pt x="3267616" y="615987"/>
                  </a:lnTo>
                  <a:lnTo>
                    <a:pt x="3276600" y="571500"/>
                  </a:lnTo>
                  <a:lnTo>
                    <a:pt x="3276600" y="114300"/>
                  </a:lnTo>
                  <a:lnTo>
                    <a:pt x="3267616" y="69806"/>
                  </a:lnTo>
                  <a:lnTo>
                    <a:pt x="3243119" y="33475"/>
                  </a:lnTo>
                  <a:lnTo>
                    <a:pt x="3206787" y="8981"/>
                  </a:lnTo>
                  <a:lnTo>
                    <a:pt x="31623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14400" y="2057400"/>
              <a:ext cx="3276600" cy="685800"/>
            </a:xfrm>
            <a:custGeom>
              <a:avLst/>
              <a:gdLst/>
              <a:ahLst/>
              <a:cxnLst/>
              <a:rect l="l" t="t" r="r" b="b"/>
              <a:pathLst>
                <a:path w="32766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3162300" y="0"/>
                  </a:lnTo>
                  <a:lnTo>
                    <a:pt x="3206787" y="8981"/>
                  </a:lnTo>
                  <a:lnTo>
                    <a:pt x="3243119" y="33475"/>
                  </a:lnTo>
                  <a:lnTo>
                    <a:pt x="3267616" y="69806"/>
                  </a:lnTo>
                  <a:lnTo>
                    <a:pt x="3276600" y="114300"/>
                  </a:lnTo>
                  <a:lnTo>
                    <a:pt x="3276600" y="571500"/>
                  </a:lnTo>
                  <a:lnTo>
                    <a:pt x="3267616" y="615987"/>
                  </a:lnTo>
                  <a:lnTo>
                    <a:pt x="3243119" y="652319"/>
                  </a:lnTo>
                  <a:lnTo>
                    <a:pt x="3206787" y="676816"/>
                  </a:lnTo>
                  <a:lnTo>
                    <a:pt x="31623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353251" y="2218441"/>
            <a:ext cx="6121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DTFT: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107400" y="2218441"/>
            <a:ext cx="16421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Representation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208600" y="2147887"/>
            <a:ext cx="2816225" cy="595630"/>
            <a:chOff x="5208600" y="2147887"/>
            <a:chExt cx="2816225" cy="595630"/>
          </a:xfrm>
        </p:grpSpPr>
        <p:sp>
          <p:nvSpPr>
            <p:cNvPr id="27" name="object 27" descr=""/>
            <p:cNvSpPr/>
            <p:nvPr/>
          </p:nvSpPr>
          <p:spPr>
            <a:xfrm>
              <a:off x="5208600" y="2147887"/>
              <a:ext cx="2816225" cy="595630"/>
            </a:xfrm>
            <a:custGeom>
              <a:avLst/>
              <a:gdLst/>
              <a:ahLst/>
              <a:cxnLst/>
              <a:rect l="l" t="t" r="r" b="b"/>
              <a:pathLst>
                <a:path w="2816225" h="595630">
                  <a:moveTo>
                    <a:pt x="0" y="0"/>
                  </a:moveTo>
                  <a:lnTo>
                    <a:pt x="0" y="595312"/>
                  </a:lnTo>
                  <a:lnTo>
                    <a:pt x="2816225" y="595312"/>
                  </a:lnTo>
                  <a:lnTo>
                    <a:pt x="28162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387693" y="2227783"/>
              <a:ext cx="0" cy="434975"/>
            </a:xfrm>
            <a:custGeom>
              <a:avLst/>
              <a:gdLst/>
              <a:ahLst/>
              <a:cxnLst/>
              <a:rect l="l" t="t" r="r" b="b"/>
              <a:pathLst>
                <a:path w="0" h="434975">
                  <a:moveTo>
                    <a:pt x="0" y="0"/>
                  </a:moveTo>
                  <a:lnTo>
                    <a:pt x="0" y="434682"/>
                  </a:lnTo>
                </a:path>
              </a:pathLst>
            </a:custGeom>
            <a:ln w="1607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244118" y="2227783"/>
              <a:ext cx="0" cy="434975"/>
            </a:xfrm>
            <a:custGeom>
              <a:avLst/>
              <a:gdLst/>
              <a:ahLst/>
              <a:cxnLst/>
              <a:rect l="l" t="t" r="r" b="b"/>
              <a:pathLst>
                <a:path w="0" h="434975">
                  <a:moveTo>
                    <a:pt x="0" y="0"/>
                  </a:moveTo>
                  <a:lnTo>
                    <a:pt x="0" y="434682"/>
                  </a:lnTo>
                </a:path>
              </a:pathLst>
            </a:custGeom>
            <a:ln w="1607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5208600" y="2147887"/>
            <a:ext cx="2816225" cy="595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4295">
              <a:lnSpc>
                <a:spcPts val="3654"/>
              </a:lnSpc>
              <a:tabLst>
                <a:tab pos="1243330" algn="l"/>
              </a:tabLst>
            </a:pP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2550" spc="4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262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2700" spc="-175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2700" spc="-38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19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316" sz="5025" spc="-40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spc="-5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255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55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2550" spc="5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262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2700" spc="-175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2700" spc="-37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316" sz="5025" spc="-419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316" sz="5025" spc="-17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550" spc="-20" i="1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dirty="0" sz="2550" spc="-28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49808" sz="2175" spc="-44" i="1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r>
              <a:rPr dirty="0" baseline="49808" sz="2175" spc="-44">
                <a:solidFill>
                  <a:srgbClr val="231F20"/>
                </a:solidFill>
                <a:latin typeface="Symbol"/>
                <a:cs typeface="Symbol"/>
              </a:rPr>
              <a:t></a:t>
            </a:r>
            <a:r>
              <a:rPr dirty="0" baseline="33625" sz="2850" spc="-44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46594" sz="2325" spc="-44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baseline="46594" sz="2325" spc="-33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33625" sz="2850" spc="-75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endParaRPr baseline="33625" sz="2850">
              <a:latin typeface="Symbol"/>
              <a:cs typeface="Symbol"/>
            </a:endParaRPr>
          </a:p>
        </p:txBody>
      </p:sp>
      <p:pic>
        <p:nvPicPr>
          <p:cNvPr id="31" name="object 3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84030" y="6321044"/>
            <a:ext cx="3792866" cy="61817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7855" cy="1290955"/>
            <a:chOff x="914400" y="731837"/>
            <a:chExt cx="823785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790956"/>
              <a:ext cx="709880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5140" y="790956"/>
              <a:ext cx="126491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5140" y="790956"/>
              <a:ext cx="118871" cy="108388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6668" y="790956"/>
              <a:ext cx="728472" cy="123139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105"/>
              </a:spcBef>
            </a:pPr>
            <a:r>
              <a:rPr dirty="0"/>
              <a:t>Continuous</a:t>
            </a:r>
            <a:r>
              <a:rPr dirty="0" spc="-80"/>
              <a:t> </a:t>
            </a:r>
            <a:r>
              <a:rPr dirty="0"/>
              <a:t>time</a:t>
            </a:r>
            <a:r>
              <a:rPr dirty="0" spc="-80"/>
              <a:t> </a:t>
            </a:r>
            <a:r>
              <a:rPr dirty="0"/>
              <a:t>Fourier</a:t>
            </a:r>
            <a:r>
              <a:rPr dirty="0" spc="-85"/>
              <a:t> </a:t>
            </a:r>
            <a:r>
              <a:rPr dirty="0" spc="-10"/>
              <a:t>series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914400" y="1876425"/>
            <a:ext cx="8230234" cy="725805"/>
            <a:chOff x="914400" y="1876425"/>
            <a:chExt cx="8230234" cy="725805"/>
          </a:xfrm>
        </p:grpSpPr>
        <p:sp>
          <p:nvSpPr>
            <p:cNvPr id="9" name="object 9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22600" y="1992261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99479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3177120" y="596899"/>
                  </a:lnTo>
                  <a:lnTo>
                    <a:pt x="3215842" y="589080"/>
                  </a:lnTo>
                  <a:lnTo>
                    <a:pt x="3247463" y="567756"/>
                  </a:lnTo>
                  <a:lnTo>
                    <a:pt x="3268782" y="536131"/>
                  </a:lnTo>
                  <a:lnTo>
                    <a:pt x="3276600" y="497408"/>
                  </a:lnTo>
                  <a:lnTo>
                    <a:pt x="3276600" y="99479"/>
                  </a:lnTo>
                  <a:lnTo>
                    <a:pt x="3268782" y="60757"/>
                  </a:lnTo>
                  <a:lnTo>
                    <a:pt x="3247463" y="29136"/>
                  </a:lnTo>
                  <a:lnTo>
                    <a:pt x="3215842" y="7817"/>
                  </a:lnTo>
                  <a:lnTo>
                    <a:pt x="31771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6"/>
                  </a:lnTo>
                  <a:lnTo>
                    <a:pt x="7817" y="60757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22600" y="1992261"/>
              <a:ext cx="3276600" cy="596900"/>
            </a:xfrm>
            <a:custGeom>
              <a:avLst/>
              <a:gdLst/>
              <a:ahLst/>
              <a:cxnLst/>
              <a:rect l="l" t="t" r="r" b="b"/>
              <a:pathLst>
                <a:path w="3276600" h="596900">
                  <a:moveTo>
                    <a:pt x="0" y="99479"/>
                  </a:moveTo>
                  <a:lnTo>
                    <a:pt x="7817" y="60757"/>
                  </a:lnTo>
                  <a:lnTo>
                    <a:pt x="29136" y="29136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3177120" y="0"/>
                  </a:lnTo>
                  <a:lnTo>
                    <a:pt x="3215842" y="7817"/>
                  </a:lnTo>
                  <a:lnTo>
                    <a:pt x="3247463" y="29136"/>
                  </a:lnTo>
                  <a:lnTo>
                    <a:pt x="3268782" y="60757"/>
                  </a:lnTo>
                  <a:lnTo>
                    <a:pt x="3276600" y="99479"/>
                  </a:lnTo>
                  <a:lnTo>
                    <a:pt x="3276600" y="497408"/>
                  </a:lnTo>
                  <a:lnTo>
                    <a:pt x="3268782" y="536131"/>
                  </a:lnTo>
                  <a:lnTo>
                    <a:pt x="3247463" y="567756"/>
                  </a:lnTo>
                  <a:lnTo>
                    <a:pt x="3215842" y="589080"/>
                  </a:lnTo>
                  <a:lnTo>
                    <a:pt x="31771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79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193078" y="2075312"/>
            <a:ext cx="29362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5519" algn="l"/>
              </a:tabLst>
            </a:pP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DTFT:</a:t>
            </a:r>
            <a:r>
              <a:rPr dirty="0" sz="2400" b="1">
                <a:solidFill>
                  <a:srgbClr val="ED2024"/>
                </a:solidFill>
                <a:latin typeface="Calibri"/>
                <a:cs typeface="Calibri"/>
              </a:rPr>
              <a:t>	</a:t>
            </a:r>
            <a:r>
              <a:rPr dirty="0" sz="2400" spc="-10" b="1">
                <a:solidFill>
                  <a:srgbClr val="ED2024"/>
                </a:solidFill>
                <a:latin typeface="Calibri"/>
                <a:cs typeface="Calibri"/>
              </a:rPr>
              <a:t>Representation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054100" y="6013462"/>
            <a:ext cx="3073400" cy="622300"/>
            <a:chOff x="1054100" y="6013462"/>
            <a:chExt cx="3073400" cy="622300"/>
          </a:xfrm>
        </p:grpSpPr>
        <p:sp>
          <p:nvSpPr>
            <p:cNvPr id="14" name="object 14" descr=""/>
            <p:cNvSpPr/>
            <p:nvPr/>
          </p:nvSpPr>
          <p:spPr>
            <a:xfrm>
              <a:off x="1066800" y="6026162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79"/>
                  </a:moveTo>
                  <a:lnTo>
                    <a:pt x="0" y="497420"/>
                  </a:lnTo>
                  <a:lnTo>
                    <a:pt x="7817" y="536137"/>
                  </a:lnTo>
                  <a:lnTo>
                    <a:pt x="29136" y="567758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48520" y="596899"/>
                  </a:lnTo>
                  <a:lnTo>
                    <a:pt x="2987242" y="589080"/>
                  </a:lnTo>
                  <a:lnTo>
                    <a:pt x="3018863" y="567758"/>
                  </a:lnTo>
                  <a:lnTo>
                    <a:pt x="3040182" y="536137"/>
                  </a:lnTo>
                  <a:lnTo>
                    <a:pt x="3048000" y="497420"/>
                  </a:lnTo>
                  <a:lnTo>
                    <a:pt x="3048000" y="99479"/>
                  </a:lnTo>
                  <a:lnTo>
                    <a:pt x="3040182" y="60762"/>
                  </a:lnTo>
                  <a:lnTo>
                    <a:pt x="3018863" y="29141"/>
                  </a:lnTo>
                  <a:lnTo>
                    <a:pt x="2987242" y="7819"/>
                  </a:lnTo>
                  <a:lnTo>
                    <a:pt x="2948520" y="0"/>
                  </a:lnTo>
                  <a:lnTo>
                    <a:pt x="99479" y="0"/>
                  </a:lnTo>
                  <a:lnTo>
                    <a:pt x="60757" y="7819"/>
                  </a:lnTo>
                  <a:lnTo>
                    <a:pt x="29136" y="29141"/>
                  </a:lnTo>
                  <a:lnTo>
                    <a:pt x="7817" y="60762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66800" y="6026162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79"/>
                  </a:moveTo>
                  <a:lnTo>
                    <a:pt x="7817" y="60762"/>
                  </a:lnTo>
                  <a:lnTo>
                    <a:pt x="29136" y="29141"/>
                  </a:lnTo>
                  <a:lnTo>
                    <a:pt x="60757" y="7819"/>
                  </a:lnTo>
                  <a:lnTo>
                    <a:pt x="99479" y="0"/>
                  </a:lnTo>
                  <a:lnTo>
                    <a:pt x="2948520" y="0"/>
                  </a:lnTo>
                  <a:lnTo>
                    <a:pt x="2987242" y="7819"/>
                  </a:lnTo>
                  <a:lnTo>
                    <a:pt x="3018863" y="29141"/>
                  </a:lnTo>
                  <a:lnTo>
                    <a:pt x="3040182" y="60762"/>
                  </a:lnTo>
                  <a:lnTo>
                    <a:pt x="3048000" y="99479"/>
                  </a:lnTo>
                  <a:lnTo>
                    <a:pt x="3048000" y="497420"/>
                  </a:lnTo>
                  <a:lnTo>
                    <a:pt x="3040182" y="536137"/>
                  </a:lnTo>
                  <a:lnTo>
                    <a:pt x="3018863" y="567758"/>
                  </a:lnTo>
                  <a:lnTo>
                    <a:pt x="2987242" y="589080"/>
                  </a:lnTo>
                  <a:lnTo>
                    <a:pt x="29485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8"/>
                  </a:lnTo>
                  <a:lnTo>
                    <a:pt x="7817" y="536137"/>
                  </a:lnTo>
                  <a:lnTo>
                    <a:pt x="0" y="497420"/>
                  </a:lnTo>
                  <a:lnTo>
                    <a:pt x="0" y="99479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506985" y="6109220"/>
            <a:ext cx="2167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953A4"/>
                </a:solidFill>
                <a:latin typeface="Calibri"/>
                <a:cs typeface="Calibri"/>
              </a:rPr>
              <a:t>Energy</a:t>
            </a:r>
            <a:r>
              <a:rPr dirty="0" sz="2400" spc="-114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632864" y="2768612"/>
            <a:ext cx="5055235" cy="492759"/>
          </a:xfrm>
          <a:custGeom>
            <a:avLst/>
            <a:gdLst/>
            <a:ahLst/>
            <a:cxnLst/>
            <a:rect l="l" t="t" r="r" b="b"/>
            <a:pathLst>
              <a:path w="5055234" h="492760">
                <a:moveTo>
                  <a:pt x="0" y="0"/>
                </a:moveTo>
                <a:lnTo>
                  <a:pt x="0" y="492442"/>
                </a:lnTo>
                <a:lnTo>
                  <a:pt x="5054612" y="492442"/>
                </a:lnTo>
                <a:lnTo>
                  <a:pt x="50546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6EB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724306" y="2780289"/>
            <a:ext cx="3143885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DT</a:t>
            </a:r>
            <a:r>
              <a:rPr dirty="0" sz="2600" spc="-8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231F20"/>
                </a:solidFill>
                <a:latin typeface="Calibri"/>
                <a:cs typeface="Calibri"/>
              </a:rPr>
              <a:t>Fourier</a:t>
            </a:r>
            <a:r>
              <a:rPr dirty="0" sz="2600" spc="-7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spc="-30" b="1">
                <a:solidFill>
                  <a:srgbClr val="231F20"/>
                </a:solidFill>
                <a:latin typeface="Calibri"/>
                <a:cs typeface="Calibri"/>
              </a:rPr>
              <a:t>Transform</a:t>
            </a:r>
            <a:r>
              <a:rPr dirty="0" sz="2600" spc="-7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600" spc="-50" b="1">
                <a:solidFill>
                  <a:srgbClr val="231F20"/>
                </a:solidFill>
                <a:latin typeface="Calibri"/>
                <a:cs typeface="Calibri"/>
              </a:rPr>
              <a:t>=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054100" y="3620160"/>
            <a:ext cx="3073400" cy="622300"/>
            <a:chOff x="1054100" y="3620160"/>
            <a:chExt cx="3073400" cy="622300"/>
          </a:xfrm>
        </p:grpSpPr>
        <p:sp>
          <p:nvSpPr>
            <p:cNvPr id="20" name="object 20" descr=""/>
            <p:cNvSpPr/>
            <p:nvPr/>
          </p:nvSpPr>
          <p:spPr>
            <a:xfrm>
              <a:off x="1066800" y="3632860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79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48520" y="596899"/>
                  </a:lnTo>
                  <a:lnTo>
                    <a:pt x="2987242" y="589080"/>
                  </a:lnTo>
                  <a:lnTo>
                    <a:pt x="3018863" y="567756"/>
                  </a:lnTo>
                  <a:lnTo>
                    <a:pt x="3040182" y="536131"/>
                  </a:lnTo>
                  <a:lnTo>
                    <a:pt x="3048000" y="497408"/>
                  </a:lnTo>
                  <a:lnTo>
                    <a:pt x="3048000" y="99479"/>
                  </a:lnTo>
                  <a:lnTo>
                    <a:pt x="3040182" y="60757"/>
                  </a:lnTo>
                  <a:lnTo>
                    <a:pt x="3018863" y="29136"/>
                  </a:lnTo>
                  <a:lnTo>
                    <a:pt x="2987242" y="7817"/>
                  </a:lnTo>
                  <a:lnTo>
                    <a:pt x="2948520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6"/>
                  </a:lnTo>
                  <a:lnTo>
                    <a:pt x="7817" y="60757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66800" y="3632860"/>
              <a:ext cx="3048000" cy="596900"/>
            </a:xfrm>
            <a:custGeom>
              <a:avLst/>
              <a:gdLst/>
              <a:ahLst/>
              <a:cxnLst/>
              <a:rect l="l" t="t" r="r" b="b"/>
              <a:pathLst>
                <a:path w="3048000" h="596900">
                  <a:moveTo>
                    <a:pt x="0" y="99479"/>
                  </a:moveTo>
                  <a:lnTo>
                    <a:pt x="7817" y="60757"/>
                  </a:lnTo>
                  <a:lnTo>
                    <a:pt x="29136" y="29136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2948520" y="0"/>
                  </a:lnTo>
                  <a:lnTo>
                    <a:pt x="2987242" y="7817"/>
                  </a:lnTo>
                  <a:lnTo>
                    <a:pt x="3018863" y="29136"/>
                  </a:lnTo>
                  <a:lnTo>
                    <a:pt x="3040182" y="60757"/>
                  </a:lnTo>
                  <a:lnTo>
                    <a:pt x="3048000" y="99479"/>
                  </a:lnTo>
                  <a:lnTo>
                    <a:pt x="3048000" y="497408"/>
                  </a:lnTo>
                  <a:lnTo>
                    <a:pt x="3040182" y="536131"/>
                  </a:lnTo>
                  <a:lnTo>
                    <a:pt x="3018863" y="567756"/>
                  </a:lnTo>
                  <a:lnTo>
                    <a:pt x="2987242" y="589080"/>
                  </a:lnTo>
                  <a:lnTo>
                    <a:pt x="29485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79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243331" y="3715900"/>
            <a:ext cx="26936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Magnitude</a:t>
            </a:r>
            <a:r>
              <a:rPr dirty="0" sz="2400" spc="-5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1054100" y="4845062"/>
            <a:ext cx="3124835" cy="622300"/>
            <a:chOff x="1054100" y="4845062"/>
            <a:chExt cx="3124835" cy="622300"/>
          </a:xfrm>
        </p:grpSpPr>
        <p:sp>
          <p:nvSpPr>
            <p:cNvPr id="24" name="object 24" descr=""/>
            <p:cNvSpPr/>
            <p:nvPr/>
          </p:nvSpPr>
          <p:spPr>
            <a:xfrm>
              <a:off x="1066800" y="4857762"/>
              <a:ext cx="3099435" cy="596900"/>
            </a:xfrm>
            <a:custGeom>
              <a:avLst/>
              <a:gdLst/>
              <a:ahLst/>
              <a:cxnLst/>
              <a:rect l="l" t="t" r="r" b="b"/>
              <a:pathLst>
                <a:path w="3099435" h="596900">
                  <a:moveTo>
                    <a:pt x="0" y="99479"/>
                  </a:moveTo>
                  <a:lnTo>
                    <a:pt x="0" y="497420"/>
                  </a:lnTo>
                  <a:lnTo>
                    <a:pt x="7817" y="536137"/>
                  </a:lnTo>
                  <a:lnTo>
                    <a:pt x="29136" y="567758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2999320" y="596899"/>
                  </a:lnTo>
                  <a:lnTo>
                    <a:pt x="3038044" y="589080"/>
                  </a:lnTo>
                  <a:lnTo>
                    <a:pt x="3069669" y="567758"/>
                  </a:lnTo>
                  <a:lnTo>
                    <a:pt x="3090993" y="536137"/>
                  </a:lnTo>
                  <a:lnTo>
                    <a:pt x="3098812" y="497420"/>
                  </a:lnTo>
                  <a:lnTo>
                    <a:pt x="3098812" y="99479"/>
                  </a:lnTo>
                  <a:lnTo>
                    <a:pt x="3090993" y="60762"/>
                  </a:lnTo>
                  <a:lnTo>
                    <a:pt x="3069669" y="29141"/>
                  </a:lnTo>
                  <a:lnTo>
                    <a:pt x="3038044" y="7819"/>
                  </a:lnTo>
                  <a:lnTo>
                    <a:pt x="2999320" y="0"/>
                  </a:lnTo>
                  <a:lnTo>
                    <a:pt x="99479" y="0"/>
                  </a:lnTo>
                  <a:lnTo>
                    <a:pt x="60757" y="7819"/>
                  </a:lnTo>
                  <a:lnTo>
                    <a:pt x="29136" y="29141"/>
                  </a:lnTo>
                  <a:lnTo>
                    <a:pt x="7817" y="60762"/>
                  </a:lnTo>
                  <a:lnTo>
                    <a:pt x="0" y="99479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66800" y="4857762"/>
              <a:ext cx="3099435" cy="596900"/>
            </a:xfrm>
            <a:custGeom>
              <a:avLst/>
              <a:gdLst/>
              <a:ahLst/>
              <a:cxnLst/>
              <a:rect l="l" t="t" r="r" b="b"/>
              <a:pathLst>
                <a:path w="3099435" h="596900">
                  <a:moveTo>
                    <a:pt x="0" y="99479"/>
                  </a:moveTo>
                  <a:lnTo>
                    <a:pt x="7817" y="60762"/>
                  </a:lnTo>
                  <a:lnTo>
                    <a:pt x="29136" y="29141"/>
                  </a:lnTo>
                  <a:lnTo>
                    <a:pt x="60757" y="7819"/>
                  </a:lnTo>
                  <a:lnTo>
                    <a:pt x="99479" y="0"/>
                  </a:lnTo>
                  <a:lnTo>
                    <a:pt x="2999320" y="0"/>
                  </a:lnTo>
                  <a:lnTo>
                    <a:pt x="3038044" y="7819"/>
                  </a:lnTo>
                  <a:lnTo>
                    <a:pt x="3069669" y="29141"/>
                  </a:lnTo>
                  <a:lnTo>
                    <a:pt x="3090993" y="60762"/>
                  </a:lnTo>
                  <a:lnTo>
                    <a:pt x="3098812" y="99479"/>
                  </a:lnTo>
                  <a:lnTo>
                    <a:pt x="3098812" y="497420"/>
                  </a:lnTo>
                  <a:lnTo>
                    <a:pt x="3090993" y="536137"/>
                  </a:lnTo>
                  <a:lnTo>
                    <a:pt x="3069669" y="567758"/>
                  </a:lnTo>
                  <a:lnTo>
                    <a:pt x="3038044" y="589080"/>
                  </a:lnTo>
                  <a:lnTo>
                    <a:pt x="2999320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8"/>
                  </a:lnTo>
                  <a:lnTo>
                    <a:pt x="7817" y="536137"/>
                  </a:lnTo>
                  <a:lnTo>
                    <a:pt x="0" y="497420"/>
                  </a:lnTo>
                  <a:lnTo>
                    <a:pt x="0" y="99479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1584709" y="4940818"/>
            <a:ext cx="20605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3953A4"/>
                </a:solidFill>
                <a:latin typeface="Calibri"/>
                <a:cs typeface="Calibri"/>
              </a:rPr>
              <a:t>Phase</a:t>
            </a:r>
            <a:r>
              <a:rPr dirty="0" sz="2400" spc="-7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3953A4"/>
                </a:solidFill>
                <a:latin typeface="Calibri"/>
                <a:cs typeface="Calibri"/>
              </a:rPr>
              <a:t>Spectrum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4864112" y="3756672"/>
            <a:ext cx="4039235" cy="2799080"/>
            <a:chOff x="4864112" y="3756672"/>
            <a:chExt cx="4039235" cy="2799080"/>
          </a:xfrm>
        </p:grpSpPr>
        <p:sp>
          <p:nvSpPr>
            <p:cNvPr id="28" name="object 28" descr=""/>
            <p:cNvSpPr/>
            <p:nvPr/>
          </p:nvSpPr>
          <p:spPr>
            <a:xfrm>
              <a:off x="4876812" y="3769372"/>
              <a:ext cx="4013835" cy="2773680"/>
            </a:xfrm>
            <a:custGeom>
              <a:avLst/>
              <a:gdLst/>
              <a:ahLst/>
              <a:cxnLst/>
              <a:rect l="l" t="t" r="r" b="b"/>
              <a:pathLst>
                <a:path w="4013834" h="2773679">
                  <a:moveTo>
                    <a:pt x="0" y="462292"/>
                  </a:moveTo>
                  <a:lnTo>
                    <a:pt x="0" y="2773680"/>
                  </a:lnTo>
                  <a:lnTo>
                    <a:pt x="4013212" y="2773680"/>
                  </a:lnTo>
                  <a:lnTo>
                    <a:pt x="4013212" y="462292"/>
                  </a:lnTo>
                  <a:lnTo>
                    <a:pt x="3550920" y="0"/>
                  </a:lnTo>
                  <a:lnTo>
                    <a:pt x="462292" y="0"/>
                  </a:lnTo>
                  <a:lnTo>
                    <a:pt x="415025" y="2386"/>
                  </a:lnTo>
                  <a:lnTo>
                    <a:pt x="369123" y="9391"/>
                  </a:lnTo>
                  <a:lnTo>
                    <a:pt x="324819" y="20783"/>
                  </a:lnTo>
                  <a:lnTo>
                    <a:pt x="282346" y="36328"/>
                  </a:lnTo>
                  <a:lnTo>
                    <a:pt x="241934" y="55795"/>
                  </a:lnTo>
                  <a:lnTo>
                    <a:pt x="203818" y="78951"/>
                  </a:lnTo>
                  <a:lnTo>
                    <a:pt x="168230" y="105564"/>
                  </a:lnTo>
                  <a:lnTo>
                    <a:pt x="135401" y="135401"/>
                  </a:lnTo>
                  <a:lnTo>
                    <a:pt x="105564" y="168230"/>
                  </a:lnTo>
                  <a:lnTo>
                    <a:pt x="78951" y="203818"/>
                  </a:lnTo>
                  <a:lnTo>
                    <a:pt x="55795" y="241934"/>
                  </a:lnTo>
                  <a:lnTo>
                    <a:pt x="36328" y="282346"/>
                  </a:lnTo>
                  <a:lnTo>
                    <a:pt x="20783" y="324819"/>
                  </a:lnTo>
                  <a:lnTo>
                    <a:pt x="9391" y="369123"/>
                  </a:lnTo>
                  <a:lnTo>
                    <a:pt x="2386" y="415025"/>
                  </a:lnTo>
                  <a:lnTo>
                    <a:pt x="0" y="462292"/>
                  </a:lnTo>
                  <a:close/>
                </a:path>
              </a:pathLst>
            </a:custGeom>
            <a:solidFill>
              <a:srgbClr val="4E81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876812" y="3769372"/>
              <a:ext cx="4013835" cy="2773680"/>
            </a:xfrm>
            <a:custGeom>
              <a:avLst/>
              <a:gdLst/>
              <a:ahLst/>
              <a:cxnLst/>
              <a:rect l="l" t="t" r="r" b="b"/>
              <a:pathLst>
                <a:path w="4013834" h="2773679">
                  <a:moveTo>
                    <a:pt x="462292" y="0"/>
                  </a:moveTo>
                  <a:lnTo>
                    <a:pt x="3550920" y="0"/>
                  </a:lnTo>
                  <a:lnTo>
                    <a:pt x="4013212" y="462292"/>
                  </a:lnTo>
                  <a:lnTo>
                    <a:pt x="4013212" y="2773680"/>
                  </a:lnTo>
                  <a:lnTo>
                    <a:pt x="0" y="2773680"/>
                  </a:lnTo>
                  <a:lnTo>
                    <a:pt x="0" y="462292"/>
                  </a:lnTo>
                  <a:lnTo>
                    <a:pt x="2386" y="415025"/>
                  </a:lnTo>
                  <a:lnTo>
                    <a:pt x="9391" y="369123"/>
                  </a:lnTo>
                  <a:lnTo>
                    <a:pt x="20783" y="324819"/>
                  </a:lnTo>
                  <a:lnTo>
                    <a:pt x="36328" y="282346"/>
                  </a:lnTo>
                  <a:lnTo>
                    <a:pt x="55795" y="241934"/>
                  </a:lnTo>
                  <a:lnTo>
                    <a:pt x="78951" y="203818"/>
                  </a:lnTo>
                  <a:lnTo>
                    <a:pt x="105564" y="168230"/>
                  </a:lnTo>
                  <a:lnTo>
                    <a:pt x="135401" y="135401"/>
                  </a:lnTo>
                  <a:lnTo>
                    <a:pt x="168230" y="105564"/>
                  </a:lnTo>
                  <a:lnTo>
                    <a:pt x="203818" y="78951"/>
                  </a:lnTo>
                  <a:lnTo>
                    <a:pt x="241934" y="55795"/>
                  </a:lnTo>
                  <a:lnTo>
                    <a:pt x="282346" y="36328"/>
                  </a:lnTo>
                  <a:lnTo>
                    <a:pt x="324819" y="20783"/>
                  </a:lnTo>
                  <a:lnTo>
                    <a:pt x="369123" y="9391"/>
                  </a:lnTo>
                  <a:lnTo>
                    <a:pt x="415025" y="2386"/>
                  </a:lnTo>
                  <a:lnTo>
                    <a:pt x="462292" y="0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5242268" y="4001155"/>
            <a:ext cx="3183890" cy="2403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76835" marR="68580">
              <a:lnSpc>
                <a:spcPct val="100000"/>
              </a:lnSpc>
              <a:spcBef>
                <a:spcPts val="105"/>
              </a:spcBef>
              <a:tabLst>
                <a:tab pos="1791335" algn="l"/>
              </a:tabLst>
            </a:pPr>
            <a:r>
              <a:rPr dirty="0" sz="2600" spc="-10" b="1">
                <a:solidFill>
                  <a:srgbClr val="FFFFFF"/>
                </a:solidFill>
                <a:latin typeface="Calibri"/>
                <a:cs typeface="Calibri"/>
              </a:rPr>
              <a:t>Continuous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600" spc="-10" b="1">
                <a:solidFill>
                  <a:srgbClr val="FFFFFF"/>
                </a:solidFill>
                <a:latin typeface="Calibri"/>
                <a:cs typeface="Calibri"/>
              </a:rPr>
              <a:t>Spectrum 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dirty="0" sz="26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Calibri"/>
                <a:cs typeface="Calibri"/>
              </a:rPr>
              <a:t>periodic</a:t>
            </a:r>
            <a:endParaRPr sz="2600">
              <a:latin typeface="Calibri"/>
              <a:cs typeface="Calibri"/>
            </a:endParaRPr>
          </a:p>
          <a:p>
            <a:pPr algn="ctr" marL="2540">
              <a:lnSpc>
                <a:spcPct val="100000"/>
              </a:lnSpc>
            </a:pPr>
            <a:r>
              <a:rPr dirty="0" sz="2600" spc="-50" b="1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endParaRPr sz="2600">
              <a:latin typeface="Calibri"/>
              <a:cs typeface="Calibri"/>
            </a:endParaRPr>
          </a:p>
          <a:p>
            <a:pPr algn="ctr" marL="12700" marR="5080" indent="-635">
              <a:lnSpc>
                <a:spcPct val="100000"/>
              </a:lnSpc>
            </a:pPr>
            <a:r>
              <a:rPr dirty="0" sz="2600" spc="-10" b="1">
                <a:solidFill>
                  <a:srgbClr val="FFFFFF"/>
                </a:solidFill>
                <a:latin typeface="Calibri"/>
                <a:cs typeface="Calibri"/>
              </a:rPr>
              <a:t>Envelope</a:t>
            </a:r>
            <a:r>
              <a:rPr dirty="0" sz="26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5" b="1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2600" spc="-10" b="1">
                <a:solidFill>
                  <a:srgbClr val="FFFFFF"/>
                </a:solidFill>
                <a:latin typeface="Calibri"/>
                <a:cs typeface="Calibri"/>
              </a:rPr>
              <a:t>corresponding</a:t>
            </a:r>
            <a:r>
              <a:rPr dirty="0" sz="2600" spc="-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Calibri"/>
                <a:cs typeface="Calibri"/>
              </a:rPr>
              <a:t>periodic </a:t>
            </a:r>
            <a:r>
              <a:rPr dirty="0" sz="2600" b="1">
                <a:solidFill>
                  <a:srgbClr val="FFFFFF"/>
                </a:solidFill>
                <a:latin typeface="Calibri"/>
                <a:cs typeface="Calibri"/>
              </a:rPr>
              <a:t>DT</a:t>
            </a:r>
            <a:r>
              <a:rPr dirty="0" sz="26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20" b="1">
                <a:solidFill>
                  <a:srgbClr val="FFFFFF"/>
                </a:solidFill>
                <a:latin typeface="Calibri"/>
                <a:cs typeface="Calibri"/>
              </a:rPr>
              <a:t>signal’s</a:t>
            </a:r>
            <a:r>
              <a:rPr dirty="0" sz="26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Calibri"/>
                <a:cs typeface="Calibri"/>
              </a:rPr>
              <a:t>spectra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4992700" y="2744800"/>
            <a:ext cx="2560955" cy="541655"/>
            <a:chOff x="4992700" y="2744800"/>
            <a:chExt cx="2560955" cy="541655"/>
          </a:xfrm>
        </p:grpSpPr>
        <p:sp>
          <p:nvSpPr>
            <p:cNvPr id="32" name="object 32" descr=""/>
            <p:cNvSpPr/>
            <p:nvPr/>
          </p:nvSpPr>
          <p:spPr>
            <a:xfrm>
              <a:off x="4992700" y="2744800"/>
              <a:ext cx="2560955" cy="541655"/>
            </a:xfrm>
            <a:custGeom>
              <a:avLst/>
              <a:gdLst/>
              <a:ahLst/>
              <a:cxnLst/>
              <a:rect l="l" t="t" r="r" b="b"/>
              <a:pathLst>
                <a:path w="2560954" h="541654">
                  <a:moveTo>
                    <a:pt x="0" y="0"/>
                  </a:moveTo>
                  <a:lnTo>
                    <a:pt x="0" y="541337"/>
                  </a:lnTo>
                  <a:lnTo>
                    <a:pt x="2560637" y="541337"/>
                  </a:lnTo>
                  <a:lnTo>
                    <a:pt x="25606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063856" y="2817837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w="0" h="395605">
                  <a:moveTo>
                    <a:pt x="0" y="0"/>
                  </a:moveTo>
                  <a:lnTo>
                    <a:pt x="0" y="395236"/>
                  </a:lnTo>
                </a:path>
              </a:pathLst>
            </a:custGeom>
            <a:ln w="1461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842417" y="2817837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w="0" h="395605">
                  <a:moveTo>
                    <a:pt x="0" y="0"/>
                  </a:moveTo>
                  <a:lnTo>
                    <a:pt x="0" y="395236"/>
                  </a:lnTo>
                </a:path>
              </a:pathLst>
            </a:custGeom>
            <a:ln w="1461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5035013" y="2689801"/>
            <a:ext cx="2511425" cy="4895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1088390" algn="l"/>
              </a:tabLst>
            </a:pPr>
            <a:r>
              <a:rPr dirty="0" sz="230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2300" spc="4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2732" sz="4575" spc="-225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2450" spc="-150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2450" spc="-3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2732" sz="4575" spc="-382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2732" sz="4575" spc="-359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300" spc="-5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23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230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2300" spc="5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2732" sz="4575" spc="-225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2450" spc="-150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2450" spc="-34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2732" sz="4575" spc="-382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2732" sz="4575" spc="-16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2300" i="1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dirty="0" sz="2300" spc="-24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47325" sz="2025" spc="-60" i="1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r>
              <a:rPr dirty="0" baseline="47325" sz="2025" spc="-60">
                <a:solidFill>
                  <a:srgbClr val="231F20"/>
                </a:solidFill>
                <a:latin typeface="Symbol"/>
                <a:cs typeface="Symbol"/>
              </a:rPr>
              <a:t></a:t>
            </a:r>
            <a:r>
              <a:rPr dirty="0" baseline="33333" sz="2625" spc="-60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45634" sz="2100" spc="-60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baseline="45634" sz="2100" spc="-3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33333" sz="2625" spc="-75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endParaRPr baseline="33333" sz="2625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21675" cy="1225550"/>
            <a:chOff x="914400" y="731837"/>
            <a:chExt cx="8321675" cy="1225550"/>
          </a:xfrm>
        </p:grpSpPr>
        <p:sp>
          <p:nvSpPr>
            <p:cNvPr id="3" name="object 3" descr=""/>
            <p:cNvSpPr/>
            <p:nvPr/>
          </p:nvSpPr>
          <p:spPr>
            <a:xfrm>
              <a:off x="914400" y="731837"/>
              <a:ext cx="8230234" cy="1143000"/>
            </a:xfrm>
            <a:custGeom>
              <a:avLst/>
              <a:gdLst/>
              <a:ahLst/>
              <a:cxnLst/>
              <a:rect l="l" t="t" r="r" b="b"/>
              <a:pathLst>
                <a:path w="8230234" h="1143000">
                  <a:moveTo>
                    <a:pt x="0" y="0"/>
                  </a:moveTo>
                  <a:lnTo>
                    <a:pt x="0" y="1143000"/>
                  </a:lnTo>
                  <a:lnTo>
                    <a:pt x="8229612" y="1143000"/>
                  </a:lnTo>
                  <a:lnTo>
                    <a:pt x="82296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5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9660" y="838200"/>
              <a:ext cx="7370076" cy="111861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1152" y="838200"/>
              <a:ext cx="114300" cy="111861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9736" y="838200"/>
              <a:ext cx="661416" cy="1118615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914400" y="953834"/>
            <a:ext cx="8230234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86409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ED2024"/>
                </a:solidFill>
                <a:latin typeface="Calibri"/>
                <a:cs typeface="Calibri"/>
              </a:rPr>
              <a:t>Continuous</a:t>
            </a:r>
            <a:r>
              <a:rPr dirty="0" sz="4000" spc="-16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4000" b="1">
                <a:solidFill>
                  <a:srgbClr val="ED2024"/>
                </a:solidFill>
                <a:latin typeface="Calibri"/>
                <a:cs typeface="Calibri"/>
              </a:rPr>
              <a:t>time</a:t>
            </a:r>
            <a:r>
              <a:rPr dirty="0" sz="4000" spc="-16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4000" b="1">
                <a:solidFill>
                  <a:srgbClr val="ED2024"/>
                </a:solidFill>
                <a:latin typeface="Calibri"/>
                <a:cs typeface="Calibri"/>
              </a:rPr>
              <a:t>Fourier</a:t>
            </a:r>
            <a:r>
              <a:rPr dirty="0" sz="4000" spc="-16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4000" spc="-10" b="1">
                <a:solidFill>
                  <a:srgbClr val="ED2024"/>
                </a:solidFill>
                <a:latin typeface="Calibri"/>
                <a:cs typeface="Calibri"/>
              </a:rPr>
              <a:t>Transform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901700" y="2070100"/>
            <a:ext cx="2921000" cy="711200"/>
            <a:chOff x="901700" y="2070100"/>
            <a:chExt cx="2921000" cy="711200"/>
          </a:xfrm>
        </p:grpSpPr>
        <p:sp>
          <p:nvSpPr>
            <p:cNvPr id="10" name="object 10" descr=""/>
            <p:cNvSpPr/>
            <p:nvPr/>
          </p:nvSpPr>
          <p:spPr>
            <a:xfrm>
              <a:off x="914400" y="2082800"/>
              <a:ext cx="2895600" cy="685800"/>
            </a:xfrm>
            <a:custGeom>
              <a:avLst/>
              <a:gdLst/>
              <a:ahLst/>
              <a:cxnLst/>
              <a:rect l="l" t="t" r="r" b="b"/>
              <a:pathLst>
                <a:path w="28956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2781300" y="685800"/>
                  </a:lnTo>
                  <a:lnTo>
                    <a:pt x="2825787" y="676816"/>
                  </a:lnTo>
                  <a:lnTo>
                    <a:pt x="2862119" y="652319"/>
                  </a:lnTo>
                  <a:lnTo>
                    <a:pt x="2886616" y="615987"/>
                  </a:lnTo>
                  <a:lnTo>
                    <a:pt x="2895600" y="571500"/>
                  </a:lnTo>
                  <a:lnTo>
                    <a:pt x="2895600" y="114300"/>
                  </a:lnTo>
                  <a:lnTo>
                    <a:pt x="2886616" y="69806"/>
                  </a:lnTo>
                  <a:lnTo>
                    <a:pt x="2862119" y="33475"/>
                  </a:lnTo>
                  <a:lnTo>
                    <a:pt x="2825787" y="8981"/>
                  </a:lnTo>
                  <a:lnTo>
                    <a:pt x="27813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14400" y="2082800"/>
              <a:ext cx="2895600" cy="685800"/>
            </a:xfrm>
            <a:custGeom>
              <a:avLst/>
              <a:gdLst/>
              <a:ahLst/>
              <a:cxnLst/>
              <a:rect l="l" t="t" r="r" b="b"/>
              <a:pathLst>
                <a:path w="28956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2781300" y="0"/>
                  </a:lnTo>
                  <a:lnTo>
                    <a:pt x="2825787" y="8981"/>
                  </a:lnTo>
                  <a:lnTo>
                    <a:pt x="2862119" y="33475"/>
                  </a:lnTo>
                  <a:lnTo>
                    <a:pt x="2886616" y="69806"/>
                  </a:lnTo>
                  <a:lnTo>
                    <a:pt x="2895600" y="114300"/>
                  </a:lnTo>
                  <a:lnTo>
                    <a:pt x="2895600" y="571500"/>
                  </a:lnTo>
                  <a:lnTo>
                    <a:pt x="2886616" y="615987"/>
                  </a:lnTo>
                  <a:lnTo>
                    <a:pt x="2862119" y="652319"/>
                  </a:lnTo>
                  <a:lnTo>
                    <a:pt x="2825787" y="676816"/>
                  </a:lnTo>
                  <a:lnTo>
                    <a:pt x="27813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162751" y="2243841"/>
            <a:ext cx="23964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6445" algn="l"/>
              </a:tabLst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DTFT:</a:t>
            </a: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	</a:t>
            </a: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Representation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102112" y="2133612"/>
            <a:ext cx="5055235" cy="622300"/>
            <a:chOff x="4102112" y="2133612"/>
            <a:chExt cx="5055235" cy="622300"/>
          </a:xfrm>
        </p:grpSpPr>
        <p:sp>
          <p:nvSpPr>
            <p:cNvPr id="14" name="object 14" descr=""/>
            <p:cNvSpPr/>
            <p:nvPr/>
          </p:nvSpPr>
          <p:spPr>
            <a:xfrm>
              <a:off x="4114812" y="2146312"/>
              <a:ext cx="5029835" cy="596900"/>
            </a:xfrm>
            <a:custGeom>
              <a:avLst/>
              <a:gdLst/>
              <a:ahLst/>
              <a:cxnLst/>
              <a:rect l="l" t="t" r="r" b="b"/>
              <a:pathLst>
                <a:path w="5029834" h="596900">
                  <a:moveTo>
                    <a:pt x="0" y="99466"/>
                  </a:moveTo>
                  <a:lnTo>
                    <a:pt x="0" y="497408"/>
                  </a:lnTo>
                  <a:lnTo>
                    <a:pt x="7817" y="536131"/>
                  </a:lnTo>
                  <a:lnTo>
                    <a:pt x="29136" y="567756"/>
                  </a:lnTo>
                  <a:lnTo>
                    <a:pt x="60757" y="589080"/>
                  </a:lnTo>
                  <a:lnTo>
                    <a:pt x="99479" y="596900"/>
                  </a:lnTo>
                  <a:lnTo>
                    <a:pt x="4929733" y="596899"/>
                  </a:lnTo>
                  <a:lnTo>
                    <a:pt x="4968455" y="589080"/>
                  </a:lnTo>
                  <a:lnTo>
                    <a:pt x="5000075" y="567756"/>
                  </a:lnTo>
                  <a:lnTo>
                    <a:pt x="5021395" y="536131"/>
                  </a:lnTo>
                  <a:lnTo>
                    <a:pt x="5029212" y="497408"/>
                  </a:lnTo>
                  <a:lnTo>
                    <a:pt x="5029212" y="99466"/>
                  </a:lnTo>
                  <a:lnTo>
                    <a:pt x="5021395" y="60752"/>
                  </a:lnTo>
                  <a:lnTo>
                    <a:pt x="5000075" y="29135"/>
                  </a:lnTo>
                  <a:lnTo>
                    <a:pt x="4968455" y="7817"/>
                  </a:lnTo>
                  <a:lnTo>
                    <a:pt x="4929733" y="0"/>
                  </a:lnTo>
                  <a:lnTo>
                    <a:pt x="99479" y="0"/>
                  </a:lnTo>
                  <a:lnTo>
                    <a:pt x="60757" y="7817"/>
                  </a:lnTo>
                  <a:lnTo>
                    <a:pt x="29136" y="29135"/>
                  </a:lnTo>
                  <a:lnTo>
                    <a:pt x="7817" y="60752"/>
                  </a:lnTo>
                  <a:lnTo>
                    <a:pt x="0" y="99466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114812" y="2146312"/>
              <a:ext cx="5029835" cy="596900"/>
            </a:xfrm>
            <a:custGeom>
              <a:avLst/>
              <a:gdLst/>
              <a:ahLst/>
              <a:cxnLst/>
              <a:rect l="l" t="t" r="r" b="b"/>
              <a:pathLst>
                <a:path w="5029834" h="596900">
                  <a:moveTo>
                    <a:pt x="0" y="99466"/>
                  </a:moveTo>
                  <a:lnTo>
                    <a:pt x="7817" y="60752"/>
                  </a:lnTo>
                  <a:lnTo>
                    <a:pt x="29136" y="29135"/>
                  </a:lnTo>
                  <a:lnTo>
                    <a:pt x="60757" y="7817"/>
                  </a:lnTo>
                  <a:lnTo>
                    <a:pt x="99479" y="0"/>
                  </a:lnTo>
                  <a:lnTo>
                    <a:pt x="4929733" y="0"/>
                  </a:lnTo>
                  <a:lnTo>
                    <a:pt x="4968455" y="7817"/>
                  </a:lnTo>
                  <a:lnTo>
                    <a:pt x="5000075" y="29135"/>
                  </a:lnTo>
                  <a:lnTo>
                    <a:pt x="5021395" y="60752"/>
                  </a:lnTo>
                  <a:lnTo>
                    <a:pt x="5029212" y="99466"/>
                  </a:lnTo>
                  <a:lnTo>
                    <a:pt x="5029212" y="497408"/>
                  </a:lnTo>
                  <a:lnTo>
                    <a:pt x="5021395" y="536131"/>
                  </a:lnTo>
                  <a:lnTo>
                    <a:pt x="5000075" y="567756"/>
                  </a:lnTo>
                  <a:lnTo>
                    <a:pt x="4968455" y="589080"/>
                  </a:lnTo>
                  <a:lnTo>
                    <a:pt x="4929733" y="596899"/>
                  </a:lnTo>
                  <a:lnTo>
                    <a:pt x="99479" y="596900"/>
                  </a:lnTo>
                  <a:lnTo>
                    <a:pt x="60757" y="589080"/>
                  </a:lnTo>
                  <a:lnTo>
                    <a:pt x="29136" y="567756"/>
                  </a:lnTo>
                  <a:lnTo>
                    <a:pt x="7817" y="536131"/>
                  </a:lnTo>
                  <a:lnTo>
                    <a:pt x="0" y="497408"/>
                  </a:lnTo>
                  <a:lnTo>
                    <a:pt x="0" y="99466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839763" y="2229363"/>
            <a:ext cx="15805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If</a:t>
            </a:r>
            <a:r>
              <a:rPr dirty="0" sz="2400" spc="-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 i="1">
                <a:solidFill>
                  <a:srgbClr val="231F20"/>
                </a:solidFill>
                <a:latin typeface="Calibri"/>
                <a:cs typeface="Calibri"/>
              </a:rPr>
              <a:t>x(n)</a:t>
            </a:r>
            <a:r>
              <a:rPr dirty="0" sz="2400" spc="-20" b="1" i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231F20"/>
                </a:solidFill>
                <a:latin typeface="Calibri"/>
                <a:cs typeface="Calibri"/>
              </a:rPr>
              <a:t>is</a:t>
            </a:r>
            <a:r>
              <a:rPr dirty="0" sz="2400" spc="-1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231F20"/>
                </a:solidFill>
                <a:latin typeface="Calibri"/>
                <a:cs typeface="Calibri"/>
              </a:rPr>
              <a:t>real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514487" y="4608525"/>
            <a:ext cx="3497579" cy="2230755"/>
            <a:chOff x="1514487" y="4608525"/>
            <a:chExt cx="3497579" cy="2230755"/>
          </a:xfrm>
        </p:grpSpPr>
        <p:sp>
          <p:nvSpPr>
            <p:cNvPr id="18" name="object 18" descr=""/>
            <p:cNvSpPr/>
            <p:nvPr/>
          </p:nvSpPr>
          <p:spPr>
            <a:xfrm>
              <a:off x="1514487" y="4608525"/>
              <a:ext cx="3497579" cy="2230755"/>
            </a:xfrm>
            <a:custGeom>
              <a:avLst/>
              <a:gdLst/>
              <a:ahLst/>
              <a:cxnLst/>
              <a:rect l="l" t="t" r="r" b="b"/>
              <a:pathLst>
                <a:path w="3497579" h="2230754">
                  <a:moveTo>
                    <a:pt x="0" y="0"/>
                  </a:moveTo>
                  <a:lnTo>
                    <a:pt x="0" y="2230437"/>
                  </a:lnTo>
                  <a:lnTo>
                    <a:pt x="3497262" y="2230437"/>
                  </a:lnTo>
                  <a:lnTo>
                    <a:pt x="34972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E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96707" y="4710963"/>
              <a:ext cx="0" cy="577850"/>
            </a:xfrm>
            <a:custGeom>
              <a:avLst/>
              <a:gdLst/>
              <a:ahLst/>
              <a:cxnLst/>
              <a:rect l="l" t="t" r="r" b="b"/>
              <a:pathLst>
                <a:path w="0" h="577850">
                  <a:moveTo>
                    <a:pt x="0" y="0"/>
                  </a:moveTo>
                  <a:lnTo>
                    <a:pt x="0" y="577811"/>
                  </a:lnTo>
                </a:path>
              </a:pathLst>
            </a:custGeom>
            <a:ln w="2138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987014" y="4710963"/>
              <a:ext cx="0" cy="577850"/>
            </a:xfrm>
            <a:custGeom>
              <a:avLst/>
              <a:gdLst/>
              <a:ahLst/>
              <a:cxnLst/>
              <a:rect l="l" t="t" r="r" b="b"/>
              <a:pathLst>
                <a:path w="0" h="577850">
                  <a:moveTo>
                    <a:pt x="0" y="0"/>
                  </a:moveTo>
                  <a:lnTo>
                    <a:pt x="0" y="577811"/>
                  </a:lnTo>
                </a:path>
              </a:pathLst>
            </a:custGeom>
            <a:ln w="2138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473754" y="4710963"/>
              <a:ext cx="0" cy="577850"/>
            </a:xfrm>
            <a:custGeom>
              <a:avLst/>
              <a:gdLst/>
              <a:ahLst/>
              <a:cxnLst/>
              <a:rect l="l" t="t" r="r" b="b"/>
              <a:pathLst>
                <a:path w="0" h="577850">
                  <a:moveTo>
                    <a:pt x="0" y="0"/>
                  </a:moveTo>
                  <a:lnTo>
                    <a:pt x="0" y="577811"/>
                  </a:lnTo>
                </a:path>
              </a:pathLst>
            </a:custGeom>
            <a:ln w="2138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613948" y="4710963"/>
              <a:ext cx="0" cy="577850"/>
            </a:xfrm>
            <a:custGeom>
              <a:avLst/>
              <a:gdLst/>
              <a:ahLst/>
              <a:cxnLst/>
              <a:rect l="l" t="t" r="r" b="b"/>
              <a:pathLst>
                <a:path w="0" h="577850">
                  <a:moveTo>
                    <a:pt x="0" y="0"/>
                  </a:moveTo>
                  <a:lnTo>
                    <a:pt x="0" y="577811"/>
                  </a:lnTo>
                </a:path>
              </a:pathLst>
            </a:custGeom>
            <a:ln w="2138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514487" y="4608525"/>
            <a:ext cx="3497579" cy="2230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8910">
              <a:lnSpc>
                <a:spcPts val="4820"/>
              </a:lnSpc>
              <a:tabLst>
                <a:tab pos="2045335" algn="l"/>
              </a:tabLst>
            </a:pPr>
            <a:r>
              <a:rPr dirty="0" sz="340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3400" spc="4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121" sz="6675" spc="-172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3400" spc="-114">
                <a:solidFill>
                  <a:srgbClr val="231F20"/>
                </a:solidFill>
                <a:latin typeface="Symbol"/>
                <a:cs typeface="Symbol"/>
              </a:rPr>
              <a:t></a:t>
            </a:r>
            <a:r>
              <a:rPr dirty="0" sz="3550" spc="-114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3550" spc="-49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121" sz="6675" spc="-562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121" sz="6675" spc="31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400" spc="-5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34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340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3400" spc="5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121" sz="6675" spc="-322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3550" spc="-215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3550" spc="-4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121" sz="6675" spc="-637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endParaRPr baseline="-3121" sz="6675">
              <a:latin typeface="Symbol"/>
              <a:cs typeface="Symbol"/>
            </a:endParaRPr>
          </a:p>
          <a:p>
            <a:pPr marL="58419">
              <a:lnSpc>
                <a:spcPct val="100000"/>
              </a:lnSpc>
              <a:spcBef>
                <a:spcPts val="640"/>
              </a:spcBef>
            </a:pPr>
            <a:r>
              <a:rPr dirty="0" sz="3400">
                <a:solidFill>
                  <a:srgbClr val="231F20"/>
                </a:solidFill>
                <a:latin typeface="Symbol"/>
                <a:cs typeface="Symbol"/>
              </a:rPr>
              <a:t></a:t>
            </a:r>
            <a:r>
              <a:rPr dirty="0" baseline="-3121" sz="6675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3400">
                <a:solidFill>
                  <a:srgbClr val="231F20"/>
                </a:solidFill>
                <a:latin typeface="Symbol"/>
                <a:cs typeface="Symbol"/>
              </a:rPr>
              <a:t></a:t>
            </a:r>
            <a:r>
              <a:rPr dirty="0" sz="3550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3550" spc="-4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121" sz="6675" spc="-562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121" sz="6675" spc="-51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3400" spc="-4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400" spc="-10">
                <a:solidFill>
                  <a:srgbClr val="231F20"/>
                </a:solidFill>
                <a:latin typeface="Symbol"/>
                <a:cs typeface="Symbol"/>
              </a:rPr>
              <a:t></a:t>
            </a:r>
            <a:r>
              <a:rPr dirty="0" baseline="-3121" sz="6675" spc="-15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3550" spc="-10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3550" spc="-48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121" sz="6675" spc="-637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endParaRPr baseline="-3121" sz="6675">
              <a:latin typeface="Symbol"/>
              <a:cs typeface="Symbol"/>
            </a:endParaRPr>
          </a:p>
          <a:p>
            <a:pPr marL="71755">
              <a:lnSpc>
                <a:spcPct val="100000"/>
              </a:lnSpc>
              <a:spcBef>
                <a:spcPts val="380"/>
              </a:spcBef>
              <a:tabLst>
                <a:tab pos="756920" algn="l"/>
                <a:tab pos="2773680" algn="l"/>
              </a:tabLst>
            </a:pPr>
            <a:r>
              <a:rPr dirty="0" sz="3400" spc="60" i="1">
                <a:solidFill>
                  <a:srgbClr val="231F20"/>
                </a:solidFill>
                <a:latin typeface="Times New Roman"/>
                <a:cs typeface="Times New Roman"/>
              </a:rPr>
              <a:t>S</a:t>
            </a:r>
            <a:r>
              <a:rPr dirty="0" baseline="-25641" sz="2925" spc="89" i="1">
                <a:solidFill>
                  <a:srgbClr val="231F20"/>
                </a:solidFill>
                <a:latin typeface="Times New Roman"/>
                <a:cs typeface="Times New Roman"/>
              </a:rPr>
              <a:t>XX</a:t>
            </a:r>
            <a:r>
              <a:rPr dirty="0" baseline="-25641" sz="2925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baseline="-3121" sz="6675" spc="-172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3400" spc="-114">
                <a:solidFill>
                  <a:srgbClr val="231F20"/>
                </a:solidFill>
                <a:latin typeface="Symbol"/>
                <a:cs typeface="Symbol"/>
              </a:rPr>
              <a:t></a:t>
            </a:r>
            <a:r>
              <a:rPr dirty="0" sz="3550" spc="-114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3550" spc="-49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121" sz="6675" spc="-562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121" sz="6675" spc="-52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340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400" spc="60" i="1">
                <a:solidFill>
                  <a:srgbClr val="231F20"/>
                </a:solidFill>
                <a:latin typeface="Times New Roman"/>
                <a:cs typeface="Times New Roman"/>
              </a:rPr>
              <a:t>S</a:t>
            </a:r>
            <a:r>
              <a:rPr dirty="0" baseline="-25641" sz="2925" spc="89" i="1">
                <a:solidFill>
                  <a:srgbClr val="231F20"/>
                </a:solidFill>
                <a:latin typeface="Times New Roman"/>
                <a:cs typeface="Times New Roman"/>
              </a:rPr>
              <a:t>XX</a:t>
            </a:r>
            <a:r>
              <a:rPr dirty="0" baseline="-25641" sz="2925" i="1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baseline="-3121" sz="6675" spc="-322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3550" spc="-215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3550" spc="-484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121" sz="6675" spc="-637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endParaRPr baseline="-3121" sz="6675">
              <a:latin typeface="Symbol"/>
              <a:cs typeface="Symbo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558925" y="2997212"/>
            <a:ext cx="3407410" cy="720725"/>
            <a:chOff x="1558925" y="2997212"/>
            <a:chExt cx="3407410" cy="720725"/>
          </a:xfrm>
        </p:grpSpPr>
        <p:sp>
          <p:nvSpPr>
            <p:cNvPr id="25" name="object 25" descr=""/>
            <p:cNvSpPr/>
            <p:nvPr/>
          </p:nvSpPr>
          <p:spPr>
            <a:xfrm>
              <a:off x="1558925" y="2997212"/>
              <a:ext cx="3407410" cy="720725"/>
            </a:xfrm>
            <a:custGeom>
              <a:avLst/>
              <a:gdLst/>
              <a:ahLst/>
              <a:cxnLst/>
              <a:rect l="l" t="t" r="r" b="b"/>
              <a:pathLst>
                <a:path w="3407410" h="720725">
                  <a:moveTo>
                    <a:pt x="0" y="0"/>
                  </a:moveTo>
                  <a:lnTo>
                    <a:pt x="0" y="720725"/>
                  </a:lnTo>
                  <a:lnTo>
                    <a:pt x="3406787" y="720725"/>
                  </a:lnTo>
                  <a:lnTo>
                    <a:pt x="34067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C01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984677" y="3094380"/>
              <a:ext cx="0" cy="526415"/>
            </a:xfrm>
            <a:custGeom>
              <a:avLst/>
              <a:gdLst/>
              <a:ahLst/>
              <a:cxnLst/>
              <a:rect l="l" t="t" r="r" b="b"/>
              <a:pathLst>
                <a:path w="0" h="526414">
                  <a:moveTo>
                    <a:pt x="0" y="0"/>
                  </a:moveTo>
                  <a:lnTo>
                    <a:pt x="0" y="526224"/>
                  </a:lnTo>
                </a:path>
              </a:pathLst>
            </a:custGeom>
            <a:ln w="1944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020540" y="3094380"/>
              <a:ext cx="0" cy="526415"/>
            </a:xfrm>
            <a:custGeom>
              <a:avLst/>
              <a:gdLst/>
              <a:ahLst/>
              <a:cxnLst/>
              <a:rect l="l" t="t" r="r" b="b"/>
              <a:pathLst>
                <a:path w="0" h="526414">
                  <a:moveTo>
                    <a:pt x="0" y="0"/>
                  </a:moveTo>
                  <a:lnTo>
                    <a:pt x="0" y="526224"/>
                  </a:lnTo>
                </a:path>
              </a:pathLst>
            </a:custGeom>
            <a:ln w="1944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558925" y="2997212"/>
            <a:ext cx="3407410" cy="720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9535">
              <a:lnSpc>
                <a:spcPts val="4420"/>
              </a:lnSpc>
              <a:tabLst>
                <a:tab pos="1504315" algn="l"/>
              </a:tabLst>
            </a:pPr>
            <a:r>
              <a:rPr dirty="0" sz="310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3100" spc="4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429" sz="6075" spc="-292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3250" spc="-195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3250" spc="-455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429" sz="6075" spc="-509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429" sz="6075" spc="-48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100" spc="-50">
                <a:solidFill>
                  <a:srgbClr val="231F20"/>
                </a:solidFill>
                <a:latin typeface="Symbol"/>
                <a:cs typeface="Symbol"/>
              </a:rPr>
              <a:t></a:t>
            </a:r>
            <a:r>
              <a:rPr dirty="0" sz="3100">
                <a:solidFill>
                  <a:srgbClr val="231F20"/>
                </a:solidFill>
                <a:latin typeface="Times New Roman"/>
                <a:cs typeface="Times New Roman"/>
              </a:rPr>
              <a:t>	</a:t>
            </a:r>
            <a:r>
              <a:rPr dirty="0" sz="3100" i="1">
                <a:solidFill>
                  <a:srgbClr val="231F20"/>
                </a:solidFill>
                <a:latin typeface="Times New Roman"/>
                <a:cs typeface="Times New Roman"/>
              </a:rPr>
              <a:t>X</a:t>
            </a:r>
            <a:r>
              <a:rPr dirty="0" sz="3100" spc="50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429" sz="6075" spc="-292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sz="3250" spc="-195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sz="3250" spc="-45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-3429" sz="6075" spc="-509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r>
              <a:rPr dirty="0" baseline="-3429" sz="6075" spc="-232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sz="3100" spc="-20" i="1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dirty="0" sz="3100" spc="-335" i="1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49206" sz="2625" spc="-37" i="1">
                <a:solidFill>
                  <a:srgbClr val="231F20"/>
                </a:solidFill>
                <a:latin typeface="Times New Roman"/>
                <a:cs typeface="Times New Roman"/>
              </a:rPr>
              <a:t>j</a:t>
            </a:r>
            <a:r>
              <a:rPr dirty="0" baseline="49206" sz="2625" spc="-37">
                <a:solidFill>
                  <a:srgbClr val="231F20"/>
                </a:solidFill>
                <a:latin typeface="Symbol"/>
                <a:cs typeface="Symbol"/>
              </a:rPr>
              <a:t></a:t>
            </a:r>
            <a:r>
              <a:rPr dirty="0" baseline="33816" sz="3450" spc="-37">
                <a:solidFill>
                  <a:srgbClr val="231F20"/>
                </a:solidFill>
                <a:latin typeface="Symbol"/>
                <a:cs typeface="Symbol"/>
              </a:rPr>
              <a:t></a:t>
            </a:r>
            <a:r>
              <a:rPr dirty="0" baseline="46546" sz="2775" spc="-37">
                <a:solidFill>
                  <a:srgbClr val="231F20"/>
                </a:solidFill>
                <a:latin typeface="Symbol"/>
                <a:cs typeface="Symbol"/>
              </a:rPr>
              <a:t></a:t>
            </a:r>
            <a:r>
              <a:rPr dirty="0" baseline="46546" sz="2775" spc="-397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dirty="0" baseline="33816" sz="3450" spc="-75">
                <a:solidFill>
                  <a:srgbClr val="231F20"/>
                </a:solidFill>
                <a:latin typeface="Symbol"/>
                <a:cs typeface="Symbol"/>
              </a:rPr>
              <a:t></a:t>
            </a:r>
            <a:endParaRPr baseline="33816" sz="3450">
              <a:latin typeface="Symbol"/>
              <a:cs typeface="Symbo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4546612" y="3797312"/>
            <a:ext cx="406400" cy="635000"/>
            <a:chOff x="4546612" y="3797312"/>
            <a:chExt cx="406400" cy="635000"/>
          </a:xfrm>
        </p:grpSpPr>
        <p:sp>
          <p:nvSpPr>
            <p:cNvPr id="30" name="object 30" descr=""/>
            <p:cNvSpPr/>
            <p:nvPr/>
          </p:nvSpPr>
          <p:spPr>
            <a:xfrm>
              <a:off x="4559312" y="3810012"/>
              <a:ext cx="381000" cy="609600"/>
            </a:xfrm>
            <a:custGeom>
              <a:avLst/>
              <a:gdLst/>
              <a:ahLst/>
              <a:cxnLst/>
              <a:rect l="l" t="t" r="r" b="b"/>
              <a:pathLst>
                <a:path w="381000" h="609600">
                  <a:moveTo>
                    <a:pt x="0" y="419100"/>
                  </a:moveTo>
                  <a:lnTo>
                    <a:pt x="190500" y="609600"/>
                  </a:lnTo>
                  <a:lnTo>
                    <a:pt x="381000" y="419099"/>
                  </a:lnTo>
                  <a:lnTo>
                    <a:pt x="285750" y="419099"/>
                  </a:lnTo>
                  <a:lnTo>
                    <a:pt x="285749" y="0"/>
                  </a:lnTo>
                  <a:lnTo>
                    <a:pt x="95249" y="0"/>
                  </a:lnTo>
                  <a:lnTo>
                    <a:pt x="9525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8981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559312" y="3810012"/>
              <a:ext cx="381000" cy="609600"/>
            </a:xfrm>
            <a:custGeom>
              <a:avLst/>
              <a:gdLst/>
              <a:ahLst/>
              <a:cxnLst/>
              <a:rect l="l" t="t" r="r" b="b"/>
              <a:pathLst>
                <a:path w="381000" h="609600">
                  <a:moveTo>
                    <a:pt x="0" y="419100"/>
                  </a:moveTo>
                  <a:lnTo>
                    <a:pt x="95250" y="419100"/>
                  </a:lnTo>
                  <a:lnTo>
                    <a:pt x="95249" y="0"/>
                  </a:lnTo>
                  <a:lnTo>
                    <a:pt x="285749" y="0"/>
                  </a:lnTo>
                  <a:lnTo>
                    <a:pt x="285750" y="419099"/>
                  </a:lnTo>
                  <a:lnTo>
                    <a:pt x="381000" y="419099"/>
                  </a:lnTo>
                  <a:lnTo>
                    <a:pt x="190500" y="609600"/>
                  </a:lnTo>
                  <a:lnTo>
                    <a:pt x="0" y="419100"/>
                  </a:lnTo>
                  <a:close/>
                </a:path>
              </a:pathLst>
            </a:custGeom>
            <a:ln w="2540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 descr=""/>
          <p:cNvGrpSpPr/>
          <p:nvPr/>
        </p:nvGrpSpPr>
        <p:grpSpPr>
          <a:xfrm>
            <a:off x="5397512" y="3758425"/>
            <a:ext cx="3785235" cy="2426970"/>
            <a:chOff x="5397512" y="3758425"/>
            <a:chExt cx="3785235" cy="2426970"/>
          </a:xfrm>
        </p:grpSpPr>
        <p:sp>
          <p:nvSpPr>
            <p:cNvPr id="33" name="object 33" descr=""/>
            <p:cNvSpPr/>
            <p:nvPr/>
          </p:nvSpPr>
          <p:spPr>
            <a:xfrm>
              <a:off x="5410212" y="3771125"/>
              <a:ext cx="3759835" cy="2401570"/>
            </a:xfrm>
            <a:custGeom>
              <a:avLst/>
              <a:gdLst/>
              <a:ahLst/>
              <a:cxnLst/>
              <a:rect l="l" t="t" r="r" b="b"/>
              <a:pathLst>
                <a:path w="3759834" h="2401570">
                  <a:moveTo>
                    <a:pt x="0" y="400177"/>
                  </a:moveTo>
                  <a:lnTo>
                    <a:pt x="0" y="2000885"/>
                  </a:lnTo>
                  <a:lnTo>
                    <a:pt x="2692" y="2047560"/>
                  </a:lnTo>
                  <a:lnTo>
                    <a:pt x="10569" y="2092653"/>
                  </a:lnTo>
                  <a:lnTo>
                    <a:pt x="23330" y="2135863"/>
                  </a:lnTo>
                  <a:lnTo>
                    <a:pt x="40675" y="2176891"/>
                  </a:lnTo>
                  <a:lnTo>
                    <a:pt x="62304" y="2215436"/>
                  </a:lnTo>
                  <a:lnTo>
                    <a:pt x="87917" y="2251198"/>
                  </a:lnTo>
                  <a:lnTo>
                    <a:pt x="117213" y="2283877"/>
                  </a:lnTo>
                  <a:lnTo>
                    <a:pt x="149891" y="2313173"/>
                  </a:lnTo>
                  <a:lnTo>
                    <a:pt x="185652" y="2338785"/>
                  </a:lnTo>
                  <a:lnTo>
                    <a:pt x="224196" y="2360413"/>
                  </a:lnTo>
                  <a:lnTo>
                    <a:pt x="265222" y="2377758"/>
                  </a:lnTo>
                  <a:lnTo>
                    <a:pt x="308430" y="2390518"/>
                  </a:lnTo>
                  <a:lnTo>
                    <a:pt x="353519" y="2398395"/>
                  </a:lnTo>
                  <a:lnTo>
                    <a:pt x="400189" y="2401087"/>
                  </a:lnTo>
                  <a:lnTo>
                    <a:pt x="3359023" y="2401087"/>
                  </a:lnTo>
                  <a:lnTo>
                    <a:pt x="3405693" y="2398395"/>
                  </a:lnTo>
                  <a:lnTo>
                    <a:pt x="3450782" y="2390518"/>
                  </a:lnTo>
                  <a:lnTo>
                    <a:pt x="3493990" y="2377758"/>
                  </a:lnTo>
                  <a:lnTo>
                    <a:pt x="3535016" y="2360413"/>
                  </a:lnTo>
                  <a:lnTo>
                    <a:pt x="3573559" y="2338785"/>
                  </a:lnTo>
                  <a:lnTo>
                    <a:pt x="3609321" y="2313173"/>
                  </a:lnTo>
                  <a:lnTo>
                    <a:pt x="3641999" y="2283877"/>
                  </a:lnTo>
                  <a:lnTo>
                    <a:pt x="3671295" y="2251198"/>
                  </a:lnTo>
                  <a:lnTo>
                    <a:pt x="3696907" y="2215436"/>
                  </a:lnTo>
                  <a:lnTo>
                    <a:pt x="3718536" y="2176891"/>
                  </a:lnTo>
                  <a:lnTo>
                    <a:pt x="3735882" y="2135863"/>
                  </a:lnTo>
                  <a:lnTo>
                    <a:pt x="3748643" y="2092653"/>
                  </a:lnTo>
                  <a:lnTo>
                    <a:pt x="3756520" y="2047560"/>
                  </a:lnTo>
                  <a:lnTo>
                    <a:pt x="3759212" y="2000885"/>
                  </a:lnTo>
                  <a:lnTo>
                    <a:pt x="3759212" y="400176"/>
                  </a:lnTo>
                  <a:lnTo>
                    <a:pt x="3756520" y="353509"/>
                  </a:lnTo>
                  <a:lnTo>
                    <a:pt x="3748643" y="308422"/>
                  </a:lnTo>
                  <a:lnTo>
                    <a:pt x="3735882" y="265216"/>
                  </a:lnTo>
                  <a:lnTo>
                    <a:pt x="3718536" y="224192"/>
                  </a:lnTo>
                  <a:lnTo>
                    <a:pt x="3696907" y="185649"/>
                  </a:lnTo>
                  <a:lnTo>
                    <a:pt x="3671295" y="149889"/>
                  </a:lnTo>
                  <a:lnTo>
                    <a:pt x="3641999" y="117211"/>
                  </a:lnTo>
                  <a:lnTo>
                    <a:pt x="3609321" y="87916"/>
                  </a:lnTo>
                  <a:lnTo>
                    <a:pt x="3573559" y="62304"/>
                  </a:lnTo>
                  <a:lnTo>
                    <a:pt x="3535016" y="40675"/>
                  </a:lnTo>
                  <a:lnTo>
                    <a:pt x="3493990" y="23330"/>
                  </a:lnTo>
                  <a:lnTo>
                    <a:pt x="3450782" y="10569"/>
                  </a:lnTo>
                  <a:lnTo>
                    <a:pt x="3405693" y="2692"/>
                  </a:lnTo>
                  <a:lnTo>
                    <a:pt x="3359023" y="0"/>
                  </a:lnTo>
                  <a:lnTo>
                    <a:pt x="400189" y="0"/>
                  </a:lnTo>
                  <a:lnTo>
                    <a:pt x="353519" y="2692"/>
                  </a:lnTo>
                  <a:lnTo>
                    <a:pt x="308430" y="10569"/>
                  </a:lnTo>
                  <a:lnTo>
                    <a:pt x="265222" y="23330"/>
                  </a:lnTo>
                  <a:lnTo>
                    <a:pt x="224196" y="40675"/>
                  </a:lnTo>
                  <a:lnTo>
                    <a:pt x="185652" y="62304"/>
                  </a:lnTo>
                  <a:lnTo>
                    <a:pt x="149891" y="87916"/>
                  </a:lnTo>
                  <a:lnTo>
                    <a:pt x="117213" y="117211"/>
                  </a:lnTo>
                  <a:lnTo>
                    <a:pt x="87917" y="149889"/>
                  </a:lnTo>
                  <a:lnTo>
                    <a:pt x="62304" y="185649"/>
                  </a:lnTo>
                  <a:lnTo>
                    <a:pt x="40675" y="224192"/>
                  </a:lnTo>
                  <a:lnTo>
                    <a:pt x="23330" y="265216"/>
                  </a:lnTo>
                  <a:lnTo>
                    <a:pt x="10569" y="308422"/>
                  </a:lnTo>
                  <a:lnTo>
                    <a:pt x="2692" y="353509"/>
                  </a:lnTo>
                  <a:lnTo>
                    <a:pt x="0" y="400177"/>
                  </a:lnTo>
                  <a:close/>
                </a:path>
              </a:pathLst>
            </a:custGeom>
            <a:solidFill>
              <a:srgbClr val="98D1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410212" y="3771125"/>
              <a:ext cx="3759835" cy="2401570"/>
            </a:xfrm>
            <a:custGeom>
              <a:avLst/>
              <a:gdLst/>
              <a:ahLst/>
              <a:cxnLst/>
              <a:rect l="l" t="t" r="r" b="b"/>
              <a:pathLst>
                <a:path w="3759834" h="2401570">
                  <a:moveTo>
                    <a:pt x="0" y="400177"/>
                  </a:moveTo>
                  <a:lnTo>
                    <a:pt x="2692" y="353509"/>
                  </a:lnTo>
                  <a:lnTo>
                    <a:pt x="10569" y="308422"/>
                  </a:lnTo>
                  <a:lnTo>
                    <a:pt x="23330" y="265216"/>
                  </a:lnTo>
                  <a:lnTo>
                    <a:pt x="40675" y="224192"/>
                  </a:lnTo>
                  <a:lnTo>
                    <a:pt x="62304" y="185649"/>
                  </a:lnTo>
                  <a:lnTo>
                    <a:pt x="87917" y="149889"/>
                  </a:lnTo>
                  <a:lnTo>
                    <a:pt x="117213" y="117211"/>
                  </a:lnTo>
                  <a:lnTo>
                    <a:pt x="149891" y="87916"/>
                  </a:lnTo>
                  <a:lnTo>
                    <a:pt x="185652" y="62304"/>
                  </a:lnTo>
                  <a:lnTo>
                    <a:pt x="224196" y="40675"/>
                  </a:lnTo>
                  <a:lnTo>
                    <a:pt x="265222" y="23330"/>
                  </a:lnTo>
                  <a:lnTo>
                    <a:pt x="308430" y="10569"/>
                  </a:lnTo>
                  <a:lnTo>
                    <a:pt x="353519" y="2692"/>
                  </a:lnTo>
                  <a:lnTo>
                    <a:pt x="400189" y="0"/>
                  </a:lnTo>
                  <a:lnTo>
                    <a:pt x="3359023" y="0"/>
                  </a:lnTo>
                  <a:lnTo>
                    <a:pt x="3405693" y="2692"/>
                  </a:lnTo>
                  <a:lnTo>
                    <a:pt x="3450782" y="10569"/>
                  </a:lnTo>
                  <a:lnTo>
                    <a:pt x="3493990" y="23330"/>
                  </a:lnTo>
                  <a:lnTo>
                    <a:pt x="3535016" y="40675"/>
                  </a:lnTo>
                  <a:lnTo>
                    <a:pt x="3573559" y="62304"/>
                  </a:lnTo>
                  <a:lnTo>
                    <a:pt x="3609321" y="87916"/>
                  </a:lnTo>
                  <a:lnTo>
                    <a:pt x="3641999" y="117211"/>
                  </a:lnTo>
                  <a:lnTo>
                    <a:pt x="3671295" y="149889"/>
                  </a:lnTo>
                  <a:lnTo>
                    <a:pt x="3696907" y="185649"/>
                  </a:lnTo>
                  <a:lnTo>
                    <a:pt x="3718536" y="224192"/>
                  </a:lnTo>
                  <a:lnTo>
                    <a:pt x="3735882" y="265216"/>
                  </a:lnTo>
                  <a:lnTo>
                    <a:pt x="3748643" y="308422"/>
                  </a:lnTo>
                  <a:lnTo>
                    <a:pt x="3756520" y="353509"/>
                  </a:lnTo>
                  <a:lnTo>
                    <a:pt x="3759212" y="400176"/>
                  </a:lnTo>
                  <a:lnTo>
                    <a:pt x="3759212" y="2000885"/>
                  </a:lnTo>
                  <a:lnTo>
                    <a:pt x="3756520" y="2047560"/>
                  </a:lnTo>
                  <a:lnTo>
                    <a:pt x="3748643" y="2092653"/>
                  </a:lnTo>
                  <a:lnTo>
                    <a:pt x="3735882" y="2135863"/>
                  </a:lnTo>
                  <a:lnTo>
                    <a:pt x="3718536" y="2176891"/>
                  </a:lnTo>
                  <a:lnTo>
                    <a:pt x="3696907" y="2215436"/>
                  </a:lnTo>
                  <a:lnTo>
                    <a:pt x="3671295" y="2251198"/>
                  </a:lnTo>
                  <a:lnTo>
                    <a:pt x="3641999" y="2283877"/>
                  </a:lnTo>
                  <a:lnTo>
                    <a:pt x="3609321" y="2313173"/>
                  </a:lnTo>
                  <a:lnTo>
                    <a:pt x="3573559" y="2338785"/>
                  </a:lnTo>
                  <a:lnTo>
                    <a:pt x="3535016" y="2360413"/>
                  </a:lnTo>
                  <a:lnTo>
                    <a:pt x="3493990" y="2377758"/>
                  </a:lnTo>
                  <a:lnTo>
                    <a:pt x="3450782" y="2390518"/>
                  </a:lnTo>
                  <a:lnTo>
                    <a:pt x="3405693" y="2398395"/>
                  </a:lnTo>
                  <a:lnTo>
                    <a:pt x="3359023" y="2401087"/>
                  </a:lnTo>
                  <a:lnTo>
                    <a:pt x="400189" y="2401087"/>
                  </a:lnTo>
                  <a:lnTo>
                    <a:pt x="353519" y="2398395"/>
                  </a:lnTo>
                  <a:lnTo>
                    <a:pt x="308430" y="2390518"/>
                  </a:lnTo>
                  <a:lnTo>
                    <a:pt x="265222" y="2377758"/>
                  </a:lnTo>
                  <a:lnTo>
                    <a:pt x="224196" y="2360413"/>
                  </a:lnTo>
                  <a:lnTo>
                    <a:pt x="185652" y="2338785"/>
                  </a:lnTo>
                  <a:lnTo>
                    <a:pt x="149891" y="2313173"/>
                  </a:lnTo>
                  <a:lnTo>
                    <a:pt x="117213" y="2283877"/>
                  </a:lnTo>
                  <a:lnTo>
                    <a:pt x="87917" y="2251198"/>
                  </a:lnTo>
                  <a:lnTo>
                    <a:pt x="62304" y="2215436"/>
                  </a:lnTo>
                  <a:lnTo>
                    <a:pt x="40675" y="2176891"/>
                  </a:lnTo>
                  <a:lnTo>
                    <a:pt x="23330" y="2135863"/>
                  </a:lnTo>
                  <a:lnTo>
                    <a:pt x="10569" y="2092653"/>
                  </a:lnTo>
                  <a:lnTo>
                    <a:pt x="2692" y="2047560"/>
                  </a:lnTo>
                  <a:lnTo>
                    <a:pt x="0" y="2000885"/>
                  </a:lnTo>
                  <a:lnTo>
                    <a:pt x="0" y="400177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5618338" y="3983605"/>
            <a:ext cx="3342004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9209" marR="23495" indent="254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3953A4"/>
                </a:solidFill>
                <a:latin typeface="Calibri"/>
                <a:cs typeface="Calibri"/>
              </a:rPr>
              <a:t>For</a:t>
            </a:r>
            <a:r>
              <a:rPr dirty="0" sz="1800" spc="-2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3953A4"/>
                </a:solidFill>
                <a:latin typeface="Calibri"/>
                <a:cs typeface="Calibri"/>
              </a:rPr>
              <a:t>real</a:t>
            </a:r>
            <a:r>
              <a:rPr dirty="0" sz="1800" spc="-2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3953A4"/>
                </a:solidFill>
                <a:latin typeface="Calibri"/>
                <a:cs typeface="Calibri"/>
              </a:rPr>
              <a:t>x(n),</a:t>
            </a:r>
            <a:r>
              <a:rPr dirty="0" sz="1800" spc="-3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3953A4"/>
                </a:solidFill>
                <a:latin typeface="Calibri"/>
                <a:cs typeface="Calibri"/>
              </a:rPr>
              <a:t>fundamental </a:t>
            </a:r>
            <a:r>
              <a:rPr dirty="0" sz="1800" b="1">
                <a:solidFill>
                  <a:srgbClr val="3953A4"/>
                </a:solidFill>
                <a:latin typeface="Calibri"/>
                <a:cs typeface="Calibri"/>
              </a:rPr>
              <a:t>frequency</a:t>
            </a:r>
            <a:r>
              <a:rPr dirty="0" sz="1800" spc="-65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3953A4"/>
                </a:solidFill>
                <a:latin typeface="Calibri"/>
                <a:cs typeface="Calibri"/>
              </a:rPr>
              <a:t>range</a:t>
            </a:r>
            <a:r>
              <a:rPr dirty="0" sz="1800" spc="-60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3953A4"/>
                </a:solidFill>
                <a:latin typeface="Calibri"/>
                <a:cs typeface="Calibri"/>
              </a:rPr>
              <a:t>is</a:t>
            </a:r>
            <a:r>
              <a:rPr dirty="0" sz="1800" spc="-40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3953A4"/>
                </a:solidFill>
                <a:latin typeface="Calibri"/>
                <a:cs typeface="Calibri"/>
              </a:rPr>
              <a:t>further</a:t>
            </a:r>
            <a:r>
              <a:rPr dirty="0" sz="1800" spc="-60" b="1">
                <a:solidFill>
                  <a:srgbClr val="3953A4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3953A4"/>
                </a:solidFill>
                <a:latin typeface="Calibri"/>
                <a:cs typeface="Calibri"/>
              </a:rPr>
              <a:t>reduced </a:t>
            </a:r>
            <a:r>
              <a:rPr dirty="0" sz="1800" spc="-25" b="1">
                <a:solidFill>
                  <a:srgbClr val="3953A4"/>
                </a:solidFill>
                <a:latin typeface="Calibri"/>
                <a:cs typeface="Calibri"/>
              </a:rPr>
              <a:t>to:</a:t>
            </a:r>
            <a:endParaRPr sz="1800">
              <a:latin typeface="Calibri"/>
              <a:cs typeface="Calibri"/>
            </a:endParaRPr>
          </a:p>
          <a:p>
            <a:pPr algn="ctr" marL="90170" marR="82550">
              <a:lnSpc>
                <a:spcPct val="100000"/>
              </a:lnSpc>
            </a:pP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Cyclic</a:t>
            </a:r>
            <a:r>
              <a:rPr dirty="0" sz="1800" spc="-5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frequency</a:t>
            </a:r>
            <a:r>
              <a:rPr dirty="0" sz="1800" spc="-6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i.e.</a:t>
            </a:r>
            <a:r>
              <a:rPr dirty="0" sz="1800" spc="-4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f</a:t>
            </a:r>
            <a:r>
              <a:rPr dirty="0" sz="1800" spc="-1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goes</a:t>
            </a:r>
            <a:r>
              <a:rPr dirty="0" sz="18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from</a:t>
            </a:r>
            <a:r>
              <a:rPr dirty="0" sz="1800" spc="-2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ED2024"/>
                </a:solidFill>
                <a:latin typeface="Calibri"/>
                <a:cs typeface="Calibri"/>
              </a:rPr>
              <a:t>0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to</a:t>
            </a:r>
            <a:r>
              <a:rPr dirty="0" sz="1800" spc="-3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Fs/2</a:t>
            </a:r>
            <a:r>
              <a:rPr dirty="0" sz="1800" spc="38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u="heavy" sz="1800" spc="-25" b="1">
                <a:solidFill>
                  <a:srgbClr val="3953A4"/>
                </a:solidFill>
                <a:uFill>
                  <a:solidFill>
                    <a:srgbClr val="3953A4"/>
                  </a:solidFill>
                </a:uFill>
                <a:latin typeface="Calibri"/>
                <a:cs typeface="Calibri"/>
              </a:rPr>
              <a:t>or</a:t>
            </a:r>
            <a:endParaRPr sz="18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Radian</a:t>
            </a:r>
            <a:r>
              <a:rPr dirty="0" sz="1800" spc="-3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frequency</a:t>
            </a:r>
            <a:r>
              <a:rPr dirty="0" sz="1800" spc="-4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i.e.</a:t>
            </a:r>
            <a:r>
              <a:rPr dirty="0" sz="1800" spc="36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Small</a:t>
            </a:r>
            <a:r>
              <a:rPr dirty="0" sz="1800" spc="-2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ED2024"/>
                </a:solidFill>
                <a:latin typeface="Calibri"/>
                <a:cs typeface="Calibri"/>
              </a:rPr>
              <a:t>omega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goes</a:t>
            </a:r>
            <a:r>
              <a:rPr dirty="0" sz="1800" spc="-5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from</a:t>
            </a:r>
            <a:r>
              <a:rPr dirty="0" sz="1800" spc="-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0</a:t>
            </a:r>
            <a:r>
              <a:rPr dirty="0" sz="1800" spc="-20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ED2024"/>
                </a:solidFill>
                <a:latin typeface="Calibri"/>
                <a:cs typeface="Calibri"/>
              </a:rPr>
              <a:t>to</a:t>
            </a:r>
            <a:r>
              <a:rPr dirty="0" sz="1800" spc="-1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1800" spc="-25" b="1">
                <a:solidFill>
                  <a:srgbClr val="ED2024"/>
                </a:solidFill>
                <a:latin typeface="Calibri"/>
                <a:cs typeface="Calibri"/>
              </a:rPr>
              <a:t>pi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59775" cy="1290955"/>
            <a:chOff x="914400" y="731837"/>
            <a:chExt cx="835977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944" y="790956"/>
              <a:ext cx="734264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8588" y="790956"/>
              <a:ext cx="854963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8588" y="790956"/>
              <a:ext cx="725424" cy="108388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Discrete</a:t>
            </a:r>
            <a:r>
              <a:rPr dirty="0" spc="-114"/>
              <a:t> </a:t>
            </a:r>
            <a:r>
              <a:rPr dirty="0"/>
              <a:t>time</a:t>
            </a:r>
            <a:r>
              <a:rPr dirty="0" spc="-114"/>
              <a:t> </a:t>
            </a:r>
            <a:r>
              <a:rPr dirty="0"/>
              <a:t>Fourier</a:t>
            </a:r>
            <a:r>
              <a:rPr dirty="0" spc="-120"/>
              <a:t> </a:t>
            </a:r>
            <a:r>
              <a:rPr dirty="0" spc="-35"/>
              <a:t>Transform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0555" y="2216772"/>
            <a:ext cx="7168021" cy="3681639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59775" cy="1290955"/>
            <a:chOff x="914400" y="731837"/>
            <a:chExt cx="835977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944" y="790956"/>
              <a:ext cx="734264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8588" y="790956"/>
              <a:ext cx="854963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8588" y="790956"/>
              <a:ext cx="725424" cy="108388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Discrete</a:t>
            </a:r>
            <a:r>
              <a:rPr dirty="0" spc="-114"/>
              <a:t> </a:t>
            </a:r>
            <a:r>
              <a:rPr dirty="0"/>
              <a:t>time</a:t>
            </a:r>
            <a:r>
              <a:rPr dirty="0" spc="-114"/>
              <a:t> </a:t>
            </a:r>
            <a:r>
              <a:rPr dirty="0"/>
              <a:t>Fourier</a:t>
            </a:r>
            <a:r>
              <a:rPr dirty="0" spc="-120"/>
              <a:t> </a:t>
            </a:r>
            <a:r>
              <a:rPr dirty="0" spc="-35"/>
              <a:t>Transform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9972" y="2369172"/>
            <a:ext cx="6582312" cy="4183678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59775" cy="1290955"/>
            <a:chOff x="914400" y="731837"/>
            <a:chExt cx="835977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944" y="790956"/>
              <a:ext cx="734264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8588" y="790956"/>
              <a:ext cx="854963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8588" y="790956"/>
              <a:ext cx="725424" cy="108388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Discrete</a:t>
            </a:r>
            <a:r>
              <a:rPr dirty="0" spc="-114"/>
              <a:t> </a:t>
            </a:r>
            <a:r>
              <a:rPr dirty="0"/>
              <a:t>time</a:t>
            </a:r>
            <a:r>
              <a:rPr dirty="0" spc="-114"/>
              <a:t> </a:t>
            </a:r>
            <a:r>
              <a:rPr dirty="0"/>
              <a:t>Fourier</a:t>
            </a:r>
            <a:r>
              <a:rPr dirty="0" spc="-120"/>
              <a:t> </a:t>
            </a:r>
            <a:r>
              <a:rPr dirty="0" spc="-35"/>
              <a:t>Transform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1285" y="2127872"/>
            <a:ext cx="7154079" cy="4797283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9839" y="790956"/>
              <a:ext cx="4433328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91640" y="790956"/>
              <a:ext cx="126492" cy="123139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3168" y="790956"/>
              <a:ext cx="728472" cy="12313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1960880">
              <a:lnSpc>
                <a:spcPct val="100000"/>
              </a:lnSpc>
              <a:spcBef>
                <a:spcPts val="105"/>
              </a:spcBef>
            </a:pPr>
            <a:r>
              <a:rPr dirty="0"/>
              <a:t>Frequency</a:t>
            </a:r>
            <a:r>
              <a:rPr dirty="0" spc="-150"/>
              <a:t> </a:t>
            </a:r>
            <a:r>
              <a:rPr dirty="0" spc="-10"/>
              <a:t>Analysis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1206" y="2165159"/>
            <a:ext cx="8037721" cy="4779536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59775" cy="1290955"/>
            <a:chOff x="914400" y="731837"/>
            <a:chExt cx="835977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944" y="790956"/>
              <a:ext cx="734264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8588" y="790956"/>
              <a:ext cx="854963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8588" y="790956"/>
              <a:ext cx="725424" cy="108388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Discrete</a:t>
            </a:r>
            <a:r>
              <a:rPr dirty="0" spc="-114"/>
              <a:t> </a:t>
            </a:r>
            <a:r>
              <a:rPr dirty="0"/>
              <a:t>time</a:t>
            </a:r>
            <a:r>
              <a:rPr dirty="0" spc="-114"/>
              <a:t> </a:t>
            </a:r>
            <a:r>
              <a:rPr dirty="0"/>
              <a:t>Fourier</a:t>
            </a:r>
            <a:r>
              <a:rPr dirty="0" spc="-120"/>
              <a:t> </a:t>
            </a:r>
            <a:r>
              <a:rPr dirty="0" spc="-35"/>
              <a:t>Transform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899477" y="1876425"/>
            <a:ext cx="8341995" cy="5389880"/>
            <a:chOff x="899477" y="1876425"/>
            <a:chExt cx="8341995" cy="5389880"/>
          </a:xfrm>
        </p:grpSpPr>
        <p:sp>
          <p:nvSpPr>
            <p:cNvPr id="8" name="object 8" descr=""/>
            <p:cNvSpPr/>
            <p:nvPr/>
          </p:nvSpPr>
          <p:spPr>
            <a:xfrm>
              <a:off x="914399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9477" y="1992160"/>
              <a:ext cx="8341982" cy="52739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359775" cy="1290955"/>
            <a:chOff x="914400" y="731837"/>
            <a:chExt cx="8359775" cy="12909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944" y="790956"/>
              <a:ext cx="7342644" cy="12313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8588" y="790956"/>
              <a:ext cx="854963" cy="12313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8588" y="790956"/>
              <a:ext cx="725424" cy="108388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marL="506730">
              <a:lnSpc>
                <a:spcPct val="100000"/>
              </a:lnSpc>
              <a:spcBef>
                <a:spcPts val="105"/>
              </a:spcBef>
            </a:pPr>
            <a:r>
              <a:rPr dirty="0"/>
              <a:t>Discrete</a:t>
            </a:r>
            <a:r>
              <a:rPr dirty="0" spc="-114"/>
              <a:t> </a:t>
            </a:r>
            <a:r>
              <a:rPr dirty="0"/>
              <a:t>time</a:t>
            </a:r>
            <a:r>
              <a:rPr dirty="0" spc="-114"/>
              <a:t> </a:t>
            </a:r>
            <a:r>
              <a:rPr dirty="0"/>
              <a:t>Fourier</a:t>
            </a:r>
            <a:r>
              <a:rPr dirty="0" spc="-120"/>
              <a:t> </a:t>
            </a:r>
            <a:r>
              <a:rPr dirty="0" spc="-35"/>
              <a:t>Transform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908037" y="1876425"/>
            <a:ext cx="8236584" cy="5332730"/>
            <a:chOff x="908037" y="1876425"/>
            <a:chExt cx="8236584" cy="5332730"/>
          </a:xfrm>
        </p:grpSpPr>
        <p:sp>
          <p:nvSpPr>
            <p:cNvPr id="8" name="object 8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8037" y="1985771"/>
              <a:ext cx="7606677" cy="52232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3592" y="1143000"/>
            <a:ext cx="775715" cy="11186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046730" marR="5080" indent="-2046605">
              <a:lnSpc>
                <a:spcPct val="100000"/>
              </a:lnSpc>
              <a:spcBef>
                <a:spcPts val="95"/>
              </a:spcBef>
            </a:pPr>
            <a:r>
              <a:rPr dirty="0" sz="4000" spc="-10">
                <a:solidFill>
                  <a:srgbClr val="3953A4"/>
                </a:solidFill>
              </a:rPr>
              <a:t>Relationship</a:t>
            </a:r>
            <a:r>
              <a:rPr dirty="0" sz="4000" spc="-65">
                <a:solidFill>
                  <a:srgbClr val="3953A4"/>
                </a:solidFill>
              </a:rPr>
              <a:t> </a:t>
            </a:r>
            <a:r>
              <a:rPr dirty="0" sz="4000">
                <a:solidFill>
                  <a:srgbClr val="3953A4"/>
                </a:solidFill>
              </a:rPr>
              <a:t>of</a:t>
            </a:r>
            <a:r>
              <a:rPr dirty="0" sz="4000" spc="-70">
                <a:solidFill>
                  <a:srgbClr val="3953A4"/>
                </a:solidFill>
              </a:rPr>
              <a:t> </a:t>
            </a:r>
            <a:r>
              <a:rPr dirty="0" sz="4000">
                <a:solidFill>
                  <a:srgbClr val="3953A4"/>
                </a:solidFill>
              </a:rPr>
              <a:t>DTFT</a:t>
            </a:r>
            <a:r>
              <a:rPr dirty="0" sz="4000" spc="-95">
                <a:solidFill>
                  <a:srgbClr val="3953A4"/>
                </a:solidFill>
              </a:rPr>
              <a:t> </a:t>
            </a:r>
            <a:r>
              <a:rPr dirty="0" sz="4000">
                <a:solidFill>
                  <a:srgbClr val="3953A4"/>
                </a:solidFill>
              </a:rPr>
              <a:t>to</a:t>
            </a:r>
            <a:r>
              <a:rPr dirty="0" sz="4000" spc="-90">
                <a:solidFill>
                  <a:srgbClr val="3953A4"/>
                </a:solidFill>
              </a:rPr>
              <a:t> </a:t>
            </a:r>
            <a:r>
              <a:rPr dirty="0" sz="4000">
                <a:solidFill>
                  <a:srgbClr val="3953A4"/>
                </a:solidFill>
              </a:rPr>
              <a:t>the</a:t>
            </a:r>
            <a:r>
              <a:rPr dirty="0" sz="4000" spc="-90">
                <a:solidFill>
                  <a:srgbClr val="3953A4"/>
                </a:solidFill>
              </a:rPr>
              <a:t> </a:t>
            </a:r>
            <a:r>
              <a:rPr dirty="0" sz="4000" spc="-25">
                <a:solidFill>
                  <a:srgbClr val="3953A4"/>
                </a:solidFill>
              </a:rPr>
              <a:t>Z- </a:t>
            </a:r>
            <a:r>
              <a:rPr dirty="0" sz="4000" spc="-10">
                <a:solidFill>
                  <a:srgbClr val="3953A4"/>
                </a:solidFill>
              </a:rPr>
              <a:t>Transform</a:t>
            </a:r>
            <a:endParaRPr sz="4000"/>
          </a:p>
        </p:txBody>
      </p:sp>
      <p:grpSp>
        <p:nvGrpSpPr>
          <p:cNvPr id="4" name="object 4" descr=""/>
          <p:cNvGrpSpPr/>
          <p:nvPr/>
        </p:nvGrpSpPr>
        <p:grpSpPr>
          <a:xfrm>
            <a:off x="914400" y="1876425"/>
            <a:ext cx="8230234" cy="5172075"/>
            <a:chOff x="914400" y="1876425"/>
            <a:chExt cx="8230234" cy="5172075"/>
          </a:xfrm>
        </p:grpSpPr>
        <p:sp>
          <p:nvSpPr>
            <p:cNvPr id="5" name="object 5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4915" y="2144560"/>
              <a:ext cx="6695135" cy="49034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3592" y="1143000"/>
            <a:ext cx="775715" cy="11186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047365" marR="5080" indent="-1990725">
              <a:lnSpc>
                <a:spcPct val="100000"/>
              </a:lnSpc>
              <a:spcBef>
                <a:spcPts val="95"/>
              </a:spcBef>
            </a:pPr>
            <a:r>
              <a:rPr dirty="0" sz="4000" spc="-10">
                <a:solidFill>
                  <a:srgbClr val="3953A4"/>
                </a:solidFill>
              </a:rPr>
              <a:t>Relationship</a:t>
            </a:r>
            <a:r>
              <a:rPr dirty="0" sz="4000" spc="-65">
                <a:solidFill>
                  <a:srgbClr val="3953A4"/>
                </a:solidFill>
              </a:rPr>
              <a:t> </a:t>
            </a:r>
            <a:r>
              <a:rPr dirty="0" sz="4000">
                <a:solidFill>
                  <a:srgbClr val="3953A4"/>
                </a:solidFill>
              </a:rPr>
              <a:t>of</a:t>
            </a:r>
            <a:r>
              <a:rPr dirty="0" sz="4000" spc="-95">
                <a:solidFill>
                  <a:srgbClr val="3953A4"/>
                </a:solidFill>
              </a:rPr>
              <a:t> </a:t>
            </a:r>
            <a:r>
              <a:rPr dirty="0" sz="4000">
                <a:solidFill>
                  <a:srgbClr val="3953A4"/>
                </a:solidFill>
              </a:rPr>
              <a:t>DTFT</a:t>
            </a:r>
            <a:r>
              <a:rPr dirty="0" sz="4000" spc="-90">
                <a:solidFill>
                  <a:srgbClr val="3953A4"/>
                </a:solidFill>
              </a:rPr>
              <a:t> </a:t>
            </a:r>
            <a:r>
              <a:rPr dirty="0" sz="4000">
                <a:solidFill>
                  <a:srgbClr val="3953A4"/>
                </a:solidFill>
              </a:rPr>
              <a:t>to</a:t>
            </a:r>
            <a:r>
              <a:rPr dirty="0" sz="4000" spc="-90">
                <a:solidFill>
                  <a:srgbClr val="3953A4"/>
                </a:solidFill>
              </a:rPr>
              <a:t> </a:t>
            </a:r>
            <a:r>
              <a:rPr dirty="0" sz="4000">
                <a:solidFill>
                  <a:srgbClr val="3953A4"/>
                </a:solidFill>
              </a:rPr>
              <a:t>the</a:t>
            </a:r>
            <a:r>
              <a:rPr dirty="0" sz="4000" spc="-90">
                <a:solidFill>
                  <a:srgbClr val="3953A4"/>
                </a:solidFill>
              </a:rPr>
              <a:t> </a:t>
            </a:r>
            <a:r>
              <a:rPr dirty="0" sz="4000" spc="-25">
                <a:solidFill>
                  <a:srgbClr val="3953A4"/>
                </a:solidFill>
              </a:rPr>
              <a:t>Z- </a:t>
            </a:r>
            <a:r>
              <a:rPr dirty="0" sz="4000" spc="-10">
                <a:solidFill>
                  <a:srgbClr val="3953A4"/>
                </a:solidFill>
              </a:rPr>
              <a:t>Transform</a:t>
            </a:r>
            <a:endParaRPr sz="4000"/>
          </a:p>
        </p:txBody>
      </p:sp>
      <p:grpSp>
        <p:nvGrpSpPr>
          <p:cNvPr id="4" name="object 4" descr=""/>
          <p:cNvGrpSpPr/>
          <p:nvPr/>
        </p:nvGrpSpPr>
        <p:grpSpPr>
          <a:xfrm>
            <a:off x="914400" y="1876425"/>
            <a:ext cx="8230234" cy="5075555"/>
            <a:chOff x="914400" y="1876425"/>
            <a:chExt cx="8230234" cy="5075555"/>
          </a:xfrm>
        </p:grpSpPr>
        <p:sp>
          <p:nvSpPr>
            <p:cNvPr id="5" name="object 5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1597" y="2069312"/>
              <a:ext cx="6684657" cy="48825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25424" y="1143000"/>
            <a:ext cx="775716" cy="11186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05660" marR="5080" indent="-1622425">
              <a:lnSpc>
                <a:spcPct val="100000"/>
              </a:lnSpc>
              <a:spcBef>
                <a:spcPts val="95"/>
              </a:spcBef>
            </a:pPr>
            <a:r>
              <a:rPr dirty="0" sz="4000" spc="-35">
                <a:solidFill>
                  <a:srgbClr val="3953A4"/>
                </a:solidFill>
              </a:rPr>
              <a:t>Frequency-</a:t>
            </a:r>
            <a:r>
              <a:rPr dirty="0" sz="4000">
                <a:solidFill>
                  <a:srgbClr val="3953A4"/>
                </a:solidFill>
              </a:rPr>
              <a:t>Domain</a:t>
            </a:r>
            <a:r>
              <a:rPr dirty="0" sz="4000" spc="-75">
                <a:solidFill>
                  <a:srgbClr val="3953A4"/>
                </a:solidFill>
              </a:rPr>
              <a:t> </a:t>
            </a:r>
            <a:r>
              <a:rPr dirty="0" sz="4000" spc="-10">
                <a:solidFill>
                  <a:srgbClr val="3953A4"/>
                </a:solidFill>
              </a:rPr>
              <a:t>classification</a:t>
            </a:r>
            <a:r>
              <a:rPr dirty="0" sz="4000" spc="-35">
                <a:solidFill>
                  <a:srgbClr val="3953A4"/>
                </a:solidFill>
              </a:rPr>
              <a:t> </a:t>
            </a:r>
            <a:r>
              <a:rPr dirty="0" sz="4000" spc="-25">
                <a:solidFill>
                  <a:srgbClr val="3953A4"/>
                </a:solidFill>
              </a:rPr>
              <a:t>of </a:t>
            </a:r>
            <a:r>
              <a:rPr dirty="0" sz="4000">
                <a:solidFill>
                  <a:srgbClr val="3953A4"/>
                </a:solidFill>
              </a:rPr>
              <a:t>Signals:</a:t>
            </a:r>
            <a:r>
              <a:rPr dirty="0" sz="4000" spc="-145">
                <a:solidFill>
                  <a:srgbClr val="3953A4"/>
                </a:solidFill>
              </a:rPr>
              <a:t> </a:t>
            </a:r>
            <a:r>
              <a:rPr dirty="0" sz="4000" spc="-10"/>
              <a:t>Bandwidth</a:t>
            </a:r>
            <a:endParaRPr sz="4000"/>
          </a:p>
        </p:txBody>
      </p:sp>
      <p:grpSp>
        <p:nvGrpSpPr>
          <p:cNvPr id="4" name="object 4" descr=""/>
          <p:cNvGrpSpPr/>
          <p:nvPr/>
        </p:nvGrpSpPr>
        <p:grpSpPr>
          <a:xfrm>
            <a:off x="914400" y="1876425"/>
            <a:ext cx="8230234" cy="5291455"/>
            <a:chOff x="914400" y="1876425"/>
            <a:chExt cx="8230234" cy="5291455"/>
          </a:xfrm>
        </p:grpSpPr>
        <p:sp>
          <p:nvSpPr>
            <p:cNvPr id="5" name="object 5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0762" y="2014537"/>
              <a:ext cx="4895862" cy="51530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25424" y="1143000"/>
            <a:ext cx="775716" cy="11186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05660" marR="5080" indent="-1622425">
              <a:lnSpc>
                <a:spcPct val="100000"/>
              </a:lnSpc>
              <a:spcBef>
                <a:spcPts val="95"/>
              </a:spcBef>
            </a:pPr>
            <a:r>
              <a:rPr dirty="0" sz="4000" spc="-35">
                <a:solidFill>
                  <a:srgbClr val="3953A4"/>
                </a:solidFill>
              </a:rPr>
              <a:t>Frequency-</a:t>
            </a:r>
            <a:r>
              <a:rPr dirty="0" sz="4000">
                <a:solidFill>
                  <a:srgbClr val="3953A4"/>
                </a:solidFill>
              </a:rPr>
              <a:t>Domain</a:t>
            </a:r>
            <a:r>
              <a:rPr dirty="0" sz="4000" spc="-75">
                <a:solidFill>
                  <a:srgbClr val="3953A4"/>
                </a:solidFill>
              </a:rPr>
              <a:t> </a:t>
            </a:r>
            <a:r>
              <a:rPr dirty="0" sz="4000" spc="-10">
                <a:solidFill>
                  <a:srgbClr val="3953A4"/>
                </a:solidFill>
              </a:rPr>
              <a:t>classification</a:t>
            </a:r>
            <a:r>
              <a:rPr dirty="0" sz="4000" spc="-35">
                <a:solidFill>
                  <a:srgbClr val="3953A4"/>
                </a:solidFill>
              </a:rPr>
              <a:t> </a:t>
            </a:r>
            <a:r>
              <a:rPr dirty="0" sz="4000" spc="-25">
                <a:solidFill>
                  <a:srgbClr val="3953A4"/>
                </a:solidFill>
              </a:rPr>
              <a:t>of </a:t>
            </a:r>
            <a:r>
              <a:rPr dirty="0" sz="4000">
                <a:solidFill>
                  <a:srgbClr val="3953A4"/>
                </a:solidFill>
              </a:rPr>
              <a:t>Signals:</a:t>
            </a:r>
            <a:r>
              <a:rPr dirty="0" sz="4000" spc="-145">
                <a:solidFill>
                  <a:srgbClr val="3953A4"/>
                </a:solidFill>
              </a:rPr>
              <a:t> </a:t>
            </a:r>
            <a:r>
              <a:rPr dirty="0" sz="4000" spc="-10"/>
              <a:t>Bandwidth</a:t>
            </a:r>
            <a:endParaRPr sz="4000"/>
          </a:p>
        </p:txBody>
      </p:sp>
      <p:grpSp>
        <p:nvGrpSpPr>
          <p:cNvPr id="4" name="object 4" descr=""/>
          <p:cNvGrpSpPr/>
          <p:nvPr/>
        </p:nvGrpSpPr>
        <p:grpSpPr>
          <a:xfrm>
            <a:off x="914400" y="1876425"/>
            <a:ext cx="8367395" cy="4949190"/>
            <a:chOff x="914400" y="1876425"/>
            <a:chExt cx="8367395" cy="4949190"/>
          </a:xfrm>
        </p:grpSpPr>
        <p:sp>
          <p:nvSpPr>
            <p:cNvPr id="5" name="object 5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9576" y="2111311"/>
              <a:ext cx="8252091" cy="47138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6328" y="757097"/>
            <a:ext cx="8133032" cy="6292798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3776" y="1143000"/>
            <a:ext cx="775716" cy="11186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336800" marR="5080" indent="-2108200">
              <a:lnSpc>
                <a:spcPct val="100000"/>
              </a:lnSpc>
              <a:spcBef>
                <a:spcPts val="95"/>
              </a:spcBef>
            </a:pPr>
            <a:r>
              <a:rPr dirty="0" sz="4000" spc="-35"/>
              <a:t>Frequency-</a:t>
            </a:r>
            <a:r>
              <a:rPr dirty="0" sz="4000"/>
              <a:t>Domain</a:t>
            </a:r>
            <a:r>
              <a:rPr dirty="0" sz="4000" spc="-5"/>
              <a:t> </a:t>
            </a:r>
            <a:r>
              <a:rPr dirty="0" sz="4000">
                <a:solidFill>
                  <a:srgbClr val="3953A4"/>
                </a:solidFill>
              </a:rPr>
              <a:t>and</a:t>
            </a:r>
            <a:r>
              <a:rPr dirty="0" sz="4000" spc="-35">
                <a:solidFill>
                  <a:srgbClr val="3953A4"/>
                </a:solidFill>
              </a:rPr>
              <a:t> </a:t>
            </a:r>
            <a:r>
              <a:rPr dirty="0" sz="4000" spc="-25">
                <a:solidFill>
                  <a:srgbClr val="00B04F"/>
                </a:solidFill>
              </a:rPr>
              <a:t>Time-</a:t>
            </a:r>
            <a:r>
              <a:rPr dirty="0" sz="4000" spc="-10">
                <a:solidFill>
                  <a:srgbClr val="00B04F"/>
                </a:solidFill>
              </a:rPr>
              <a:t>Domain </a:t>
            </a:r>
            <a:r>
              <a:rPr dirty="0" sz="4000">
                <a:solidFill>
                  <a:srgbClr val="3953A4"/>
                </a:solidFill>
              </a:rPr>
              <a:t>Signal</a:t>
            </a:r>
            <a:r>
              <a:rPr dirty="0" sz="4000" spc="-85">
                <a:solidFill>
                  <a:srgbClr val="3953A4"/>
                </a:solidFill>
              </a:rPr>
              <a:t> </a:t>
            </a:r>
            <a:r>
              <a:rPr dirty="0" sz="4000" spc="-10">
                <a:solidFill>
                  <a:srgbClr val="3953A4"/>
                </a:solidFill>
              </a:rPr>
              <a:t>Properties</a:t>
            </a:r>
            <a:endParaRPr sz="4000"/>
          </a:p>
        </p:txBody>
      </p:sp>
      <p:sp>
        <p:nvSpPr>
          <p:cNvPr id="4" name="object 4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0568" y="2986073"/>
            <a:ext cx="6693882" cy="1850961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5529" y="728281"/>
            <a:ext cx="5578232" cy="6223641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5518" y="722522"/>
            <a:ext cx="6846016" cy="6212121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24" y="790956"/>
            <a:ext cx="854964" cy="12313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algn="ctr" marL="123189">
              <a:lnSpc>
                <a:spcPct val="100000"/>
              </a:lnSpc>
              <a:spcBef>
                <a:spcPts val="105"/>
              </a:spcBef>
            </a:pPr>
            <a:r>
              <a:rPr dirty="0"/>
              <a:t>Important</a:t>
            </a:r>
            <a:r>
              <a:rPr dirty="0" spc="-135"/>
              <a:t> </a:t>
            </a:r>
            <a:r>
              <a:rPr dirty="0"/>
              <a:t>DTFT</a:t>
            </a:r>
            <a:r>
              <a:rPr dirty="0" spc="-130"/>
              <a:t> </a:t>
            </a:r>
            <a:r>
              <a:rPr dirty="0" spc="-10"/>
              <a:t>Properties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7893" y="2231568"/>
            <a:ext cx="6096863" cy="4771465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901700" y="2070100"/>
            <a:ext cx="1549400" cy="711200"/>
            <a:chOff x="901700" y="2070100"/>
            <a:chExt cx="1549400" cy="711200"/>
          </a:xfrm>
        </p:grpSpPr>
        <p:sp>
          <p:nvSpPr>
            <p:cNvPr id="7" name="object 7" descr=""/>
            <p:cNvSpPr/>
            <p:nvPr/>
          </p:nvSpPr>
          <p:spPr>
            <a:xfrm>
              <a:off x="914400" y="2082800"/>
              <a:ext cx="1524000" cy="685800"/>
            </a:xfrm>
            <a:custGeom>
              <a:avLst/>
              <a:gdLst/>
              <a:ahLst/>
              <a:cxnLst/>
              <a:rect l="l" t="t" r="r" b="b"/>
              <a:pathLst>
                <a:path w="15240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1409700" y="685799"/>
                  </a:lnTo>
                  <a:lnTo>
                    <a:pt x="1454187" y="676816"/>
                  </a:lnTo>
                  <a:lnTo>
                    <a:pt x="1490519" y="652319"/>
                  </a:lnTo>
                  <a:lnTo>
                    <a:pt x="1515016" y="615987"/>
                  </a:lnTo>
                  <a:lnTo>
                    <a:pt x="1524000" y="571499"/>
                  </a:lnTo>
                  <a:lnTo>
                    <a:pt x="1524000" y="114299"/>
                  </a:lnTo>
                  <a:lnTo>
                    <a:pt x="1515016" y="69806"/>
                  </a:lnTo>
                  <a:lnTo>
                    <a:pt x="1490519" y="33475"/>
                  </a:lnTo>
                  <a:lnTo>
                    <a:pt x="1454187" y="8981"/>
                  </a:lnTo>
                  <a:lnTo>
                    <a:pt x="14097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4400" y="2082800"/>
              <a:ext cx="1524000" cy="685800"/>
            </a:xfrm>
            <a:custGeom>
              <a:avLst/>
              <a:gdLst/>
              <a:ahLst/>
              <a:cxnLst/>
              <a:rect l="l" t="t" r="r" b="b"/>
              <a:pathLst>
                <a:path w="15240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1409700" y="0"/>
                  </a:lnTo>
                  <a:lnTo>
                    <a:pt x="1454187" y="8981"/>
                  </a:lnTo>
                  <a:lnTo>
                    <a:pt x="1490519" y="33475"/>
                  </a:lnTo>
                  <a:lnTo>
                    <a:pt x="1515016" y="69806"/>
                  </a:lnTo>
                  <a:lnTo>
                    <a:pt x="1524000" y="114299"/>
                  </a:lnTo>
                  <a:lnTo>
                    <a:pt x="1524000" y="571499"/>
                  </a:lnTo>
                  <a:lnTo>
                    <a:pt x="1515016" y="615987"/>
                  </a:lnTo>
                  <a:lnTo>
                    <a:pt x="1490519" y="652319"/>
                  </a:lnTo>
                  <a:lnTo>
                    <a:pt x="1454187" y="676816"/>
                  </a:lnTo>
                  <a:lnTo>
                    <a:pt x="1409700" y="685799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399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123157" y="2243841"/>
            <a:ext cx="110490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Symmetry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24" y="790956"/>
            <a:ext cx="854964" cy="12313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algn="ctr" marL="123189">
              <a:lnSpc>
                <a:spcPct val="100000"/>
              </a:lnSpc>
              <a:spcBef>
                <a:spcPts val="105"/>
              </a:spcBef>
            </a:pPr>
            <a:r>
              <a:rPr dirty="0"/>
              <a:t>Important</a:t>
            </a:r>
            <a:r>
              <a:rPr dirty="0" spc="-135"/>
              <a:t> </a:t>
            </a:r>
            <a:r>
              <a:rPr dirty="0"/>
              <a:t>DTFT</a:t>
            </a:r>
            <a:r>
              <a:rPr dirty="0" spc="-130"/>
              <a:t> </a:t>
            </a:r>
            <a:r>
              <a:rPr dirty="0" spc="-10"/>
              <a:t>Properties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901700" y="2070100"/>
            <a:ext cx="1854200" cy="711200"/>
            <a:chOff x="901700" y="2070100"/>
            <a:chExt cx="1854200" cy="711200"/>
          </a:xfrm>
        </p:grpSpPr>
        <p:sp>
          <p:nvSpPr>
            <p:cNvPr id="6" name="object 6" descr=""/>
            <p:cNvSpPr/>
            <p:nvPr/>
          </p:nvSpPr>
          <p:spPr>
            <a:xfrm>
              <a:off x="914400" y="2082800"/>
              <a:ext cx="1828800" cy="685800"/>
            </a:xfrm>
            <a:custGeom>
              <a:avLst/>
              <a:gdLst/>
              <a:ahLst/>
              <a:cxnLst/>
              <a:rect l="l" t="t" r="r" b="b"/>
              <a:pathLst>
                <a:path w="18288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1714500" y="685799"/>
                  </a:lnTo>
                  <a:lnTo>
                    <a:pt x="1758987" y="676816"/>
                  </a:lnTo>
                  <a:lnTo>
                    <a:pt x="1795319" y="652319"/>
                  </a:lnTo>
                  <a:lnTo>
                    <a:pt x="1819816" y="615987"/>
                  </a:lnTo>
                  <a:lnTo>
                    <a:pt x="1828800" y="571499"/>
                  </a:lnTo>
                  <a:lnTo>
                    <a:pt x="1828800" y="114299"/>
                  </a:lnTo>
                  <a:lnTo>
                    <a:pt x="1819816" y="69806"/>
                  </a:lnTo>
                  <a:lnTo>
                    <a:pt x="1795319" y="33475"/>
                  </a:lnTo>
                  <a:lnTo>
                    <a:pt x="1758987" y="8981"/>
                  </a:lnTo>
                  <a:lnTo>
                    <a:pt x="17145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400" y="2082800"/>
              <a:ext cx="1828800" cy="685800"/>
            </a:xfrm>
            <a:custGeom>
              <a:avLst/>
              <a:gdLst/>
              <a:ahLst/>
              <a:cxnLst/>
              <a:rect l="l" t="t" r="r" b="b"/>
              <a:pathLst>
                <a:path w="18288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1714500" y="0"/>
                  </a:lnTo>
                  <a:lnTo>
                    <a:pt x="1758987" y="8981"/>
                  </a:lnTo>
                  <a:lnTo>
                    <a:pt x="1795319" y="33475"/>
                  </a:lnTo>
                  <a:lnTo>
                    <a:pt x="1819816" y="69806"/>
                  </a:lnTo>
                  <a:lnTo>
                    <a:pt x="1828800" y="114299"/>
                  </a:lnTo>
                  <a:lnTo>
                    <a:pt x="1828800" y="571499"/>
                  </a:lnTo>
                  <a:lnTo>
                    <a:pt x="1819816" y="615987"/>
                  </a:lnTo>
                  <a:lnTo>
                    <a:pt x="1795319" y="652319"/>
                  </a:lnTo>
                  <a:lnTo>
                    <a:pt x="1758987" y="676816"/>
                  </a:lnTo>
                  <a:lnTo>
                    <a:pt x="1714500" y="685799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252665" y="2243841"/>
            <a:ext cx="11531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Periodicity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4847" y="3575036"/>
            <a:ext cx="7237875" cy="703035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24" y="790956"/>
            <a:ext cx="854964" cy="12313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algn="ctr" marL="123189">
              <a:lnSpc>
                <a:spcPct val="100000"/>
              </a:lnSpc>
              <a:spcBef>
                <a:spcPts val="105"/>
              </a:spcBef>
            </a:pPr>
            <a:r>
              <a:rPr dirty="0"/>
              <a:t>Important</a:t>
            </a:r>
            <a:r>
              <a:rPr dirty="0" spc="-135"/>
              <a:t> </a:t>
            </a:r>
            <a:r>
              <a:rPr dirty="0"/>
              <a:t>DTFT</a:t>
            </a:r>
            <a:r>
              <a:rPr dirty="0" spc="-130"/>
              <a:t> </a:t>
            </a:r>
            <a:r>
              <a:rPr dirty="0" spc="-10"/>
              <a:t>Properties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901700" y="2070100"/>
            <a:ext cx="1854200" cy="711200"/>
            <a:chOff x="901700" y="2070100"/>
            <a:chExt cx="1854200" cy="711200"/>
          </a:xfrm>
        </p:grpSpPr>
        <p:sp>
          <p:nvSpPr>
            <p:cNvPr id="6" name="object 6" descr=""/>
            <p:cNvSpPr/>
            <p:nvPr/>
          </p:nvSpPr>
          <p:spPr>
            <a:xfrm>
              <a:off x="914400" y="2082800"/>
              <a:ext cx="1828800" cy="685800"/>
            </a:xfrm>
            <a:custGeom>
              <a:avLst/>
              <a:gdLst/>
              <a:ahLst/>
              <a:cxnLst/>
              <a:rect l="l" t="t" r="r" b="b"/>
              <a:pathLst>
                <a:path w="18288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1714500" y="685799"/>
                  </a:lnTo>
                  <a:lnTo>
                    <a:pt x="1758987" y="676816"/>
                  </a:lnTo>
                  <a:lnTo>
                    <a:pt x="1795319" y="652319"/>
                  </a:lnTo>
                  <a:lnTo>
                    <a:pt x="1819816" y="615987"/>
                  </a:lnTo>
                  <a:lnTo>
                    <a:pt x="1828800" y="571499"/>
                  </a:lnTo>
                  <a:lnTo>
                    <a:pt x="1828800" y="114299"/>
                  </a:lnTo>
                  <a:lnTo>
                    <a:pt x="1819816" y="69806"/>
                  </a:lnTo>
                  <a:lnTo>
                    <a:pt x="1795319" y="33475"/>
                  </a:lnTo>
                  <a:lnTo>
                    <a:pt x="1758987" y="8981"/>
                  </a:lnTo>
                  <a:lnTo>
                    <a:pt x="17145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400" y="2082800"/>
              <a:ext cx="1828800" cy="685800"/>
            </a:xfrm>
            <a:custGeom>
              <a:avLst/>
              <a:gdLst/>
              <a:ahLst/>
              <a:cxnLst/>
              <a:rect l="l" t="t" r="r" b="b"/>
              <a:pathLst>
                <a:path w="18288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1714500" y="0"/>
                  </a:lnTo>
                  <a:lnTo>
                    <a:pt x="1758987" y="8981"/>
                  </a:lnTo>
                  <a:lnTo>
                    <a:pt x="1795319" y="33475"/>
                  </a:lnTo>
                  <a:lnTo>
                    <a:pt x="1819816" y="69806"/>
                  </a:lnTo>
                  <a:lnTo>
                    <a:pt x="1828800" y="114299"/>
                  </a:lnTo>
                  <a:lnTo>
                    <a:pt x="1828800" y="571499"/>
                  </a:lnTo>
                  <a:lnTo>
                    <a:pt x="1819816" y="615987"/>
                  </a:lnTo>
                  <a:lnTo>
                    <a:pt x="1795319" y="652319"/>
                  </a:lnTo>
                  <a:lnTo>
                    <a:pt x="1758987" y="676816"/>
                  </a:lnTo>
                  <a:lnTo>
                    <a:pt x="1714500" y="685799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354775" y="2243841"/>
            <a:ext cx="9486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Linearity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6336" y="3256464"/>
            <a:ext cx="6592455" cy="2927413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24" y="790956"/>
            <a:ext cx="854964" cy="12313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algn="ctr" marL="123189">
              <a:lnSpc>
                <a:spcPct val="100000"/>
              </a:lnSpc>
              <a:spcBef>
                <a:spcPts val="105"/>
              </a:spcBef>
            </a:pPr>
            <a:r>
              <a:rPr dirty="0"/>
              <a:t>Important</a:t>
            </a:r>
            <a:r>
              <a:rPr dirty="0" spc="-135"/>
              <a:t> </a:t>
            </a:r>
            <a:r>
              <a:rPr dirty="0"/>
              <a:t>DTFT</a:t>
            </a:r>
            <a:r>
              <a:rPr dirty="0" spc="-130"/>
              <a:t> </a:t>
            </a:r>
            <a:r>
              <a:rPr dirty="0" spc="-10"/>
              <a:t>Properties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901700" y="2070100"/>
            <a:ext cx="1854200" cy="711200"/>
            <a:chOff x="901700" y="2070100"/>
            <a:chExt cx="1854200" cy="711200"/>
          </a:xfrm>
        </p:grpSpPr>
        <p:sp>
          <p:nvSpPr>
            <p:cNvPr id="6" name="object 6" descr=""/>
            <p:cNvSpPr/>
            <p:nvPr/>
          </p:nvSpPr>
          <p:spPr>
            <a:xfrm>
              <a:off x="914400" y="2082800"/>
              <a:ext cx="1828800" cy="685800"/>
            </a:xfrm>
            <a:custGeom>
              <a:avLst/>
              <a:gdLst/>
              <a:ahLst/>
              <a:cxnLst/>
              <a:rect l="l" t="t" r="r" b="b"/>
              <a:pathLst>
                <a:path w="18288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1714500" y="685799"/>
                  </a:lnTo>
                  <a:lnTo>
                    <a:pt x="1758987" y="676816"/>
                  </a:lnTo>
                  <a:lnTo>
                    <a:pt x="1795319" y="652319"/>
                  </a:lnTo>
                  <a:lnTo>
                    <a:pt x="1819816" y="615987"/>
                  </a:lnTo>
                  <a:lnTo>
                    <a:pt x="1828800" y="571499"/>
                  </a:lnTo>
                  <a:lnTo>
                    <a:pt x="1828800" y="114299"/>
                  </a:lnTo>
                  <a:lnTo>
                    <a:pt x="1819816" y="69806"/>
                  </a:lnTo>
                  <a:lnTo>
                    <a:pt x="1795319" y="33475"/>
                  </a:lnTo>
                  <a:lnTo>
                    <a:pt x="1758987" y="8981"/>
                  </a:lnTo>
                  <a:lnTo>
                    <a:pt x="17145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400" y="2082800"/>
              <a:ext cx="1828800" cy="685800"/>
            </a:xfrm>
            <a:custGeom>
              <a:avLst/>
              <a:gdLst/>
              <a:ahLst/>
              <a:cxnLst/>
              <a:rect l="l" t="t" r="r" b="b"/>
              <a:pathLst>
                <a:path w="18288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1714500" y="0"/>
                  </a:lnTo>
                  <a:lnTo>
                    <a:pt x="1758987" y="8981"/>
                  </a:lnTo>
                  <a:lnTo>
                    <a:pt x="1795319" y="33475"/>
                  </a:lnTo>
                  <a:lnTo>
                    <a:pt x="1819816" y="69806"/>
                  </a:lnTo>
                  <a:lnTo>
                    <a:pt x="1828800" y="114299"/>
                  </a:lnTo>
                  <a:lnTo>
                    <a:pt x="1828800" y="571499"/>
                  </a:lnTo>
                  <a:lnTo>
                    <a:pt x="1819816" y="615987"/>
                  </a:lnTo>
                  <a:lnTo>
                    <a:pt x="1795319" y="652319"/>
                  </a:lnTo>
                  <a:lnTo>
                    <a:pt x="1758987" y="676816"/>
                  </a:lnTo>
                  <a:lnTo>
                    <a:pt x="1714500" y="685799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281623" y="2243841"/>
            <a:ext cx="10934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ED2024"/>
                </a:solidFill>
                <a:latin typeface="Calibri"/>
                <a:cs typeface="Calibri"/>
              </a:rPr>
              <a:t>Time</a:t>
            </a:r>
            <a:r>
              <a:rPr dirty="0" sz="2000" spc="-2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Shift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514" y="2907049"/>
            <a:ext cx="7963953" cy="3849445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24" y="790956"/>
            <a:ext cx="854964" cy="12313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algn="ctr" marL="123189">
              <a:lnSpc>
                <a:spcPct val="100000"/>
              </a:lnSpc>
              <a:spcBef>
                <a:spcPts val="105"/>
              </a:spcBef>
            </a:pPr>
            <a:r>
              <a:rPr dirty="0"/>
              <a:t>Important</a:t>
            </a:r>
            <a:r>
              <a:rPr dirty="0" spc="-135"/>
              <a:t> </a:t>
            </a:r>
            <a:r>
              <a:rPr dirty="0"/>
              <a:t>DTFT</a:t>
            </a:r>
            <a:r>
              <a:rPr dirty="0" spc="-130"/>
              <a:t> </a:t>
            </a:r>
            <a:r>
              <a:rPr dirty="0" spc="-10"/>
              <a:t>Properties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901700" y="2070100"/>
            <a:ext cx="2311400" cy="711200"/>
            <a:chOff x="901700" y="2070100"/>
            <a:chExt cx="2311400" cy="711200"/>
          </a:xfrm>
        </p:grpSpPr>
        <p:sp>
          <p:nvSpPr>
            <p:cNvPr id="6" name="object 6" descr=""/>
            <p:cNvSpPr/>
            <p:nvPr/>
          </p:nvSpPr>
          <p:spPr>
            <a:xfrm>
              <a:off x="914400" y="2082800"/>
              <a:ext cx="2286000" cy="685800"/>
            </a:xfrm>
            <a:custGeom>
              <a:avLst/>
              <a:gdLst/>
              <a:ahLst/>
              <a:cxnLst/>
              <a:rect l="l" t="t" r="r" b="b"/>
              <a:pathLst>
                <a:path w="22860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2171700" y="685800"/>
                  </a:lnTo>
                  <a:lnTo>
                    <a:pt x="2216187" y="676816"/>
                  </a:lnTo>
                  <a:lnTo>
                    <a:pt x="2252519" y="652319"/>
                  </a:lnTo>
                  <a:lnTo>
                    <a:pt x="2277016" y="615987"/>
                  </a:lnTo>
                  <a:lnTo>
                    <a:pt x="2286000" y="571500"/>
                  </a:lnTo>
                  <a:lnTo>
                    <a:pt x="2286000" y="114300"/>
                  </a:lnTo>
                  <a:lnTo>
                    <a:pt x="2277016" y="69806"/>
                  </a:lnTo>
                  <a:lnTo>
                    <a:pt x="2252519" y="33475"/>
                  </a:lnTo>
                  <a:lnTo>
                    <a:pt x="2216187" y="8981"/>
                  </a:lnTo>
                  <a:lnTo>
                    <a:pt x="21717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400" y="2082800"/>
              <a:ext cx="2286000" cy="685800"/>
            </a:xfrm>
            <a:custGeom>
              <a:avLst/>
              <a:gdLst/>
              <a:ahLst/>
              <a:cxnLst/>
              <a:rect l="l" t="t" r="r" b="b"/>
              <a:pathLst>
                <a:path w="22860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2171700" y="0"/>
                  </a:lnTo>
                  <a:lnTo>
                    <a:pt x="2216187" y="8981"/>
                  </a:lnTo>
                  <a:lnTo>
                    <a:pt x="2252519" y="33475"/>
                  </a:lnTo>
                  <a:lnTo>
                    <a:pt x="2277016" y="69806"/>
                  </a:lnTo>
                  <a:lnTo>
                    <a:pt x="2286000" y="114300"/>
                  </a:lnTo>
                  <a:lnTo>
                    <a:pt x="2286000" y="571500"/>
                  </a:lnTo>
                  <a:lnTo>
                    <a:pt x="2277016" y="615987"/>
                  </a:lnTo>
                  <a:lnTo>
                    <a:pt x="2252519" y="652319"/>
                  </a:lnTo>
                  <a:lnTo>
                    <a:pt x="2216187" y="676816"/>
                  </a:lnTo>
                  <a:lnTo>
                    <a:pt x="21717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222218" y="2243841"/>
            <a:ext cx="1669414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Frequency</a:t>
            </a:r>
            <a:r>
              <a:rPr dirty="0" sz="2000" spc="-3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Shift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7342" y="3361569"/>
            <a:ext cx="5578238" cy="2028449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6759" y="2829638"/>
            <a:ext cx="7042510" cy="4016327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sp>
          <p:nvSpPr>
            <p:cNvPr id="4" name="object 4" descr=""/>
            <p:cNvSpPr/>
            <p:nvPr/>
          </p:nvSpPr>
          <p:spPr>
            <a:xfrm>
              <a:off x="914400" y="731837"/>
              <a:ext cx="8230234" cy="1143000"/>
            </a:xfrm>
            <a:custGeom>
              <a:avLst/>
              <a:gdLst/>
              <a:ahLst/>
              <a:cxnLst/>
              <a:rect l="l" t="t" r="r" b="b"/>
              <a:pathLst>
                <a:path w="8230234" h="1143000">
                  <a:moveTo>
                    <a:pt x="0" y="0"/>
                  </a:moveTo>
                  <a:lnTo>
                    <a:pt x="0" y="1143000"/>
                  </a:lnTo>
                  <a:lnTo>
                    <a:pt x="8229612" y="1143000"/>
                  </a:lnTo>
                  <a:lnTo>
                    <a:pt x="82296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5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30324" y="790956"/>
              <a:ext cx="854964" cy="12313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algn="ctr" marL="123189">
              <a:lnSpc>
                <a:spcPct val="100000"/>
              </a:lnSpc>
              <a:spcBef>
                <a:spcPts val="105"/>
              </a:spcBef>
            </a:pPr>
            <a:r>
              <a:rPr dirty="0"/>
              <a:t>Important</a:t>
            </a:r>
            <a:r>
              <a:rPr dirty="0" spc="-135"/>
              <a:t> </a:t>
            </a:r>
            <a:r>
              <a:rPr dirty="0"/>
              <a:t>DTFT</a:t>
            </a:r>
            <a:r>
              <a:rPr dirty="0" spc="-130"/>
              <a:t> </a:t>
            </a:r>
            <a:r>
              <a:rPr dirty="0" spc="-10"/>
              <a:t>Properties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901700" y="2070100"/>
            <a:ext cx="2311400" cy="711200"/>
            <a:chOff x="901700" y="2070100"/>
            <a:chExt cx="2311400" cy="711200"/>
          </a:xfrm>
        </p:grpSpPr>
        <p:sp>
          <p:nvSpPr>
            <p:cNvPr id="9" name="object 9" descr=""/>
            <p:cNvSpPr/>
            <p:nvPr/>
          </p:nvSpPr>
          <p:spPr>
            <a:xfrm>
              <a:off x="914400" y="2082800"/>
              <a:ext cx="2286000" cy="685800"/>
            </a:xfrm>
            <a:custGeom>
              <a:avLst/>
              <a:gdLst/>
              <a:ahLst/>
              <a:cxnLst/>
              <a:rect l="l" t="t" r="r" b="b"/>
              <a:pathLst>
                <a:path w="22860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2171700" y="685800"/>
                  </a:lnTo>
                  <a:lnTo>
                    <a:pt x="2216187" y="676816"/>
                  </a:lnTo>
                  <a:lnTo>
                    <a:pt x="2252519" y="652319"/>
                  </a:lnTo>
                  <a:lnTo>
                    <a:pt x="2277016" y="615987"/>
                  </a:lnTo>
                  <a:lnTo>
                    <a:pt x="2286000" y="571500"/>
                  </a:lnTo>
                  <a:lnTo>
                    <a:pt x="2286000" y="114300"/>
                  </a:lnTo>
                  <a:lnTo>
                    <a:pt x="2277016" y="69806"/>
                  </a:lnTo>
                  <a:lnTo>
                    <a:pt x="2252519" y="33475"/>
                  </a:lnTo>
                  <a:lnTo>
                    <a:pt x="2216187" y="8981"/>
                  </a:lnTo>
                  <a:lnTo>
                    <a:pt x="21717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4400" y="2082800"/>
              <a:ext cx="2286000" cy="685800"/>
            </a:xfrm>
            <a:custGeom>
              <a:avLst/>
              <a:gdLst/>
              <a:ahLst/>
              <a:cxnLst/>
              <a:rect l="l" t="t" r="r" b="b"/>
              <a:pathLst>
                <a:path w="22860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2171700" y="0"/>
                  </a:lnTo>
                  <a:lnTo>
                    <a:pt x="2216187" y="8981"/>
                  </a:lnTo>
                  <a:lnTo>
                    <a:pt x="2252519" y="33475"/>
                  </a:lnTo>
                  <a:lnTo>
                    <a:pt x="2277016" y="69806"/>
                  </a:lnTo>
                  <a:lnTo>
                    <a:pt x="2286000" y="114300"/>
                  </a:lnTo>
                  <a:lnTo>
                    <a:pt x="2286000" y="571500"/>
                  </a:lnTo>
                  <a:lnTo>
                    <a:pt x="2277016" y="615987"/>
                  </a:lnTo>
                  <a:lnTo>
                    <a:pt x="2252519" y="652319"/>
                  </a:lnTo>
                  <a:lnTo>
                    <a:pt x="2216187" y="676816"/>
                  </a:lnTo>
                  <a:lnTo>
                    <a:pt x="21717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222218" y="2243841"/>
            <a:ext cx="1669414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Frequency</a:t>
            </a:r>
            <a:r>
              <a:rPr dirty="0" sz="2000" spc="-35" b="1">
                <a:solidFill>
                  <a:srgbClr val="ED2024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Shift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24" y="790956"/>
            <a:ext cx="854964" cy="12313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algn="ctr" marL="123189">
              <a:lnSpc>
                <a:spcPct val="100000"/>
              </a:lnSpc>
              <a:spcBef>
                <a:spcPts val="105"/>
              </a:spcBef>
            </a:pPr>
            <a:r>
              <a:rPr dirty="0"/>
              <a:t>Important</a:t>
            </a:r>
            <a:r>
              <a:rPr dirty="0" spc="-135"/>
              <a:t> </a:t>
            </a:r>
            <a:r>
              <a:rPr dirty="0"/>
              <a:t>DTFT</a:t>
            </a:r>
            <a:r>
              <a:rPr dirty="0" spc="-130"/>
              <a:t> </a:t>
            </a:r>
            <a:r>
              <a:rPr dirty="0" spc="-10"/>
              <a:t>Properties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901700" y="2070100"/>
            <a:ext cx="2311400" cy="711200"/>
            <a:chOff x="901700" y="2070100"/>
            <a:chExt cx="2311400" cy="711200"/>
          </a:xfrm>
        </p:grpSpPr>
        <p:sp>
          <p:nvSpPr>
            <p:cNvPr id="6" name="object 6" descr=""/>
            <p:cNvSpPr/>
            <p:nvPr/>
          </p:nvSpPr>
          <p:spPr>
            <a:xfrm>
              <a:off x="914400" y="2082800"/>
              <a:ext cx="2286000" cy="685800"/>
            </a:xfrm>
            <a:custGeom>
              <a:avLst/>
              <a:gdLst/>
              <a:ahLst/>
              <a:cxnLst/>
              <a:rect l="l" t="t" r="r" b="b"/>
              <a:pathLst>
                <a:path w="22860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2171700" y="685800"/>
                  </a:lnTo>
                  <a:lnTo>
                    <a:pt x="2216187" y="676816"/>
                  </a:lnTo>
                  <a:lnTo>
                    <a:pt x="2252519" y="652319"/>
                  </a:lnTo>
                  <a:lnTo>
                    <a:pt x="2277016" y="615987"/>
                  </a:lnTo>
                  <a:lnTo>
                    <a:pt x="2286000" y="571500"/>
                  </a:lnTo>
                  <a:lnTo>
                    <a:pt x="2286000" y="114300"/>
                  </a:lnTo>
                  <a:lnTo>
                    <a:pt x="2277016" y="69806"/>
                  </a:lnTo>
                  <a:lnTo>
                    <a:pt x="2252519" y="33475"/>
                  </a:lnTo>
                  <a:lnTo>
                    <a:pt x="2216187" y="8981"/>
                  </a:lnTo>
                  <a:lnTo>
                    <a:pt x="21717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400" y="2082800"/>
              <a:ext cx="2286000" cy="685800"/>
            </a:xfrm>
            <a:custGeom>
              <a:avLst/>
              <a:gdLst/>
              <a:ahLst/>
              <a:cxnLst/>
              <a:rect l="l" t="t" r="r" b="b"/>
              <a:pathLst>
                <a:path w="22860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2171700" y="0"/>
                  </a:lnTo>
                  <a:lnTo>
                    <a:pt x="2216187" y="8981"/>
                  </a:lnTo>
                  <a:lnTo>
                    <a:pt x="2252519" y="33475"/>
                  </a:lnTo>
                  <a:lnTo>
                    <a:pt x="2277016" y="69806"/>
                  </a:lnTo>
                  <a:lnTo>
                    <a:pt x="2286000" y="114300"/>
                  </a:lnTo>
                  <a:lnTo>
                    <a:pt x="2286000" y="571500"/>
                  </a:lnTo>
                  <a:lnTo>
                    <a:pt x="2277016" y="615987"/>
                  </a:lnTo>
                  <a:lnTo>
                    <a:pt x="2252519" y="652319"/>
                  </a:lnTo>
                  <a:lnTo>
                    <a:pt x="2216187" y="676816"/>
                  </a:lnTo>
                  <a:lnTo>
                    <a:pt x="21717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402019" y="2243841"/>
            <a:ext cx="13106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Convolution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0316" y="3095891"/>
            <a:ext cx="6822959" cy="2915882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0921" y="2676361"/>
            <a:ext cx="7076515" cy="4511917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14400" y="731837"/>
            <a:ext cx="8230234" cy="1290955"/>
            <a:chOff x="914400" y="731837"/>
            <a:chExt cx="8230234" cy="1290955"/>
          </a:xfrm>
        </p:grpSpPr>
        <p:sp>
          <p:nvSpPr>
            <p:cNvPr id="4" name="object 4" descr=""/>
            <p:cNvSpPr/>
            <p:nvPr/>
          </p:nvSpPr>
          <p:spPr>
            <a:xfrm>
              <a:off x="914400" y="731837"/>
              <a:ext cx="8230234" cy="1143000"/>
            </a:xfrm>
            <a:custGeom>
              <a:avLst/>
              <a:gdLst/>
              <a:ahLst/>
              <a:cxnLst/>
              <a:rect l="l" t="t" r="r" b="b"/>
              <a:pathLst>
                <a:path w="8230234" h="1143000">
                  <a:moveTo>
                    <a:pt x="0" y="0"/>
                  </a:moveTo>
                  <a:lnTo>
                    <a:pt x="0" y="1143000"/>
                  </a:lnTo>
                  <a:lnTo>
                    <a:pt x="8229612" y="1143000"/>
                  </a:lnTo>
                  <a:lnTo>
                    <a:pt x="82296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5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30324" y="790956"/>
              <a:ext cx="854964" cy="12313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algn="ctr" marL="123189">
              <a:lnSpc>
                <a:spcPct val="100000"/>
              </a:lnSpc>
              <a:spcBef>
                <a:spcPts val="105"/>
              </a:spcBef>
            </a:pPr>
            <a:r>
              <a:rPr dirty="0"/>
              <a:t>Important</a:t>
            </a:r>
            <a:r>
              <a:rPr dirty="0" spc="-135"/>
              <a:t> </a:t>
            </a:r>
            <a:r>
              <a:rPr dirty="0"/>
              <a:t>DTFT</a:t>
            </a:r>
            <a:r>
              <a:rPr dirty="0" spc="-130"/>
              <a:t> </a:t>
            </a:r>
            <a:r>
              <a:rPr dirty="0" spc="-10"/>
              <a:t>Properties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901700" y="2070100"/>
            <a:ext cx="2311400" cy="711200"/>
            <a:chOff x="901700" y="2070100"/>
            <a:chExt cx="2311400" cy="711200"/>
          </a:xfrm>
        </p:grpSpPr>
        <p:sp>
          <p:nvSpPr>
            <p:cNvPr id="9" name="object 9" descr=""/>
            <p:cNvSpPr/>
            <p:nvPr/>
          </p:nvSpPr>
          <p:spPr>
            <a:xfrm>
              <a:off x="914400" y="2082800"/>
              <a:ext cx="2286000" cy="685800"/>
            </a:xfrm>
            <a:custGeom>
              <a:avLst/>
              <a:gdLst/>
              <a:ahLst/>
              <a:cxnLst/>
              <a:rect l="l" t="t" r="r" b="b"/>
              <a:pathLst>
                <a:path w="22860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2171700" y="685800"/>
                  </a:lnTo>
                  <a:lnTo>
                    <a:pt x="2216187" y="676816"/>
                  </a:lnTo>
                  <a:lnTo>
                    <a:pt x="2252519" y="652319"/>
                  </a:lnTo>
                  <a:lnTo>
                    <a:pt x="2277016" y="615987"/>
                  </a:lnTo>
                  <a:lnTo>
                    <a:pt x="2286000" y="571500"/>
                  </a:lnTo>
                  <a:lnTo>
                    <a:pt x="2286000" y="114300"/>
                  </a:lnTo>
                  <a:lnTo>
                    <a:pt x="2277016" y="69806"/>
                  </a:lnTo>
                  <a:lnTo>
                    <a:pt x="2252519" y="33475"/>
                  </a:lnTo>
                  <a:lnTo>
                    <a:pt x="2216187" y="8981"/>
                  </a:lnTo>
                  <a:lnTo>
                    <a:pt x="21717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4400" y="2082800"/>
              <a:ext cx="2286000" cy="685800"/>
            </a:xfrm>
            <a:custGeom>
              <a:avLst/>
              <a:gdLst/>
              <a:ahLst/>
              <a:cxnLst/>
              <a:rect l="l" t="t" r="r" b="b"/>
              <a:pathLst>
                <a:path w="22860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2171700" y="0"/>
                  </a:lnTo>
                  <a:lnTo>
                    <a:pt x="2216187" y="8981"/>
                  </a:lnTo>
                  <a:lnTo>
                    <a:pt x="2252519" y="33475"/>
                  </a:lnTo>
                  <a:lnTo>
                    <a:pt x="2277016" y="69806"/>
                  </a:lnTo>
                  <a:lnTo>
                    <a:pt x="2286000" y="114300"/>
                  </a:lnTo>
                  <a:lnTo>
                    <a:pt x="2286000" y="571500"/>
                  </a:lnTo>
                  <a:lnTo>
                    <a:pt x="2277016" y="615987"/>
                  </a:lnTo>
                  <a:lnTo>
                    <a:pt x="2252519" y="652319"/>
                  </a:lnTo>
                  <a:lnTo>
                    <a:pt x="2216187" y="676816"/>
                  </a:lnTo>
                  <a:lnTo>
                    <a:pt x="21717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402019" y="2243841"/>
            <a:ext cx="13106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Convolution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0324" y="790956"/>
            <a:ext cx="854964" cy="12313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algn="ctr" marL="123189">
              <a:lnSpc>
                <a:spcPct val="100000"/>
              </a:lnSpc>
              <a:spcBef>
                <a:spcPts val="105"/>
              </a:spcBef>
            </a:pPr>
            <a:r>
              <a:rPr dirty="0"/>
              <a:t>Important</a:t>
            </a:r>
            <a:r>
              <a:rPr dirty="0" spc="-135"/>
              <a:t> </a:t>
            </a:r>
            <a:r>
              <a:rPr dirty="0"/>
              <a:t>DTFT</a:t>
            </a:r>
            <a:r>
              <a:rPr dirty="0" spc="-130"/>
              <a:t> </a:t>
            </a:r>
            <a:r>
              <a:rPr dirty="0" spc="-10"/>
              <a:t>Properties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901700" y="2070100"/>
            <a:ext cx="2311400" cy="711200"/>
            <a:chOff x="901700" y="2070100"/>
            <a:chExt cx="2311400" cy="711200"/>
          </a:xfrm>
        </p:grpSpPr>
        <p:sp>
          <p:nvSpPr>
            <p:cNvPr id="6" name="object 6" descr=""/>
            <p:cNvSpPr/>
            <p:nvPr/>
          </p:nvSpPr>
          <p:spPr>
            <a:xfrm>
              <a:off x="914400" y="2082800"/>
              <a:ext cx="2286000" cy="685800"/>
            </a:xfrm>
            <a:custGeom>
              <a:avLst/>
              <a:gdLst/>
              <a:ahLst/>
              <a:cxnLst/>
              <a:rect l="l" t="t" r="r" b="b"/>
              <a:pathLst>
                <a:path w="22860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2171700" y="685800"/>
                  </a:lnTo>
                  <a:lnTo>
                    <a:pt x="2216187" y="676816"/>
                  </a:lnTo>
                  <a:lnTo>
                    <a:pt x="2252519" y="652319"/>
                  </a:lnTo>
                  <a:lnTo>
                    <a:pt x="2277016" y="615987"/>
                  </a:lnTo>
                  <a:lnTo>
                    <a:pt x="2286000" y="571500"/>
                  </a:lnTo>
                  <a:lnTo>
                    <a:pt x="2286000" y="114300"/>
                  </a:lnTo>
                  <a:lnTo>
                    <a:pt x="2277016" y="69806"/>
                  </a:lnTo>
                  <a:lnTo>
                    <a:pt x="2252519" y="33475"/>
                  </a:lnTo>
                  <a:lnTo>
                    <a:pt x="2216187" y="8981"/>
                  </a:lnTo>
                  <a:lnTo>
                    <a:pt x="21717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400" y="2082800"/>
              <a:ext cx="2286000" cy="685800"/>
            </a:xfrm>
            <a:custGeom>
              <a:avLst/>
              <a:gdLst/>
              <a:ahLst/>
              <a:cxnLst/>
              <a:rect l="l" t="t" r="r" b="b"/>
              <a:pathLst>
                <a:path w="22860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2171700" y="0"/>
                  </a:lnTo>
                  <a:lnTo>
                    <a:pt x="2216187" y="8981"/>
                  </a:lnTo>
                  <a:lnTo>
                    <a:pt x="2252519" y="33475"/>
                  </a:lnTo>
                  <a:lnTo>
                    <a:pt x="2277016" y="69806"/>
                  </a:lnTo>
                  <a:lnTo>
                    <a:pt x="2286000" y="114300"/>
                  </a:lnTo>
                  <a:lnTo>
                    <a:pt x="2286000" y="571500"/>
                  </a:lnTo>
                  <a:lnTo>
                    <a:pt x="2277016" y="615987"/>
                  </a:lnTo>
                  <a:lnTo>
                    <a:pt x="2252519" y="652319"/>
                  </a:lnTo>
                  <a:lnTo>
                    <a:pt x="2216187" y="676816"/>
                  </a:lnTo>
                  <a:lnTo>
                    <a:pt x="21717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421856" y="2243841"/>
            <a:ext cx="12706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Modulation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0955" y="3117726"/>
            <a:ext cx="7429200" cy="3270865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731837"/>
            <a:ext cx="8230234" cy="6414135"/>
            <a:chOff x="914400" y="731837"/>
            <a:chExt cx="8230234" cy="64141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9960" y="1874837"/>
              <a:ext cx="5427345" cy="5271096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14400" y="731837"/>
              <a:ext cx="8230234" cy="1143000"/>
            </a:xfrm>
            <a:custGeom>
              <a:avLst/>
              <a:gdLst/>
              <a:ahLst/>
              <a:cxnLst/>
              <a:rect l="l" t="t" r="r" b="b"/>
              <a:pathLst>
                <a:path w="8230234" h="1143000">
                  <a:moveTo>
                    <a:pt x="0" y="0"/>
                  </a:moveTo>
                  <a:lnTo>
                    <a:pt x="0" y="1143000"/>
                  </a:lnTo>
                  <a:lnTo>
                    <a:pt x="8229612" y="1143000"/>
                  </a:lnTo>
                  <a:lnTo>
                    <a:pt x="82296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5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30324" y="790956"/>
              <a:ext cx="854964" cy="12313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083" rIns="0" bIns="0" rtlCol="0" vert="horz">
            <a:spAutoFit/>
          </a:bodyPr>
          <a:lstStyle/>
          <a:p>
            <a:pPr algn="ctr" marL="123189">
              <a:lnSpc>
                <a:spcPct val="100000"/>
              </a:lnSpc>
              <a:spcBef>
                <a:spcPts val="105"/>
              </a:spcBef>
            </a:pPr>
            <a:r>
              <a:rPr dirty="0"/>
              <a:t>Important</a:t>
            </a:r>
            <a:r>
              <a:rPr dirty="0" spc="-135"/>
              <a:t> </a:t>
            </a:r>
            <a:r>
              <a:rPr dirty="0"/>
              <a:t>DTFT</a:t>
            </a:r>
            <a:r>
              <a:rPr dirty="0" spc="-130"/>
              <a:t> </a:t>
            </a:r>
            <a:r>
              <a:rPr dirty="0" spc="-10"/>
              <a:t>Properties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885825" y="1876425"/>
            <a:ext cx="8287384" cy="904875"/>
            <a:chOff x="885825" y="1876425"/>
            <a:chExt cx="8287384" cy="904875"/>
          </a:xfrm>
        </p:grpSpPr>
        <p:sp>
          <p:nvSpPr>
            <p:cNvPr id="8" name="object 8" descr=""/>
            <p:cNvSpPr/>
            <p:nvPr/>
          </p:nvSpPr>
          <p:spPr>
            <a:xfrm>
              <a:off x="914400" y="1905000"/>
              <a:ext cx="8230234" cy="0"/>
            </a:xfrm>
            <a:custGeom>
              <a:avLst/>
              <a:gdLst/>
              <a:ahLst/>
              <a:cxnLst/>
              <a:rect l="l" t="t" r="r" b="b"/>
              <a:pathLst>
                <a:path w="8230234" h="0">
                  <a:moveTo>
                    <a:pt x="0" y="0"/>
                  </a:moveTo>
                  <a:lnTo>
                    <a:pt x="8229612" y="0"/>
                  </a:lnTo>
                </a:path>
              </a:pathLst>
            </a:custGeom>
            <a:ln w="57150">
              <a:solidFill>
                <a:srgbClr val="F8981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14400" y="2082800"/>
              <a:ext cx="2286000" cy="685800"/>
            </a:xfrm>
            <a:custGeom>
              <a:avLst/>
              <a:gdLst/>
              <a:ahLst/>
              <a:cxnLst/>
              <a:rect l="l" t="t" r="r" b="b"/>
              <a:pathLst>
                <a:path w="2286000" h="685800">
                  <a:moveTo>
                    <a:pt x="0" y="114300"/>
                  </a:move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2171700" y="685800"/>
                  </a:lnTo>
                  <a:lnTo>
                    <a:pt x="2216187" y="676816"/>
                  </a:lnTo>
                  <a:lnTo>
                    <a:pt x="2252519" y="652319"/>
                  </a:lnTo>
                  <a:lnTo>
                    <a:pt x="2277016" y="615987"/>
                  </a:lnTo>
                  <a:lnTo>
                    <a:pt x="2286000" y="571500"/>
                  </a:lnTo>
                  <a:lnTo>
                    <a:pt x="2286000" y="114300"/>
                  </a:lnTo>
                  <a:lnTo>
                    <a:pt x="2277016" y="69806"/>
                  </a:lnTo>
                  <a:lnTo>
                    <a:pt x="2252519" y="33475"/>
                  </a:lnTo>
                  <a:lnTo>
                    <a:pt x="2216187" y="8981"/>
                  </a:lnTo>
                  <a:lnTo>
                    <a:pt x="2171700" y="0"/>
                  </a:lnTo>
                  <a:lnTo>
                    <a:pt x="114299" y="0"/>
                  </a:lnTo>
                  <a:lnTo>
                    <a:pt x="69812" y="8981"/>
                  </a:lnTo>
                  <a:lnTo>
                    <a:pt x="33480" y="33475"/>
                  </a:lnTo>
                  <a:lnTo>
                    <a:pt x="8983" y="69806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4400" y="2082800"/>
              <a:ext cx="2286000" cy="685800"/>
            </a:xfrm>
            <a:custGeom>
              <a:avLst/>
              <a:gdLst/>
              <a:ahLst/>
              <a:cxnLst/>
              <a:rect l="l" t="t" r="r" b="b"/>
              <a:pathLst>
                <a:path w="2286000" h="685800">
                  <a:moveTo>
                    <a:pt x="0" y="114300"/>
                  </a:moveTo>
                  <a:lnTo>
                    <a:pt x="8983" y="69806"/>
                  </a:lnTo>
                  <a:lnTo>
                    <a:pt x="33480" y="33475"/>
                  </a:lnTo>
                  <a:lnTo>
                    <a:pt x="69812" y="8981"/>
                  </a:lnTo>
                  <a:lnTo>
                    <a:pt x="114299" y="0"/>
                  </a:lnTo>
                  <a:lnTo>
                    <a:pt x="2171700" y="0"/>
                  </a:lnTo>
                  <a:lnTo>
                    <a:pt x="2216187" y="8981"/>
                  </a:lnTo>
                  <a:lnTo>
                    <a:pt x="2252519" y="33475"/>
                  </a:lnTo>
                  <a:lnTo>
                    <a:pt x="2277016" y="69806"/>
                  </a:lnTo>
                  <a:lnTo>
                    <a:pt x="2286000" y="114300"/>
                  </a:lnTo>
                  <a:lnTo>
                    <a:pt x="2286000" y="571500"/>
                  </a:lnTo>
                  <a:lnTo>
                    <a:pt x="2277016" y="615987"/>
                  </a:lnTo>
                  <a:lnTo>
                    <a:pt x="2252519" y="652319"/>
                  </a:lnTo>
                  <a:lnTo>
                    <a:pt x="2216187" y="676816"/>
                  </a:lnTo>
                  <a:lnTo>
                    <a:pt x="2171700" y="685800"/>
                  </a:lnTo>
                  <a:lnTo>
                    <a:pt x="114300" y="685800"/>
                  </a:lnTo>
                  <a:lnTo>
                    <a:pt x="69812" y="676816"/>
                  </a:lnTo>
                  <a:lnTo>
                    <a:pt x="33480" y="652319"/>
                  </a:lnTo>
                  <a:lnTo>
                    <a:pt x="8983" y="615987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421856" y="2243841"/>
            <a:ext cx="12706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ED2024"/>
                </a:solidFill>
                <a:latin typeface="Calibri"/>
                <a:cs typeface="Calibri"/>
              </a:rPr>
              <a:t>Modulation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919162" y="4040200"/>
            <a:ext cx="2943225" cy="2108200"/>
            <a:chOff x="919162" y="4040200"/>
            <a:chExt cx="2943225" cy="2108200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9162" y="4040200"/>
              <a:ext cx="2943224" cy="32385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1862" y="5795975"/>
              <a:ext cx="2533650" cy="3524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4400" y="1905000"/>
            <a:ext cx="8230234" cy="0"/>
          </a:xfrm>
          <a:custGeom>
            <a:avLst/>
            <a:gdLst/>
            <a:ahLst/>
            <a:cxnLst/>
            <a:rect l="l" t="t" r="r" b="b"/>
            <a:pathLst>
              <a:path w="8230234" h="0">
                <a:moveTo>
                  <a:pt x="0" y="0"/>
                </a:moveTo>
                <a:lnTo>
                  <a:pt x="8229612" y="0"/>
                </a:lnTo>
              </a:path>
            </a:pathLst>
          </a:custGeom>
          <a:ln w="57150">
            <a:solidFill>
              <a:srgbClr val="F8981D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901700" y="3492512"/>
            <a:ext cx="8255634" cy="1397000"/>
            <a:chOff x="901700" y="3492512"/>
            <a:chExt cx="8255634" cy="1397000"/>
          </a:xfrm>
        </p:grpSpPr>
        <p:sp>
          <p:nvSpPr>
            <p:cNvPr id="4" name="object 4" descr=""/>
            <p:cNvSpPr/>
            <p:nvPr/>
          </p:nvSpPr>
          <p:spPr>
            <a:xfrm>
              <a:off x="914400" y="3505212"/>
              <a:ext cx="8230234" cy="1371600"/>
            </a:xfrm>
            <a:custGeom>
              <a:avLst/>
              <a:gdLst/>
              <a:ahLst/>
              <a:cxnLst/>
              <a:rect l="l" t="t" r="r" b="b"/>
              <a:pathLst>
                <a:path w="8230234" h="1371600">
                  <a:moveTo>
                    <a:pt x="0" y="228600"/>
                  </a:moveTo>
                  <a:lnTo>
                    <a:pt x="0" y="1142987"/>
                  </a:lnTo>
                  <a:lnTo>
                    <a:pt x="4644" y="1189061"/>
                  </a:lnTo>
                  <a:lnTo>
                    <a:pt x="17964" y="1231975"/>
                  </a:lnTo>
                  <a:lnTo>
                    <a:pt x="39041" y="1270808"/>
                  </a:lnTo>
                  <a:lnTo>
                    <a:pt x="66955" y="1304642"/>
                  </a:lnTo>
                  <a:lnTo>
                    <a:pt x="100788" y="1332557"/>
                  </a:lnTo>
                  <a:lnTo>
                    <a:pt x="139619" y="1353635"/>
                  </a:lnTo>
                  <a:lnTo>
                    <a:pt x="182529" y="1366955"/>
                  </a:lnTo>
                  <a:lnTo>
                    <a:pt x="228600" y="1371600"/>
                  </a:lnTo>
                  <a:lnTo>
                    <a:pt x="8001012" y="1371600"/>
                  </a:lnTo>
                  <a:lnTo>
                    <a:pt x="8047083" y="1366955"/>
                  </a:lnTo>
                  <a:lnTo>
                    <a:pt x="8089993" y="1353635"/>
                  </a:lnTo>
                  <a:lnTo>
                    <a:pt x="8128824" y="1332557"/>
                  </a:lnTo>
                  <a:lnTo>
                    <a:pt x="8162656" y="1304642"/>
                  </a:lnTo>
                  <a:lnTo>
                    <a:pt x="8190570" y="1270808"/>
                  </a:lnTo>
                  <a:lnTo>
                    <a:pt x="8211647" y="1231975"/>
                  </a:lnTo>
                  <a:lnTo>
                    <a:pt x="8224968" y="1189061"/>
                  </a:lnTo>
                  <a:lnTo>
                    <a:pt x="8229612" y="1142987"/>
                  </a:lnTo>
                  <a:lnTo>
                    <a:pt x="8229612" y="228599"/>
                  </a:lnTo>
                  <a:lnTo>
                    <a:pt x="8224968" y="182529"/>
                  </a:lnTo>
                  <a:lnTo>
                    <a:pt x="8211647" y="139619"/>
                  </a:lnTo>
                  <a:lnTo>
                    <a:pt x="8190570" y="100788"/>
                  </a:lnTo>
                  <a:lnTo>
                    <a:pt x="8162656" y="66955"/>
                  </a:lnTo>
                  <a:lnTo>
                    <a:pt x="8128824" y="39041"/>
                  </a:lnTo>
                  <a:lnTo>
                    <a:pt x="8089993" y="17964"/>
                  </a:lnTo>
                  <a:lnTo>
                    <a:pt x="8047083" y="4644"/>
                  </a:lnTo>
                  <a:lnTo>
                    <a:pt x="8001012" y="0"/>
                  </a:lnTo>
                  <a:lnTo>
                    <a:pt x="228599" y="0"/>
                  </a:ln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6EB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14400" y="3505212"/>
              <a:ext cx="8230234" cy="1371600"/>
            </a:xfrm>
            <a:custGeom>
              <a:avLst/>
              <a:gdLst/>
              <a:ahLst/>
              <a:cxnLst/>
              <a:rect l="l" t="t" r="r" b="b"/>
              <a:pathLst>
                <a:path w="8230234" h="1371600">
                  <a:moveTo>
                    <a:pt x="0" y="228600"/>
                  </a:moveTo>
                  <a:lnTo>
                    <a:pt x="4644" y="182529"/>
                  </a:lnTo>
                  <a:lnTo>
                    <a:pt x="17964" y="139619"/>
                  </a:lnTo>
                  <a:lnTo>
                    <a:pt x="39041" y="100788"/>
                  </a:lnTo>
                  <a:lnTo>
                    <a:pt x="66955" y="66955"/>
                  </a:lnTo>
                  <a:lnTo>
                    <a:pt x="100788" y="39041"/>
                  </a:lnTo>
                  <a:lnTo>
                    <a:pt x="139619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8001012" y="0"/>
                  </a:lnTo>
                  <a:lnTo>
                    <a:pt x="8047083" y="4644"/>
                  </a:lnTo>
                  <a:lnTo>
                    <a:pt x="8089993" y="17964"/>
                  </a:lnTo>
                  <a:lnTo>
                    <a:pt x="8128824" y="39041"/>
                  </a:lnTo>
                  <a:lnTo>
                    <a:pt x="8162656" y="66955"/>
                  </a:lnTo>
                  <a:lnTo>
                    <a:pt x="8190570" y="100788"/>
                  </a:lnTo>
                  <a:lnTo>
                    <a:pt x="8211647" y="139619"/>
                  </a:lnTo>
                  <a:lnTo>
                    <a:pt x="8224968" y="182529"/>
                  </a:lnTo>
                  <a:lnTo>
                    <a:pt x="8229612" y="228599"/>
                  </a:lnTo>
                  <a:lnTo>
                    <a:pt x="8229612" y="1142987"/>
                  </a:lnTo>
                  <a:lnTo>
                    <a:pt x="8224968" y="1189061"/>
                  </a:lnTo>
                  <a:lnTo>
                    <a:pt x="8211647" y="1231975"/>
                  </a:lnTo>
                  <a:lnTo>
                    <a:pt x="8190570" y="1270808"/>
                  </a:lnTo>
                  <a:lnTo>
                    <a:pt x="8162656" y="1304642"/>
                  </a:lnTo>
                  <a:lnTo>
                    <a:pt x="8128824" y="1332557"/>
                  </a:lnTo>
                  <a:lnTo>
                    <a:pt x="8089993" y="1353635"/>
                  </a:lnTo>
                  <a:lnTo>
                    <a:pt x="8047083" y="1366955"/>
                  </a:lnTo>
                  <a:lnTo>
                    <a:pt x="8001012" y="1371600"/>
                  </a:lnTo>
                  <a:lnTo>
                    <a:pt x="228600" y="1371600"/>
                  </a:lnTo>
                  <a:lnTo>
                    <a:pt x="182529" y="1366955"/>
                  </a:lnTo>
                  <a:lnTo>
                    <a:pt x="139619" y="1353635"/>
                  </a:lnTo>
                  <a:lnTo>
                    <a:pt x="100788" y="1332557"/>
                  </a:lnTo>
                  <a:lnTo>
                    <a:pt x="66955" y="1304642"/>
                  </a:lnTo>
                  <a:lnTo>
                    <a:pt x="39041" y="1270808"/>
                  </a:lnTo>
                  <a:lnTo>
                    <a:pt x="17964" y="1231975"/>
                  </a:lnTo>
                  <a:lnTo>
                    <a:pt x="4644" y="1189061"/>
                  </a:lnTo>
                  <a:lnTo>
                    <a:pt x="0" y="1142987"/>
                  </a:lnTo>
                  <a:lnTo>
                    <a:pt x="0" y="228600"/>
                  </a:lnTo>
                  <a:close/>
                </a:path>
              </a:pathLst>
            </a:custGeom>
            <a:ln w="25400">
              <a:solidFill>
                <a:srgbClr val="385D8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620523" y="3841503"/>
            <a:ext cx="81978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5" b="1">
                <a:solidFill>
                  <a:srgbClr val="ED2024"/>
                </a:solidFill>
                <a:latin typeface="Calibri"/>
                <a:cs typeface="Calibri"/>
              </a:rPr>
              <a:t>End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Khurram</dc:creator>
  <dc:title>PowerPoint Presentation</dc:title>
  <dcterms:created xsi:type="dcterms:W3CDTF">2025-10-06T05:34:57Z</dcterms:created>
  <dcterms:modified xsi:type="dcterms:W3CDTF">2025-10-06T05:34:57Z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2018-10-04T00:00:00Z</vt:filetime>
  </property>
  <property fmtid="{D5CDD505-2E9C-101B-9397-08002B2CF9AE}" pid="3" name="Creator">
    <vt:lpwstr>Acrobat PDFMaker 10.1 for PowerPoint</vt:lpwstr>
  </property>
  <property fmtid="{D5CDD505-2E9C-101B-9397-08002B2CF9AE}" pid="4" name="LastSaved">
    <vt:filetime>2025-10-06T00:00:00Z</vt:filetime>
  </property>
  <property fmtid="{D5CDD505-2E9C-101B-9397-08002B2CF9AE}" pid="5" name="Producer">
    <vt:lpwstr>Acrobat Distiller 10.1.1 (Windows)</vt:lpwstr>
  </property>
</Properties>
</file>