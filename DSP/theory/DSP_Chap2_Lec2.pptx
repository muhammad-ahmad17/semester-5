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4"/>
  </p:notesMasterIdLst>
  <p:sldIdLst>
    <p:sldId id="256" r:id="rId2"/>
    <p:sldId id="327" r:id="rId3"/>
    <p:sldId id="328" r:id="rId4"/>
    <p:sldId id="329" r:id="rId5"/>
    <p:sldId id="344" r:id="rId6"/>
    <p:sldId id="345" r:id="rId7"/>
    <p:sldId id="346" r:id="rId8"/>
    <p:sldId id="347" r:id="rId9"/>
    <p:sldId id="348" r:id="rId10"/>
    <p:sldId id="330" r:id="rId11"/>
    <p:sldId id="350" r:id="rId12"/>
    <p:sldId id="351" r:id="rId13"/>
    <p:sldId id="352" r:id="rId14"/>
    <p:sldId id="353" r:id="rId15"/>
    <p:sldId id="354" r:id="rId16"/>
    <p:sldId id="355" r:id="rId17"/>
    <p:sldId id="357" r:id="rId18"/>
    <p:sldId id="358" r:id="rId19"/>
    <p:sldId id="359" r:id="rId20"/>
    <p:sldId id="360" r:id="rId21"/>
    <p:sldId id="367" r:id="rId22"/>
    <p:sldId id="361" r:id="rId23"/>
    <p:sldId id="363" r:id="rId24"/>
    <p:sldId id="368" r:id="rId25"/>
    <p:sldId id="339" r:id="rId26"/>
    <p:sldId id="340" r:id="rId27"/>
    <p:sldId id="341" r:id="rId28"/>
    <p:sldId id="342" r:id="rId29"/>
    <p:sldId id="369" r:id="rId30"/>
    <p:sldId id="370" r:id="rId31"/>
    <p:sldId id="371" r:id="rId32"/>
    <p:sldId id="372" r:id="rId33"/>
    <p:sldId id="373" r:id="rId34"/>
    <p:sldId id="374" r:id="rId35"/>
    <p:sldId id="375" r:id="rId36"/>
    <p:sldId id="376" r:id="rId37"/>
    <p:sldId id="377" r:id="rId38"/>
    <p:sldId id="378" r:id="rId39"/>
    <p:sldId id="379" r:id="rId40"/>
    <p:sldId id="380" r:id="rId41"/>
    <p:sldId id="381" r:id="rId42"/>
    <p:sldId id="382" r:id="rId43"/>
    <p:sldId id="383" r:id="rId44"/>
    <p:sldId id="384" r:id="rId45"/>
    <p:sldId id="385" r:id="rId46"/>
    <p:sldId id="386" r:id="rId47"/>
    <p:sldId id="387" r:id="rId48"/>
    <p:sldId id="388" r:id="rId49"/>
    <p:sldId id="389" r:id="rId50"/>
    <p:sldId id="390" r:id="rId51"/>
    <p:sldId id="391" r:id="rId52"/>
    <p:sldId id="392" r:id="rId53"/>
    <p:sldId id="393" r:id="rId54"/>
    <p:sldId id="394" r:id="rId55"/>
    <p:sldId id="395" r:id="rId56"/>
    <p:sldId id="396" r:id="rId57"/>
    <p:sldId id="397" r:id="rId58"/>
    <p:sldId id="398" r:id="rId59"/>
    <p:sldId id="399" r:id="rId60"/>
    <p:sldId id="400" r:id="rId61"/>
    <p:sldId id="401" r:id="rId62"/>
    <p:sldId id="323" r:id="rId63"/>
  </p:sldIdLst>
  <p:sldSz cx="12192000" cy="6858000"/>
  <p:notesSz cx="6881813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FAC64-2F0B-4D7D-9C03-E0A7A0980248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473575"/>
            <a:ext cx="55054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313" y="8829675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81A862-B2DF-4ED9-B11A-51EC84244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293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8AC093C-A1EF-4684-B923-B3BD20D4F7A9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21346-A420-4104-9D06-D1C03F559017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3CA316-5053-4CEA-BD06-C350671BC8A2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89947-0F83-40B9-81DF-8C1DDE62FD3A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1F2DF-1991-4A23-AD5A-29AB859A2046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B6728-68BA-4EB1-9DB4-80F423D0D8E3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695E0-0C0B-49C2-B1DB-57D30759B2E7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91E499-9547-4EB0-A52C-5483524E5D89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416EF3-8643-42BC-AB67-CA8AD4690B06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F7A0-6155-4C9F-91A1-96C283F019C7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4C76F-184A-42BA-A927-72A795A0AE84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68454113-8389-413D-8AA3-5A4B519AD3B2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emf"/><Relationship Id="rId4" Type="http://schemas.openxmlformats.org/officeDocument/2006/relationships/image" Target="../media/image4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D2412-9F35-4E40-93C7-5350C3EAD7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err="1"/>
              <a:t>Lec</a:t>
            </a:r>
            <a:r>
              <a:rPr lang="en-US" sz="6000" dirty="0"/>
              <a:t> 2: DT Systems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9E75C1-B393-493B-86F1-9F27F8B49C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Arsla Khan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BFAE59-D845-40D1-860B-57DF71798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92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E3991-BEF0-4339-93E8-29CDAA7BE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51452"/>
          </a:xfrm>
        </p:spPr>
        <p:txBody>
          <a:bodyPr>
            <a:normAutofit/>
          </a:bodyPr>
          <a:lstStyle/>
          <a:p>
            <a:r>
              <a:rPr lang="en-US" sz="4000" dirty="0"/>
              <a:t>Chapter 2: Overview    (SNS Revision)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58181-B3E4-4F6B-BD71-6778E2B2A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36A87-3206-41DE-8CD6-929EFEAF5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026A6C-DCC3-4879-B0EB-92DFE3FEA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568" y="1537252"/>
            <a:ext cx="7929989" cy="472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304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6D5E1-F5EF-45C7-BAE9-58C01A832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CCD0D-96F6-4311-8F1B-DD34F959C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BF4939-0DE7-444D-B328-6CAF117A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81A119-51D7-4478-9994-26968273B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123" y="264675"/>
            <a:ext cx="7958589" cy="618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183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255E7-8D56-4203-A1C0-D8449575B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AAB24-AF57-48BD-8F37-892DEA072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6E5EC-3508-41BB-86DF-E7AF5B985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305092-41EA-4829-881A-4F4C2561B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855" y="319545"/>
            <a:ext cx="8182247" cy="613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24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0723B-5228-42A3-9A77-AB7E97345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7EFBBF-E63E-4B53-9F27-F3693156E0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2286000"/>
                <a:ext cx="6769223" cy="400826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Continuous Time System</a:t>
                </a:r>
              </a:p>
              <a:p>
                <a:pPr lvl="2"/>
                <a:r>
                  <a:rPr lang="en-US" dirty="0"/>
                  <a:t>Systems in which input and output, both signals are continuous in nature.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e.g. Audio and video amplifier, power supplies etc.</a:t>
                </a:r>
              </a:p>
              <a:p>
                <a:pPr lvl="2"/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Discrete Time System</a:t>
                </a:r>
              </a:p>
              <a:p>
                <a:pPr lvl="2"/>
                <a:r>
                  <a:rPr lang="en-US" dirty="0"/>
                  <a:t>Systems in which input and output, both signals are discrete in nature.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e.g. microprocessors, shift registers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7EFBBF-E63E-4B53-9F27-F3693156E0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2286000"/>
                <a:ext cx="6769223" cy="4008268"/>
              </a:xfrm>
              <a:blipFill>
                <a:blip r:embed="rId2"/>
                <a:stretch>
                  <a:fillRect l="-811" t="-1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BC84E1-3ACE-40E2-AA9D-80CE3438F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55585" y="6453386"/>
            <a:ext cx="6280830" cy="404614"/>
          </a:xfrm>
        </p:spPr>
        <p:txBody>
          <a:bodyPr/>
          <a:lstStyle/>
          <a:p>
            <a:r>
              <a:rPr lang="en-US"/>
              <a:t>Prepared by: Dr. Arsla Khan, CUI Lahore Campus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6DFAFD-3154-46ED-9988-4134A666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EC1277-D416-4234-A50D-20F16D299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407" y="2364927"/>
            <a:ext cx="3468163" cy="11986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934A01-2274-4E42-A92F-09F6E9AC6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5195" y="4479485"/>
            <a:ext cx="3591374" cy="116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715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F23CF-C68D-4FCE-BF3C-9C99FE8E5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Interconnection of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404DE-4E2E-4F3A-B757-D80E641DE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Systems can be interconnected in multiple ways</a:t>
            </a:r>
          </a:p>
          <a:p>
            <a:pPr lvl="2"/>
            <a:endParaRPr lang="en-US" dirty="0">
              <a:solidFill>
                <a:srgbClr val="FF0000"/>
              </a:solidFill>
            </a:endParaRPr>
          </a:p>
          <a:p>
            <a:pPr lvl="2"/>
            <a:r>
              <a:rPr lang="en-US" dirty="0">
                <a:solidFill>
                  <a:srgbClr val="FF0000"/>
                </a:solidFill>
              </a:rPr>
              <a:t>1) Series(Cascaded) Interconnection</a:t>
            </a:r>
          </a:p>
          <a:p>
            <a:pPr lvl="4"/>
            <a:r>
              <a:rPr lang="en-US" dirty="0">
                <a:solidFill>
                  <a:schemeClr val="tx1"/>
                </a:solidFill>
              </a:rPr>
              <a:t>Output of system 1 is input of other system</a:t>
            </a:r>
          </a:p>
          <a:p>
            <a:pPr lvl="4"/>
            <a:r>
              <a:rPr lang="en-US" dirty="0">
                <a:solidFill>
                  <a:schemeClr val="tx1"/>
                </a:solidFill>
              </a:rPr>
              <a:t>Overall impulse response is equal to convolution of individual impulse responses.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1754CD-A6B8-45E0-B2CF-430424C9B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Arsla Khan, CUI Lahore Campus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EC4D2F-3AE9-4420-8EB3-9CDB09DC4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E96C0B-E861-4E28-B485-029BE8866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290" y="4112211"/>
            <a:ext cx="6747975" cy="135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6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9799A-29DA-4964-BCBD-6C32E8AAB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639192"/>
            <a:ext cx="5402559" cy="5228208"/>
          </a:xfrm>
        </p:spPr>
        <p:txBody>
          <a:bodyPr/>
          <a:lstStyle/>
          <a:p>
            <a:r>
              <a:rPr lang="en-US" dirty="0"/>
              <a:t>2) Parallel Interconnection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Same input is applied to all systems.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Overall impulse response is equal </a:t>
            </a:r>
            <a:r>
              <a:rPr lang="en-US">
                <a:solidFill>
                  <a:schemeClr val="tx1"/>
                </a:solidFill>
              </a:rPr>
              <a:t>to addition </a:t>
            </a:r>
            <a:r>
              <a:rPr lang="en-US" dirty="0">
                <a:solidFill>
                  <a:schemeClr val="tx1"/>
                </a:solidFill>
              </a:rPr>
              <a:t>of individual impulse responses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3) Series/Parallel Interconnection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Combination of series and parallel combination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251B38-C4C5-4653-ABA8-49EE87EAE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Arsla Khan, CUI Lahore Campus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D2136-DAC1-48B7-B7B8-FA265152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E62E9C-24A6-4404-A832-1A403DCFE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159" y="639192"/>
            <a:ext cx="5031290" cy="20792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1217CB-0DA0-47C6-B5FB-57DF4F847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925" y="4280662"/>
            <a:ext cx="9601200" cy="230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7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CF296-8BB6-46E4-A48B-CA337BCA7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828" y="1158536"/>
            <a:ext cx="9601200" cy="35814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4) Feedback Interconnection</a:t>
            </a:r>
          </a:p>
          <a:p>
            <a:endParaRPr lang="en-US" dirty="0"/>
          </a:p>
          <a:p>
            <a:pPr lvl="2"/>
            <a:r>
              <a:rPr lang="en-US" dirty="0"/>
              <a:t>Output of system 1 is the input to system 2, while the output of system 2 is fed back and added to the external input to produce the actual input to system 1.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2AB3F6-0633-4EEA-B73A-33B8B392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Arsla Khan, CUI Lahore Campus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75BAC8-8A1D-4614-BF52-851ECA147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1B094C-1337-433B-9D3E-A238C9D00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217" y="3232120"/>
            <a:ext cx="5892485" cy="205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12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AFD77-78C5-4E4D-8C97-3EC75A8D8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9869"/>
            <a:ext cx="9601200" cy="60146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Exp 7.1: Write relationship between input and output 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76C0CA-B968-4D70-9C7D-679981CB9E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Multiple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by 2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r>
                  <a:rPr lang="en-US" dirty="0"/>
                  <a:t>Square of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]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Relationship is: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]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76C0CA-B968-4D70-9C7D-679981CB9E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A71AA-3CC9-4268-8E01-B838ED26F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Arsla Khan, CUI Lahore Campus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34A53-6052-40BF-8540-10ED10DA4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AC6CF6-ABA3-4086-BED8-005A61BB0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404" y="1428750"/>
            <a:ext cx="7177300" cy="204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75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6B41A-50F8-4D9C-A301-79E050916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C273D-0944-4AED-B0E4-12C991D46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0F2E41-2447-4917-A050-11F9070C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3ABEB7-69DD-4528-A037-8EBE092AE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194" y="0"/>
            <a:ext cx="8780012" cy="642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58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E8AA0-13BC-41E6-8A14-DD83E324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1"/>
            <a:ext cx="9601200" cy="65472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1) Causal and Non-Causal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8E411-ECAA-46B2-8185-B70570485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4163" y="1633522"/>
            <a:ext cx="7719134" cy="4526871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Response of the causal system to an input does not depend on future values of that input but depends only on the present and past values.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565FB8-962D-451E-9CE2-C6AB815A7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Arsla Khan, CUI Lahore Campus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85AC90-877C-412E-A790-49863815D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579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02EBFA-2D59-497D-AFBB-72D556FE3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Arsla Khan, CUI Lahore Campus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0F557C-6302-4C93-A9D7-84342AF3B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3745AB5-3BDF-479F-8F9F-4165375612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71600" y="985421"/>
                <a:ext cx="9601200" cy="53177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84048" indent="-384048" algn="l" defTabSz="9144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Exp1: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r>
                  <a:rPr lang="en-US" b="1" u="sng" dirty="0">
                    <a:solidFill>
                      <a:srgbClr val="0070C0"/>
                    </a:solidFill>
                  </a:rPr>
                  <a:t>Solution: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Put different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 above equation to check whether it is causal or not</a:t>
                </a: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</a:rPr>
                  <a:t>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⇛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</a:rPr>
                  <a:t>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4"/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⇛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</a:rPr>
                  <a:t>Put n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4"/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⇛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depending on previous and present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only so it is a non-causal system</a:t>
                </a: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3745AB5-3BDF-479F-8F9F-416537561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985421"/>
                <a:ext cx="9601200" cy="5317725"/>
              </a:xfrm>
              <a:prstGeom prst="rect">
                <a:avLst/>
              </a:prstGeom>
              <a:blipFill>
                <a:blip r:embed="rId2"/>
                <a:stretch>
                  <a:fillRect l="-571" t="-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8247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02EBFA-2D59-497D-AFBB-72D556FE3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Arsla Khan, CUI Lahore Campus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0F557C-6302-4C93-A9D7-84342AF3B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3745AB5-3BDF-479F-8F9F-4165375612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71600" y="985421"/>
                <a:ext cx="9601200" cy="53177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84048" indent="-384048" algn="l" defTabSz="9144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Exp2: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r>
                  <a:rPr lang="en-US" b="1" u="sng" dirty="0">
                    <a:solidFill>
                      <a:srgbClr val="0070C0"/>
                    </a:solidFill>
                  </a:rPr>
                  <a:t>Solution: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Put different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 above equation to check whether it is causal or not</a:t>
                </a: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</a:rPr>
                  <a:t>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⇛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</a:rPr>
                  <a:t>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4"/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⇛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</a:rPr>
                  <a:t>Put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4"/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1−1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⇛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depending on previous and present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only so it is a causal system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3745AB5-3BDF-479F-8F9F-416537561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985421"/>
                <a:ext cx="9601200" cy="5317725"/>
              </a:xfrm>
              <a:prstGeom prst="rect">
                <a:avLst/>
              </a:prstGeom>
              <a:blipFill>
                <a:blip r:embed="rId2"/>
                <a:stretch>
                  <a:fillRect l="-571" t="-1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6292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78377-25A4-4081-910A-4514E9A18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systems are also known as memoryless systems</a:t>
            </a:r>
          </a:p>
          <a:p>
            <a:r>
              <a:rPr lang="en-US" dirty="0"/>
              <a:t>Static systems contain no storage elements (thus, no integrals, derivatives or signal delays)</a:t>
            </a:r>
          </a:p>
          <a:p>
            <a:r>
              <a:rPr lang="en-US" dirty="0"/>
              <a:t>A </a:t>
            </a:r>
            <a:r>
              <a:rPr lang="en-US" u="sng" dirty="0">
                <a:solidFill>
                  <a:srgbClr val="FF0000"/>
                </a:solidFill>
              </a:rPr>
              <a:t>static or memoryless system </a:t>
            </a:r>
            <a:r>
              <a:rPr lang="en-US" dirty="0"/>
              <a:t>is a system with an output signal whose values depends upon the present value of the input signal </a:t>
            </a:r>
            <a:r>
              <a:rPr lang="en-US" i="1" dirty="0">
                <a:solidFill>
                  <a:srgbClr val="FF0000"/>
                </a:solidFill>
              </a:rPr>
              <a:t>only</a:t>
            </a:r>
            <a:r>
              <a:rPr lang="en-US" dirty="0"/>
              <a:t>. Otherwise the system is </a:t>
            </a:r>
            <a:r>
              <a:rPr lang="en-US" dirty="0">
                <a:solidFill>
                  <a:srgbClr val="FF0000"/>
                </a:solidFill>
              </a:rPr>
              <a:t>dynamic </a:t>
            </a:r>
            <a:r>
              <a:rPr lang="en-US" dirty="0"/>
              <a:t>or with memory.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561757-979B-462D-B3D5-513488EA5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Arsla Khan, CUI Lahore Campus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949295-01F0-4DFA-92F9-799527410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B2416E-5711-4887-B968-D8F24C265F9A}"/>
              </a:ext>
            </a:extLst>
          </p:cNvPr>
          <p:cNvSpPr txBox="1">
            <a:spLocks/>
          </p:cNvSpPr>
          <p:nvPr/>
        </p:nvSpPr>
        <p:spPr>
          <a:xfrm>
            <a:off x="1371600" y="685801"/>
            <a:ext cx="9965184" cy="89442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FF0000"/>
                </a:solidFill>
              </a:rPr>
              <a:t>2) Static (memoryless) and Dynamic (with memory) Systems</a:t>
            </a:r>
          </a:p>
        </p:txBody>
      </p:sp>
    </p:spTree>
    <p:extLst>
      <p:ext uri="{BB962C8B-B14F-4D97-AF65-F5344CB8AC3E}">
        <p14:creationId xmlns:p14="http://schemas.microsoft.com/office/powerpoint/2010/main" val="674494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1AEFCE-08AD-4875-9815-D18AA3318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Arsla Khan, CUI Lahore Campus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8E1CC2-D739-4C85-9143-39BBA0D4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119DE66-B64C-47EC-BEAA-A7B369C528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67828" y="1094172"/>
                <a:ext cx="9601200" cy="4669655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(ii)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r>
                  <a:rPr lang="en-US" b="1" u="sng" dirty="0">
                    <a:solidFill>
                      <a:srgbClr val="0070C0"/>
                    </a:solidFill>
                  </a:rPr>
                  <a:t>Solution: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Put different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 above equation to check whether it is static or not</a:t>
                </a: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</a:rPr>
                  <a:t>Put n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0−1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⇛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4"/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⇛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</a:rPr>
                  <a:t>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4"/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1−1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⇛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depending on previous and present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values only so it is a dynamic system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119DE66-B64C-47EC-BEAA-A7B369C528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67828" y="1094172"/>
                <a:ext cx="9601200" cy="4669655"/>
              </a:xfrm>
              <a:blipFill>
                <a:blip r:embed="rId2"/>
                <a:stretch>
                  <a:fillRect l="-571" t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3528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F7EA96-36F1-453B-B6DA-09CF21D62B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system is </a:t>
                </a:r>
                <a:r>
                  <a:rPr lang="en-US" b="1" u="sng" dirty="0">
                    <a:solidFill>
                      <a:srgbClr val="FF0000"/>
                    </a:solidFill>
                  </a:rPr>
                  <a:t>time invariant </a:t>
                </a:r>
                <a:r>
                  <a:rPr lang="en-US" dirty="0"/>
                  <a:t>if the time shift in the input signal results in corresponding time shift in the output. 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en-US" dirty="0"/>
                  <a:t>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response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Then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delayed by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then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will also be delayed by the same time. i.e.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F7EA96-36F1-453B-B6DA-09CF21D62B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71" t="-1361" r="-1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08E6F4-2062-4B4B-AE6A-91B264396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Arsla Khan, CUI Lahore Campus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756261-3E65-4886-9103-F250BBA87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D52B9BB-CA47-44CB-8ECA-9B74235F126B}"/>
              </a:ext>
            </a:extLst>
          </p:cNvPr>
          <p:cNvSpPr txBox="1">
            <a:spLocks/>
          </p:cNvSpPr>
          <p:nvPr/>
        </p:nvSpPr>
        <p:spPr>
          <a:xfrm>
            <a:off x="1371600" y="685801"/>
            <a:ext cx="9965184" cy="8944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FF0000"/>
                </a:solidFill>
              </a:rPr>
              <a:t>3) Time Invariant and Time Variant Systems</a:t>
            </a:r>
          </a:p>
        </p:txBody>
      </p:sp>
    </p:spTree>
    <p:extLst>
      <p:ext uri="{BB962C8B-B14F-4D97-AF65-F5344CB8AC3E}">
        <p14:creationId xmlns:p14="http://schemas.microsoft.com/office/powerpoint/2010/main" val="2814303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D2B24-4E1C-4182-B701-25EED8FA6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8136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Steps to test for time invariance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14DDF8-56C9-4E3E-9323-8161342B43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367161"/>
                <a:ext cx="9601200" cy="4500239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70C0"/>
                    </a:solidFill>
                  </a:rPr>
                  <a:t>Step 1: </a:t>
                </a:r>
                <a:r>
                  <a:rPr lang="en-US" dirty="0"/>
                  <a:t>Determine the output of system for delayed input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987552" lvl="2" indent="0">
                  <a:buNone/>
                </a:pPr>
                <a:endParaRPr lang="en-US" dirty="0"/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Step 2:</a:t>
                </a:r>
                <a:r>
                  <a:rPr lang="en-US" dirty="0"/>
                  <a:t> Then delay the output itself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Step 3:</a:t>
                </a:r>
                <a:r>
                  <a:rPr lang="en-US" dirty="0"/>
                  <a:t> If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  <a:r>
                  <a:rPr lang="en-US" dirty="0">
                    <a:sym typeface="Wingdings" panose="05000000000000000000" pitchFamily="2" charset="2"/>
                  </a:rPr>
                  <a:t> Time variant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  <a:r>
                  <a:rPr lang="en-US" dirty="0">
                    <a:sym typeface="Wingdings" panose="05000000000000000000" pitchFamily="2" charset="2"/>
                  </a:rPr>
                  <a:t> Time invariant</a:t>
                </a: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14DDF8-56C9-4E3E-9323-8161342B43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367161"/>
                <a:ext cx="9601200" cy="4500239"/>
              </a:xfrm>
              <a:blipFill>
                <a:blip r:embed="rId2"/>
                <a:stretch>
                  <a:fillRect l="-571" t="-1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253902-4595-4A89-9A55-1420FFCB1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Arsla Khan, CUI Lahore Campus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A3358-6D12-43F5-AC2D-45EB9BCD4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052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6C0C58-56D7-4487-8773-CE68A6886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Arsla Khan, CUI Lahore Campus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535014-C898-4230-B16B-9739AFCA5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708786C-1E8B-4E76-AE31-974EC52332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136342"/>
                <a:ext cx="9601200" cy="414513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𝑛𝑥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Step 1:</a:t>
                </a:r>
                <a:r>
                  <a:rPr lang="en-US" dirty="0"/>
                  <a:t> Determine the output for delayed input i.e. 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Step 2: </a:t>
                </a:r>
                <a:r>
                  <a:rPr lang="en-US" dirty="0"/>
                  <a:t>Now delay the output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 Hence we have to replace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Step 3:  </a:t>
                </a:r>
                <a:r>
                  <a:rPr lang="en-US" dirty="0"/>
                  <a:t>Compare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Both are not same so system is </a:t>
                </a:r>
                <a:r>
                  <a:rPr lang="en-US" i="1" u="sng" dirty="0">
                    <a:solidFill>
                      <a:srgbClr val="FF0000"/>
                    </a:solidFill>
                  </a:rPr>
                  <a:t>time variant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708786C-1E8B-4E76-AE31-974EC52332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136342"/>
                <a:ext cx="9601200" cy="4145132"/>
              </a:xfrm>
              <a:blipFill>
                <a:blip r:embed="rId2"/>
                <a:stretch>
                  <a:fillRect l="-571" t="-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0210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49C0E-9222-4C0F-8422-240955D06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145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4) Linear and Non-Linear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30896D-4FDF-4DAF-A379-2DDAE683B8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633491"/>
                <a:ext cx="9601200" cy="4233909"/>
              </a:xfrm>
            </p:spPr>
            <p:txBody>
              <a:bodyPr/>
              <a:lstStyle/>
              <a:p>
                <a:r>
                  <a:rPr lang="en-US" dirty="0"/>
                  <a:t>A system is said to be linear if it follows the superposition principle. </a:t>
                </a:r>
              </a:p>
              <a:p>
                <a:r>
                  <a:rPr lang="en-US" dirty="0"/>
                  <a:t>Consider two systems defined as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is input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is output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is input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is output</a:t>
                </a: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r>
                  <a:rPr lang="en-US" dirty="0"/>
                  <a:t>Discrete time system is said to be linear if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30896D-4FDF-4DAF-A379-2DDAE683B8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633491"/>
                <a:ext cx="9601200" cy="4233909"/>
              </a:xfrm>
              <a:blipFill>
                <a:blip r:embed="rId2"/>
                <a:stretch>
                  <a:fillRect l="-571" t="-1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B19D58-AB73-488A-A17E-BF65D208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Arsla Khan, CUI Lahore Campus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AE7FC-4D7C-4AD3-ADE7-C05A015C0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465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C9CB37-2621-469A-864D-24DE3140B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Arsla Khan, CUI Lahore Campus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0D8B3E-606D-46F7-90C6-6B17321DC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355C52-748E-4019-BA27-EE97F6246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588" y="341818"/>
            <a:ext cx="5726071" cy="25383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59DAC7-4CA8-4F9F-A7D1-2B26B7402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142" y="3196212"/>
            <a:ext cx="5845825" cy="26706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1206D0F-17A2-4A2D-9D59-3700588D5052}"/>
                  </a:ext>
                </a:extLst>
              </p:cNvPr>
              <p:cNvSpPr txBox="1"/>
              <p:nvPr/>
            </p:nvSpPr>
            <p:spPr>
              <a:xfrm>
                <a:off x="8202967" y="2965380"/>
                <a:ext cx="36614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 Linear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1206D0F-17A2-4A2D-9D59-3700588D5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2967" y="2965380"/>
                <a:ext cx="3661457" cy="461665"/>
              </a:xfrm>
              <a:prstGeom prst="rect">
                <a:avLst/>
              </a:prstGeom>
              <a:blipFill>
                <a:blip r:embed="rId4"/>
                <a:stretch>
                  <a:fillRect l="-2667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C644D9F-52B5-4E3A-B142-AE2AEAC7F5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7659" y="1254607"/>
            <a:ext cx="806578" cy="68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5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521C1-2B9A-4F8E-B292-709EA1AE0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0AD78-97A8-4E04-B740-2C0641ABD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B558F8-D95F-4148-B506-C0971FFB9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A1371B-626E-47A5-B1B9-6EC832190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350" y="729292"/>
            <a:ext cx="7635516" cy="452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2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4D3DFC0-9BB3-4365-8088-719987DA296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371600" y="685800"/>
                <a:ext cx="9601200" cy="921058"/>
              </a:xfrm>
            </p:spPr>
            <p:txBody>
              <a:bodyPr>
                <a:normAutofit/>
              </a:bodyPr>
              <a:lstStyle/>
              <a:p>
                <a:pPr/>
                <a:r>
                  <a:rPr lang="en-US" sz="2400" dirty="0">
                    <a:solidFill>
                      <a:srgbClr val="FF0000"/>
                    </a:solidFill>
                  </a:rPr>
                  <a:t>Exp 8.1: Check whether the system is linear or not</a:t>
                </a:r>
                <a:br>
                  <a:rPr lang="en-US" sz="2400" dirty="0">
                    <a:solidFill>
                      <a:srgbClr val="FF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𝑡𝑥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4D3DFC0-9BB3-4365-8088-719987DA29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71600" y="685800"/>
                <a:ext cx="9601200" cy="921058"/>
              </a:xfrm>
              <a:blipFill>
                <a:blip r:embed="rId2"/>
                <a:stretch>
                  <a:fillRect l="-952" t="-9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2012C5-0E7B-4FE0-B996-BB1EEBBE2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81385"/>
                <a:ext cx="9601200" cy="403490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u="sng" dirty="0">
                    <a:solidFill>
                      <a:srgbClr val="0070C0"/>
                    </a:solidFill>
                  </a:rPr>
                  <a:t>For RHS</a:t>
                </a:r>
              </a:p>
              <a:p>
                <a:r>
                  <a:rPr lang="en-US" dirty="0"/>
                  <a:t>Consider two systems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u="sng" dirty="0">
                    <a:solidFill>
                      <a:srgbClr val="0070C0"/>
                    </a:solidFill>
                  </a:rPr>
                  <a:t>For LHS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u="sng" dirty="0">
                  <a:solidFill>
                    <a:srgbClr val="0070C0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u="sng" dirty="0">
                  <a:solidFill>
                    <a:schemeClr val="tx1"/>
                  </a:solidFill>
                </a:endParaRPr>
              </a:p>
              <a:p>
                <a:endParaRPr lang="en-US" u="sng" dirty="0">
                  <a:solidFill>
                    <a:srgbClr val="0070C0"/>
                  </a:solidFill>
                </a:endParaRPr>
              </a:p>
              <a:p>
                <a:endParaRPr lang="en-US" u="sng" dirty="0">
                  <a:solidFill>
                    <a:srgbClr val="0070C0"/>
                  </a:solidFill>
                </a:endParaRPr>
              </a:p>
              <a:p>
                <a:endParaRPr lang="en-US" u="sng" dirty="0">
                  <a:solidFill>
                    <a:srgbClr val="0070C0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2012C5-0E7B-4FE0-B996-BB1EEBBE2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81385"/>
                <a:ext cx="9601200" cy="4034901"/>
              </a:xfrm>
              <a:blipFill>
                <a:blip r:embed="rId3"/>
                <a:stretch>
                  <a:fillRect l="-571" t="-2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DBC3A5-1C0E-4E31-B1A6-8AD70CAE6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Arsla Khan, CUI Lahore Campus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D16D5-9E72-48D8-B7C3-3A46FC9BC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B6FAB4-42D2-4E3C-BCBB-97C0EF4247A4}"/>
                  </a:ext>
                </a:extLst>
              </p:cNvPr>
              <p:cNvSpPr txBox="1"/>
              <p:nvPr/>
            </p:nvSpPr>
            <p:spPr>
              <a:xfrm>
                <a:off x="7385004" y="5433133"/>
                <a:ext cx="34445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 Linear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B6FAB4-42D2-4E3C-BCBB-97C0EF424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004" y="5433133"/>
                <a:ext cx="3444536" cy="369332"/>
              </a:xfrm>
              <a:prstGeom prst="rect">
                <a:avLst/>
              </a:prstGeom>
              <a:blipFill>
                <a:blip r:embed="rId4"/>
                <a:stretch>
                  <a:fillRect l="-141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5511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4B76AD-C20E-461E-93F4-7CCD13660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624614"/>
                <a:ext cx="9601200" cy="4242786"/>
              </a:xfrm>
            </p:spPr>
            <p:txBody>
              <a:bodyPr/>
              <a:lstStyle/>
              <a:p>
                <a:r>
                  <a:rPr lang="en-US" dirty="0"/>
                  <a:t>When every bounded input produces bounded output. It is called Stable System.</a:t>
                </a:r>
              </a:p>
              <a:p>
                <a:r>
                  <a:rPr lang="en-US" dirty="0"/>
                  <a:t>Follows BIBO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:r>
                  <a:rPr lang="en-US" dirty="0"/>
                  <a:t>Then O/P is</a:t>
                </a:r>
              </a:p>
              <a:p>
                <a:r>
                  <a:rPr lang="en-US" dirty="0"/>
                  <a:t>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4B76AD-C20E-461E-93F4-7CCD13660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624614"/>
                <a:ext cx="9601200" cy="4242786"/>
              </a:xfrm>
              <a:blipFill>
                <a:blip r:embed="rId2"/>
                <a:stretch>
                  <a:fillRect l="-571" t="-1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D68223-7188-471E-BAE0-B29F1C03A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Arsla Khan, CUI Lahore Campus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7993A-A458-4E1C-B29B-C4ADB251D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23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781F29-500E-4CF7-A8E8-D1879EFF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145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5) Stable and Unstable Systems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A8025F2-908F-4BDF-8237-4109C78E1CBA}"/>
              </a:ext>
            </a:extLst>
          </p:cNvPr>
          <p:cNvSpPr/>
          <p:nvPr/>
        </p:nvSpPr>
        <p:spPr>
          <a:xfrm>
            <a:off x="3959441" y="2902998"/>
            <a:ext cx="506027" cy="110970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C22D5A-9C5B-49AC-B7F6-878952491FCF}"/>
              </a:ext>
            </a:extLst>
          </p:cNvPr>
          <p:cNvSpPr txBox="1"/>
          <p:nvPr/>
        </p:nvSpPr>
        <p:spPr>
          <a:xfrm>
            <a:off x="4767309" y="3160450"/>
            <a:ext cx="217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Bounded Input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9A4D83B8-C0A1-40DD-ADA9-CA275381F80E}"/>
              </a:ext>
            </a:extLst>
          </p:cNvPr>
          <p:cNvSpPr/>
          <p:nvPr/>
        </p:nvSpPr>
        <p:spPr>
          <a:xfrm>
            <a:off x="3959441" y="4678531"/>
            <a:ext cx="506027" cy="110970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84026C-74F3-4C64-BE74-2DCE9E19FDC4}"/>
              </a:ext>
            </a:extLst>
          </p:cNvPr>
          <p:cNvSpPr txBox="1"/>
          <p:nvPr/>
        </p:nvSpPr>
        <p:spPr>
          <a:xfrm>
            <a:off x="4500978" y="5048719"/>
            <a:ext cx="217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Bounded Output</a:t>
            </a:r>
          </a:p>
        </p:txBody>
      </p:sp>
    </p:spTree>
    <p:extLst>
      <p:ext uri="{BB962C8B-B14F-4D97-AF65-F5344CB8AC3E}">
        <p14:creationId xmlns:p14="http://schemas.microsoft.com/office/powerpoint/2010/main" val="1172518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F3FA3-67D5-488B-AA2A-7C5434BA5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A588F-9C01-49A5-B28B-2E5CCE037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AA24E3-37CD-4C04-AA90-FC06280A1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B84B97-46C1-4DCC-AED7-5B45B6BF1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557" y="681162"/>
            <a:ext cx="8534399" cy="554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451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F8F19-EA56-4032-9AB2-D126E2354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E6FFC-C193-4B52-B211-173628C69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CCEDE6-EAB2-4E5B-AF09-24450F325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C41855-7D5F-4C65-8ADD-A1D40463B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458" y="636105"/>
            <a:ext cx="9601199" cy="549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5206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CC1A-C9F5-40C2-8957-231F968D6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3E3C0-9BB9-40DB-BA14-A8DD9C48E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32467-6230-4954-91A1-6FC707B8A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1D7FEC-0F54-4693-92AB-E041B0B3A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913" y="370475"/>
            <a:ext cx="8680173" cy="578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00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42289-5D0A-4565-A496-89CE6CCEF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BFE1E-D491-439A-8BEE-43890CF81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1C4FA1-15EF-4688-941F-5D4F2376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717201-C1D5-4C07-B401-1C53FC054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826" y="465803"/>
            <a:ext cx="8196747" cy="553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531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19491-540A-462E-96C5-176F77AFD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A90D4-1F65-41EB-9E34-C20EF0C80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972C7-78A8-461B-8B17-6532545CD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6D72AD-11C0-4434-93D5-D0DF4B6C1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548" y="244388"/>
            <a:ext cx="8267759" cy="606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57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EF89E-9B1C-43C8-8AE8-048009C30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27167-3841-476C-9F38-C43E02330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45D0A-530A-4283-8B3C-337C3A2C5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7B902B-1862-4196-8294-E23D66330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264" y="184662"/>
            <a:ext cx="8419397" cy="626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99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536E5-8B32-4DB8-A2C1-597F451F2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C3817-7922-4317-BBCE-4121C3CA6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F744EC-AD5B-4700-A0FE-BDD797B9D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AE7FAE-B822-41F9-9FAF-185925645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067" y="561880"/>
            <a:ext cx="8139568" cy="556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029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E97F-10CF-40B2-A39A-8407945CC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651B8-4705-42DB-9F0A-D90F6D93B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E910DA-80E9-4C0C-84E9-2C581E9DD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17591E-C74A-4406-99F0-FE324664F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02" y="810319"/>
            <a:ext cx="9489196" cy="523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7357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AD5BD-33FD-4F53-910A-B885D787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B7D6B-F507-4577-B8BD-6CD4D326F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C40B22-AECA-466D-81A7-3E1262036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C72BB1-1ED5-41B7-9C3C-A7FC7A073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748" y="218107"/>
            <a:ext cx="8799443" cy="616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3046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9DD0-B831-4195-A044-AAF8FA84B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20EFA-74C8-4091-9B7C-9BAD24E73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684029-263C-4A52-B01C-2155C12D5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5300D8-978C-4F28-8782-22D7A8F6C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818" y="221975"/>
            <a:ext cx="7767469" cy="585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4787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4950F-3284-487A-98C6-0E7547C6A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E05F-8BE7-46D6-9A78-A1B2DE804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DF3A72-612F-4841-9A86-FEC06DCA1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058918-9C39-4DAA-9E25-99EB0FB08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373" y="240316"/>
            <a:ext cx="8286875" cy="592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5838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1F8A0-2117-4111-9548-13B9E623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489A3-F56C-4107-8FAE-A767EEA6B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D292D-1A9B-4FFF-8D54-CEEF135F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985B38-DF58-478D-90C0-43148A29A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367" y="384312"/>
            <a:ext cx="9423665" cy="588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7023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AEE56-BF2E-4171-A9AD-4721EE9A5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F4045-621D-4D06-9FC7-B21823103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E5283-269D-489C-87C3-590D08153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62F74D-E2B8-4AB7-9CDD-CFFA1AC9C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484" y="160174"/>
            <a:ext cx="8317032" cy="601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7183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FC8C7-FB60-46EF-B241-87BDCC64B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0839F-B1D6-42B4-9692-D17792E41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CB509-D48D-4045-ABE6-0144B8A5F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9B9F46-436B-4630-A747-98C3E8672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492" y="224745"/>
            <a:ext cx="8211015" cy="622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4687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E9893-6911-4231-9608-A7CDCCA22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F929E-8421-4B3F-9670-118010FDC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D1366D-E5B0-41E3-B2D6-306F567B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27327A-1D34-4EBB-B53D-EE6A4BFE7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504" y="268786"/>
            <a:ext cx="8885582" cy="624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3829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FBAC0-FFB2-46B5-A97F-96D312449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E20A0-6EE0-4331-BCBB-085EAF1FF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C52C9-8F50-4A7E-8F9F-C25E27BE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CF3CE1-511C-4549-A9EF-C85A6EDD5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825" y="176335"/>
            <a:ext cx="8017565" cy="619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9659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247B9-6767-4CCD-A7C4-D9516FF0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30F02-6039-481B-8967-4BA59369F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5DF104-B954-4FF6-8F5B-1099A762C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CCA38B-D0B1-4CDE-8826-2F9E17B7F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084" y="91085"/>
            <a:ext cx="8783832" cy="608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7010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D8F23-E451-4D61-8D0F-F213FA575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E47FA-1E8B-4215-A7BB-E8C504AF8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DBDF5F-C8A1-4ECD-B003-5FC8544FA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53BA69-5BF6-4C7C-84F5-EE4F0A8A3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670" y="201179"/>
            <a:ext cx="8567530" cy="610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2257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5B74-1A36-49FD-8336-5707E579B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3F0BE-A9F1-4A20-BF92-74BB7E8EE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C29564-08E4-4A5C-B352-F60C221A2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BC3FB3-9A7B-46E9-89E0-14DD6D48E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531" y="112212"/>
            <a:ext cx="7964555" cy="605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2157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4EAF5-2C96-401D-8570-CC212C49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4344B-FD95-415F-ADF0-EDE72FA1C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C3E2BD-AADD-409F-8CA2-F0E882762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8A3174-E516-4A34-B5A1-BF7A58B65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270" y="123296"/>
            <a:ext cx="8574157" cy="633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7721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4EA10-7A67-4FF1-9ACC-B3FC9AB91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E7529-F113-4DDA-9D0B-8D9101051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366FAD-98FB-4009-98A2-F7F3B3457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6D4345-2A73-4472-900B-27E21E845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448" y="218208"/>
            <a:ext cx="7991061" cy="623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0411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B56FB-E793-4EEC-ADC7-E11ACBBB4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EAED1-7BFD-4CE1-AA7B-028BA6E0F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575F7-B867-4535-B0A6-BDA85917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76CCFA-3FC6-427B-9A2E-6145CE78A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927" y="294261"/>
            <a:ext cx="8256104" cy="615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4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76299-D4E6-4E32-BF5E-630752A1C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09A1D-6620-4247-83D6-C2F6BFF52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0B03AE-85A8-4119-83CE-29D852776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6EED9C-4798-4887-9550-B8D5D1F13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774" y="149592"/>
            <a:ext cx="8401878" cy="632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5326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F1843-CA57-49C6-BAC0-F2A5E6A50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72268-8939-4003-B81B-3B5C57112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A5FC7-69FA-4560-81F5-0D8A922FC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F1D4E5-9FB6-492B-9982-8D7C91BEE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313" y="243122"/>
            <a:ext cx="7911548" cy="601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154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5571D-6DDD-4569-A89D-400496103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27EFD-722F-4E6E-8E0F-28AA2E34C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1DF82B-1855-429F-973E-21B08CE60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A913DA-86D5-4006-8204-E620FA24F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201" y="119268"/>
            <a:ext cx="8367938" cy="637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9468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867D8-6484-416E-9426-C2F68E749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468CC-48BA-43B4-BE21-90932FAF4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108763-4AFA-404B-9A2A-75B6DD957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DD7346-AEA2-4654-B44C-CEB82BB71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329" y="181833"/>
            <a:ext cx="7805531" cy="615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8745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872BC-C485-4BEA-A1AD-41551FC64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97933-30A9-4521-8149-30164FCBE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6932EB-AD25-4EDA-976D-CA62CCC87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C7F501-2FA7-4E30-903E-92BE30A1C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289" y="243119"/>
            <a:ext cx="7701822" cy="562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4969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58159-A524-4B8E-879A-5588E477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E6CF9-CAAD-4559-8144-B113A1CF7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2001C1-85E0-469C-85FB-5640B543D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3B87AF-4ACA-409E-AE0E-81CA78CA9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408" y="182217"/>
            <a:ext cx="8037443" cy="611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8333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74520-4F30-47A7-A284-8F474BB19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552E3-50A7-4FB5-B7FF-FB3617967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D2CD51-6244-4620-A019-4DB1AEC99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84DE89-B486-4FD9-84BC-4D7D0F35E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496" y="583096"/>
            <a:ext cx="8534799" cy="489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8106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15D38-5F1D-4EF3-BED6-3F5BFCEE7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D95DD-A8A1-45F2-A67F-8A4DD4348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B62EBD-8A04-49D5-8F6E-E42691D40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B30579-75AD-4145-A99A-6397BBAF6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030" y="105582"/>
            <a:ext cx="8263897" cy="643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369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B7D2B-6662-4DC1-B5F8-4DD4A1F9E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02853-014C-4D80-9C5B-5FD2A4DD7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A0901-8672-44E0-8346-2457E9B8C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101C73-D0C9-4459-B6DF-DEA73A0F5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522" y="176377"/>
            <a:ext cx="7735588" cy="566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38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BC954-FE20-4EA6-8926-757817404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3CB83-DA8B-43EA-87CE-3C487CCFB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2CD175-AFA3-4941-98D3-FB3344C64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C26D20-F13F-4EBF-ACC9-6C864A2E2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009" y="317238"/>
            <a:ext cx="8998226" cy="619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6010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4CF3A-C92A-4B9D-8D4A-F0DF40813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91235-1310-4959-97C4-E833B14A8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7558A-75FC-4C52-AC5F-965227C9F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5F6833-EC7F-473B-A9BF-794D4F656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574" y="386289"/>
            <a:ext cx="7416689" cy="578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4075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C706B-82D2-4D22-8A8F-E1E66701F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E8DE8-83DE-4BF2-A059-B40E6741A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17E59-33C1-4FEC-9219-93DE75A12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6DBE96-28E8-4D84-9CF1-AF369A139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810" y="149260"/>
            <a:ext cx="7500774" cy="583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347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F5C33-5BFE-4D66-8B7E-C8B47285B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568DA-7DC7-4330-8E7D-D0AE72AB8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12EDF-B3E7-4DC9-8B9D-3AD5932BE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5B12D9-2816-49BC-B2F6-9850F8C78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852" y="524961"/>
            <a:ext cx="8646547" cy="541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8488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26A10-8EAC-446F-BE9E-318A1D9EC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FF65A-85AF-484A-9410-8D2F92F8F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302551-7635-4215-9786-747506A28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215D7F-3DE8-4459-9800-70D01FCB9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043" y="229682"/>
            <a:ext cx="7481913" cy="594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325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AE1E4-8104-48A3-BA92-EB3209AE7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CC8E6-3D5C-47DE-B7CF-CD18C5F50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3600A-0C9E-45A0-9D34-FC7BC1559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4B7E23-FDC3-4AEF-8013-E2DD52577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652" y="638016"/>
            <a:ext cx="9283148" cy="553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197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B5F18-764B-4D67-AD48-AB2AB30D9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DC91E-A4F2-4F3E-A93B-CA6CB4CF2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948648-BED6-45A8-A2ED-B669093B9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A54A7D-0CF2-44D8-A497-36FF4C138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070" y="293673"/>
            <a:ext cx="8110330" cy="611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107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D6C4-3C4B-46DF-9D0A-A0487FD9F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896" y="2872409"/>
            <a:ext cx="9601200" cy="1485900"/>
          </a:xfrm>
        </p:spPr>
        <p:txBody>
          <a:bodyPr/>
          <a:lstStyle/>
          <a:p>
            <a:pPr algn="ctr"/>
            <a:r>
              <a:rPr lang="en-US" dirty="0"/>
              <a:t>Thank You !!!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3E5493-2E58-4DF0-B82E-48DCCC0A6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61060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642</TotalTime>
  <Words>1663</Words>
  <Application>Microsoft Office PowerPoint</Application>
  <PresentationFormat>Widescreen</PresentationFormat>
  <Paragraphs>218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7" baseType="lpstr">
      <vt:lpstr>Calibri</vt:lpstr>
      <vt:lpstr>Cambria Math</vt:lpstr>
      <vt:lpstr>Franklin Gothic Book</vt:lpstr>
      <vt:lpstr>Wingdings</vt:lpstr>
      <vt:lpstr>Crop</vt:lpstr>
      <vt:lpstr>Lec 2: DT Systems Overview</vt:lpstr>
      <vt:lpstr>Chapter 2: Overview    (SNS Revision)</vt:lpstr>
      <vt:lpstr>PowerPoint Presentation</vt:lpstr>
      <vt:lpstr>PowerPoint Presentation</vt:lpstr>
      <vt:lpstr>Types of Systems</vt:lpstr>
      <vt:lpstr>Interconnection of Systems</vt:lpstr>
      <vt:lpstr>PowerPoint Presentation</vt:lpstr>
      <vt:lpstr>PowerPoint Presentation</vt:lpstr>
      <vt:lpstr>Exp 7.1: Write relationship between input and output signals</vt:lpstr>
      <vt:lpstr>PowerPoint Presentation</vt:lpstr>
      <vt:lpstr>1) Causal and Non-Causal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Steps to test for time invariance property</vt:lpstr>
      <vt:lpstr>PowerPoint Presentation</vt:lpstr>
      <vt:lpstr>4) Linear and Non-Linear Systems</vt:lpstr>
      <vt:lpstr>PowerPoint Presentation</vt:lpstr>
      <vt:lpstr>PowerPoint Presentation</vt:lpstr>
      <vt:lpstr>Exp 8.1: Check whether the system is linear or not y(t)=tx(t)</vt:lpstr>
      <vt:lpstr>5) Stable and Unstable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Signals and Systems</dc:title>
  <dc:creator>Ghalzai Ghalzai</dc:creator>
  <cp:lastModifiedBy>Dr. Arsla Khan</cp:lastModifiedBy>
  <cp:revision>113</cp:revision>
  <cp:lastPrinted>2019-02-07T07:25:33Z</cp:lastPrinted>
  <dcterms:created xsi:type="dcterms:W3CDTF">2019-02-07T05:45:40Z</dcterms:created>
  <dcterms:modified xsi:type="dcterms:W3CDTF">2025-09-05T06:06:21Z</dcterms:modified>
</cp:coreProperties>
</file>