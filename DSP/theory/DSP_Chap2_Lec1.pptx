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4"/>
  </p:notes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72" r:id="rId13"/>
    <p:sldId id="289" r:id="rId14"/>
    <p:sldId id="290" r:id="rId15"/>
    <p:sldId id="291" r:id="rId16"/>
    <p:sldId id="286" r:id="rId17"/>
    <p:sldId id="287" r:id="rId18"/>
    <p:sldId id="288" r:id="rId19"/>
    <p:sldId id="292" r:id="rId20"/>
    <p:sldId id="295" r:id="rId21"/>
    <p:sldId id="296" r:id="rId22"/>
    <p:sldId id="297" r:id="rId23"/>
    <p:sldId id="298" r:id="rId24"/>
    <p:sldId id="299" r:id="rId25"/>
    <p:sldId id="293" r:id="rId26"/>
    <p:sldId id="294" r:id="rId27"/>
    <p:sldId id="300" r:id="rId28"/>
    <p:sldId id="301" r:id="rId29"/>
    <p:sldId id="302" r:id="rId30"/>
    <p:sldId id="313" r:id="rId31"/>
    <p:sldId id="314" r:id="rId32"/>
    <p:sldId id="315" r:id="rId33"/>
    <p:sldId id="316" r:id="rId34"/>
    <p:sldId id="303" r:id="rId35"/>
    <p:sldId id="304" r:id="rId36"/>
    <p:sldId id="305" r:id="rId37"/>
    <p:sldId id="306" r:id="rId38"/>
    <p:sldId id="307" r:id="rId39"/>
    <p:sldId id="308" r:id="rId40"/>
    <p:sldId id="309" r:id="rId41"/>
    <p:sldId id="310" r:id="rId42"/>
    <p:sldId id="317" r:id="rId43"/>
    <p:sldId id="318" r:id="rId44"/>
    <p:sldId id="327" r:id="rId45"/>
    <p:sldId id="329" r:id="rId46"/>
    <p:sldId id="330" r:id="rId47"/>
    <p:sldId id="331" r:id="rId48"/>
    <p:sldId id="319" r:id="rId49"/>
    <p:sldId id="324" r:id="rId50"/>
    <p:sldId id="325" r:id="rId51"/>
    <p:sldId id="326" r:id="rId52"/>
    <p:sldId id="323" r:id="rId53"/>
  </p:sldIdLst>
  <p:sldSz cx="12192000" cy="6858000"/>
  <p:notesSz cx="6881813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400D0-3002-4CFA-B779-B266496184E2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473575"/>
            <a:ext cx="55054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313" y="8829675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DA73FA-3570-4EE8-97C4-3AAAEA19E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458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DA00BBE-65B0-4CB7-AB30-67DF5711CF00}" type="datetime1">
              <a:rPr lang="en-US" smtClean="0"/>
              <a:t>2/17/2021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Courtesy: Dr. Khurram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A656E-4E7D-44B0-B5F3-F570961CB209}" type="datetime1">
              <a:rPr lang="en-US" smtClean="0"/>
              <a:t>2/17/2021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227067B-EA51-439E-A6D6-2E2FEB36EF6D}" type="datetime1">
              <a:rPr lang="en-US" smtClean="0"/>
              <a:t>2/17/2021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Courtesy: Dr. Khurram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543D3-6C1B-462E-A649-860D2FCC60EE}" type="datetime1">
              <a:rPr lang="en-US" smtClean="0"/>
              <a:t>2/17/2021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FBAD-6BA8-4404-981A-78BAEEA590E6}" type="datetime1">
              <a:rPr lang="en-US" smtClean="0"/>
              <a:t>2/17/2021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5290E-5BBE-405C-A6C6-F456D735178D}" type="datetime1">
              <a:rPr lang="en-US" smtClean="0"/>
              <a:t>2/17/2021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0B2B9-F9F4-493C-B04A-73216B8B305F}" type="datetime1">
              <a:rPr lang="en-US" smtClean="0"/>
              <a:t>2/17/2021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AF6A105-0C9F-4E91-8DB8-5CB152A88188}" type="datetime1">
              <a:rPr lang="en-US" smtClean="0"/>
              <a:t>2/17/2021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Courtesy: Dr. Khurram Ali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D9B31C-E9FA-4188-88AA-5D7B96E8CBED}" type="datetime1">
              <a:rPr lang="en-US" smtClean="0"/>
              <a:t>2/17/2021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Courtesy: Dr. Khurram Ali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0EAAD-E55A-4A1E-A8E5-413D33F1B2EF}" type="datetime1">
              <a:rPr lang="en-US" smtClean="0"/>
              <a:t>2/17/2021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0DE25-BF15-400F-9D61-AA0C739A3082}" type="datetime1">
              <a:rPr lang="en-US" smtClean="0"/>
              <a:t>2/17/2021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04091E5F-1FCF-4369-BBC4-4604CD0FEB6E}" type="datetime1">
              <a:rPr lang="en-US" smtClean="0"/>
              <a:t>2/17/2021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Courtesy: Dr. Khurram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image" Target="../media/image44.png"/><Relationship Id="rId7" Type="http://schemas.openxmlformats.org/officeDocument/2006/relationships/image" Target="../media/image24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5" Type="http://schemas.openxmlformats.org/officeDocument/2006/relationships/image" Target="../media/image220.png"/><Relationship Id="rId4" Type="http://schemas.openxmlformats.org/officeDocument/2006/relationships/image" Target="../media/image210.png"/><Relationship Id="rId9" Type="http://schemas.openxmlformats.org/officeDocument/2006/relationships/image" Target="../media/image26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e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D2412-9F35-4E40-93C7-5350C3EAD7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CPE 324 Digital signal 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9E75C1-B393-493B-86F1-9F27F8B49C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Arsla Khan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FC4B2F-DE18-4CAD-B3E4-72916662B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92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899BD-F703-4D24-AC20-4D56A23AD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DD939-6547-46EC-B435-235ECC64F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51BDAF-C247-47CC-99F5-CD7968A55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2459"/>
            <a:ext cx="9043287" cy="641308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A94795-D628-4BD1-817B-0D116B585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478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F45BF-203E-411E-8EFA-832D260F7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70332-17D0-40C4-82B2-92B8B637D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D3C202-1672-4507-A2C4-8C1ED75E3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86337"/>
            <a:ext cx="9386595" cy="64683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22AE03-8479-4757-807C-275715443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96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B47840-C8A0-43DD-9DA7-68F9AAE71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018" y="212600"/>
            <a:ext cx="9024382" cy="641307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3AA884-F1DE-4B73-A46B-14AB1192A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435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82F1F9-46A5-4BEA-89BF-FDE10B328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832" y="351675"/>
            <a:ext cx="8560335" cy="615464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D064153-9A7E-4111-8949-27021F4B5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838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A153C3-3FD5-418B-A130-406860C98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583" y="182023"/>
            <a:ext cx="9173817" cy="627954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B8FE713-65C8-494B-926B-BAF46BB81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461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95E1F-C75E-4EA5-876D-C719DC38A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00E62-2613-496F-BAB5-BCC5E2C4A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59AAA6-F99D-4EDF-A1AF-366366475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632159"/>
            <a:ext cx="8892209" cy="554004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109760-F5A1-4453-9B98-4EB21C2CC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055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9BFB0-0083-421E-8336-A1ADF71FE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04BD7-E229-4E35-B27A-BA9D0B477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4CA518-0155-4503-80AE-433EC80D2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636" y="172948"/>
            <a:ext cx="8753127" cy="617083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11D656-6A04-4F1A-B0B4-22ECCD44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345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91177-705D-49D7-A61D-BF71CAFF1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EBC00-1BFB-4DA0-9F2E-140045219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29BCF6-7586-4003-932F-D6B22F054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364" y="397986"/>
            <a:ext cx="9500436" cy="606202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B8064A-2F24-4894-9C3D-288B86C95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463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F5E6F5-B8EF-43F4-9EB2-25AE8D424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401" y="261748"/>
            <a:ext cx="8579197" cy="633450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6A9524B-166B-488E-ADA3-6A8AB182B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313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2D6FC0-84DE-4E98-A166-344A2880A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603" y="383807"/>
            <a:ext cx="8216275" cy="609038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63CD877-D9D7-4144-9AEE-51198FEEF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149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0B80E-9F0A-4C9A-95CB-FF787C7F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808" y="2709908"/>
            <a:ext cx="9601200" cy="941033"/>
          </a:xfrm>
        </p:spPr>
        <p:txBody>
          <a:bodyPr/>
          <a:lstStyle/>
          <a:p>
            <a:pPr algn="ctr"/>
            <a:r>
              <a:rPr lang="en-US" dirty="0"/>
              <a:t>Thank You !!!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D3FC5C-DAA2-47A8-B5BC-202E4D3D9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96" y="672120"/>
            <a:ext cx="8742895" cy="564057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903AB3-2258-4E91-8329-C32C98CFA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338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7DE76-D78B-48E7-9200-15BDBEF83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47164-BEA2-426F-BCED-EA2720C35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8A8BE2-72A4-49A5-9B20-7FD7637EC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271" y="293234"/>
            <a:ext cx="8175600" cy="627153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C95666-ACFA-48AB-A9C1-E2B9C38EF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95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7E615-D515-456D-9607-29755253A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BE298-0F41-4E58-AF03-5C16595F6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BECE9A-2DFF-4F76-8040-07FA427D5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562" y="276224"/>
            <a:ext cx="7694795" cy="595257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6A54C-4CEC-4E63-A33B-CB33CD3FC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792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21340-29D0-4EFD-BF47-7D4FC01E1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27214-F51D-43A7-915A-47AFDC62C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03B29C-9A9E-4A92-924A-4CCCB3DF7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526" y="91638"/>
            <a:ext cx="9151073" cy="657733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2F7EE3-B316-4057-A003-F52B0B09A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866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5B7FB-77F6-4D1B-98AC-B86B186A1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3288F-7378-49C2-96C7-68A221A67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CD0306-3184-48E6-8D00-1AABD9F8E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508" y="306151"/>
            <a:ext cx="8010984" cy="556124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1E999D-5059-4DD1-ACF9-7E7234B7F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155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B5EFD-2753-4B64-B96B-AADE333C4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CA8E0-E631-4683-952C-4DCE1C6E9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259F79-328F-477E-BAF3-5675306EF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089" y="304070"/>
            <a:ext cx="8006221" cy="586813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13742-B133-4303-BB25-7D4700EFB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2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16C5D-021B-4B2F-AF69-1C842726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EC07A-2864-49A7-BF62-05C7D0E6B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44079-568F-4B39-AE21-6ACD48182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360" y="248582"/>
            <a:ext cx="8681680" cy="636083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A989DD-4CD8-43C3-A4E8-6627D7BA4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865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F052-2DAA-44BD-9916-6EBA1A2AC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61353"/>
          </a:xfrm>
        </p:spPr>
        <p:txBody>
          <a:bodyPr/>
          <a:lstStyle/>
          <a:p>
            <a:r>
              <a:rPr lang="en-US" dirty="0"/>
              <a:t>Chapter 2: Overview (Revision of SNS)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ED59E-A097-4C06-B2E9-0DF3DFBA1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94103E-9E93-4D7A-97D0-759CB0AD4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406" y="1647153"/>
            <a:ext cx="7842177" cy="493154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221674-E59B-4DE1-B4BD-3F9ECD00B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020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0A38F-DDEF-4133-A850-F40903C04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710DA-D2B6-4E20-9686-5A79DFD1B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0CCC16-D352-4D8B-8C74-5FB897C55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399" y="427919"/>
            <a:ext cx="8153879" cy="600216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90083B-0EB5-4603-AEDB-76CA3860E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826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73504-395E-43D4-BAD0-47E0ACA3A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F3513-D5E6-496E-A2F3-40FD1F940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9DD22B-4FFA-4B68-8866-DFBA94CD5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337" y="306754"/>
            <a:ext cx="7793784" cy="575439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727CB0-D006-4B7F-9FF3-987DF58CD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914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13B9-35EC-4E9E-8327-2850C14A4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98059-1E82-47DD-BB7B-F4673FFAE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AE2CBF-62B8-4CD0-8B34-71CBBB0AE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900" y="220853"/>
            <a:ext cx="8368200" cy="605067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6ABDB5-EFAF-41E6-9637-7747E6A74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690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19A06-24A6-40B3-9653-DC6D6DE6B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6CA4A-C9B9-4A3E-9372-8525C504B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2B04CF-7836-44B3-AA59-0189FDD9B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110" y="277492"/>
            <a:ext cx="8292180" cy="630301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1BB300-7A2A-4620-A108-F89F59E59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5396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80930-143A-4DE4-A422-B75E27812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A23B4-582A-41B0-9493-30526CDC0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F28270-CFF7-4F7C-9F6F-FC1E56318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122" y="307491"/>
            <a:ext cx="7845755" cy="600690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9933A5-F433-4DB1-BFB5-D656533DA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6867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7DA9A-F882-46DD-9FE2-C7A2A0C63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C5C28-4C72-4925-B8B3-89DFB5C63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0B24C9-0300-4B26-9E6E-BDCC2BFE5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298" y="153437"/>
            <a:ext cx="8029403" cy="629944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B20092-C3E0-4152-ADAB-6A6E3B9EB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2969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993D0-BB13-40D2-9462-14EB8B4FF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5D5B8-5E37-4F7F-BB8F-0210C4BE0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4AB0E5-2340-4895-8A3C-80A872C0B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023" y="225246"/>
            <a:ext cx="8382681" cy="618974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663289-5C07-49E5-BAD2-5917456A0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6562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3885F-2BDF-4805-A16B-AD009EF5C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0D9D7-D650-4E18-8E03-237BB6EB5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44E8C6-00AD-473B-BFED-085083B6B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812" y="201543"/>
            <a:ext cx="8426162" cy="616809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D8A532-5E7B-432B-A174-43CE6A4BB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8454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E93CA-CF15-4F7D-8053-1DE62DB01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3B439-0494-4DEE-990C-6E09D3998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215260-0BB3-4200-A81B-CE08F0C4C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992" y="304611"/>
            <a:ext cx="8392016" cy="586758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54CE16-13E6-4498-BEEC-47CF03F81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3575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7A08B-61D0-4EB9-90D8-1EDC8F123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9E223-F2AF-49C4-B023-D58598943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4C936B-6AFC-4DBE-9334-2950FFA99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286" y="247769"/>
            <a:ext cx="8609427" cy="636246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398E99-F7E3-4472-A0B9-AFA548FFC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1525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D118F-BB18-44C2-AC05-B077D2290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47691"/>
          </a:xfrm>
        </p:spPr>
        <p:txBody>
          <a:bodyPr/>
          <a:lstStyle/>
          <a:p>
            <a:r>
              <a:rPr lang="en-US" dirty="0"/>
              <a:t>Classification of 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FA10B-FB95-4E46-82F5-BCB032AC6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28800"/>
            <a:ext cx="9601200" cy="4038600"/>
          </a:xfrm>
        </p:spPr>
        <p:txBody>
          <a:bodyPr>
            <a:normAutofit fontScale="92500"/>
          </a:bodyPr>
          <a:lstStyle/>
          <a:p>
            <a:r>
              <a:rPr lang="en-US" dirty="0"/>
              <a:t>Based upon their characteristics and nature of availability, the signals can be classified</a:t>
            </a:r>
          </a:p>
          <a:p>
            <a:pPr lvl="1"/>
            <a:r>
              <a:rPr lang="en-US" dirty="0"/>
              <a:t>Continuous Time Signal</a:t>
            </a:r>
          </a:p>
          <a:p>
            <a:pPr lvl="1"/>
            <a:r>
              <a:rPr lang="en-US" dirty="0"/>
              <a:t>Discrete Time Signal</a:t>
            </a:r>
          </a:p>
          <a:p>
            <a:pPr lvl="1"/>
            <a:r>
              <a:rPr lang="en-US" dirty="0"/>
              <a:t>Even Signal</a:t>
            </a:r>
          </a:p>
          <a:p>
            <a:pPr lvl="1"/>
            <a:r>
              <a:rPr lang="en-US" dirty="0"/>
              <a:t>Odd Signal</a:t>
            </a:r>
          </a:p>
          <a:p>
            <a:pPr lvl="1"/>
            <a:r>
              <a:rPr lang="en-US" dirty="0"/>
              <a:t>Periodic Signal</a:t>
            </a:r>
          </a:p>
          <a:p>
            <a:pPr lvl="1"/>
            <a:r>
              <a:rPr lang="en-US" dirty="0"/>
              <a:t>Aperiodic Signal</a:t>
            </a:r>
          </a:p>
          <a:p>
            <a:pPr lvl="1"/>
            <a:r>
              <a:rPr lang="en-US" dirty="0"/>
              <a:t>Energy Signal</a:t>
            </a:r>
          </a:p>
          <a:p>
            <a:pPr lvl="1"/>
            <a:r>
              <a:rPr lang="en-US" dirty="0"/>
              <a:t>Power Signal</a:t>
            </a:r>
          </a:p>
          <a:p>
            <a:pPr lvl="1"/>
            <a:r>
              <a:rPr lang="en-US" dirty="0"/>
              <a:t>Deterministic Signal</a:t>
            </a:r>
          </a:p>
          <a:p>
            <a:pPr lvl="1"/>
            <a:r>
              <a:rPr lang="en-US" dirty="0"/>
              <a:t>Random Signal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DF4D2-5CE3-4BC6-9916-B7F2E2A29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CD59F8AE-741B-44F9-BEC4-C5DDA789B48A}"/>
              </a:ext>
            </a:extLst>
          </p:cNvPr>
          <p:cNvSpPr/>
          <p:nvPr/>
        </p:nvSpPr>
        <p:spPr>
          <a:xfrm>
            <a:off x="1970842" y="2175029"/>
            <a:ext cx="461639" cy="727969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A37A58CD-F011-4A4E-B167-AB3B949EA0F8}"/>
              </a:ext>
            </a:extLst>
          </p:cNvPr>
          <p:cNvSpPr/>
          <p:nvPr/>
        </p:nvSpPr>
        <p:spPr>
          <a:xfrm>
            <a:off x="1926453" y="2931108"/>
            <a:ext cx="461639" cy="727969"/>
          </a:xfrm>
          <a:prstGeom prst="leftBrace">
            <a:avLst/>
          </a:prstGeom>
          <a:ln>
            <a:solidFill>
              <a:srgbClr val="0070C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5198CE0A-4155-4FBB-8340-0C4565885478}"/>
              </a:ext>
            </a:extLst>
          </p:cNvPr>
          <p:cNvSpPr/>
          <p:nvPr/>
        </p:nvSpPr>
        <p:spPr>
          <a:xfrm>
            <a:off x="1926452" y="3703467"/>
            <a:ext cx="461639" cy="727969"/>
          </a:xfrm>
          <a:prstGeom prst="leftBrac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3AC044B8-AA47-4250-B868-BA2D1804B428}"/>
              </a:ext>
            </a:extLst>
          </p:cNvPr>
          <p:cNvSpPr/>
          <p:nvPr/>
        </p:nvSpPr>
        <p:spPr>
          <a:xfrm>
            <a:off x="1917574" y="4413680"/>
            <a:ext cx="461639" cy="727969"/>
          </a:xfrm>
          <a:prstGeom prst="lef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20179AD2-D785-4FD5-828F-4B47F7D6EC5D}"/>
              </a:ext>
            </a:extLst>
          </p:cNvPr>
          <p:cNvSpPr/>
          <p:nvPr/>
        </p:nvSpPr>
        <p:spPr>
          <a:xfrm>
            <a:off x="1953086" y="5186039"/>
            <a:ext cx="461639" cy="727969"/>
          </a:xfrm>
          <a:prstGeom prst="leftBrac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112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2A226-46CB-437C-A088-1AFD3752F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891C2-F186-4B0D-AA95-50387E926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288AAB-4E00-4A4C-82E2-B677AB917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560" y="315291"/>
            <a:ext cx="7972879" cy="585690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CC1336-D53F-4C29-B7D8-993310668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8259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51E0C-F075-40B3-8ED2-AF3D34AC4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1DB87-302C-472D-A852-26D13C84E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2575ED-BAD3-4FC8-B0DD-97DC2773F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266" y="359192"/>
            <a:ext cx="7679468" cy="581300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F9BBD6-E6A1-45B9-A4DF-FDAC9858E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5648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B7C72-AA0A-4676-97FC-A097EC462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28138-098A-4D10-9F85-3F1C6354B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8A2B77-D365-4305-B9C8-1359050FF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326" y="592499"/>
            <a:ext cx="8015747" cy="557970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D1F0B7-840F-4FE5-B0A1-D908D5459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4992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0F51A-4C5E-42F8-BB4B-4CA726309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50089-80F8-41F8-89CA-DA3D2CFBC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98D76C-66B1-4A50-80D2-AB5335963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747" y="437082"/>
            <a:ext cx="8207715" cy="598383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896530-46FE-4296-8288-5B80F9D0E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7216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88C8A1-8BE0-463C-8F5D-957129505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062" y="319327"/>
            <a:ext cx="8627164" cy="630446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E770D58-D2EE-44D1-9037-58BAFD4ED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0333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08FF5-19AF-47AD-B9C1-F13553514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A616E-25FE-4912-A83B-C6FDEADEA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6FBF04-9F1B-479E-A8A0-5B9B4C463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652" y="309367"/>
            <a:ext cx="8842747" cy="617987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41F5D7-3C9C-4D85-8A64-0FC5DD2DF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5996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4B288-D145-46BB-B666-61F6DDA95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78CB6-314E-4C6E-BB60-73C5C5B28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C41C63-8510-4DAB-A668-38CAF5B8B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218" y="263124"/>
            <a:ext cx="9247182" cy="633175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8F3646-CA1A-4675-BCB1-FBFBCAD86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5044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6211A-5C59-4BB6-A9B3-C0239D9D0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86DD7-5919-4E80-B3C8-F1A9FD541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4F035D-4B92-4FAC-B4AB-7DEBD0C20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708" y="355755"/>
            <a:ext cx="8936583" cy="592859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63F69F-582A-44C3-B0EC-4DD7430E4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890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C1CF0-0A79-401A-AB1B-D7594AF8E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40651-45D7-4D61-8817-9AE8ACD81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56F604-3354-44BE-8ACC-1EAF944B0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33" y="443213"/>
            <a:ext cx="8906967" cy="597157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145256-8EAB-4176-8EAC-882E46293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3831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DE9F6-771E-4F21-82DA-B9662223B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DC7ED-ED43-4479-A004-B73B5AC9B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9569A2-E3D7-4818-BE2D-155A29766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571" y="685800"/>
            <a:ext cx="8334858" cy="567137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1782D6-850A-4AD7-9D21-910FE94CD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5059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E778A-B7E4-4D30-8E5A-8E98CA54D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D8935-97F8-4312-BA82-582A1985C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496E0B-6D5E-425B-9759-F5EEE9E81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976" y="269075"/>
            <a:ext cx="9212824" cy="631984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72F1BF-3EF1-4812-B6B7-D3131E89C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2576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C53F3-F2CD-47F1-B9B5-CE43DFE15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5DB85-D55B-43CD-9C20-3C9E4B69D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3FE146-F148-4C7F-92B5-D87CE5642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327" y="357809"/>
            <a:ext cx="8572359" cy="598760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EB8D21-D1DB-46B2-9EA6-754038048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3344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6E26B-4EF1-45A0-B50D-8820E4CBD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F46C2-1180-46AF-A59A-80D428FA4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C10C7C-9EE3-4DAA-B2E5-32A23510E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534" y="439240"/>
            <a:ext cx="8325332" cy="597951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10D8EE-8632-4929-9C23-62D12A9EC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5609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6EF1F-7379-4D06-BD04-03093B31C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3EC36-C783-4349-825C-3CFF25D84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CBDAC5-79C6-418A-8444-322EAB035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C5301F-CEEA-4A4D-A58B-E34862257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570" y="496979"/>
            <a:ext cx="8792817" cy="586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340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F5755-0168-460F-858D-FB92CF929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E54B86F-DF82-4876-B290-74A51E7A53BB}"/>
              </a:ext>
            </a:extLst>
          </p:cNvPr>
          <p:cNvSpPr txBox="1">
            <a:spLocks/>
          </p:cNvSpPr>
          <p:nvPr/>
        </p:nvSpPr>
        <p:spPr>
          <a:xfrm>
            <a:off x="1371600" y="685800"/>
            <a:ext cx="9601200" cy="6369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FF0000"/>
                </a:solidFill>
              </a:rPr>
              <a:t>Exp : For the signal given, sketch x[2n] and x[n/2]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A3E53B-EFE5-45C7-A83F-CD81A2BA3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099" y="2189316"/>
            <a:ext cx="5229225" cy="317182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B99CCE-4CAE-4D77-8DEF-2EE5ADC6E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Arsla Khan, CUI Lahore Campus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123CA-3241-4DEC-BB16-B73DA05D1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99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C312D-F406-4864-B05B-45E7B1940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x[2n] </a:t>
            </a:r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lang="en-US" sz="2800" dirty="0">
                <a:solidFill>
                  <a:srgbClr val="FF0000"/>
                </a:solidFill>
                <a:sym typeface="Wingdings" panose="05000000000000000000" pitchFamily="2" charset="2"/>
              </a:rPr>
              <a:t>Down-sampling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9F92F-698D-4664-898E-44EC59789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0435" y="1779198"/>
            <a:ext cx="9601200" cy="35814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2n = -2 </a:t>
            </a:r>
            <a:r>
              <a:rPr lang="en-US" dirty="0">
                <a:sym typeface="Wingdings" panose="05000000000000000000" pitchFamily="2" charset="2"/>
              </a:rPr>
              <a:t> n=-1</a:t>
            </a:r>
          </a:p>
          <a:p>
            <a:r>
              <a:rPr lang="en-US" dirty="0">
                <a:solidFill>
                  <a:srgbClr val="FF0000"/>
                </a:solidFill>
              </a:rPr>
              <a:t>2n = -1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 n=-1/5=-0.5</a:t>
            </a:r>
          </a:p>
          <a:p>
            <a:r>
              <a:rPr lang="en-US" dirty="0"/>
              <a:t>2n = 0 </a:t>
            </a:r>
            <a:r>
              <a:rPr lang="en-US" dirty="0">
                <a:sym typeface="Wingdings" panose="05000000000000000000" pitchFamily="2" charset="2"/>
              </a:rPr>
              <a:t> n=0</a:t>
            </a:r>
          </a:p>
          <a:p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2n = 1  n=1/2=0.5</a:t>
            </a:r>
          </a:p>
          <a:p>
            <a:r>
              <a:rPr lang="en-US" dirty="0">
                <a:sym typeface="Wingdings" panose="05000000000000000000" pitchFamily="2" charset="2"/>
              </a:rPr>
              <a:t>2n = 2  n=2/2=1</a:t>
            </a:r>
          </a:p>
          <a:p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2n = 3  n=3/2=1.5</a:t>
            </a:r>
          </a:p>
          <a:p>
            <a:r>
              <a:rPr lang="en-US" dirty="0">
                <a:sym typeface="Wingdings" panose="05000000000000000000" pitchFamily="2" charset="2"/>
              </a:rPr>
              <a:t>2n = 4  n=4/2 = 2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Thus, for x[2n], pick every 2</a:t>
            </a:r>
            <a:r>
              <a:rPr lang="en-US" baseline="30000" dirty="0">
                <a:sym typeface="Wingdings" panose="05000000000000000000" pitchFamily="2" charset="2"/>
              </a:rPr>
              <a:t>nd</a:t>
            </a:r>
            <a:r>
              <a:rPr lang="en-US" dirty="0">
                <a:sym typeface="Wingdings" panose="05000000000000000000" pitchFamily="2" charset="2"/>
              </a:rPr>
              <a:t> sample and discard other samples</a:t>
            </a:r>
          </a:p>
          <a:p>
            <a:r>
              <a:rPr lang="en-US" dirty="0">
                <a:sym typeface="Wingdings" panose="05000000000000000000" pitchFamily="2" charset="2"/>
              </a:rPr>
              <a:t>Similarly for x[3n], pick every 3</a:t>
            </a:r>
            <a:r>
              <a:rPr lang="en-US" baseline="30000" dirty="0">
                <a:sym typeface="Wingdings" panose="05000000000000000000" pitchFamily="2" charset="2"/>
              </a:rPr>
              <a:t>rd</a:t>
            </a:r>
            <a:r>
              <a:rPr lang="en-US" dirty="0">
                <a:sym typeface="Wingdings" panose="05000000000000000000" pitchFamily="2" charset="2"/>
              </a:rPr>
              <a:t> sample and discard other samples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AC1779-984C-4FFE-97C8-359445483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674" y="205698"/>
            <a:ext cx="4461535" cy="27061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5FED32-D2A7-4298-9153-C58E0197E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427" y="3824725"/>
            <a:ext cx="3972571" cy="28275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4CAC8A-80DC-4234-8C63-A3484FE6323F}"/>
                  </a:ext>
                </a:extLst>
              </p:cNvPr>
              <p:cNvSpPr txBox="1"/>
              <p:nvPr/>
            </p:nvSpPr>
            <p:spPr>
              <a:xfrm>
                <a:off x="7840649" y="2933634"/>
                <a:ext cx="344562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4CAC8A-80DC-4234-8C63-A3484FE63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0649" y="2933634"/>
                <a:ext cx="344562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95DB54-C8E1-472D-85A2-69583C6C11D8}"/>
                  </a:ext>
                </a:extLst>
              </p:cNvPr>
              <p:cNvSpPr txBox="1"/>
              <p:nvPr/>
            </p:nvSpPr>
            <p:spPr>
              <a:xfrm>
                <a:off x="8170602" y="2935112"/>
                <a:ext cx="344562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95DB54-C8E1-472D-85A2-69583C6C1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0602" y="2935112"/>
                <a:ext cx="344562" cy="6347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F44823-87A1-45D9-B33D-D707889D1259}"/>
                  </a:ext>
                </a:extLst>
              </p:cNvPr>
              <p:cNvSpPr txBox="1"/>
              <p:nvPr/>
            </p:nvSpPr>
            <p:spPr>
              <a:xfrm>
                <a:off x="8482804" y="2936588"/>
                <a:ext cx="344562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F44823-87A1-45D9-B33D-D707889D1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2804" y="2936588"/>
                <a:ext cx="344562" cy="6347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8747FD-774A-4600-822A-F9CB697009AA}"/>
                  </a:ext>
                </a:extLst>
              </p:cNvPr>
              <p:cNvSpPr txBox="1"/>
              <p:nvPr/>
            </p:nvSpPr>
            <p:spPr>
              <a:xfrm>
                <a:off x="8802397" y="2936590"/>
                <a:ext cx="344562" cy="609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8747FD-774A-4600-822A-F9CB69700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2397" y="2936590"/>
                <a:ext cx="344562" cy="6099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302F3C-7E53-43BD-A78C-087A47B06E4D}"/>
                  </a:ext>
                </a:extLst>
              </p:cNvPr>
              <p:cNvSpPr txBox="1"/>
              <p:nvPr/>
            </p:nvSpPr>
            <p:spPr>
              <a:xfrm>
                <a:off x="7540284" y="2935109"/>
                <a:ext cx="344562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US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302F3C-7E53-43BD-A78C-087A47B06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0284" y="2935109"/>
                <a:ext cx="344562" cy="6347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59E096-8300-4376-9734-8A31A13139D4}"/>
                  </a:ext>
                </a:extLst>
              </p:cNvPr>
              <p:cNvSpPr txBox="1"/>
              <p:nvPr/>
            </p:nvSpPr>
            <p:spPr>
              <a:xfrm>
                <a:off x="7069766" y="2943988"/>
                <a:ext cx="344562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59E096-8300-4376-9734-8A31A1313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9766" y="2943988"/>
                <a:ext cx="344562" cy="610936"/>
              </a:xfrm>
              <a:prstGeom prst="rect">
                <a:avLst/>
              </a:prstGeom>
              <a:blipFill>
                <a:blip r:embed="rId9"/>
                <a:stretch>
                  <a:fillRect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CC1C9C5-0EEE-4730-9429-A76D775D0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Arsla Khan, CUI Lahore Campus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9125B87-7C3B-4DC6-81DC-24563E828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307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BC527-C94A-42E1-8BF7-50FD13789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x[n/2] </a:t>
            </a:r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lang="en-US" sz="2800" dirty="0">
                <a:solidFill>
                  <a:srgbClr val="FF0000"/>
                </a:solidFill>
                <a:sym typeface="Wingdings" panose="05000000000000000000" pitchFamily="2" charset="2"/>
              </a:rPr>
              <a:t>Up-sampling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A50B-0F56-4B99-829C-EC7082C07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027439"/>
            <a:ext cx="9601200" cy="466661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n/2 = -2 </a:t>
            </a:r>
            <a:r>
              <a:rPr lang="en-US" dirty="0">
                <a:sym typeface="Wingdings" panose="05000000000000000000" pitchFamily="2" charset="2"/>
              </a:rPr>
              <a:t> n=-4</a:t>
            </a:r>
          </a:p>
          <a:p>
            <a:r>
              <a:rPr lang="en-US" dirty="0">
                <a:solidFill>
                  <a:schemeClr val="tx1"/>
                </a:solidFill>
              </a:rPr>
              <a:t>n/2 = -1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 n= -1 x 2= - 2</a:t>
            </a:r>
          </a:p>
          <a:p>
            <a:r>
              <a:rPr lang="en-US" dirty="0">
                <a:solidFill>
                  <a:schemeClr val="tx1"/>
                </a:solidFill>
              </a:rPr>
              <a:t>n/2 = 0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 n=0</a:t>
            </a:r>
          </a:p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n/2 = 1  n=1 x 2= 2</a:t>
            </a:r>
          </a:p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n/2 = 2  n=2 x2=4</a:t>
            </a:r>
          </a:p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n/2 = 3  n=3 x 2=6</a:t>
            </a:r>
          </a:p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n/2 = 4  n=4 x 2 = 8</a:t>
            </a:r>
          </a:p>
          <a:p>
            <a:endParaRPr lang="en-US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Thus, x[n/2]place samples at every 2</a:t>
            </a:r>
            <a:r>
              <a:rPr lang="en-US" baseline="30000" dirty="0">
                <a:solidFill>
                  <a:schemeClr val="tx1"/>
                </a:solidFill>
                <a:sym typeface="Wingdings" panose="05000000000000000000" pitchFamily="2" charset="2"/>
              </a:rPr>
              <a:t>nd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place whereas zeros will be placed in between the samples</a:t>
            </a:r>
          </a:p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Thus, x[n/3]place samples at every 3</a:t>
            </a:r>
            <a:r>
              <a:rPr lang="en-US" baseline="30000" dirty="0">
                <a:solidFill>
                  <a:schemeClr val="tx1"/>
                </a:solidFill>
                <a:sym typeface="Wingdings" panose="05000000000000000000" pitchFamily="2" charset="2"/>
              </a:rPr>
              <a:t>rd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place whereas zeros will be placed in between the samples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0223FD-66F7-4BA4-9898-A7A4F608A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7732" y="233977"/>
            <a:ext cx="2951296" cy="1790131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D7D6E93-E965-4823-965A-A8C9ABC1D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Dr. Arsla Khan, CUI Lahore Campus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1CA046-900F-42D4-A0A6-26F93581F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47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25B362-4101-416D-A9DE-706D52F68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075" y="2268587"/>
            <a:ext cx="4648609" cy="256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9100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F61A-3CD3-4AAA-BE11-C5B24F95C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844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Combined Operations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C5A459-A8DA-45AE-8B99-CC7A5915C3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2286000"/>
                <a:ext cx="10210800" cy="3581400"/>
              </a:xfrm>
            </p:spPr>
            <p:txBody>
              <a:bodyPr/>
              <a:lstStyle/>
              <a:p>
                <a:r>
                  <a:rPr lang="en-US" b="0" dirty="0"/>
                  <a:t>Suppos</a:t>
                </a:r>
                <a:r>
                  <a:rPr lang="en-US" dirty="0"/>
                  <a:t>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Two ways: </a:t>
                </a:r>
              </a:p>
              <a:p>
                <a:pPr lvl="1"/>
                <a:r>
                  <a:rPr lang="en-US" sz="2800" dirty="0"/>
                  <a:t>1) Time Shifting (advance) and then Time Folding</a:t>
                </a:r>
              </a:p>
              <a:p>
                <a:pPr lvl="2"/>
                <a:r>
                  <a:rPr lang="en-US" sz="2400" dirty="0"/>
                  <a:t>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+2)</m:t>
                    </m:r>
                  </m:oMath>
                </a14:m>
                <a:endParaRPr lang="en-US" sz="2400" dirty="0"/>
              </a:p>
              <a:p>
                <a:pPr marL="987552" lvl="2" indent="0">
                  <a:buNone/>
                </a:pPr>
                <a:endParaRPr lang="en-US" sz="2400" dirty="0"/>
              </a:p>
              <a:p>
                <a:pPr lvl="1"/>
                <a:r>
                  <a:rPr lang="en-US" sz="2800" dirty="0"/>
                  <a:t>2) Time Folding and then Time Shifting (delay) </a:t>
                </a:r>
              </a:p>
              <a:p>
                <a:pPr lvl="2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C5A459-A8DA-45AE-8B99-CC7A5915C3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2286000"/>
                <a:ext cx="10210800" cy="3581400"/>
              </a:xfrm>
              <a:blipFill>
                <a:blip r:embed="rId2"/>
                <a:stretch>
                  <a:fillRect l="-537" t="-1361" b="-25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93900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4A3F0-0838-4A06-BC6D-97FE66886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41159"/>
          </a:xfrm>
        </p:spPr>
        <p:txBody>
          <a:bodyPr>
            <a:normAutofit/>
          </a:bodyPr>
          <a:lstStyle/>
          <a:p>
            <a:r>
              <a:rPr lang="en-US" sz="3600" dirty="0"/>
              <a:t>General Rule for Combined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F65F3-9E67-4133-96B1-F13F3CEEF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First, do the time shifting operation</a:t>
            </a:r>
          </a:p>
          <a:p>
            <a:r>
              <a:rPr lang="en-US" dirty="0"/>
              <a:t>Then, do the time scaling operation</a:t>
            </a:r>
          </a:p>
          <a:p>
            <a:r>
              <a:rPr lang="en-US" dirty="0"/>
              <a:t>Then perform time folding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3A2BE2-703B-4CB4-8FE0-53959D450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6746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D3A690F-7A2A-4FAA-A4FA-3B51C95621DC}"/>
              </a:ext>
            </a:extLst>
          </p:cNvPr>
          <p:cNvSpPr txBox="1">
            <a:spLocks/>
          </p:cNvSpPr>
          <p:nvPr/>
        </p:nvSpPr>
        <p:spPr>
          <a:xfrm>
            <a:off x="1371600" y="685800"/>
            <a:ext cx="9601200" cy="6369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FF0000"/>
                </a:solidFill>
              </a:rPr>
              <a:t>Exp : For the signal given, sketch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(-2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+ 3)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FDA8E-2BFE-4835-BC7E-C1306048C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331" y="1773371"/>
            <a:ext cx="5375605" cy="396877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B385554-E70A-4CB0-BF5D-A3FE27A89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0437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6BF6AA-F92F-4C36-B6FB-78719EED9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1207" y="190970"/>
            <a:ext cx="3628842" cy="18543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B18F6A-D817-44EA-BC6D-14B967B1A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5" y="2286000"/>
            <a:ext cx="3191435" cy="18777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A97014-8FE3-4693-A39D-F73A24B0713A}"/>
              </a:ext>
            </a:extLst>
          </p:cNvPr>
          <p:cNvSpPr txBox="1"/>
          <p:nvPr/>
        </p:nvSpPr>
        <p:spPr>
          <a:xfrm>
            <a:off x="2689099" y="633214"/>
            <a:ext cx="2006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t+3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704E29-74F8-4F28-B992-22E2F92F4DBF}"/>
              </a:ext>
            </a:extLst>
          </p:cNvPr>
          <p:cNvSpPr txBox="1"/>
          <p:nvPr/>
        </p:nvSpPr>
        <p:spPr>
          <a:xfrm>
            <a:off x="2573690" y="2697871"/>
            <a:ext cx="2006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t+3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C5B182-848C-4714-9B6C-B6FA0167412B}"/>
              </a:ext>
            </a:extLst>
          </p:cNvPr>
          <p:cNvSpPr txBox="1"/>
          <p:nvPr/>
        </p:nvSpPr>
        <p:spPr>
          <a:xfrm>
            <a:off x="2573690" y="5077750"/>
            <a:ext cx="2006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(-2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t+3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681301-E659-4496-BE53-F5550E504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2359" y="4391431"/>
            <a:ext cx="3467147" cy="212026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EDED3FD-B27D-4A58-8727-A9E593D76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120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4D6C4-3C4B-46DF-9D0A-A0487FD9F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9896" y="2872409"/>
            <a:ext cx="9601200" cy="1485900"/>
          </a:xfrm>
        </p:spPr>
        <p:txBody>
          <a:bodyPr/>
          <a:lstStyle/>
          <a:p>
            <a:pPr algn="ctr"/>
            <a:r>
              <a:rPr lang="en-US" dirty="0"/>
              <a:t>Thank You !!!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18F619-77F0-4318-86F9-90CA9D1AF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Courtesy: Dr. Khurram 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610604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TM10001105[[fn=Crop]]</Template>
  <TotalTime>347</TotalTime>
  <Words>756</Words>
  <Application>Microsoft Office PowerPoint</Application>
  <PresentationFormat>Widescreen</PresentationFormat>
  <Paragraphs>117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Calibri</vt:lpstr>
      <vt:lpstr>Cambria Math</vt:lpstr>
      <vt:lpstr>Franklin Gothic Book</vt:lpstr>
      <vt:lpstr>Times New Roman</vt:lpstr>
      <vt:lpstr>Crop</vt:lpstr>
      <vt:lpstr>CPE 324 Digital signal processing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!!!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Chapter 2: Overview (Revision of SNS)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Classification of Signals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x[2n]  Down-sampling</vt:lpstr>
      <vt:lpstr>x[n/2]  Up-sampling</vt:lpstr>
      <vt:lpstr>Combined Operations</vt:lpstr>
      <vt:lpstr>General Rule for Combined Operations</vt:lpstr>
      <vt:lpstr>PowerPoint Presentation</vt:lpstr>
      <vt:lpstr>PowerPoint Presentation</vt:lpstr>
      <vt:lpstr>Thank You 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Signals and Systems</dc:title>
  <dc:creator>Ghalzai Ghalzai</dc:creator>
  <cp:lastModifiedBy>Dr. Arsla Khan</cp:lastModifiedBy>
  <cp:revision>97</cp:revision>
  <cp:lastPrinted>2019-02-07T07:25:33Z</cp:lastPrinted>
  <dcterms:created xsi:type="dcterms:W3CDTF">2019-02-07T05:45:40Z</dcterms:created>
  <dcterms:modified xsi:type="dcterms:W3CDTF">2021-02-17T07:38:28Z</dcterms:modified>
</cp:coreProperties>
</file>