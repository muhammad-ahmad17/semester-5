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151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6500F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6500F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14400" y="732281"/>
            <a:ext cx="8229600" cy="1143000"/>
          </a:xfrm>
          <a:custGeom>
            <a:avLst/>
            <a:gdLst/>
            <a:ahLst/>
            <a:cxnLst/>
            <a:rect l="l" t="t" r="r" b="b"/>
            <a:pathLst>
              <a:path w="8229600" h="1143000">
                <a:moveTo>
                  <a:pt x="8229600" y="1142999"/>
                </a:moveTo>
                <a:lnTo>
                  <a:pt x="8229600" y="0"/>
                </a:lnTo>
                <a:lnTo>
                  <a:pt x="0" y="0"/>
                </a:lnTo>
                <a:lnTo>
                  <a:pt x="0" y="1143000"/>
                </a:lnTo>
                <a:lnTo>
                  <a:pt x="8229600" y="1142999"/>
                </a:lnTo>
                <a:close/>
              </a:path>
            </a:pathLst>
          </a:custGeom>
          <a:solidFill>
            <a:srgbClr val="DCE6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4400" y="974090"/>
            <a:ext cx="8229600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34066" y="1826768"/>
            <a:ext cx="8480425" cy="1762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6500F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1876805"/>
            <a:ext cx="8229600" cy="57150"/>
          </a:xfrm>
          <a:custGeom>
            <a:avLst/>
            <a:gdLst/>
            <a:ahLst/>
            <a:cxnLst/>
            <a:rect l="l" t="t" r="r" b="b"/>
            <a:pathLst>
              <a:path w="8229600" h="57150">
                <a:moveTo>
                  <a:pt x="8229600" y="57149"/>
                </a:moveTo>
                <a:lnTo>
                  <a:pt x="8229600" y="0"/>
                </a:lnTo>
                <a:lnTo>
                  <a:pt x="0" y="0"/>
                </a:lnTo>
                <a:lnTo>
                  <a:pt x="0" y="57150"/>
                </a:lnTo>
                <a:lnTo>
                  <a:pt x="8229600" y="57149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644401" y="3800895"/>
            <a:ext cx="4699635" cy="1576070"/>
          </a:xfrm>
          <a:prstGeom prst="rect">
            <a:avLst/>
          </a:prstGeom>
        </p:spPr>
        <p:txBody>
          <a:bodyPr vert="horz" wrap="square" lIns="0" tIns="1308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30"/>
              </a:spcBef>
            </a:pPr>
            <a:r>
              <a:rPr sz="3200" b="1" spc="-65" dirty="0">
                <a:latin typeface="Calibri"/>
                <a:cs typeface="Calibri"/>
              </a:rPr>
              <a:t>Dr.</a:t>
            </a:r>
            <a:r>
              <a:rPr sz="3200" b="1" spc="-11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Khurram</a:t>
            </a:r>
            <a:r>
              <a:rPr sz="3200" b="1" spc="-100" dirty="0">
                <a:latin typeface="Calibri"/>
                <a:cs typeface="Calibri"/>
              </a:rPr>
              <a:t> </a:t>
            </a:r>
            <a:r>
              <a:rPr sz="3200" b="1" spc="-25" dirty="0">
                <a:latin typeface="Calibri"/>
                <a:cs typeface="Calibri"/>
              </a:rPr>
              <a:t>Ali</a:t>
            </a:r>
            <a:endParaRPr sz="3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20"/>
              </a:spcBef>
            </a:pPr>
            <a:r>
              <a:rPr sz="1800" i="1" dirty="0">
                <a:latin typeface="Calibri"/>
                <a:cs typeface="Calibri"/>
              </a:rPr>
              <a:t>Assistant</a:t>
            </a:r>
            <a:r>
              <a:rPr sz="1800" i="1" spc="-80" dirty="0">
                <a:latin typeface="Calibri"/>
                <a:cs typeface="Calibri"/>
              </a:rPr>
              <a:t> </a:t>
            </a:r>
            <a:r>
              <a:rPr sz="1800" i="1" spc="-10" dirty="0">
                <a:latin typeface="Calibri"/>
                <a:cs typeface="Calibri"/>
              </a:rPr>
              <a:t>Professor</a:t>
            </a:r>
            <a:endParaRPr sz="1800">
              <a:latin typeface="Calibri"/>
              <a:cs typeface="Calibri"/>
            </a:endParaRPr>
          </a:p>
          <a:p>
            <a:pPr marL="12065" marR="5080" algn="ctr">
              <a:lnSpc>
                <a:spcPct val="100000"/>
              </a:lnSpc>
              <a:spcBef>
                <a:spcPts val="434"/>
              </a:spcBef>
            </a:pPr>
            <a:r>
              <a:rPr sz="1800" spc="-10" dirty="0">
                <a:latin typeface="Calibri"/>
                <a:cs typeface="Calibri"/>
              </a:rPr>
              <a:t>Department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Electrical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&amp;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Computer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Engineering, </a:t>
            </a:r>
            <a:r>
              <a:rPr sz="1800" spc="-20" dirty="0">
                <a:latin typeface="Calibri"/>
                <a:cs typeface="Calibri"/>
              </a:rPr>
              <a:t>COMSATS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University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Islamabad,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Lahore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Campus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5181600"/>
            <a:ext cx="1659635" cy="164592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92022" y="2485136"/>
            <a:ext cx="7951978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400" dirty="0">
                <a:solidFill>
                  <a:srgbClr val="000000"/>
                </a:solidFill>
              </a:rPr>
              <a:t>CP</a:t>
            </a:r>
            <a:r>
              <a:rPr sz="4400" dirty="0">
                <a:solidFill>
                  <a:srgbClr val="000000"/>
                </a:solidFill>
              </a:rPr>
              <a:t>E</a:t>
            </a:r>
            <a:r>
              <a:rPr sz="4400" spc="-25" dirty="0">
                <a:solidFill>
                  <a:srgbClr val="000000"/>
                </a:solidFill>
              </a:rPr>
              <a:t> </a:t>
            </a:r>
            <a:r>
              <a:rPr sz="4400" dirty="0">
                <a:solidFill>
                  <a:srgbClr val="000000"/>
                </a:solidFill>
              </a:rPr>
              <a:t>324:</a:t>
            </a:r>
            <a:r>
              <a:rPr sz="4400" spc="-50" dirty="0">
                <a:solidFill>
                  <a:srgbClr val="000000"/>
                </a:solidFill>
              </a:rPr>
              <a:t> </a:t>
            </a:r>
            <a:r>
              <a:rPr sz="4400" dirty="0">
                <a:solidFill>
                  <a:srgbClr val="000000"/>
                </a:solidFill>
              </a:rPr>
              <a:t>Digital</a:t>
            </a:r>
            <a:r>
              <a:rPr sz="4400" spc="-45" dirty="0">
                <a:solidFill>
                  <a:srgbClr val="000000"/>
                </a:solidFill>
              </a:rPr>
              <a:t> </a:t>
            </a:r>
            <a:r>
              <a:rPr sz="4400" dirty="0">
                <a:solidFill>
                  <a:srgbClr val="000000"/>
                </a:solidFill>
              </a:rPr>
              <a:t>Signal</a:t>
            </a:r>
            <a:r>
              <a:rPr sz="4400" spc="-45" dirty="0">
                <a:solidFill>
                  <a:srgbClr val="000000"/>
                </a:solidFill>
              </a:rPr>
              <a:t> </a:t>
            </a:r>
            <a:r>
              <a:rPr sz="4400" spc="-10" dirty="0">
                <a:solidFill>
                  <a:srgbClr val="000000"/>
                </a:solidFill>
              </a:rPr>
              <a:t>Processing</a:t>
            </a:r>
            <a:endParaRPr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0705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Discrete</a:t>
            </a:r>
            <a:r>
              <a:rPr sz="3600" spc="-125" dirty="0"/>
              <a:t> </a:t>
            </a:r>
            <a:r>
              <a:rPr sz="3600" dirty="0"/>
              <a:t>Time</a:t>
            </a:r>
            <a:r>
              <a:rPr sz="3600" spc="-140" dirty="0"/>
              <a:t> </a:t>
            </a:r>
            <a:r>
              <a:rPr sz="3600" spc="-10" dirty="0"/>
              <a:t>System</a:t>
            </a:r>
            <a:r>
              <a:rPr sz="3600" spc="-145" dirty="0"/>
              <a:t> </a:t>
            </a:r>
            <a:r>
              <a:rPr sz="3600" spc="-10" dirty="0"/>
              <a:t>Implementation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914400" y="1876805"/>
            <a:ext cx="8229600" cy="57150"/>
          </a:xfrm>
          <a:custGeom>
            <a:avLst/>
            <a:gdLst/>
            <a:ahLst/>
            <a:cxnLst/>
            <a:rect l="l" t="t" r="r" b="b"/>
            <a:pathLst>
              <a:path w="8229600" h="57150">
                <a:moveTo>
                  <a:pt x="8229600" y="57149"/>
                </a:moveTo>
                <a:lnTo>
                  <a:pt x="8229600" y="0"/>
                </a:lnTo>
                <a:lnTo>
                  <a:pt x="0" y="0"/>
                </a:lnTo>
                <a:lnTo>
                  <a:pt x="0" y="57150"/>
                </a:lnTo>
                <a:lnTo>
                  <a:pt x="8229600" y="57149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7285" y="2247838"/>
            <a:ext cx="4640359" cy="446321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0705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Discrete</a:t>
            </a:r>
            <a:r>
              <a:rPr sz="3600" spc="-125" dirty="0"/>
              <a:t> </a:t>
            </a:r>
            <a:r>
              <a:rPr sz="3600" dirty="0"/>
              <a:t>Time</a:t>
            </a:r>
            <a:r>
              <a:rPr sz="3600" spc="-140" dirty="0"/>
              <a:t> </a:t>
            </a:r>
            <a:r>
              <a:rPr sz="3600" spc="-10" dirty="0"/>
              <a:t>System</a:t>
            </a:r>
            <a:r>
              <a:rPr sz="3600" spc="-145" dirty="0"/>
              <a:t> </a:t>
            </a:r>
            <a:r>
              <a:rPr sz="3600" spc="-10" dirty="0"/>
              <a:t>Implementation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914400" y="1876805"/>
            <a:ext cx="8229600" cy="57150"/>
          </a:xfrm>
          <a:custGeom>
            <a:avLst/>
            <a:gdLst/>
            <a:ahLst/>
            <a:cxnLst/>
            <a:rect l="l" t="t" r="r" b="b"/>
            <a:pathLst>
              <a:path w="8229600" h="57150">
                <a:moveTo>
                  <a:pt x="8229600" y="57149"/>
                </a:moveTo>
                <a:lnTo>
                  <a:pt x="8229600" y="0"/>
                </a:lnTo>
                <a:lnTo>
                  <a:pt x="0" y="0"/>
                </a:lnTo>
                <a:lnTo>
                  <a:pt x="0" y="57150"/>
                </a:lnTo>
                <a:lnTo>
                  <a:pt x="8229600" y="57149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2881" y="2383618"/>
            <a:ext cx="6513206" cy="436494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0705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Discrete</a:t>
            </a:r>
            <a:r>
              <a:rPr sz="3600" spc="-125" dirty="0"/>
              <a:t> </a:t>
            </a:r>
            <a:r>
              <a:rPr sz="3600" dirty="0"/>
              <a:t>Time</a:t>
            </a:r>
            <a:r>
              <a:rPr sz="3600" spc="-140" dirty="0"/>
              <a:t> </a:t>
            </a:r>
            <a:r>
              <a:rPr sz="3600" spc="-10" dirty="0"/>
              <a:t>System</a:t>
            </a:r>
            <a:r>
              <a:rPr sz="3600" spc="-145" dirty="0"/>
              <a:t> </a:t>
            </a:r>
            <a:r>
              <a:rPr sz="3600" spc="-10" dirty="0"/>
              <a:t>Implementation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914400" y="1876805"/>
            <a:ext cx="8229600" cy="57150"/>
          </a:xfrm>
          <a:custGeom>
            <a:avLst/>
            <a:gdLst/>
            <a:ahLst/>
            <a:cxnLst/>
            <a:rect l="l" t="t" r="r" b="b"/>
            <a:pathLst>
              <a:path w="8229600" h="57150">
                <a:moveTo>
                  <a:pt x="8229600" y="57149"/>
                </a:moveTo>
                <a:lnTo>
                  <a:pt x="8229600" y="0"/>
                </a:lnTo>
                <a:lnTo>
                  <a:pt x="0" y="0"/>
                </a:lnTo>
                <a:lnTo>
                  <a:pt x="0" y="57150"/>
                </a:lnTo>
                <a:lnTo>
                  <a:pt x="8229600" y="57149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6852" y="2154100"/>
            <a:ext cx="7279665" cy="48809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0705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Discrete</a:t>
            </a:r>
            <a:r>
              <a:rPr sz="3600" spc="-125" dirty="0"/>
              <a:t> </a:t>
            </a:r>
            <a:r>
              <a:rPr sz="3600" dirty="0"/>
              <a:t>Time</a:t>
            </a:r>
            <a:r>
              <a:rPr sz="3600" spc="-140" dirty="0"/>
              <a:t> </a:t>
            </a:r>
            <a:r>
              <a:rPr sz="3600" spc="-10" dirty="0"/>
              <a:t>System</a:t>
            </a:r>
            <a:r>
              <a:rPr sz="3600" spc="-145" dirty="0"/>
              <a:t> </a:t>
            </a:r>
            <a:r>
              <a:rPr sz="3600" spc="-10" dirty="0"/>
              <a:t>Implementation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914400" y="1876805"/>
            <a:ext cx="8229600" cy="57150"/>
          </a:xfrm>
          <a:custGeom>
            <a:avLst/>
            <a:gdLst/>
            <a:ahLst/>
            <a:cxnLst/>
            <a:rect l="l" t="t" r="r" b="b"/>
            <a:pathLst>
              <a:path w="8229600" h="57150">
                <a:moveTo>
                  <a:pt x="8229600" y="57149"/>
                </a:moveTo>
                <a:lnTo>
                  <a:pt x="8229600" y="0"/>
                </a:lnTo>
                <a:lnTo>
                  <a:pt x="0" y="0"/>
                </a:lnTo>
                <a:lnTo>
                  <a:pt x="0" y="57150"/>
                </a:lnTo>
                <a:lnTo>
                  <a:pt x="8229600" y="57149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3334" y="2141077"/>
            <a:ext cx="7293611" cy="48811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0705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Discrete</a:t>
            </a:r>
            <a:r>
              <a:rPr sz="3600" spc="-125" dirty="0"/>
              <a:t> </a:t>
            </a:r>
            <a:r>
              <a:rPr sz="3600" dirty="0"/>
              <a:t>Time</a:t>
            </a:r>
            <a:r>
              <a:rPr sz="3600" spc="-140" dirty="0"/>
              <a:t> </a:t>
            </a:r>
            <a:r>
              <a:rPr sz="3600" spc="-10" dirty="0"/>
              <a:t>System</a:t>
            </a:r>
            <a:r>
              <a:rPr sz="3600" spc="-145" dirty="0"/>
              <a:t> </a:t>
            </a:r>
            <a:r>
              <a:rPr sz="3600" spc="-10" dirty="0"/>
              <a:t>Implementation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914400" y="1876805"/>
            <a:ext cx="8229600" cy="57150"/>
          </a:xfrm>
          <a:custGeom>
            <a:avLst/>
            <a:gdLst/>
            <a:ahLst/>
            <a:cxnLst/>
            <a:rect l="l" t="t" r="r" b="b"/>
            <a:pathLst>
              <a:path w="8229600" h="57150">
                <a:moveTo>
                  <a:pt x="8229600" y="57149"/>
                </a:moveTo>
                <a:lnTo>
                  <a:pt x="8229600" y="0"/>
                </a:lnTo>
                <a:lnTo>
                  <a:pt x="0" y="0"/>
                </a:lnTo>
                <a:lnTo>
                  <a:pt x="0" y="57150"/>
                </a:lnTo>
                <a:lnTo>
                  <a:pt x="8229600" y="57149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7538" y="2171780"/>
            <a:ext cx="7279887" cy="489477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0705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Discrete</a:t>
            </a:r>
            <a:r>
              <a:rPr sz="3600" spc="-125" dirty="0"/>
              <a:t> </a:t>
            </a:r>
            <a:r>
              <a:rPr sz="3600" dirty="0"/>
              <a:t>Time</a:t>
            </a:r>
            <a:r>
              <a:rPr sz="3600" spc="-140" dirty="0"/>
              <a:t> </a:t>
            </a:r>
            <a:r>
              <a:rPr sz="3600" spc="-10" dirty="0"/>
              <a:t>System</a:t>
            </a:r>
            <a:r>
              <a:rPr sz="3600" spc="-145" dirty="0"/>
              <a:t> </a:t>
            </a:r>
            <a:r>
              <a:rPr sz="3600" spc="-10" dirty="0"/>
              <a:t>Implementation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914400" y="1876805"/>
            <a:ext cx="8229600" cy="57150"/>
          </a:xfrm>
          <a:custGeom>
            <a:avLst/>
            <a:gdLst/>
            <a:ahLst/>
            <a:cxnLst/>
            <a:rect l="l" t="t" r="r" b="b"/>
            <a:pathLst>
              <a:path w="8229600" h="57150">
                <a:moveTo>
                  <a:pt x="8229600" y="57149"/>
                </a:moveTo>
                <a:lnTo>
                  <a:pt x="8229600" y="0"/>
                </a:lnTo>
                <a:lnTo>
                  <a:pt x="0" y="0"/>
                </a:lnTo>
                <a:lnTo>
                  <a:pt x="0" y="57150"/>
                </a:lnTo>
                <a:lnTo>
                  <a:pt x="8229600" y="57149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6444" y="2090097"/>
            <a:ext cx="6765286" cy="44176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0910" y="2057460"/>
            <a:ext cx="4400205" cy="752772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914400" y="718566"/>
            <a:ext cx="8229600" cy="1143000"/>
          </a:xfrm>
          <a:custGeom>
            <a:avLst/>
            <a:gdLst/>
            <a:ahLst/>
            <a:cxnLst/>
            <a:rect l="l" t="t" r="r" b="b"/>
            <a:pathLst>
              <a:path w="8229600" h="1143000">
                <a:moveTo>
                  <a:pt x="8229600" y="1143000"/>
                </a:moveTo>
                <a:lnTo>
                  <a:pt x="8229600" y="0"/>
                </a:lnTo>
                <a:lnTo>
                  <a:pt x="0" y="0"/>
                </a:lnTo>
                <a:lnTo>
                  <a:pt x="0" y="1143000"/>
                </a:lnTo>
                <a:lnTo>
                  <a:pt x="8229600" y="1143000"/>
                </a:lnTo>
                <a:close/>
              </a:path>
            </a:pathLst>
          </a:custGeom>
          <a:solidFill>
            <a:srgbClr val="DCE6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0705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Discrete</a:t>
            </a:r>
            <a:r>
              <a:rPr sz="3600" spc="-125" dirty="0"/>
              <a:t> </a:t>
            </a:r>
            <a:r>
              <a:rPr sz="3600" dirty="0"/>
              <a:t>Time</a:t>
            </a:r>
            <a:r>
              <a:rPr sz="3600" spc="-140" dirty="0"/>
              <a:t> </a:t>
            </a:r>
            <a:r>
              <a:rPr sz="3600" spc="-10" dirty="0"/>
              <a:t>System</a:t>
            </a:r>
            <a:r>
              <a:rPr sz="3600" spc="-145" dirty="0"/>
              <a:t> </a:t>
            </a:r>
            <a:r>
              <a:rPr sz="3600" spc="-10" dirty="0"/>
              <a:t>Implementation</a:t>
            </a:r>
            <a:endParaRPr sz="3600"/>
          </a:p>
        </p:txBody>
      </p:sp>
      <p:sp>
        <p:nvSpPr>
          <p:cNvPr id="5" name="object 5"/>
          <p:cNvSpPr/>
          <p:nvPr/>
        </p:nvSpPr>
        <p:spPr>
          <a:xfrm>
            <a:off x="914400" y="1876805"/>
            <a:ext cx="8229600" cy="57150"/>
          </a:xfrm>
          <a:custGeom>
            <a:avLst/>
            <a:gdLst/>
            <a:ahLst/>
            <a:cxnLst/>
            <a:rect l="l" t="t" r="r" b="b"/>
            <a:pathLst>
              <a:path w="8229600" h="57150">
                <a:moveTo>
                  <a:pt x="8229600" y="57149"/>
                </a:moveTo>
                <a:lnTo>
                  <a:pt x="8229600" y="0"/>
                </a:lnTo>
                <a:lnTo>
                  <a:pt x="0" y="0"/>
                </a:lnTo>
                <a:lnTo>
                  <a:pt x="0" y="57150"/>
                </a:lnTo>
                <a:lnTo>
                  <a:pt x="8229600" y="57149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92886" y="2988818"/>
            <a:ext cx="8220075" cy="398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8450" marR="5080" indent="-28575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98450" algn="l"/>
              </a:tabLst>
            </a:pPr>
            <a:r>
              <a:rPr sz="2000" b="1" dirty="0">
                <a:latin typeface="Calibri"/>
                <a:cs typeface="Calibri"/>
              </a:rPr>
              <a:t>Our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focus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is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to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implement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the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above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equation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either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on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hardware</a:t>
            </a:r>
            <a:r>
              <a:rPr sz="2000" b="1" spc="-1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or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on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spc="-50" dirty="0">
                <a:latin typeface="Calibri"/>
                <a:cs typeface="Calibri"/>
              </a:rPr>
              <a:t>a </a:t>
            </a:r>
            <a:r>
              <a:rPr sz="2000" b="1" spc="-10" dirty="0">
                <a:latin typeface="Calibri"/>
                <a:cs typeface="Calibri"/>
              </a:rPr>
              <a:t>software</a:t>
            </a:r>
            <a:r>
              <a:rPr sz="2000" b="1" spc="-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or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on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spc="-20" dirty="0">
                <a:latin typeface="Calibri"/>
                <a:cs typeface="Calibri"/>
              </a:rPr>
              <a:t>programmable</a:t>
            </a:r>
            <a:r>
              <a:rPr sz="2000" b="1" spc="-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digital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computer.</a:t>
            </a:r>
            <a:endParaRPr sz="20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buFont typeface="Arial MT"/>
              <a:buChar char="•"/>
              <a:tabLst>
                <a:tab pos="298450" algn="l"/>
              </a:tabLst>
            </a:pPr>
            <a:r>
              <a:rPr sz="2000" b="1" dirty="0">
                <a:latin typeface="Calibri"/>
                <a:cs typeface="Calibri"/>
              </a:rPr>
              <a:t>This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equation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can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be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implemented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in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many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ways.</a:t>
            </a:r>
            <a:endParaRPr sz="200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buFont typeface="Arial MT"/>
              <a:buChar char="•"/>
              <a:tabLst>
                <a:tab pos="297815" algn="l"/>
              </a:tabLst>
            </a:pP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Why</a:t>
            </a:r>
            <a:r>
              <a:rPr sz="20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not</a:t>
            </a:r>
            <a:r>
              <a:rPr sz="2000" b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just</a:t>
            </a:r>
            <a:r>
              <a:rPr sz="20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implement</a:t>
            </a:r>
            <a:r>
              <a:rPr sz="2000" b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it</a:t>
            </a:r>
            <a:r>
              <a:rPr sz="2000" b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directly?</a:t>
            </a:r>
            <a:endParaRPr sz="2000">
              <a:latin typeface="Calibri"/>
              <a:cs typeface="Calibri"/>
            </a:endParaRPr>
          </a:p>
          <a:p>
            <a:pPr marL="297815" marR="355600" indent="-285750">
              <a:lnSpc>
                <a:spcPct val="100000"/>
              </a:lnSpc>
              <a:buFont typeface="Arial MT"/>
              <a:buChar char="•"/>
              <a:tabLst>
                <a:tab pos="297815" algn="l"/>
              </a:tabLst>
            </a:pP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3</a:t>
            </a:r>
            <a:r>
              <a:rPr sz="2000" b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main</a:t>
            </a:r>
            <a:r>
              <a:rPr sz="2000" b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factors</a:t>
            </a:r>
            <a:r>
              <a:rPr sz="2000" b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that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influence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our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choice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of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particular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realization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of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spc="-25" dirty="0">
                <a:latin typeface="Calibri"/>
                <a:cs typeface="Calibri"/>
              </a:rPr>
              <a:t>the </a:t>
            </a:r>
            <a:r>
              <a:rPr sz="2000" b="1" dirty="0">
                <a:latin typeface="Calibri"/>
                <a:cs typeface="Calibri"/>
              </a:rPr>
              <a:t>above</a:t>
            </a:r>
            <a:r>
              <a:rPr sz="2000" b="1" spc="-7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equation:</a:t>
            </a:r>
            <a:endParaRPr sz="2000">
              <a:latin typeface="Calibri"/>
              <a:cs typeface="Calibri"/>
            </a:endParaRPr>
          </a:p>
          <a:p>
            <a:pPr marL="811530" marR="138430" lvl="1" indent="-341630" algn="just">
              <a:lnSpc>
                <a:spcPct val="100000"/>
              </a:lnSpc>
              <a:buAutoNum type="arabicPeriod"/>
              <a:tabLst>
                <a:tab pos="812800" algn="l"/>
              </a:tabLst>
            </a:pP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Computational</a:t>
            </a:r>
            <a:r>
              <a:rPr sz="2000" b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complexity:</a:t>
            </a:r>
            <a:r>
              <a:rPr sz="2000" b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Number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arithmetic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operations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required 	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compute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output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value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y(n)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system.</a:t>
            </a:r>
            <a:endParaRPr sz="2000">
              <a:latin typeface="Calibri"/>
              <a:cs typeface="Calibri"/>
            </a:endParaRPr>
          </a:p>
          <a:p>
            <a:pPr marL="811530" marR="53975" lvl="1" indent="-341630" algn="just">
              <a:lnSpc>
                <a:spcPct val="100000"/>
              </a:lnSpc>
              <a:buAutoNum type="arabicPeriod"/>
              <a:tabLst>
                <a:tab pos="812800" algn="l"/>
              </a:tabLst>
            </a:pP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Memory</a:t>
            </a:r>
            <a:r>
              <a:rPr sz="2000" b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requirements:</a:t>
            </a:r>
            <a:r>
              <a:rPr sz="2000" b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Number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memory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locations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required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store 	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system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parameters,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past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inputs,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past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outputs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any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intermediate 	results.</a:t>
            </a:r>
            <a:endParaRPr sz="2000">
              <a:latin typeface="Calibri"/>
              <a:cs typeface="Calibri"/>
            </a:endParaRPr>
          </a:p>
          <a:p>
            <a:pPr marL="810895" marR="125095" lvl="1" indent="-341630" algn="just">
              <a:lnSpc>
                <a:spcPct val="100000"/>
              </a:lnSpc>
              <a:buAutoNum type="arabicPeriod"/>
              <a:tabLst>
                <a:tab pos="812165" algn="l"/>
              </a:tabLst>
            </a:pP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Finite</a:t>
            </a:r>
            <a:r>
              <a:rPr sz="2000" b="1" spc="-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word</a:t>
            </a:r>
            <a:r>
              <a:rPr sz="2000" b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length</a:t>
            </a:r>
            <a:r>
              <a:rPr sz="2000" b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effect:</a:t>
            </a:r>
            <a:r>
              <a:rPr sz="2000" b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Quantization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effects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inherent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any 	</a:t>
            </a:r>
            <a:r>
              <a:rPr sz="2000" dirty="0">
                <a:latin typeface="Calibri"/>
                <a:cs typeface="Calibri"/>
              </a:rPr>
              <a:t>digital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implementation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system.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0705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Discrete</a:t>
            </a:r>
            <a:r>
              <a:rPr sz="3600" spc="-125" dirty="0"/>
              <a:t> </a:t>
            </a:r>
            <a:r>
              <a:rPr sz="3600" dirty="0"/>
              <a:t>Time</a:t>
            </a:r>
            <a:r>
              <a:rPr sz="3600" spc="-140" dirty="0"/>
              <a:t> </a:t>
            </a:r>
            <a:r>
              <a:rPr sz="3600" spc="-10" dirty="0"/>
              <a:t>System</a:t>
            </a:r>
            <a:r>
              <a:rPr sz="3600" spc="-145" dirty="0"/>
              <a:t> </a:t>
            </a:r>
            <a:r>
              <a:rPr sz="3600" spc="-10" dirty="0"/>
              <a:t>Implementation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914400" y="1876805"/>
            <a:ext cx="8229600" cy="57150"/>
          </a:xfrm>
          <a:custGeom>
            <a:avLst/>
            <a:gdLst/>
            <a:ahLst/>
            <a:cxnLst/>
            <a:rect l="l" t="t" r="r" b="b"/>
            <a:pathLst>
              <a:path w="8229600" h="57150">
                <a:moveTo>
                  <a:pt x="8229600" y="57149"/>
                </a:moveTo>
                <a:lnTo>
                  <a:pt x="8229600" y="0"/>
                </a:lnTo>
                <a:lnTo>
                  <a:pt x="0" y="0"/>
                </a:lnTo>
                <a:lnTo>
                  <a:pt x="0" y="57150"/>
                </a:lnTo>
                <a:lnTo>
                  <a:pt x="8229600" y="57149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1757" y="2245168"/>
            <a:ext cx="7238201" cy="46719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0705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Discrete</a:t>
            </a:r>
            <a:r>
              <a:rPr sz="3600" spc="-125" dirty="0"/>
              <a:t> </a:t>
            </a:r>
            <a:r>
              <a:rPr sz="3600" dirty="0"/>
              <a:t>Time</a:t>
            </a:r>
            <a:r>
              <a:rPr sz="3600" spc="-140" dirty="0"/>
              <a:t> </a:t>
            </a:r>
            <a:r>
              <a:rPr sz="3600" spc="-10" dirty="0"/>
              <a:t>System</a:t>
            </a:r>
            <a:r>
              <a:rPr sz="3600" spc="-145" dirty="0"/>
              <a:t> </a:t>
            </a:r>
            <a:r>
              <a:rPr sz="3600" spc="-10" dirty="0"/>
              <a:t>Implementation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914400" y="1876805"/>
            <a:ext cx="8229600" cy="57150"/>
          </a:xfrm>
          <a:custGeom>
            <a:avLst/>
            <a:gdLst/>
            <a:ahLst/>
            <a:cxnLst/>
            <a:rect l="l" t="t" r="r" b="b"/>
            <a:pathLst>
              <a:path w="8229600" h="57150">
                <a:moveTo>
                  <a:pt x="8229600" y="57149"/>
                </a:moveTo>
                <a:lnTo>
                  <a:pt x="8229600" y="0"/>
                </a:lnTo>
                <a:lnTo>
                  <a:pt x="0" y="0"/>
                </a:lnTo>
                <a:lnTo>
                  <a:pt x="0" y="57150"/>
                </a:lnTo>
                <a:lnTo>
                  <a:pt x="8229600" y="57149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2440" y="2335325"/>
            <a:ext cx="7154676" cy="24965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0705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Discrete</a:t>
            </a:r>
            <a:r>
              <a:rPr sz="3600" spc="-125" dirty="0"/>
              <a:t> </a:t>
            </a:r>
            <a:r>
              <a:rPr sz="3600" dirty="0"/>
              <a:t>Time</a:t>
            </a:r>
            <a:r>
              <a:rPr sz="3600" spc="-140" dirty="0"/>
              <a:t> </a:t>
            </a:r>
            <a:r>
              <a:rPr sz="3600" spc="-10" dirty="0"/>
              <a:t>System</a:t>
            </a:r>
            <a:r>
              <a:rPr sz="3600" spc="-145" dirty="0"/>
              <a:t> </a:t>
            </a:r>
            <a:r>
              <a:rPr sz="3600" spc="-10" dirty="0"/>
              <a:t>Implementation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914400" y="1876805"/>
            <a:ext cx="8229600" cy="57150"/>
          </a:xfrm>
          <a:custGeom>
            <a:avLst/>
            <a:gdLst/>
            <a:ahLst/>
            <a:cxnLst/>
            <a:rect l="l" t="t" r="r" b="b"/>
            <a:pathLst>
              <a:path w="8229600" h="57150">
                <a:moveTo>
                  <a:pt x="8229600" y="57149"/>
                </a:moveTo>
                <a:lnTo>
                  <a:pt x="8229600" y="0"/>
                </a:lnTo>
                <a:lnTo>
                  <a:pt x="0" y="0"/>
                </a:lnTo>
                <a:lnTo>
                  <a:pt x="0" y="57150"/>
                </a:lnTo>
                <a:lnTo>
                  <a:pt x="8229600" y="57149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1903" y="2117384"/>
            <a:ext cx="6443256" cy="475567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0705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Discrete</a:t>
            </a:r>
            <a:r>
              <a:rPr sz="3600" spc="-125" dirty="0"/>
              <a:t> </a:t>
            </a:r>
            <a:r>
              <a:rPr sz="3600" dirty="0"/>
              <a:t>Time</a:t>
            </a:r>
            <a:r>
              <a:rPr sz="3600" spc="-140" dirty="0"/>
              <a:t> </a:t>
            </a:r>
            <a:r>
              <a:rPr sz="3600" spc="-10" dirty="0"/>
              <a:t>System</a:t>
            </a:r>
            <a:r>
              <a:rPr sz="3600" spc="-145" dirty="0"/>
              <a:t> </a:t>
            </a:r>
            <a:r>
              <a:rPr sz="3600" spc="-10" dirty="0"/>
              <a:t>Implementation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914400" y="1876805"/>
            <a:ext cx="8229600" cy="57150"/>
          </a:xfrm>
          <a:custGeom>
            <a:avLst/>
            <a:gdLst/>
            <a:ahLst/>
            <a:cxnLst/>
            <a:rect l="l" t="t" r="r" b="b"/>
            <a:pathLst>
              <a:path w="8229600" h="57150">
                <a:moveTo>
                  <a:pt x="8229600" y="57149"/>
                </a:moveTo>
                <a:lnTo>
                  <a:pt x="8229600" y="0"/>
                </a:lnTo>
                <a:lnTo>
                  <a:pt x="0" y="0"/>
                </a:lnTo>
                <a:lnTo>
                  <a:pt x="0" y="57150"/>
                </a:lnTo>
                <a:lnTo>
                  <a:pt x="8229600" y="57149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8516" y="2374751"/>
            <a:ext cx="6605793" cy="438687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0705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Discrete</a:t>
            </a:r>
            <a:r>
              <a:rPr sz="3600" spc="-125" dirty="0"/>
              <a:t> </a:t>
            </a:r>
            <a:r>
              <a:rPr sz="3600" dirty="0"/>
              <a:t>Time</a:t>
            </a:r>
            <a:r>
              <a:rPr sz="3600" spc="-140" dirty="0"/>
              <a:t> </a:t>
            </a:r>
            <a:r>
              <a:rPr sz="3600" spc="-10" dirty="0"/>
              <a:t>System</a:t>
            </a:r>
            <a:r>
              <a:rPr sz="3600" spc="-145" dirty="0"/>
              <a:t> </a:t>
            </a:r>
            <a:r>
              <a:rPr sz="3600" spc="-10" dirty="0"/>
              <a:t>Implementation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914400" y="1876805"/>
            <a:ext cx="8229600" cy="57150"/>
          </a:xfrm>
          <a:custGeom>
            <a:avLst/>
            <a:gdLst/>
            <a:ahLst/>
            <a:cxnLst/>
            <a:rect l="l" t="t" r="r" b="b"/>
            <a:pathLst>
              <a:path w="8229600" h="57150">
                <a:moveTo>
                  <a:pt x="8229600" y="57149"/>
                </a:moveTo>
                <a:lnTo>
                  <a:pt x="8229600" y="0"/>
                </a:lnTo>
                <a:lnTo>
                  <a:pt x="0" y="0"/>
                </a:lnTo>
                <a:lnTo>
                  <a:pt x="0" y="57150"/>
                </a:lnTo>
                <a:lnTo>
                  <a:pt x="8229600" y="57149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7163" y="2293479"/>
            <a:ext cx="7209726" cy="37097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0705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Discrete</a:t>
            </a:r>
            <a:r>
              <a:rPr sz="3600" spc="-125" dirty="0"/>
              <a:t> </a:t>
            </a:r>
            <a:r>
              <a:rPr sz="3600" dirty="0"/>
              <a:t>Time</a:t>
            </a:r>
            <a:r>
              <a:rPr sz="3600" spc="-140" dirty="0"/>
              <a:t> </a:t>
            </a:r>
            <a:r>
              <a:rPr sz="3600" spc="-10" dirty="0"/>
              <a:t>System</a:t>
            </a:r>
            <a:r>
              <a:rPr sz="3600" spc="-145" dirty="0"/>
              <a:t> </a:t>
            </a:r>
            <a:r>
              <a:rPr sz="3600" spc="-10" dirty="0"/>
              <a:t>Implementation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914400" y="1876805"/>
            <a:ext cx="8229600" cy="57150"/>
          </a:xfrm>
          <a:custGeom>
            <a:avLst/>
            <a:gdLst/>
            <a:ahLst/>
            <a:cxnLst/>
            <a:rect l="l" t="t" r="r" b="b"/>
            <a:pathLst>
              <a:path w="8229600" h="57150">
                <a:moveTo>
                  <a:pt x="8229600" y="57149"/>
                </a:moveTo>
                <a:lnTo>
                  <a:pt x="8229600" y="0"/>
                </a:lnTo>
                <a:lnTo>
                  <a:pt x="0" y="0"/>
                </a:lnTo>
                <a:lnTo>
                  <a:pt x="0" y="57150"/>
                </a:lnTo>
                <a:lnTo>
                  <a:pt x="8229600" y="57149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2734" y="2085151"/>
            <a:ext cx="6401631" cy="489521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0705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Discrete</a:t>
            </a:r>
            <a:r>
              <a:rPr sz="3600" spc="-125" dirty="0"/>
              <a:t> </a:t>
            </a:r>
            <a:r>
              <a:rPr sz="3600" dirty="0"/>
              <a:t>Time</a:t>
            </a:r>
            <a:r>
              <a:rPr sz="3600" spc="-140" dirty="0"/>
              <a:t> </a:t>
            </a:r>
            <a:r>
              <a:rPr sz="3600" spc="-10" dirty="0"/>
              <a:t>System</a:t>
            </a:r>
            <a:r>
              <a:rPr sz="3600" spc="-145" dirty="0"/>
              <a:t> </a:t>
            </a:r>
            <a:r>
              <a:rPr sz="3600" spc="-10" dirty="0"/>
              <a:t>Implementation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914400" y="1876805"/>
            <a:ext cx="8229600" cy="57150"/>
          </a:xfrm>
          <a:custGeom>
            <a:avLst/>
            <a:gdLst/>
            <a:ahLst/>
            <a:cxnLst/>
            <a:rect l="l" t="t" r="r" b="b"/>
            <a:pathLst>
              <a:path w="8229600" h="57150">
                <a:moveTo>
                  <a:pt x="8229600" y="57149"/>
                </a:moveTo>
                <a:lnTo>
                  <a:pt x="8229600" y="0"/>
                </a:lnTo>
                <a:lnTo>
                  <a:pt x="0" y="0"/>
                </a:lnTo>
                <a:lnTo>
                  <a:pt x="0" y="57150"/>
                </a:lnTo>
                <a:lnTo>
                  <a:pt x="8229600" y="57149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5971" y="2047108"/>
            <a:ext cx="7210291" cy="504764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0705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Discrete</a:t>
            </a:r>
            <a:r>
              <a:rPr sz="3600" spc="-125" dirty="0"/>
              <a:t> </a:t>
            </a:r>
            <a:r>
              <a:rPr sz="3600" dirty="0"/>
              <a:t>Time</a:t>
            </a:r>
            <a:r>
              <a:rPr sz="3600" spc="-140" dirty="0"/>
              <a:t> </a:t>
            </a:r>
            <a:r>
              <a:rPr sz="3600" spc="-10" dirty="0"/>
              <a:t>System</a:t>
            </a:r>
            <a:r>
              <a:rPr sz="3600" spc="-145" dirty="0"/>
              <a:t> </a:t>
            </a:r>
            <a:r>
              <a:rPr sz="3600" spc="-10" dirty="0"/>
              <a:t>Implementation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914400" y="1876805"/>
            <a:ext cx="8229600" cy="57150"/>
          </a:xfrm>
          <a:custGeom>
            <a:avLst/>
            <a:gdLst/>
            <a:ahLst/>
            <a:cxnLst/>
            <a:rect l="l" t="t" r="r" b="b"/>
            <a:pathLst>
              <a:path w="8229600" h="57150">
                <a:moveTo>
                  <a:pt x="8229600" y="57149"/>
                </a:moveTo>
                <a:lnTo>
                  <a:pt x="8229600" y="0"/>
                </a:lnTo>
                <a:lnTo>
                  <a:pt x="0" y="0"/>
                </a:lnTo>
                <a:lnTo>
                  <a:pt x="0" y="57150"/>
                </a:lnTo>
                <a:lnTo>
                  <a:pt x="8229600" y="57149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884682" y="2264664"/>
            <a:ext cx="7832725" cy="2830195"/>
            <a:chOff x="884682" y="2264664"/>
            <a:chExt cx="7832725" cy="283019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9966" y="2348362"/>
              <a:ext cx="7746889" cy="274589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4682" y="2264664"/>
              <a:ext cx="659891" cy="47548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0705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Discrete</a:t>
            </a:r>
            <a:r>
              <a:rPr sz="3600" spc="-125" dirty="0"/>
              <a:t> </a:t>
            </a:r>
            <a:r>
              <a:rPr sz="3600" dirty="0"/>
              <a:t>Time</a:t>
            </a:r>
            <a:r>
              <a:rPr sz="3600" spc="-140" dirty="0"/>
              <a:t> </a:t>
            </a:r>
            <a:r>
              <a:rPr sz="3600" spc="-10" dirty="0"/>
              <a:t>System</a:t>
            </a:r>
            <a:r>
              <a:rPr sz="3600" spc="-145" dirty="0"/>
              <a:t> </a:t>
            </a:r>
            <a:r>
              <a:rPr sz="3600" spc="-10" dirty="0"/>
              <a:t>Implementation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914400" y="1876805"/>
            <a:ext cx="8229600" cy="57150"/>
          </a:xfrm>
          <a:custGeom>
            <a:avLst/>
            <a:gdLst/>
            <a:ahLst/>
            <a:cxnLst/>
            <a:rect l="l" t="t" r="r" b="b"/>
            <a:pathLst>
              <a:path w="8229600" h="57150">
                <a:moveTo>
                  <a:pt x="8229600" y="57149"/>
                </a:moveTo>
                <a:lnTo>
                  <a:pt x="8229600" y="0"/>
                </a:lnTo>
                <a:lnTo>
                  <a:pt x="0" y="0"/>
                </a:lnTo>
                <a:lnTo>
                  <a:pt x="0" y="57150"/>
                </a:lnTo>
                <a:lnTo>
                  <a:pt x="8229600" y="57149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3002" y="2085143"/>
            <a:ext cx="7210018" cy="502035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0705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Discrete</a:t>
            </a:r>
            <a:r>
              <a:rPr sz="3600" spc="-125" dirty="0"/>
              <a:t> </a:t>
            </a:r>
            <a:r>
              <a:rPr sz="3600" dirty="0"/>
              <a:t>Time</a:t>
            </a:r>
            <a:r>
              <a:rPr sz="3600" spc="-140" dirty="0"/>
              <a:t> </a:t>
            </a:r>
            <a:r>
              <a:rPr sz="3600" spc="-10" dirty="0"/>
              <a:t>System</a:t>
            </a:r>
            <a:r>
              <a:rPr sz="3600" spc="-145" dirty="0"/>
              <a:t> </a:t>
            </a:r>
            <a:r>
              <a:rPr sz="3600" spc="-10" dirty="0"/>
              <a:t>Implementation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914400" y="1876805"/>
            <a:ext cx="8229600" cy="57150"/>
          </a:xfrm>
          <a:custGeom>
            <a:avLst/>
            <a:gdLst/>
            <a:ahLst/>
            <a:cxnLst/>
            <a:rect l="l" t="t" r="r" b="b"/>
            <a:pathLst>
              <a:path w="8229600" h="57150">
                <a:moveTo>
                  <a:pt x="8229600" y="57149"/>
                </a:moveTo>
                <a:lnTo>
                  <a:pt x="8229600" y="0"/>
                </a:lnTo>
                <a:lnTo>
                  <a:pt x="0" y="0"/>
                </a:lnTo>
                <a:lnTo>
                  <a:pt x="0" y="57150"/>
                </a:lnTo>
                <a:lnTo>
                  <a:pt x="8229600" y="57149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1785" y="2482755"/>
            <a:ext cx="7424910" cy="248546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0705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Discrete</a:t>
            </a:r>
            <a:r>
              <a:rPr sz="3600" spc="-125" dirty="0"/>
              <a:t> </a:t>
            </a:r>
            <a:r>
              <a:rPr sz="3600" dirty="0"/>
              <a:t>Time</a:t>
            </a:r>
            <a:r>
              <a:rPr sz="3600" spc="-140" dirty="0"/>
              <a:t> </a:t>
            </a:r>
            <a:r>
              <a:rPr sz="3600" spc="-10" dirty="0"/>
              <a:t>System</a:t>
            </a:r>
            <a:r>
              <a:rPr sz="3600" spc="-145" dirty="0"/>
              <a:t> </a:t>
            </a:r>
            <a:r>
              <a:rPr sz="3600" spc="-10" dirty="0"/>
              <a:t>Implementation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914400" y="1876805"/>
            <a:ext cx="8229600" cy="57150"/>
          </a:xfrm>
          <a:custGeom>
            <a:avLst/>
            <a:gdLst/>
            <a:ahLst/>
            <a:cxnLst/>
            <a:rect l="l" t="t" r="r" b="b"/>
            <a:pathLst>
              <a:path w="8229600" h="57150">
                <a:moveTo>
                  <a:pt x="8229600" y="57149"/>
                </a:moveTo>
                <a:lnTo>
                  <a:pt x="8229600" y="0"/>
                </a:lnTo>
                <a:lnTo>
                  <a:pt x="0" y="0"/>
                </a:lnTo>
                <a:lnTo>
                  <a:pt x="0" y="57150"/>
                </a:lnTo>
                <a:lnTo>
                  <a:pt x="8229600" y="57149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7002" y="2332527"/>
            <a:ext cx="8038564" cy="39579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56920">
              <a:lnSpc>
                <a:spcPct val="100000"/>
              </a:lnSpc>
              <a:spcBef>
                <a:spcPts val="100"/>
              </a:spcBef>
            </a:pPr>
            <a:r>
              <a:rPr dirty="0"/>
              <a:t>Discrete</a:t>
            </a:r>
            <a:r>
              <a:rPr spc="-130" dirty="0"/>
              <a:t> </a:t>
            </a:r>
            <a:r>
              <a:rPr dirty="0"/>
              <a:t>Time</a:t>
            </a:r>
            <a:r>
              <a:rPr spc="-125" dirty="0"/>
              <a:t> </a:t>
            </a:r>
            <a:r>
              <a:rPr spc="-10" dirty="0"/>
              <a:t>System</a:t>
            </a:r>
            <a:r>
              <a:rPr spc="-130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3" name="object 3"/>
          <p:cNvSpPr/>
          <p:nvPr/>
        </p:nvSpPr>
        <p:spPr>
          <a:xfrm>
            <a:off x="914400" y="1876805"/>
            <a:ext cx="8229600" cy="57150"/>
          </a:xfrm>
          <a:custGeom>
            <a:avLst/>
            <a:gdLst/>
            <a:ahLst/>
            <a:cxnLst/>
            <a:rect l="l" t="t" r="r" b="b"/>
            <a:pathLst>
              <a:path w="8229600" h="57150">
                <a:moveTo>
                  <a:pt x="8229600" y="57149"/>
                </a:moveTo>
                <a:lnTo>
                  <a:pt x="8229600" y="0"/>
                </a:lnTo>
                <a:lnTo>
                  <a:pt x="0" y="0"/>
                </a:lnTo>
                <a:lnTo>
                  <a:pt x="0" y="57150"/>
                </a:lnTo>
                <a:lnTo>
                  <a:pt x="8229600" y="57149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895600" y="2057400"/>
            <a:ext cx="4191000" cy="523875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2286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80"/>
              </a:spcBef>
            </a:pPr>
            <a:r>
              <a:rPr sz="2800" b="1" dirty="0">
                <a:solidFill>
                  <a:srgbClr val="6500FF"/>
                </a:solidFill>
                <a:latin typeface="Calibri"/>
                <a:cs typeface="Calibri"/>
              </a:rPr>
              <a:t>Structures</a:t>
            </a:r>
            <a:r>
              <a:rPr sz="2800" b="1" spc="-70" dirty="0">
                <a:solidFill>
                  <a:srgbClr val="6500F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6500FF"/>
                </a:solidFill>
                <a:latin typeface="Calibri"/>
                <a:cs typeface="Calibri"/>
              </a:rPr>
              <a:t>for</a:t>
            </a:r>
            <a:r>
              <a:rPr sz="2800" b="1" spc="-80" dirty="0">
                <a:solidFill>
                  <a:srgbClr val="6500F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6500FF"/>
                </a:solidFill>
                <a:latin typeface="Calibri"/>
                <a:cs typeface="Calibri"/>
              </a:rPr>
              <a:t>IIR</a:t>
            </a:r>
            <a:r>
              <a:rPr sz="2800" b="1" spc="-90" dirty="0">
                <a:solidFill>
                  <a:srgbClr val="6500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6500FF"/>
                </a:solidFill>
                <a:latin typeface="Calibri"/>
                <a:cs typeface="Calibri"/>
              </a:rPr>
              <a:t>Systems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4400" y="3390138"/>
            <a:ext cx="2095500" cy="523875"/>
          </a:xfrm>
          <a:prstGeom prst="rect">
            <a:avLst/>
          </a:prstGeom>
          <a:solidFill>
            <a:srgbClr val="FFAFFF"/>
          </a:solidFill>
        </p:spPr>
        <p:txBody>
          <a:bodyPr vert="horz" wrap="square" lIns="0" tIns="2286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80"/>
              </a:spcBef>
            </a:pPr>
            <a:r>
              <a:rPr sz="2800" b="1" dirty="0">
                <a:solidFill>
                  <a:srgbClr val="6500FF"/>
                </a:solidFill>
                <a:latin typeface="Calibri"/>
                <a:cs typeface="Calibri"/>
              </a:rPr>
              <a:t>Direct</a:t>
            </a:r>
            <a:r>
              <a:rPr sz="2800" b="1" spc="-75" dirty="0">
                <a:solidFill>
                  <a:srgbClr val="6500FF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6500FF"/>
                </a:solidFill>
                <a:latin typeface="Calibri"/>
                <a:cs typeface="Calibri"/>
              </a:rPr>
              <a:t>Form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78083" y="3395743"/>
            <a:ext cx="2072639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6500FF"/>
                </a:solidFill>
                <a:latin typeface="Calibri"/>
                <a:cs typeface="Calibri"/>
              </a:rPr>
              <a:t>Cascade</a:t>
            </a:r>
            <a:r>
              <a:rPr sz="2800" b="1" spc="-125" dirty="0">
                <a:solidFill>
                  <a:srgbClr val="6500FF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6500FF"/>
                </a:solidFill>
                <a:latin typeface="Calibri"/>
                <a:cs typeface="Calibri"/>
              </a:rPr>
              <a:t>Form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203468" y="3382042"/>
            <a:ext cx="196723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6500FF"/>
                </a:solidFill>
                <a:latin typeface="Calibri"/>
                <a:cs typeface="Calibri"/>
              </a:rPr>
              <a:t>Parallel</a:t>
            </a:r>
            <a:r>
              <a:rPr sz="2800" b="1" spc="-85" dirty="0">
                <a:solidFill>
                  <a:srgbClr val="6500FF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6500FF"/>
                </a:solidFill>
                <a:latin typeface="Calibri"/>
                <a:cs typeface="Calibri"/>
              </a:rPr>
              <a:t>Form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28116" y="4514850"/>
            <a:ext cx="4171315" cy="1200150"/>
          </a:xfrm>
          <a:prstGeom prst="rect">
            <a:avLst/>
          </a:prstGeom>
          <a:solidFill>
            <a:srgbClr val="FFAFFF"/>
          </a:solidFill>
        </p:spPr>
        <p:txBody>
          <a:bodyPr vert="horz" wrap="square" lIns="0" tIns="25400" rIns="0" bIns="0" rtlCol="0">
            <a:spAutoFit/>
          </a:bodyPr>
          <a:lstStyle/>
          <a:p>
            <a:pPr marL="91440" marR="2358390">
              <a:lnSpc>
                <a:spcPct val="100000"/>
              </a:lnSpc>
              <a:spcBef>
                <a:spcPts val="200"/>
              </a:spcBef>
            </a:pPr>
            <a:r>
              <a:rPr sz="2400" b="1" dirty="0">
                <a:solidFill>
                  <a:srgbClr val="6500FF"/>
                </a:solidFill>
                <a:latin typeface="Calibri"/>
                <a:cs typeface="Calibri"/>
              </a:rPr>
              <a:t>Direct</a:t>
            </a:r>
            <a:r>
              <a:rPr sz="2400" b="1" spc="-55" dirty="0">
                <a:solidFill>
                  <a:srgbClr val="6500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500FF"/>
                </a:solidFill>
                <a:latin typeface="Calibri"/>
                <a:cs typeface="Calibri"/>
              </a:rPr>
              <a:t>Form</a:t>
            </a:r>
            <a:r>
              <a:rPr sz="2400" b="1" spc="-80" dirty="0">
                <a:solidFill>
                  <a:srgbClr val="6500FF"/>
                </a:solidFill>
                <a:latin typeface="Calibri"/>
                <a:cs typeface="Calibri"/>
              </a:rPr>
              <a:t> </a:t>
            </a:r>
            <a:r>
              <a:rPr sz="2400" b="1" spc="-60" dirty="0">
                <a:solidFill>
                  <a:srgbClr val="6500FF"/>
                </a:solidFill>
                <a:latin typeface="Calibri"/>
                <a:cs typeface="Calibri"/>
              </a:rPr>
              <a:t>I </a:t>
            </a:r>
            <a:r>
              <a:rPr sz="2400" b="1" dirty="0">
                <a:solidFill>
                  <a:srgbClr val="6500FF"/>
                </a:solidFill>
                <a:latin typeface="Calibri"/>
                <a:cs typeface="Calibri"/>
              </a:rPr>
              <a:t>Direct</a:t>
            </a:r>
            <a:r>
              <a:rPr sz="2400" b="1" spc="-55" dirty="0">
                <a:solidFill>
                  <a:srgbClr val="6500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500FF"/>
                </a:solidFill>
                <a:latin typeface="Calibri"/>
                <a:cs typeface="Calibri"/>
              </a:rPr>
              <a:t>Form</a:t>
            </a:r>
            <a:r>
              <a:rPr sz="2400" b="1" spc="-80" dirty="0">
                <a:solidFill>
                  <a:srgbClr val="6500F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500FF"/>
                </a:solidFill>
                <a:latin typeface="Calibri"/>
                <a:cs typeface="Calibri"/>
              </a:rPr>
              <a:t>II</a:t>
            </a:r>
            <a:endParaRPr sz="240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</a:pPr>
            <a:r>
              <a:rPr sz="2400" b="1" spc="-20" dirty="0">
                <a:solidFill>
                  <a:srgbClr val="6500FF"/>
                </a:solidFill>
                <a:latin typeface="Calibri"/>
                <a:cs typeface="Calibri"/>
              </a:rPr>
              <a:t>Transposed</a:t>
            </a:r>
            <a:r>
              <a:rPr sz="2400" b="1" spc="-55" dirty="0">
                <a:solidFill>
                  <a:srgbClr val="6500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500FF"/>
                </a:solidFill>
                <a:latin typeface="Calibri"/>
                <a:cs typeface="Calibri"/>
              </a:rPr>
              <a:t>Direct</a:t>
            </a:r>
            <a:r>
              <a:rPr sz="2400" b="1" spc="-50" dirty="0">
                <a:solidFill>
                  <a:srgbClr val="6500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500FF"/>
                </a:solidFill>
                <a:latin typeface="Calibri"/>
                <a:cs typeface="Calibri"/>
              </a:rPr>
              <a:t>Form</a:t>
            </a:r>
            <a:r>
              <a:rPr sz="2400" b="1" spc="-70" dirty="0">
                <a:solidFill>
                  <a:srgbClr val="6500F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500FF"/>
                </a:solidFill>
                <a:latin typeface="Calibri"/>
                <a:cs typeface="Calibri"/>
              </a:rPr>
              <a:t>II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905000" y="2580893"/>
            <a:ext cx="6362700" cy="809625"/>
          </a:xfrm>
          <a:custGeom>
            <a:avLst/>
            <a:gdLst/>
            <a:ahLst/>
            <a:cxnLst/>
            <a:rect l="l" t="t" r="r" b="b"/>
            <a:pathLst>
              <a:path w="6362700" h="809625">
                <a:moveTo>
                  <a:pt x="6362700" y="676656"/>
                </a:moveTo>
                <a:lnTo>
                  <a:pt x="6324600" y="676656"/>
                </a:lnTo>
                <a:lnTo>
                  <a:pt x="6324600" y="395478"/>
                </a:lnTo>
                <a:lnTo>
                  <a:pt x="6323114" y="388010"/>
                </a:lnTo>
                <a:lnTo>
                  <a:pt x="6319075" y="381952"/>
                </a:lnTo>
                <a:lnTo>
                  <a:pt x="6313017" y="377913"/>
                </a:lnTo>
                <a:lnTo>
                  <a:pt x="6305550" y="376428"/>
                </a:lnTo>
                <a:lnTo>
                  <a:pt x="3109176" y="376428"/>
                </a:lnTo>
                <a:lnTo>
                  <a:pt x="3105150" y="0"/>
                </a:lnTo>
                <a:lnTo>
                  <a:pt x="3067050" y="0"/>
                </a:lnTo>
                <a:lnTo>
                  <a:pt x="3067050" y="385572"/>
                </a:lnTo>
                <a:lnTo>
                  <a:pt x="57150" y="385572"/>
                </a:lnTo>
                <a:lnTo>
                  <a:pt x="49987" y="387057"/>
                </a:lnTo>
                <a:lnTo>
                  <a:pt x="43903" y="391096"/>
                </a:lnTo>
                <a:lnTo>
                  <a:pt x="39674" y="397154"/>
                </a:lnTo>
                <a:lnTo>
                  <a:pt x="38100" y="404622"/>
                </a:lnTo>
                <a:lnTo>
                  <a:pt x="38100" y="694944"/>
                </a:lnTo>
                <a:lnTo>
                  <a:pt x="0" y="694944"/>
                </a:lnTo>
                <a:lnTo>
                  <a:pt x="38100" y="771144"/>
                </a:lnTo>
                <a:lnTo>
                  <a:pt x="57150" y="809244"/>
                </a:lnTo>
                <a:lnTo>
                  <a:pt x="76200" y="771144"/>
                </a:lnTo>
                <a:lnTo>
                  <a:pt x="114300" y="694944"/>
                </a:lnTo>
                <a:lnTo>
                  <a:pt x="76200" y="694944"/>
                </a:lnTo>
                <a:lnTo>
                  <a:pt x="76200" y="423672"/>
                </a:lnTo>
                <a:lnTo>
                  <a:pt x="3067050" y="423672"/>
                </a:lnTo>
                <a:lnTo>
                  <a:pt x="3071596" y="423672"/>
                </a:lnTo>
                <a:lnTo>
                  <a:pt x="3074466" y="690638"/>
                </a:lnTo>
                <a:lnTo>
                  <a:pt x="3036570" y="691134"/>
                </a:lnTo>
                <a:lnTo>
                  <a:pt x="3094482" y="804672"/>
                </a:lnTo>
                <a:lnTo>
                  <a:pt x="3112770" y="767359"/>
                </a:lnTo>
                <a:lnTo>
                  <a:pt x="3150870" y="689610"/>
                </a:lnTo>
                <a:lnTo>
                  <a:pt x="3112770" y="690118"/>
                </a:lnTo>
                <a:lnTo>
                  <a:pt x="3112554" y="690130"/>
                </a:lnTo>
                <a:lnTo>
                  <a:pt x="3091637" y="690410"/>
                </a:lnTo>
                <a:lnTo>
                  <a:pt x="3105150" y="690219"/>
                </a:lnTo>
                <a:lnTo>
                  <a:pt x="3112554" y="690130"/>
                </a:lnTo>
                <a:lnTo>
                  <a:pt x="3109595" y="414528"/>
                </a:lnTo>
                <a:lnTo>
                  <a:pt x="6286500" y="414528"/>
                </a:lnTo>
                <a:lnTo>
                  <a:pt x="6286500" y="676656"/>
                </a:lnTo>
                <a:lnTo>
                  <a:pt x="6248400" y="676656"/>
                </a:lnTo>
                <a:lnTo>
                  <a:pt x="6286500" y="752856"/>
                </a:lnTo>
                <a:lnTo>
                  <a:pt x="6305550" y="790956"/>
                </a:lnTo>
                <a:lnTo>
                  <a:pt x="6324600" y="752856"/>
                </a:lnTo>
                <a:lnTo>
                  <a:pt x="6362700" y="6766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905000" y="3913632"/>
            <a:ext cx="114300" cy="601345"/>
          </a:xfrm>
          <a:custGeom>
            <a:avLst/>
            <a:gdLst/>
            <a:ahLst/>
            <a:cxnLst/>
            <a:rect l="l" t="t" r="r" b="b"/>
            <a:pathLst>
              <a:path w="114300" h="601345">
                <a:moveTo>
                  <a:pt x="114300" y="486917"/>
                </a:moveTo>
                <a:lnTo>
                  <a:pt x="0" y="486917"/>
                </a:lnTo>
                <a:lnTo>
                  <a:pt x="38100" y="563117"/>
                </a:lnTo>
                <a:lnTo>
                  <a:pt x="38100" y="505967"/>
                </a:lnTo>
                <a:lnTo>
                  <a:pt x="76200" y="505967"/>
                </a:lnTo>
                <a:lnTo>
                  <a:pt x="76200" y="563117"/>
                </a:lnTo>
                <a:lnTo>
                  <a:pt x="114300" y="486917"/>
                </a:lnTo>
                <a:close/>
              </a:path>
              <a:path w="114300" h="601345">
                <a:moveTo>
                  <a:pt x="76200" y="486917"/>
                </a:moveTo>
                <a:lnTo>
                  <a:pt x="76200" y="0"/>
                </a:lnTo>
                <a:lnTo>
                  <a:pt x="38100" y="0"/>
                </a:lnTo>
                <a:lnTo>
                  <a:pt x="38100" y="486917"/>
                </a:lnTo>
                <a:lnTo>
                  <a:pt x="76200" y="486917"/>
                </a:lnTo>
                <a:close/>
              </a:path>
              <a:path w="114300" h="601345">
                <a:moveTo>
                  <a:pt x="76200" y="563117"/>
                </a:moveTo>
                <a:lnTo>
                  <a:pt x="76200" y="505967"/>
                </a:lnTo>
                <a:lnTo>
                  <a:pt x="38100" y="505967"/>
                </a:lnTo>
                <a:lnTo>
                  <a:pt x="38100" y="563117"/>
                </a:lnTo>
                <a:lnTo>
                  <a:pt x="57150" y="601217"/>
                </a:lnTo>
                <a:lnTo>
                  <a:pt x="76200" y="5631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56920">
              <a:lnSpc>
                <a:spcPct val="100000"/>
              </a:lnSpc>
              <a:spcBef>
                <a:spcPts val="100"/>
              </a:spcBef>
            </a:pPr>
            <a:r>
              <a:rPr dirty="0"/>
              <a:t>Discrete</a:t>
            </a:r>
            <a:r>
              <a:rPr spc="-130" dirty="0"/>
              <a:t> </a:t>
            </a:r>
            <a:r>
              <a:rPr dirty="0"/>
              <a:t>Time</a:t>
            </a:r>
            <a:r>
              <a:rPr spc="-125" dirty="0"/>
              <a:t> </a:t>
            </a:r>
            <a:r>
              <a:rPr spc="-10" dirty="0"/>
              <a:t>System</a:t>
            </a:r>
            <a:r>
              <a:rPr spc="-130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3" name="object 3"/>
          <p:cNvSpPr/>
          <p:nvPr/>
        </p:nvSpPr>
        <p:spPr>
          <a:xfrm>
            <a:off x="914400" y="1876805"/>
            <a:ext cx="8229600" cy="57150"/>
          </a:xfrm>
          <a:custGeom>
            <a:avLst/>
            <a:gdLst/>
            <a:ahLst/>
            <a:cxnLst/>
            <a:rect l="l" t="t" r="r" b="b"/>
            <a:pathLst>
              <a:path w="8229600" h="57150">
                <a:moveTo>
                  <a:pt x="8229600" y="57149"/>
                </a:moveTo>
                <a:lnTo>
                  <a:pt x="8229600" y="0"/>
                </a:lnTo>
                <a:lnTo>
                  <a:pt x="0" y="0"/>
                </a:lnTo>
                <a:lnTo>
                  <a:pt x="0" y="57150"/>
                </a:lnTo>
                <a:lnTo>
                  <a:pt x="8229600" y="57149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8252" y="2089394"/>
            <a:ext cx="7334249" cy="489244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56920">
              <a:lnSpc>
                <a:spcPct val="100000"/>
              </a:lnSpc>
              <a:spcBef>
                <a:spcPts val="100"/>
              </a:spcBef>
            </a:pPr>
            <a:r>
              <a:rPr dirty="0"/>
              <a:t>Discrete</a:t>
            </a:r>
            <a:r>
              <a:rPr spc="-130" dirty="0"/>
              <a:t> </a:t>
            </a:r>
            <a:r>
              <a:rPr dirty="0"/>
              <a:t>Time</a:t>
            </a:r>
            <a:r>
              <a:rPr spc="-125" dirty="0"/>
              <a:t> </a:t>
            </a:r>
            <a:r>
              <a:rPr spc="-10" dirty="0"/>
              <a:t>System</a:t>
            </a:r>
            <a:r>
              <a:rPr spc="-130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3" name="object 3"/>
          <p:cNvSpPr/>
          <p:nvPr/>
        </p:nvSpPr>
        <p:spPr>
          <a:xfrm>
            <a:off x="914400" y="1876805"/>
            <a:ext cx="8229600" cy="57150"/>
          </a:xfrm>
          <a:custGeom>
            <a:avLst/>
            <a:gdLst/>
            <a:ahLst/>
            <a:cxnLst/>
            <a:rect l="l" t="t" r="r" b="b"/>
            <a:pathLst>
              <a:path w="8229600" h="57150">
                <a:moveTo>
                  <a:pt x="8229600" y="57149"/>
                </a:moveTo>
                <a:lnTo>
                  <a:pt x="8229600" y="0"/>
                </a:lnTo>
                <a:lnTo>
                  <a:pt x="0" y="0"/>
                </a:lnTo>
                <a:lnTo>
                  <a:pt x="0" y="57150"/>
                </a:lnTo>
                <a:lnTo>
                  <a:pt x="8229600" y="57149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1505" y="2619375"/>
            <a:ext cx="7334250" cy="46005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9454" y="2069741"/>
            <a:ext cx="2116455" cy="29326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63930" y="4960620"/>
            <a:ext cx="8256270" cy="830580"/>
          </a:xfrm>
          <a:prstGeom prst="rect">
            <a:avLst/>
          </a:prstGeom>
          <a:solidFill>
            <a:srgbClr val="99FFCC"/>
          </a:solidFill>
        </p:spPr>
        <p:txBody>
          <a:bodyPr vert="horz" wrap="square" lIns="0" tIns="24765" rIns="0" bIns="0" rtlCol="0">
            <a:spAutoFit/>
          </a:bodyPr>
          <a:lstStyle/>
          <a:p>
            <a:pPr marL="1170305" marR="159385" indent="-1005205">
              <a:lnSpc>
                <a:spcPct val="100000"/>
              </a:lnSpc>
              <a:spcBef>
                <a:spcPts val="195"/>
              </a:spcBef>
              <a:tabLst>
                <a:tab pos="1993900" algn="l"/>
              </a:tabLst>
            </a:pP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Observation: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2400" b="1" dirty="0">
                <a:latin typeface="Calibri"/>
                <a:cs typeface="Calibri"/>
              </a:rPr>
              <a:t>Two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b="1" spc="-40" dirty="0">
                <a:latin typeface="Calibri"/>
                <a:cs typeface="Calibri"/>
              </a:rPr>
              <a:t>LTI</a:t>
            </a:r>
            <a:r>
              <a:rPr sz="2400" b="1" spc="-9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systems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in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cascade.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We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can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change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their </a:t>
            </a:r>
            <a:r>
              <a:rPr sz="2400" b="1" dirty="0">
                <a:latin typeface="Calibri"/>
                <a:cs typeface="Calibri"/>
              </a:rPr>
              <a:t>position</a:t>
            </a:r>
            <a:r>
              <a:rPr sz="2400" b="1" spc="-114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without</a:t>
            </a:r>
            <a:r>
              <a:rPr sz="2400" b="1" spc="-10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affecting</a:t>
            </a:r>
            <a:r>
              <a:rPr sz="2400" b="1" spc="-9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9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overall</a:t>
            </a:r>
            <a:r>
              <a:rPr sz="2400" b="1" spc="-9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response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56920">
              <a:lnSpc>
                <a:spcPct val="100000"/>
              </a:lnSpc>
              <a:spcBef>
                <a:spcPts val="100"/>
              </a:spcBef>
            </a:pPr>
            <a:r>
              <a:rPr dirty="0"/>
              <a:t>Discrete</a:t>
            </a:r>
            <a:r>
              <a:rPr spc="-130" dirty="0"/>
              <a:t> </a:t>
            </a:r>
            <a:r>
              <a:rPr dirty="0"/>
              <a:t>Time</a:t>
            </a:r>
            <a:r>
              <a:rPr spc="-125" dirty="0"/>
              <a:t> </a:t>
            </a:r>
            <a:r>
              <a:rPr spc="-10" dirty="0"/>
              <a:t>System</a:t>
            </a:r>
            <a:r>
              <a:rPr spc="-130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3" name="object 3"/>
          <p:cNvSpPr/>
          <p:nvPr/>
        </p:nvSpPr>
        <p:spPr>
          <a:xfrm>
            <a:off x="914400" y="1876805"/>
            <a:ext cx="8229600" cy="57150"/>
          </a:xfrm>
          <a:custGeom>
            <a:avLst/>
            <a:gdLst/>
            <a:ahLst/>
            <a:cxnLst/>
            <a:rect l="l" t="t" r="r" b="b"/>
            <a:pathLst>
              <a:path w="8229600" h="57150">
                <a:moveTo>
                  <a:pt x="8229600" y="57149"/>
                </a:moveTo>
                <a:lnTo>
                  <a:pt x="8229600" y="0"/>
                </a:lnTo>
                <a:lnTo>
                  <a:pt x="0" y="0"/>
                </a:lnTo>
                <a:lnTo>
                  <a:pt x="0" y="57150"/>
                </a:lnTo>
                <a:lnTo>
                  <a:pt x="8229600" y="57149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13" y="2057470"/>
            <a:ext cx="2029179" cy="26694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10080" y="2514600"/>
            <a:ext cx="7324725" cy="460095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63930" y="4960620"/>
            <a:ext cx="8256270" cy="462280"/>
          </a:xfrm>
          <a:prstGeom prst="rect">
            <a:avLst/>
          </a:prstGeom>
          <a:solidFill>
            <a:srgbClr val="99FFCC"/>
          </a:solidFill>
        </p:spPr>
        <p:txBody>
          <a:bodyPr vert="horz" wrap="square" lIns="0" tIns="247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95"/>
              </a:spcBef>
              <a:tabLst>
                <a:tab pos="1828164" algn="l"/>
              </a:tabLst>
            </a:pP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Observation: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2400" b="1" dirty="0">
                <a:latin typeface="Calibri"/>
                <a:cs typeface="Calibri"/>
              </a:rPr>
              <a:t>Delay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elements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can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be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combined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56920">
              <a:lnSpc>
                <a:spcPct val="100000"/>
              </a:lnSpc>
              <a:spcBef>
                <a:spcPts val="100"/>
              </a:spcBef>
            </a:pPr>
            <a:r>
              <a:rPr dirty="0"/>
              <a:t>Discrete</a:t>
            </a:r>
            <a:r>
              <a:rPr spc="-130" dirty="0"/>
              <a:t> </a:t>
            </a:r>
            <a:r>
              <a:rPr dirty="0"/>
              <a:t>Time</a:t>
            </a:r>
            <a:r>
              <a:rPr spc="-125" dirty="0"/>
              <a:t> </a:t>
            </a:r>
            <a:r>
              <a:rPr spc="-10" dirty="0"/>
              <a:t>System</a:t>
            </a:r>
            <a:r>
              <a:rPr spc="-130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3" name="object 3"/>
          <p:cNvSpPr/>
          <p:nvPr/>
        </p:nvSpPr>
        <p:spPr>
          <a:xfrm>
            <a:off x="914400" y="1876805"/>
            <a:ext cx="8229600" cy="57150"/>
          </a:xfrm>
          <a:custGeom>
            <a:avLst/>
            <a:gdLst/>
            <a:ahLst/>
            <a:cxnLst/>
            <a:rect l="l" t="t" r="r" b="b"/>
            <a:pathLst>
              <a:path w="8229600" h="57150">
                <a:moveTo>
                  <a:pt x="8229600" y="57149"/>
                </a:moveTo>
                <a:lnTo>
                  <a:pt x="8229600" y="0"/>
                </a:lnTo>
                <a:lnTo>
                  <a:pt x="0" y="0"/>
                </a:lnTo>
                <a:lnTo>
                  <a:pt x="0" y="57150"/>
                </a:lnTo>
                <a:lnTo>
                  <a:pt x="8229600" y="57149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13" y="2057470"/>
            <a:ext cx="2029179" cy="26694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04933" y="2390777"/>
            <a:ext cx="6877415" cy="476287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56920">
              <a:lnSpc>
                <a:spcPct val="100000"/>
              </a:lnSpc>
              <a:spcBef>
                <a:spcPts val="100"/>
              </a:spcBef>
            </a:pPr>
            <a:r>
              <a:rPr dirty="0"/>
              <a:t>Discrete</a:t>
            </a:r>
            <a:r>
              <a:rPr spc="-130" dirty="0"/>
              <a:t> </a:t>
            </a:r>
            <a:r>
              <a:rPr dirty="0"/>
              <a:t>Time</a:t>
            </a:r>
            <a:r>
              <a:rPr spc="-125" dirty="0"/>
              <a:t> </a:t>
            </a:r>
            <a:r>
              <a:rPr spc="-10" dirty="0"/>
              <a:t>System</a:t>
            </a:r>
            <a:r>
              <a:rPr spc="-130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3" name="object 3"/>
          <p:cNvSpPr/>
          <p:nvPr/>
        </p:nvSpPr>
        <p:spPr>
          <a:xfrm>
            <a:off x="914400" y="1876805"/>
            <a:ext cx="8229600" cy="57150"/>
          </a:xfrm>
          <a:custGeom>
            <a:avLst/>
            <a:gdLst/>
            <a:ahLst/>
            <a:cxnLst/>
            <a:rect l="l" t="t" r="r" b="b"/>
            <a:pathLst>
              <a:path w="8229600" h="57150">
                <a:moveTo>
                  <a:pt x="8229600" y="57149"/>
                </a:moveTo>
                <a:lnTo>
                  <a:pt x="8229600" y="0"/>
                </a:lnTo>
                <a:lnTo>
                  <a:pt x="0" y="0"/>
                </a:lnTo>
                <a:lnTo>
                  <a:pt x="0" y="57150"/>
                </a:lnTo>
                <a:lnTo>
                  <a:pt x="8229600" y="57149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685800" y="3948424"/>
            <a:ext cx="8180070" cy="2983865"/>
            <a:chOff x="685800" y="3948424"/>
            <a:chExt cx="8180070" cy="298386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85445" y="3948424"/>
              <a:ext cx="6580217" cy="298326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5800" y="4772405"/>
              <a:ext cx="2181605" cy="409194"/>
            </a:xfrm>
            <a:prstGeom prst="rect">
              <a:avLst/>
            </a:prstGeom>
          </p:spPr>
        </p:pic>
      </p:grpSp>
      <p:sp>
        <p:nvSpPr>
          <p:cNvPr id="7" name="object 7"/>
          <p:cNvSpPr/>
          <p:nvPr/>
        </p:nvSpPr>
        <p:spPr>
          <a:xfrm>
            <a:off x="702563" y="3234689"/>
            <a:ext cx="8517890" cy="422909"/>
          </a:xfrm>
          <a:custGeom>
            <a:avLst/>
            <a:gdLst/>
            <a:ahLst/>
            <a:cxnLst/>
            <a:rect l="l" t="t" r="r" b="b"/>
            <a:pathLst>
              <a:path w="8517890" h="422910">
                <a:moveTo>
                  <a:pt x="8517636" y="422910"/>
                </a:moveTo>
                <a:lnTo>
                  <a:pt x="8517636" y="0"/>
                </a:lnTo>
                <a:lnTo>
                  <a:pt x="0" y="0"/>
                </a:lnTo>
                <a:lnTo>
                  <a:pt x="0" y="422910"/>
                </a:lnTo>
                <a:lnTo>
                  <a:pt x="8517636" y="422910"/>
                </a:lnTo>
                <a:close/>
              </a:path>
            </a:pathLst>
          </a:custGeom>
          <a:solidFill>
            <a:srgbClr val="99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R="4679950" algn="ctr">
              <a:lnSpc>
                <a:spcPct val="100000"/>
              </a:lnSpc>
              <a:spcBef>
                <a:spcPts val="1420"/>
              </a:spcBef>
            </a:pPr>
            <a:r>
              <a:rPr spc="-20" dirty="0"/>
              <a:t>Transposed</a:t>
            </a:r>
            <a:r>
              <a:rPr spc="-55" dirty="0"/>
              <a:t> </a:t>
            </a:r>
            <a:r>
              <a:rPr dirty="0"/>
              <a:t>Direct</a:t>
            </a:r>
            <a:r>
              <a:rPr spc="-50" dirty="0"/>
              <a:t> </a:t>
            </a:r>
            <a:r>
              <a:rPr dirty="0"/>
              <a:t>Form</a:t>
            </a:r>
            <a:r>
              <a:rPr spc="-70" dirty="0"/>
              <a:t> </a:t>
            </a:r>
            <a:r>
              <a:rPr spc="-25" dirty="0"/>
              <a:t>II</a:t>
            </a:r>
          </a:p>
          <a:p>
            <a:pPr marR="339090" algn="ctr">
              <a:lnSpc>
                <a:spcPct val="100000"/>
              </a:lnSpc>
              <a:spcBef>
                <a:spcPts val="1320"/>
              </a:spcBef>
            </a:pPr>
            <a:r>
              <a:rPr dirty="0">
                <a:solidFill>
                  <a:srgbClr val="000000"/>
                </a:solidFill>
              </a:rPr>
              <a:t>Block</a:t>
            </a:r>
            <a:r>
              <a:rPr spc="-8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Diagram</a:t>
            </a:r>
            <a:r>
              <a:rPr spc="-6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Vs.</a:t>
            </a:r>
            <a:r>
              <a:rPr spc="-8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Flow</a:t>
            </a:r>
            <a:r>
              <a:rPr spc="-7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Graph</a:t>
            </a:r>
            <a:r>
              <a:rPr spc="-8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representation</a:t>
            </a:r>
          </a:p>
          <a:p>
            <a:pPr marL="50800">
              <a:lnSpc>
                <a:spcPct val="100000"/>
              </a:lnSpc>
              <a:spcBef>
                <a:spcPts val="2150"/>
              </a:spcBef>
            </a:pPr>
            <a:r>
              <a:rPr sz="2000" b="0" i="1" dirty="0">
                <a:solidFill>
                  <a:srgbClr val="000000"/>
                </a:solidFill>
                <a:latin typeface="Times New Roman"/>
                <a:cs typeface="Times New Roman"/>
              </a:rPr>
              <a:t>y</a:t>
            </a:r>
            <a:r>
              <a:rPr sz="2000" b="0" i="1" spc="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900" b="0" baseline="-3205" dirty="0">
                <a:solidFill>
                  <a:srgbClr val="000000"/>
                </a:solidFill>
                <a:latin typeface="Symbol"/>
                <a:cs typeface="Symbol"/>
              </a:rPr>
              <a:t></a:t>
            </a:r>
            <a:r>
              <a:rPr sz="3900" b="0" spc="-637" baseline="-320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0" i="1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r>
              <a:rPr sz="2000" b="0" i="1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900" b="0" baseline="-3205" dirty="0">
                <a:solidFill>
                  <a:srgbClr val="000000"/>
                </a:solidFill>
                <a:latin typeface="Symbol"/>
                <a:cs typeface="Symbol"/>
              </a:rPr>
              <a:t></a:t>
            </a:r>
            <a:r>
              <a:rPr sz="3900" b="0" spc="-112" baseline="-320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0" dirty="0">
                <a:solidFill>
                  <a:srgbClr val="000000"/>
                </a:solidFill>
                <a:latin typeface="Symbol"/>
                <a:cs typeface="Symbol"/>
              </a:rPr>
              <a:t></a:t>
            </a:r>
            <a:r>
              <a:rPr sz="2000" b="0" spc="3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0" i="1" spc="75" dirty="0">
                <a:solidFill>
                  <a:srgbClr val="000000"/>
                </a:solidFill>
                <a:latin typeface="Times New Roman"/>
                <a:cs typeface="Times New Roman"/>
              </a:rPr>
              <a:t>b</a:t>
            </a:r>
            <a:r>
              <a:rPr sz="1725" b="0" spc="112" baseline="-24154" dirty="0">
                <a:solidFill>
                  <a:srgbClr val="000000"/>
                </a:solidFill>
                <a:latin typeface="Times New Roman"/>
                <a:cs typeface="Times New Roman"/>
              </a:rPr>
              <a:t>0</a:t>
            </a:r>
            <a:r>
              <a:rPr sz="1725" b="0" spc="217" baseline="-2415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0" i="1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2000" b="0" i="1" spc="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900" b="0" baseline="-3205" dirty="0">
                <a:solidFill>
                  <a:srgbClr val="000000"/>
                </a:solidFill>
                <a:latin typeface="Symbol"/>
                <a:cs typeface="Symbol"/>
              </a:rPr>
              <a:t></a:t>
            </a:r>
            <a:r>
              <a:rPr sz="3900" b="0" spc="-637" baseline="-320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0" i="1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r>
              <a:rPr sz="2000" b="0" i="1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900" b="0" baseline="-3205" dirty="0">
                <a:solidFill>
                  <a:srgbClr val="000000"/>
                </a:solidFill>
                <a:latin typeface="Symbol"/>
                <a:cs typeface="Symbol"/>
              </a:rPr>
              <a:t></a:t>
            </a:r>
            <a:r>
              <a:rPr sz="3900" b="0" spc="-352" baseline="-320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0" dirty="0">
                <a:solidFill>
                  <a:srgbClr val="000000"/>
                </a:solidFill>
                <a:latin typeface="Symbol"/>
                <a:cs typeface="Symbol"/>
              </a:rPr>
              <a:t></a:t>
            </a:r>
            <a:r>
              <a:rPr sz="2000" b="0" spc="25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0" i="1" dirty="0">
                <a:solidFill>
                  <a:srgbClr val="000000"/>
                </a:solidFill>
                <a:latin typeface="Times New Roman"/>
                <a:cs typeface="Times New Roman"/>
              </a:rPr>
              <a:t>b</a:t>
            </a:r>
            <a:r>
              <a:rPr sz="1725" b="0" baseline="-24154" dirty="0">
                <a:solidFill>
                  <a:srgbClr val="000000"/>
                </a:solidFill>
                <a:latin typeface="Times New Roman"/>
                <a:cs typeface="Times New Roman"/>
              </a:rPr>
              <a:t>1</a:t>
            </a:r>
            <a:r>
              <a:rPr sz="1725" b="0" spc="44" baseline="-2415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0" i="1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2000" b="0" i="1" spc="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900" b="0" baseline="-3205" dirty="0">
                <a:solidFill>
                  <a:srgbClr val="000000"/>
                </a:solidFill>
                <a:latin typeface="Symbol"/>
                <a:cs typeface="Symbol"/>
              </a:rPr>
              <a:t></a:t>
            </a:r>
            <a:r>
              <a:rPr sz="3900" b="0" spc="-637" baseline="-320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0" i="1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r>
              <a:rPr sz="2000" b="0" i="1" spc="26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0" dirty="0">
                <a:solidFill>
                  <a:srgbClr val="000000"/>
                </a:solidFill>
                <a:latin typeface="Symbol"/>
                <a:cs typeface="Symbol"/>
              </a:rPr>
              <a:t></a:t>
            </a:r>
            <a:r>
              <a:rPr sz="2000" b="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0" spc="-10" dirty="0">
                <a:solidFill>
                  <a:srgbClr val="000000"/>
                </a:solidFill>
                <a:latin typeface="Times New Roman"/>
                <a:cs typeface="Times New Roman"/>
              </a:rPr>
              <a:t>1</a:t>
            </a:r>
            <a:r>
              <a:rPr sz="2000" b="0" spc="-25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900" b="0" baseline="-3205" dirty="0">
                <a:solidFill>
                  <a:srgbClr val="000000"/>
                </a:solidFill>
                <a:latin typeface="Symbol"/>
                <a:cs typeface="Symbol"/>
              </a:rPr>
              <a:t></a:t>
            </a:r>
            <a:r>
              <a:rPr sz="3900" b="0" spc="-352" baseline="-320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0" dirty="0">
                <a:solidFill>
                  <a:srgbClr val="000000"/>
                </a:solidFill>
                <a:latin typeface="Symbol"/>
                <a:cs typeface="Symbol"/>
              </a:rPr>
              <a:t></a:t>
            </a:r>
            <a:r>
              <a:rPr sz="2000" b="0" spc="2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0" i="1" spc="-10" dirty="0">
                <a:solidFill>
                  <a:srgbClr val="000000"/>
                </a:solidFill>
                <a:latin typeface="Times New Roman"/>
                <a:cs typeface="Times New Roman"/>
              </a:rPr>
              <a:t>b</a:t>
            </a:r>
            <a:r>
              <a:rPr sz="2000" b="0" i="1" spc="-3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25" b="0" baseline="-24154" dirty="0">
                <a:solidFill>
                  <a:srgbClr val="000000"/>
                </a:solidFill>
                <a:latin typeface="Times New Roman"/>
                <a:cs typeface="Times New Roman"/>
              </a:rPr>
              <a:t>2</a:t>
            </a:r>
            <a:r>
              <a:rPr sz="1725" b="0" spc="209" baseline="-2415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0" i="1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2000" b="0" i="1" spc="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900" b="0" baseline="-3205" dirty="0">
                <a:solidFill>
                  <a:srgbClr val="000000"/>
                </a:solidFill>
                <a:latin typeface="Symbol"/>
                <a:cs typeface="Symbol"/>
              </a:rPr>
              <a:t></a:t>
            </a:r>
            <a:r>
              <a:rPr sz="3900" b="0" spc="-622" baseline="-320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0" i="1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r>
              <a:rPr sz="2000" b="0" i="1" spc="2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0" dirty="0">
                <a:solidFill>
                  <a:srgbClr val="000000"/>
                </a:solidFill>
                <a:latin typeface="Symbol"/>
                <a:cs typeface="Symbol"/>
              </a:rPr>
              <a:t></a:t>
            </a:r>
            <a:r>
              <a:rPr sz="2000" b="0" spc="2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0" dirty="0">
                <a:solidFill>
                  <a:srgbClr val="000000"/>
                </a:solidFill>
                <a:latin typeface="Times New Roman"/>
                <a:cs typeface="Times New Roman"/>
              </a:rPr>
              <a:t>2</a:t>
            </a:r>
            <a:r>
              <a:rPr sz="2000" b="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900" b="0" baseline="-3205" dirty="0">
                <a:solidFill>
                  <a:srgbClr val="000000"/>
                </a:solidFill>
                <a:latin typeface="Symbol"/>
                <a:cs typeface="Symbol"/>
              </a:rPr>
              <a:t></a:t>
            </a:r>
            <a:r>
              <a:rPr sz="3900" b="0" spc="-345" baseline="-320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0" dirty="0">
                <a:solidFill>
                  <a:srgbClr val="000000"/>
                </a:solidFill>
                <a:latin typeface="Symbol"/>
                <a:cs typeface="Symbol"/>
              </a:rPr>
              <a:t></a:t>
            </a:r>
            <a:r>
              <a:rPr sz="2000" b="0" spc="29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0" i="1" spc="65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1725" b="0" spc="97" baseline="-24154" dirty="0">
                <a:solidFill>
                  <a:srgbClr val="000000"/>
                </a:solidFill>
                <a:latin typeface="Times New Roman"/>
                <a:cs typeface="Times New Roman"/>
              </a:rPr>
              <a:t>1</a:t>
            </a:r>
            <a:r>
              <a:rPr sz="1725" b="0" spc="232" baseline="-2415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0" i="1" dirty="0">
                <a:solidFill>
                  <a:srgbClr val="000000"/>
                </a:solidFill>
                <a:latin typeface="Times New Roman"/>
                <a:cs typeface="Times New Roman"/>
              </a:rPr>
              <a:t>y</a:t>
            </a:r>
            <a:r>
              <a:rPr sz="2000" b="0" i="1" spc="1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900" b="0" baseline="-3205" dirty="0">
                <a:solidFill>
                  <a:srgbClr val="000000"/>
                </a:solidFill>
                <a:latin typeface="Symbol"/>
                <a:cs typeface="Symbol"/>
              </a:rPr>
              <a:t></a:t>
            </a:r>
            <a:r>
              <a:rPr sz="3900" b="0" spc="-630" baseline="-320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0" i="1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r>
              <a:rPr sz="2000" b="0" i="1" spc="26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0" dirty="0">
                <a:solidFill>
                  <a:srgbClr val="000000"/>
                </a:solidFill>
                <a:latin typeface="Symbol"/>
                <a:cs typeface="Symbol"/>
              </a:rPr>
              <a:t></a:t>
            </a:r>
            <a:r>
              <a:rPr sz="2000" b="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0" spc="-10" dirty="0">
                <a:solidFill>
                  <a:srgbClr val="000000"/>
                </a:solidFill>
                <a:latin typeface="Times New Roman"/>
                <a:cs typeface="Times New Roman"/>
              </a:rPr>
              <a:t>1</a:t>
            </a:r>
            <a:r>
              <a:rPr sz="2000" b="0" spc="-25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900" b="0" baseline="-3205" dirty="0">
                <a:solidFill>
                  <a:srgbClr val="000000"/>
                </a:solidFill>
                <a:latin typeface="Symbol"/>
                <a:cs typeface="Symbol"/>
              </a:rPr>
              <a:t></a:t>
            </a:r>
            <a:r>
              <a:rPr sz="3900" b="0" spc="-337" baseline="-320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0" dirty="0">
                <a:solidFill>
                  <a:srgbClr val="000000"/>
                </a:solidFill>
                <a:latin typeface="Symbol"/>
                <a:cs typeface="Symbol"/>
              </a:rPr>
              <a:t></a:t>
            </a:r>
            <a:r>
              <a:rPr sz="2000" b="0" spc="2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0" i="1" spc="-10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2000" b="0" i="1" spc="-19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25" b="0" baseline="-24154" dirty="0">
                <a:solidFill>
                  <a:srgbClr val="000000"/>
                </a:solidFill>
                <a:latin typeface="Times New Roman"/>
                <a:cs typeface="Times New Roman"/>
              </a:rPr>
              <a:t>2</a:t>
            </a:r>
            <a:r>
              <a:rPr sz="1725" b="0" spc="405" baseline="-2415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0" i="1" dirty="0">
                <a:solidFill>
                  <a:srgbClr val="000000"/>
                </a:solidFill>
                <a:latin typeface="Times New Roman"/>
                <a:cs typeface="Times New Roman"/>
              </a:rPr>
              <a:t>y</a:t>
            </a:r>
            <a:r>
              <a:rPr sz="2000" b="0" i="1" spc="1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900" b="0" baseline="-3205" dirty="0">
                <a:solidFill>
                  <a:srgbClr val="000000"/>
                </a:solidFill>
                <a:latin typeface="Symbol"/>
                <a:cs typeface="Symbol"/>
              </a:rPr>
              <a:t></a:t>
            </a:r>
            <a:r>
              <a:rPr sz="3900" b="0" spc="-637" baseline="-320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0" i="1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r>
              <a:rPr sz="2000" b="0" i="1" spc="26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0" dirty="0">
                <a:solidFill>
                  <a:srgbClr val="000000"/>
                </a:solidFill>
                <a:latin typeface="Symbol"/>
                <a:cs typeface="Symbol"/>
              </a:rPr>
              <a:t></a:t>
            </a:r>
            <a:r>
              <a:rPr sz="2000" b="0" spc="2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0" dirty="0">
                <a:solidFill>
                  <a:srgbClr val="000000"/>
                </a:solidFill>
                <a:latin typeface="Times New Roman"/>
                <a:cs typeface="Times New Roman"/>
              </a:rPr>
              <a:t>2</a:t>
            </a:r>
            <a:r>
              <a:rPr sz="2000" b="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900" b="0" spc="-75" baseline="-3205" dirty="0">
                <a:solidFill>
                  <a:srgbClr val="000000"/>
                </a:solidFill>
                <a:latin typeface="Symbol"/>
                <a:cs typeface="Symbol"/>
              </a:rPr>
              <a:t></a:t>
            </a:r>
            <a:endParaRPr sz="3900" baseline="-3205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56920">
              <a:lnSpc>
                <a:spcPct val="100000"/>
              </a:lnSpc>
              <a:spcBef>
                <a:spcPts val="100"/>
              </a:spcBef>
            </a:pPr>
            <a:r>
              <a:rPr dirty="0"/>
              <a:t>Discrete</a:t>
            </a:r>
            <a:r>
              <a:rPr spc="-130" dirty="0"/>
              <a:t> </a:t>
            </a:r>
            <a:r>
              <a:rPr dirty="0"/>
              <a:t>Time</a:t>
            </a:r>
            <a:r>
              <a:rPr spc="-125" dirty="0"/>
              <a:t> </a:t>
            </a:r>
            <a:r>
              <a:rPr spc="-10" dirty="0"/>
              <a:t>System</a:t>
            </a:r>
            <a:r>
              <a:rPr spc="-130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3" name="object 3"/>
          <p:cNvSpPr/>
          <p:nvPr/>
        </p:nvSpPr>
        <p:spPr>
          <a:xfrm>
            <a:off x="914400" y="1876805"/>
            <a:ext cx="8229600" cy="57150"/>
          </a:xfrm>
          <a:custGeom>
            <a:avLst/>
            <a:gdLst/>
            <a:ahLst/>
            <a:cxnLst/>
            <a:rect l="l" t="t" r="r" b="b"/>
            <a:pathLst>
              <a:path w="8229600" h="57150">
                <a:moveTo>
                  <a:pt x="8229600" y="57149"/>
                </a:moveTo>
                <a:lnTo>
                  <a:pt x="8229600" y="0"/>
                </a:lnTo>
                <a:lnTo>
                  <a:pt x="0" y="0"/>
                </a:lnTo>
                <a:lnTo>
                  <a:pt x="0" y="57150"/>
                </a:lnTo>
                <a:lnTo>
                  <a:pt x="8229600" y="57149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02563" y="3234689"/>
            <a:ext cx="8517890" cy="422909"/>
          </a:xfrm>
          <a:custGeom>
            <a:avLst/>
            <a:gdLst/>
            <a:ahLst/>
            <a:cxnLst/>
            <a:rect l="l" t="t" r="r" b="b"/>
            <a:pathLst>
              <a:path w="8517890" h="422910">
                <a:moveTo>
                  <a:pt x="8517636" y="422910"/>
                </a:moveTo>
                <a:lnTo>
                  <a:pt x="8517636" y="0"/>
                </a:lnTo>
                <a:lnTo>
                  <a:pt x="0" y="0"/>
                </a:lnTo>
                <a:lnTo>
                  <a:pt x="0" y="422910"/>
                </a:lnTo>
                <a:lnTo>
                  <a:pt x="8517636" y="422910"/>
                </a:lnTo>
                <a:close/>
              </a:path>
            </a:pathLst>
          </a:custGeom>
          <a:solidFill>
            <a:srgbClr val="99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R="4679950" algn="ctr">
              <a:lnSpc>
                <a:spcPct val="100000"/>
              </a:lnSpc>
              <a:spcBef>
                <a:spcPts val="1420"/>
              </a:spcBef>
            </a:pPr>
            <a:r>
              <a:rPr spc="-20" dirty="0"/>
              <a:t>Transposed</a:t>
            </a:r>
            <a:r>
              <a:rPr spc="-55" dirty="0"/>
              <a:t> </a:t>
            </a:r>
            <a:r>
              <a:rPr dirty="0"/>
              <a:t>Direct</a:t>
            </a:r>
            <a:r>
              <a:rPr spc="-50" dirty="0"/>
              <a:t> </a:t>
            </a:r>
            <a:r>
              <a:rPr dirty="0"/>
              <a:t>Form</a:t>
            </a:r>
            <a:r>
              <a:rPr spc="-70" dirty="0"/>
              <a:t> </a:t>
            </a:r>
            <a:r>
              <a:rPr spc="-25" dirty="0"/>
              <a:t>II</a:t>
            </a:r>
          </a:p>
          <a:p>
            <a:pPr marR="339090" algn="ctr">
              <a:lnSpc>
                <a:spcPct val="100000"/>
              </a:lnSpc>
              <a:spcBef>
                <a:spcPts val="1320"/>
              </a:spcBef>
            </a:pPr>
            <a:r>
              <a:rPr dirty="0">
                <a:solidFill>
                  <a:srgbClr val="000000"/>
                </a:solidFill>
              </a:rPr>
              <a:t>Block</a:t>
            </a:r>
            <a:r>
              <a:rPr spc="-8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Diagram</a:t>
            </a:r>
            <a:r>
              <a:rPr spc="-6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Vs.</a:t>
            </a:r>
            <a:r>
              <a:rPr spc="-8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Flow</a:t>
            </a:r>
            <a:r>
              <a:rPr spc="-7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Graph</a:t>
            </a:r>
            <a:r>
              <a:rPr spc="-8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representation</a:t>
            </a:r>
          </a:p>
          <a:p>
            <a:pPr marL="50800">
              <a:lnSpc>
                <a:spcPct val="100000"/>
              </a:lnSpc>
              <a:spcBef>
                <a:spcPts val="2150"/>
              </a:spcBef>
            </a:pPr>
            <a:r>
              <a:rPr sz="2000" b="0" i="1" dirty="0">
                <a:solidFill>
                  <a:srgbClr val="000000"/>
                </a:solidFill>
                <a:latin typeface="Times New Roman"/>
                <a:cs typeface="Times New Roman"/>
              </a:rPr>
              <a:t>y</a:t>
            </a:r>
            <a:r>
              <a:rPr sz="2000" b="0" i="1" spc="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900" b="0" baseline="-3205" dirty="0">
                <a:solidFill>
                  <a:srgbClr val="000000"/>
                </a:solidFill>
                <a:latin typeface="Symbol"/>
                <a:cs typeface="Symbol"/>
              </a:rPr>
              <a:t></a:t>
            </a:r>
            <a:r>
              <a:rPr sz="3900" b="0" spc="-637" baseline="-320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0" i="1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r>
              <a:rPr sz="2000" b="0" i="1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900" b="0" baseline="-3205" dirty="0">
                <a:solidFill>
                  <a:srgbClr val="000000"/>
                </a:solidFill>
                <a:latin typeface="Symbol"/>
                <a:cs typeface="Symbol"/>
              </a:rPr>
              <a:t></a:t>
            </a:r>
            <a:r>
              <a:rPr sz="3900" b="0" spc="-112" baseline="-320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0" dirty="0">
                <a:solidFill>
                  <a:srgbClr val="000000"/>
                </a:solidFill>
                <a:latin typeface="Symbol"/>
                <a:cs typeface="Symbol"/>
              </a:rPr>
              <a:t></a:t>
            </a:r>
            <a:r>
              <a:rPr sz="2000" b="0" spc="3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0" i="1" spc="75" dirty="0">
                <a:solidFill>
                  <a:srgbClr val="000000"/>
                </a:solidFill>
                <a:latin typeface="Times New Roman"/>
                <a:cs typeface="Times New Roman"/>
              </a:rPr>
              <a:t>b</a:t>
            </a:r>
            <a:r>
              <a:rPr sz="1725" b="0" spc="112" baseline="-24154" dirty="0">
                <a:solidFill>
                  <a:srgbClr val="000000"/>
                </a:solidFill>
                <a:latin typeface="Times New Roman"/>
                <a:cs typeface="Times New Roman"/>
              </a:rPr>
              <a:t>0</a:t>
            </a:r>
            <a:r>
              <a:rPr sz="1725" b="0" spc="217" baseline="-2415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0" i="1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2000" b="0" i="1" spc="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900" b="0" baseline="-3205" dirty="0">
                <a:solidFill>
                  <a:srgbClr val="000000"/>
                </a:solidFill>
                <a:latin typeface="Symbol"/>
                <a:cs typeface="Symbol"/>
              </a:rPr>
              <a:t></a:t>
            </a:r>
            <a:r>
              <a:rPr sz="3900" b="0" spc="-637" baseline="-320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0" i="1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r>
              <a:rPr sz="2000" b="0" i="1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900" b="0" baseline="-3205" dirty="0">
                <a:solidFill>
                  <a:srgbClr val="000000"/>
                </a:solidFill>
                <a:latin typeface="Symbol"/>
                <a:cs typeface="Symbol"/>
              </a:rPr>
              <a:t></a:t>
            </a:r>
            <a:r>
              <a:rPr sz="3900" b="0" spc="-352" baseline="-320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0" dirty="0">
                <a:solidFill>
                  <a:srgbClr val="000000"/>
                </a:solidFill>
                <a:latin typeface="Symbol"/>
                <a:cs typeface="Symbol"/>
              </a:rPr>
              <a:t></a:t>
            </a:r>
            <a:r>
              <a:rPr sz="2000" b="0" spc="25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0" i="1" dirty="0">
                <a:solidFill>
                  <a:srgbClr val="000000"/>
                </a:solidFill>
                <a:latin typeface="Times New Roman"/>
                <a:cs typeface="Times New Roman"/>
              </a:rPr>
              <a:t>b</a:t>
            </a:r>
            <a:r>
              <a:rPr sz="1725" b="0" baseline="-24154" dirty="0">
                <a:solidFill>
                  <a:srgbClr val="000000"/>
                </a:solidFill>
                <a:latin typeface="Times New Roman"/>
                <a:cs typeface="Times New Roman"/>
              </a:rPr>
              <a:t>1</a:t>
            </a:r>
            <a:r>
              <a:rPr sz="1725" b="0" spc="44" baseline="-2415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0" i="1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2000" b="0" i="1" spc="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900" b="0" baseline="-3205" dirty="0">
                <a:solidFill>
                  <a:srgbClr val="000000"/>
                </a:solidFill>
                <a:latin typeface="Symbol"/>
                <a:cs typeface="Symbol"/>
              </a:rPr>
              <a:t></a:t>
            </a:r>
            <a:r>
              <a:rPr sz="3900" b="0" spc="-637" baseline="-320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0" i="1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r>
              <a:rPr sz="2000" b="0" i="1" spc="26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0" dirty="0">
                <a:solidFill>
                  <a:srgbClr val="000000"/>
                </a:solidFill>
                <a:latin typeface="Symbol"/>
                <a:cs typeface="Symbol"/>
              </a:rPr>
              <a:t></a:t>
            </a:r>
            <a:r>
              <a:rPr sz="2000" b="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0" spc="-10" dirty="0">
                <a:solidFill>
                  <a:srgbClr val="000000"/>
                </a:solidFill>
                <a:latin typeface="Times New Roman"/>
                <a:cs typeface="Times New Roman"/>
              </a:rPr>
              <a:t>1</a:t>
            </a:r>
            <a:r>
              <a:rPr sz="2000" b="0" spc="-25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900" b="0" baseline="-3205" dirty="0">
                <a:solidFill>
                  <a:srgbClr val="000000"/>
                </a:solidFill>
                <a:latin typeface="Symbol"/>
                <a:cs typeface="Symbol"/>
              </a:rPr>
              <a:t></a:t>
            </a:r>
            <a:r>
              <a:rPr sz="3900" b="0" spc="-352" baseline="-320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0" dirty="0">
                <a:solidFill>
                  <a:srgbClr val="000000"/>
                </a:solidFill>
                <a:latin typeface="Symbol"/>
                <a:cs typeface="Symbol"/>
              </a:rPr>
              <a:t></a:t>
            </a:r>
            <a:r>
              <a:rPr sz="2000" b="0" spc="2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0" i="1" spc="-10" dirty="0">
                <a:solidFill>
                  <a:srgbClr val="000000"/>
                </a:solidFill>
                <a:latin typeface="Times New Roman"/>
                <a:cs typeface="Times New Roman"/>
              </a:rPr>
              <a:t>b</a:t>
            </a:r>
            <a:r>
              <a:rPr sz="2000" b="0" i="1" spc="-3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25" b="0" baseline="-24154" dirty="0">
                <a:solidFill>
                  <a:srgbClr val="000000"/>
                </a:solidFill>
                <a:latin typeface="Times New Roman"/>
                <a:cs typeface="Times New Roman"/>
              </a:rPr>
              <a:t>2</a:t>
            </a:r>
            <a:r>
              <a:rPr sz="1725" b="0" spc="209" baseline="-2415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0" i="1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2000" b="0" i="1" spc="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900" b="0" baseline="-3205" dirty="0">
                <a:solidFill>
                  <a:srgbClr val="000000"/>
                </a:solidFill>
                <a:latin typeface="Symbol"/>
                <a:cs typeface="Symbol"/>
              </a:rPr>
              <a:t></a:t>
            </a:r>
            <a:r>
              <a:rPr sz="3900" b="0" spc="-622" baseline="-320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0" i="1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r>
              <a:rPr sz="2000" b="0" i="1" spc="2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0" dirty="0">
                <a:solidFill>
                  <a:srgbClr val="000000"/>
                </a:solidFill>
                <a:latin typeface="Symbol"/>
                <a:cs typeface="Symbol"/>
              </a:rPr>
              <a:t></a:t>
            </a:r>
            <a:r>
              <a:rPr sz="2000" b="0" spc="2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0" dirty="0">
                <a:solidFill>
                  <a:srgbClr val="000000"/>
                </a:solidFill>
                <a:latin typeface="Times New Roman"/>
                <a:cs typeface="Times New Roman"/>
              </a:rPr>
              <a:t>2</a:t>
            </a:r>
            <a:r>
              <a:rPr sz="2000" b="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900" b="0" baseline="-3205" dirty="0">
                <a:solidFill>
                  <a:srgbClr val="000000"/>
                </a:solidFill>
                <a:latin typeface="Symbol"/>
                <a:cs typeface="Symbol"/>
              </a:rPr>
              <a:t></a:t>
            </a:r>
            <a:r>
              <a:rPr sz="3900" b="0" spc="-345" baseline="-320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0" dirty="0">
                <a:solidFill>
                  <a:srgbClr val="000000"/>
                </a:solidFill>
                <a:latin typeface="Symbol"/>
                <a:cs typeface="Symbol"/>
              </a:rPr>
              <a:t></a:t>
            </a:r>
            <a:r>
              <a:rPr sz="2000" b="0" spc="29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0" i="1" spc="65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1725" b="0" spc="97" baseline="-24154" dirty="0">
                <a:solidFill>
                  <a:srgbClr val="000000"/>
                </a:solidFill>
                <a:latin typeface="Times New Roman"/>
                <a:cs typeface="Times New Roman"/>
              </a:rPr>
              <a:t>1</a:t>
            </a:r>
            <a:r>
              <a:rPr sz="1725" b="0" spc="232" baseline="-2415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0" i="1" dirty="0">
                <a:solidFill>
                  <a:srgbClr val="000000"/>
                </a:solidFill>
                <a:latin typeface="Times New Roman"/>
                <a:cs typeface="Times New Roman"/>
              </a:rPr>
              <a:t>y</a:t>
            </a:r>
            <a:r>
              <a:rPr sz="2000" b="0" i="1" spc="1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900" b="0" baseline="-3205" dirty="0">
                <a:solidFill>
                  <a:srgbClr val="000000"/>
                </a:solidFill>
                <a:latin typeface="Symbol"/>
                <a:cs typeface="Symbol"/>
              </a:rPr>
              <a:t></a:t>
            </a:r>
            <a:r>
              <a:rPr sz="3900" b="0" spc="-630" baseline="-320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0" i="1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r>
              <a:rPr sz="2000" b="0" i="1" spc="26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0" dirty="0">
                <a:solidFill>
                  <a:srgbClr val="000000"/>
                </a:solidFill>
                <a:latin typeface="Symbol"/>
                <a:cs typeface="Symbol"/>
              </a:rPr>
              <a:t></a:t>
            </a:r>
            <a:r>
              <a:rPr sz="2000" b="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0" spc="-10" dirty="0">
                <a:solidFill>
                  <a:srgbClr val="000000"/>
                </a:solidFill>
                <a:latin typeface="Times New Roman"/>
                <a:cs typeface="Times New Roman"/>
              </a:rPr>
              <a:t>1</a:t>
            </a:r>
            <a:r>
              <a:rPr sz="2000" b="0" spc="-25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900" b="0" baseline="-3205" dirty="0">
                <a:solidFill>
                  <a:srgbClr val="000000"/>
                </a:solidFill>
                <a:latin typeface="Symbol"/>
                <a:cs typeface="Symbol"/>
              </a:rPr>
              <a:t></a:t>
            </a:r>
            <a:r>
              <a:rPr sz="3900" b="0" spc="-337" baseline="-320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0" dirty="0">
                <a:solidFill>
                  <a:srgbClr val="000000"/>
                </a:solidFill>
                <a:latin typeface="Symbol"/>
                <a:cs typeface="Symbol"/>
              </a:rPr>
              <a:t></a:t>
            </a:r>
            <a:r>
              <a:rPr sz="2000" b="0" spc="2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0" i="1" spc="-10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2000" b="0" i="1" spc="-19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25" b="0" baseline="-24154" dirty="0">
                <a:solidFill>
                  <a:srgbClr val="000000"/>
                </a:solidFill>
                <a:latin typeface="Times New Roman"/>
                <a:cs typeface="Times New Roman"/>
              </a:rPr>
              <a:t>2</a:t>
            </a:r>
            <a:r>
              <a:rPr sz="1725" b="0" spc="405" baseline="-2415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0" i="1" dirty="0">
                <a:solidFill>
                  <a:srgbClr val="000000"/>
                </a:solidFill>
                <a:latin typeface="Times New Roman"/>
                <a:cs typeface="Times New Roman"/>
              </a:rPr>
              <a:t>y</a:t>
            </a:r>
            <a:r>
              <a:rPr sz="2000" b="0" i="1" spc="1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900" b="0" baseline="-3205" dirty="0">
                <a:solidFill>
                  <a:srgbClr val="000000"/>
                </a:solidFill>
                <a:latin typeface="Symbol"/>
                <a:cs typeface="Symbol"/>
              </a:rPr>
              <a:t></a:t>
            </a:r>
            <a:r>
              <a:rPr sz="3900" b="0" spc="-637" baseline="-320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0" i="1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r>
              <a:rPr sz="2000" b="0" i="1" spc="26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0" dirty="0">
                <a:solidFill>
                  <a:srgbClr val="000000"/>
                </a:solidFill>
                <a:latin typeface="Symbol"/>
                <a:cs typeface="Symbol"/>
              </a:rPr>
              <a:t></a:t>
            </a:r>
            <a:r>
              <a:rPr sz="2000" b="0" spc="2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0" dirty="0">
                <a:solidFill>
                  <a:srgbClr val="000000"/>
                </a:solidFill>
                <a:latin typeface="Times New Roman"/>
                <a:cs typeface="Times New Roman"/>
              </a:rPr>
              <a:t>2</a:t>
            </a:r>
            <a:r>
              <a:rPr sz="2000" b="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900" b="0" spc="-75" baseline="-3205" dirty="0">
                <a:solidFill>
                  <a:srgbClr val="000000"/>
                </a:solidFill>
                <a:latin typeface="Symbol"/>
                <a:cs typeface="Symbol"/>
              </a:rPr>
              <a:t></a:t>
            </a:r>
            <a:endParaRPr sz="3900" baseline="-3205">
              <a:latin typeface="Symbol"/>
              <a:cs typeface="Symbo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2032" y="3876350"/>
            <a:ext cx="5662540" cy="329012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56920">
              <a:lnSpc>
                <a:spcPct val="100000"/>
              </a:lnSpc>
              <a:spcBef>
                <a:spcPts val="100"/>
              </a:spcBef>
            </a:pPr>
            <a:r>
              <a:rPr dirty="0"/>
              <a:t>Discrete</a:t>
            </a:r>
            <a:r>
              <a:rPr spc="-130" dirty="0"/>
              <a:t> </a:t>
            </a:r>
            <a:r>
              <a:rPr dirty="0"/>
              <a:t>Time</a:t>
            </a:r>
            <a:r>
              <a:rPr spc="-125" dirty="0"/>
              <a:t> </a:t>
            </a:r>
            <a:r>
              <a:rPr spc="-10" dirty="0"/>
              <a:t>System</a:t>
            </a:r>
            <a:r>
              <a:rPr spc="-130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3" name="object 3"/>
          <p:cNvSpPr/>
          <p:nvPr/>
        </p:nvSpPr>
        <p:spPr>
          <a:xfrm>
            <a:off x="914400" y="1876805"/>
            <a:ext cx="8229600" cy="57150"/>
          </a:xfrm>
          <a:custGeom>
            <a:avLst/>
            <a:gdLst/>
            <a:ahLst/>
            <a:cxnLst/>
            <a:rect l="l" t="t" r="r" b="b"/>
            <a:pathLst>
              <a:path w="8229600" h="57150">
                <a:moveTo>
                  <a:pt x="8229600" y="57149"/>
                </a:moveTo>
                <a:lnTo>
                  <a:pt x="8229600" y="0"/>
                </a:lnTo>
                <a:lnTo>
                  <a:pt x="0" y="0"/>
                </a:lnTo>
                <a:lnTo>
                  <a:pt x="0" y="57150"/>
                </a:lnTo>
                <a:lnTo>
                  <a:pt x="8229600" y="57149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93139" y="1826768"/>
            <a:ext cx="8119109" cy="1823720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26034">
              <a:lnSpc>
                <a:spcPct val="100000"/>
              </a:lnSpc>
              <a:spcBef>
                <a:spcPts val="1420"/>
              </a:spcBef>
            </a:pPr>
            <a:r>
              <a:rPr sz="2400" b="1" spc="-20" dirty="0">
                <a:solidFill>
                  <a:srgbClr val="6500FF"/>
                </a:solidFill>
                <a:latin typeface="Calibri"/>
                <a:cs typeface="Calibri"/>
              </a:rPr>
              <a:t>Transposed</a:t>
            </a:r>
            <a:r>
              <a:rPr sz="2400" b="1" spc="-55" dirty="0">
                <a:solidFill>
                  <a:srgbClr val="6500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500FF"/>
                </a:solidFill>
                <a:latin typeface="Calibri"/>
                <a:cs typeface="Calibri"/>
              </a:rPr>
              <a:t>Direct</a:t>
            </a:r>
            <a:r>
              <a:rPr sz="2400" b="1" spc="-50" dirty="0">
                <a:solidFill>
                  <a:srgbClr val="6500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500FF"/>
                </a:solidFill>
                <a:latin typeface="Calibri"/>
                <a:cs typeface="Calibri"/>
              </a:rPr>
              <a:t>Form</a:t>
            </a:r>
            <a:r>
              <a:rPr sz="2400" b="1" spc="-70" dirty="0">
                <a:solidFill>
                  <a:srgbClr val="6500F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500FF"/>
                </a:solidFill>
                <a:latin typeface="Calibri"/>
                <a:cs typeface="Calibri"/>
              </a:rPr>
              <a:t>II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1320"/>
              </a:spcBef>
              <a:tabLst>
                <a:tab pos="3912870" algn="l"/>
              </a:tabLst>
            </a:pPr>
            <a:r>
              <a:rPr sz="2400" b="1" dirty="0">
                <a:latin typeface="Calibri"/>
                <a:cs typeface="Calibri"/>
              </a:rPr>
              <a:t>Flow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Graph</a:t>
            </a:r>
            <a:r>
              <a:rPr sz="2400" b="1" spc="-9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reversal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theorem:</a:t>
            </a:r>
            <a:r>
              <a:rPr sz="2400" b="1" dirty="0">
                <a:latin typeface="Calibri"/>
                <a:cs typeface="Calibri"/>
              </a:rPr>
              <a:t>	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Reverse</a:t>
            </a:r>
            <a:r>
              <a:rPr sz="24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400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direction</a:t>
            </a:r>
            <a:r>
              <a:rPr sz="2400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2400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FF0000"/>
                </a:solidFill>
                <a:latin typeface="Calibri"/>
                <a:cs typeface="Calibri"/>
              </a:rPr>
              <a:t>all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branches</a:t>
            </a:r>
            <a:r>
              <a:rPr sz="24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24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interchange</a:t>
            </a:r>
            <a:r>
              <a:rPr sz="24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4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input</a:t>
            </a:r>
            <a:r>
              <a:rPr sz="24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24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output</a:t>
            </a:r>
            <a:r>
              <a:rPr sz="24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in</a:t>
            </a:r>
            <a:r>
              <a:rPr sz="24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4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flow</a:t>
            </a:r>
            <a:r>
              <a:rPr sz="24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graph,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4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system</a:t>
            </a:r>
            <a:r>
              <a:rPr sz="24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function</a:t>
            </a:r>
            <a:r>
              <a:rPr sz="24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remains</a:t>
            </a:r>
            <a:r>
              <a:rPr sz="24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unchanged.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09856" y="4273810"/>
            <a:ext cx="8427720" cy="2259330"/>
            <a:chOff x="909856" y="4273810"/>
            <a:chExt cx="8427720" cy="225933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9856" y="4273810"/>
              <a:ext cx="3867931" cy="22477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83977" y="4426843"/>
              <a:ext cx="3653271" cy="210578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648199" y="5374386"/>
              <a:ext cx="990600" cy="340995"/>
            </a:xfrm>
            <a:custGeom>
              <a:avLst/>
              <a:gdLst/>
              <a:ahLst/>
              <a:cxnLst/>
              <a:rect l="l" t="t" r="r" b="b"/>
              <a:pathLst>
                <a:path w="990600" h="340995">
                  <a:moveTo>
                    <a:pt x="990600" y="170688"/>
                  </a:moveTo>
                  <a:lnTo>
                    <a:pt x="820674" y="0"/>
                  </a:lnTo>
                  <a:lnTo>
                    <a:pt x="820674" y="85344"/>
                  </a:lnTo>
                  <a:lnTo>
                    <a:pt x="0" y="85344"/>
                  </a:lnTo>
                  <a:lnTo>
                    <a:pt x="0" y="256032"/>
                  </a:lnTo>
                  <a:lnTo>
                    <a:pt x="820674" y="256032"/>
                  </a:lnTo>
                  <a:lnTo>
                    <a:pt x="820674" y="340614"/>
                  </a:lnTo>
                  <a:lnTo>
                    <a:pt x="990600" y="170688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636007" y="5343906"/>
              <a:ext cx="1021080" cy="402590"/>
            </a:xfrm>
            <a:custGeom>
              <a:avLst/>
              <a:gdLst/>
              <a:ahLst/>
              <a:cxnLst/>
              <a:rect l="l" t="t" r="r" b="b"/>
              <a:pathLst>
                <a:path w="1021079" h="402589">
                  <a:moveTo>
                    <a:pt x="832866" y="102870"/>
                  </a:moveTo>
                  <a:lnTo>
                    <a:pt x="0" y="102870"/>
                  </a:lnTo>
                  <a:lnTo>
                    <a:pt x="0" y="298704"/>
                  </a:lnTo>
                  <a:lnTo>
                    <a:pt x="12192" y="298704"/>
                  </a:lnTo>
                  <a:lnTo>
                    <a:pt x="12192" y="128016"/>
                  </a:lnTo>
                  <a:lnTo>
                    <a:pt x="25146" y="115824"/>
                  </a:lnTo>
                  <a:lnTo>
                    <a:pt x="25146" y="128016"/>
                  </a:lnTo>
                  <a:lnTo>
                    <a:pt x="819912" y="128016"/>
                  </a:lnTo>
                  <a:lnTo>
                    <a:pt x="819912" y="115824"/>
                  </a:lnTo>
                  <a:lnTo>
                    <a:pt x="832866" y="102870"/>
                  </a:lnTo>
                  <a:close/>
                </a:path>
                <a:path w="1021079" h="402589">
                  <a:moveTo>
                    <a:pt x="25146" y="128016"/>
                  </a:moveTo>
                  <a:lnTo>
                    <a:pt x="25146" y="115824"/>
                  </a:lnTo>
                  <a:lnTo>
                    <a:pt x="12192" y="128016"/>
                  </a:lnTo>
                  <a:lnTo>
                    <a:pt x="25146" y="128016"/>
                  </a:lnTo>
                  <a:close/>
                </a:path>
                <a:path w="1021079" h="402589">
                  <a:moveTo>
                    <a:pt x="25146" y="273558"/>
                  </a:moveTo>
                  <a:lnTo>
                    <a:pt x="25146" y="128016"/>
                  </a:lnTo>
                  <a:lnTo>
                    <a:pt x="12192" y="128016"/>
                  </a:lnTo>
                  <a:lnTo>
                    <a:pt x="12192" y="273558"/>
                  </a:lnTo>
                  <a:lnTo>
                    <a:pt x="25146" y="273558"/>
                  </a:lnTo>
                  <a:close/>
                </a:path>
                <a:path w="1021079" h="402589">
                  <a:moveTo>
                    <a:pt x="845058" y="341376"/>
                  </a:moveTo>
                  <a:lnTo>
                    <a:pt x="845058" y="273558"/>
                  </a:lnTo>
                  <a:lnTo>
                    <a:pt x="12192" y="273558"/>
                  </a:lnTo>
                  <a:lnTo>
                    <a:pt x="25146" y="286512"/>
                  </a:lnTo>
                  <a:lnTo>
                    <a:pt x="25145" y="298704"/>
                  </a:lnTo>
                  <a:lnTo>
                    <a:pt x="819912" y="298704"/>
                  </a:lnTo>
                  <a:lnTo>
                    <a:pt x="819912" y="286512"/>
                  </a:lnTo>
                  <a:lnTo>
                    <a:pt x="832866" y="298704"/>
                  </a:lnTo>
                  <a:lnTo>
                    <a:pt x="832866" y="353568"/>
                  </a:lnTo>
                  <a:lnTo>
                    <a:pt x="845058" y="341376"/>
                  </a:lnTo>
                  <a:close/>
                </a:path>
                <a:path w="1021079" h="402589">
                  <a:moveTo>
                    <a:pt x="25145" y="298704"/>
                  </a:moveTo>
                  <a:lnTo>
                    <a:pt x="25146" y="286512"/>
                  </a:lnTo>
                  <a:lnTo>
                    <a:pt x="12192" y="273558"/>
                  </a:lnTo>
                  <a:lnTo>
                    <a:pt x="12192" y="298704"/>
                  </a:lnTo>
                  <a:lnTo>
                    <a:pt x="25145" y="298704"/>
                  </a:lnTo>
                  <a:close/>
                </a:path>
                <a:path w="1021079" h="402589">
                  <a:moveTo>
                    <a:pt x="1021080" y="201168"/>
                  </a:moveTo>
                  <a:lnTo>
                    <a:pt x="819912" y="0"/>
                  </a:lnTo>
                  <a:lnTo>
                    <a:pt x="819912" y="102870"/>
                  </a:lnTo>
                  <a:lnTo>
                    <a:pt x="823722" y="102870"/>
                  </a:lnTo>
                  <a:lnTo>
                    <a:pt x="823722" y="39624"/>
                  </a:lnTo>
                  <a:lnTo>
                    <a:pt x="845058" y="30480"/>
                  </a:lnTo>
                  <a:lnTo>
                    <a:pt x="845058" y="60864"/>
                  </a:lnTo>
                  <a:lnTo>
                    <a:pt x="985627" y="200806"/>
                  </a:lnTo>
                  <a:lnTo>
                    <a:pt x="994410" y="192024"/>
                  </a:lnTo>
                  <a:lnTo>
                    <a:pt x="994410" y="227838"/>
                  </a:lnTo>
                  <a:lnTo>
                    <a:pt x="1021080" y="201168"/>
                  </a:lnTo>
                  <a:close/>
                </a:path>
                <a:path w="1021079" h="402589">
                  <a:moveTo>
                    <a:pt x="832866" y="128016"/>
                  </a:moveTo>
                  <a:lnTo>
                    <a:pt x="832866" y="102870"/>
                  </a:lnTo>
                  <a:lnTo>
                    <a:pt x="819912" y="115824"/>
                  </a:lnTo>
                  <a:lnTo>
                    <a:pt x="819912" y="128016"/>
                  </a:lnTo>
                  <a:lnTo>
                    <a:pt x="832866" y="128016"/>
                  </a:lnTo>
                  <a:close/>
                </a:path>
                <a:path w="1021079" h="402589">
                  <a:moveTo>
                    <a:pt x="832866" y="298704"/>
                  </a:moveTo>
                  <a:lnTo>
                    <a:pt x="819912" y="286512"/>
                  </a:lnTo>
                  <a:lnTo>
                    <a:pt x="819912" y="298704"/>
                  </a:lnTo>
                  <a:lnTo>
                    <a:pt x="832866" y="298704"/>
                  </a:lnTo>
                  <a:close/>
                </a:path>
                <a:path w="1021079" h="402589">
                  <a:moveTo>
                    <a:pt x="832866" y="353568"/>
                  </a:moveTo>
                  <a:lnTo>
                    <a:pt x="832866" y="298704"/>
                  </a:lnTo>
                  <a:lnTo>
                    <a:pt x="819912" y="298704"/>
                  </a:lnTo>
                  <a:lnTo>
                    <a:pt x="819912" y="402336"/>
                  </a:lnTo>
                  <a:lnTo>
                    <a:pt x="823722" y="398526"/>
                  </a:lnTo>
                  <a:lnTo>
                    <a:pt x="823722" y="362712"/>
                  </a:lnTo>
                  <a:lnTo>
                    <a:pt x="832866" y="353568"/>
                  </a:lnTo>
                  <a:close/>
                </a:path>
                <a:path w="1021079" h="402589">
                  <a:moveTo>
                    <a:pt x="845058" y="60864"/>
                  </a:moveTo>
                  <a:lnTo>
                    <a:pt x="845058" y="30480"/>
                  </a:lnTo>
                  <a:lnTo>
                    <a:pt x="823722" y="39624"/>
                  </a:lnTo>
                  <a:lnTo>
                    <a:pt x="845058" y="60864"/>
                  </a:lnTo>
                  <a:close/>
                </a:path>
                <a:path w="1021079" h="402589">
                  <a:moveTo>
                    <a:pt x="845058" y="128016"/>
                  </a:moveTo>
                  <a:lnTo>
                    <a:pt x="845058" y="60864"/>
                  </a:lnTo>
                  <a:lnTo>
                    <a:pt x="823722" y="39624"/>
                  </a:lnTo>
                  <a:lnTo>
                    <a:pt x="823722" y="102870"/>
                  </a:lnTo>
                  <a:lnTo>
                    <a:pt x="832866" y="102870"/>
                  </a:lnTo>
                  <a:lnTo>
                    <a:pt x="832866" y="128016"/>
                  </a:lnTo>
                  <a:lnTo>
                    <a:pt x="845058" y="128016"/>
                  </a:lnTo>
                  <a:close/>
                </a:path>
                <a:path w="1021079" h="402589">
                  <a:moveTo>
                    <a:pt x="994410" y="227838"/>
                  </a:moveTo>
                  <a:lnTo>
                    <a:pt x="994410" y="209550"/>
                  </a:lnTo>
                  <a:lnTo>
                    <a:pt x="985627" y="200806"/>
                  </a:lnTo>
                  <a:lnTo>
                    <a:pt x="823722" y="362712"/>
                  </a:lnTo>
                  <a:lnTo>
                    <a:pt x="845058" y="371094"/>
                  </a:lnTo>
                  <a:lnTo>
                    <a:pt x="845058" y="377190"/>
                  </a:lnTo>
                  <a:lnTo>
                    <a:pt x="994410" y="227838"/>
                  </a:lnTo>
                  <a:close/>
                </a:path>
                <a:path w="1021079" h="402589">
                  <a:moveTo>
                    <a:pt x="845058" y="377190"/>
                  </a:moveTo>
                  <a:lnTo>
                    <a:pt x="845058" y="371094"/>
                  </a:lnTo>
                  <a:lnTo>
                    <a:pt x="823722" y="362712"/>
                  </a:lnTo>
                  <a:lnTo>
                    <a:pt x="823722" y="398526"/>
                  </a:lnTo>
                  <a:lnTo>
                    <a:pt x="845058" y="377190"/>
                  </a:lnTo>
                  <a:close/>
                </a:path>
                <a:path w="1021079" h="402589">
                  <a:moveTo>
                    <a:pt x="994410" y="209550"/>
                  </a:moveTo>
                  <a:lnTo>
                    <a:pt x="994410" y="192024"/>
                  </a:lnTo>
                  <a:lnTo>
                    <a:pt x="985627" y="200806"/>
                  </a:lnTo>
                  <a:lnTo>
                    <a:pt x="994410" y="209550"/>
                  </a:lnTo>
                  <a:close/>
                </a:path>
              </a:pathLst>
            </a:custGeom>
            <a:solidFill>
              <a:srgbClr val="385D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28013" y="2767847"/>
            <a:ext cx="5333622" cy="3056262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914400" y="732281"/>
            <a:ext cx="8229600" cy="1143000"/>
          </a:xfrm>
          <a:custGeom>
            <a:avLst/>
            <a:gdLst/>
            <a:ahLst/>
            <a:cxnLst/>
            <a:rect l="l" t="t" r="r" b="b"/>
            <a:pathLst>
              <a:path w="8229600" h="1143000">
                <a:moveTo>
                  <a:pt x="8229600" y="1142999"/>
                </a:moveTo>
                <a:lnTo>
                  <a:pt x="8229600" y="0"/>
                </a:lnTo>
                <a:lnTo>
                  <a:pt x="0" y="0"/>
                </a:lnTo>
                <a:lnTo>
                  <a:pt x="0" y="1143000"/>
                </a:lnTo>
                <a:lnTo>
                  <a:pt x="8229600" y="1142999"/>
                </a:lnTo>
                <a:close/>
              </a:path>
            </a:pathLst>
          </a:custGeom>
          <a:solidFill>
            <a:srgbClr val="DCE6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56920">
              <a:lnSpc>
                <a:spcPct val="100000"/>
              </a:lnSpc>
              <a:spcBef>
                <a:spcPts val="100"/>
              </a:spcBef>
            </a:pPr>
            <a:r>
              <a:rPr dirty="0"/>
              <a:t>Discrete</a:t>
            </a:r>
            <a:r>
              <a:rPr spc="-130" dirty="0"/>
              <a:t> </a:t>
            </a:r>
            <a:r>
              <a:rPr dirty="0"/>
              <a:t>Time</a:t>
            </a:r>
            <a:r>
              <a:rPr spc="-125" dirty="0"/>
              <a:t> </a:t>
            </a:r>
            <a:r>
              <a:rPr spc="-10" dirty="0"/>
              <a:t>System</a:t>
            </a:r>
            <a:r>
              <a:rPr spc="-130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5" name="object 5"/>
          <p:cNvSpPr/>
          <p:nvPr/>
        </p:nvSpPr>
        <p:spPr>
          <a:xfrm>
            <a:off x="914400" y="1876805"/>
            <a:ext cx="8229600" cy="57150"/>
          </a:xfrm>
          <a:custGeom>
            <a:avLst/>
            <a:gdLst/>
            <a:ahLst/>
            <a:cxnLst/>
            <a:rect l="l" t="t" r="r" b="b"/>
            <a:pathLst>
              <a:path w="8229600" h="57150">
                <a:moveTo>
                  <a:pt x="8229600" y="57149"/>
                </a:moveTo>
                <a:lnTo>
                  <a:pt x="8229600" y="0"/>
                </a:lnTo>
                <a:lnTo>
                  <a:pt x="0" y="0"/>
                </a:lnTo>
                <a:lnTo>
                  <a:pt x="0" y="57150"/>
                </a:lnTo>
                <a:lnTo>
                  <a:pt x="8229600" y="57149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1130007" y="3645408"/>
            <a:ext cx="1397000" cy="2659380"/>
            <a:chOff x="1130007" y="3645408"/>
            <a:chExt cx="1397000" cy="2659380"/>
          </a:xfrm>
        </p:grpSpPr>
        <p:sp>
          <p:nvSpPr>
            <p:cNvPr id="7" name="object 7"/>
            <p:cNvSpPr/>
            <p:nvPr/>
          </p:nvSpPr>
          <p:spPr>
            <a:xfrm>
              <a:off x="1143000" y="4734306"/>
              <a:ext cx="1371600" cy="1557020"/>
            </a:xfrm>
            <a:custGeom>
              <a:avLst/>
              <a:gdLst/>
              <a:ahLst/>
              <a:cxnLst/>
              <a:rect l="l" t="t" r="r" b="b"/>
              <a:pathLst>
                <a:path w="1371600" h="1557020">
                  <a:moveTo>
                    <a:pt x="1371600" y="1247394"/>
                  </a:moveTo>
                  <a:lnTo>
                    <a:pt x="1028700" y="870966"/>
                  </a:lnTo>
                  <a:lnTo>
                    <a:pt x="1028700" y="1042416"/>
                  </a:lnTo>
                  <a:lnTo>
                    <a:pt x="975791" y="1030802"/>
                  </a:lnTo>
                  <a:lnTo>
                    <a:pt x="923862" y="1017636"/>
                  </a:lnTo>
                  <a:lnTo>
                    <a:pt x="872947" y="1002954"/>
                  </a:lnTo>
                  <a:lnTo>
                    <a:pt x="823085" y="986795"/>
                  </a:lnTo>
                  <a:lnTo>
                    <a:pt x="774312" y="969195"/>
                  </a:lnTo>
                  <a:lnTo>
                    <a:pt x="726666" y="950192"/>
                  </a:lnTo>
                  <a:lnTo>
                    <a:pt x="680182" y="929823"/>
                  </a:lnTo>
                  <a:lnTo>
                    <a:pt x="634899" y="908125"/>
                  </a:lnTo>
                  <a:lnTo>
                    <a:pt x="590853" y="885137"/>
                  </a:lnTo>
                  <a:lnTo>
                    <a:pt x="548081" y="860894"/>
                  </a:lnTo>
                  <a:lnTo>
                    <a:pt x="506621" y="835435"/>
                  </a:lnTo>
                  <a:lnTo>
                    <a:pt x="466508" y="808797"/>
                  </a:lnTo>
                  <a:lnTo>
                    <a:pt x="427781" y="781017"/>
                  </a:lnTo>
                  <a:lnTo>
                    <a:pt x="390476" y="752132"/>
                  </a:lnTo>
                  <a:lnTo>
                    <a:pt x="354630" y="722180"/>
                  </a:lnTo>
                  <a:lnTo>
                    <a:pt x="320281" y="691199"/>
                  </a:lnTo>
                  <a:lnTo>
                    <a:pt x="287464" y="659225"/>
                  </a:lnTo>
                  <a:lnTo>
                    <a:pt x="256218" y="626296"/>
                  </a:lnTo>
                  <a:lnTo>
                    <a:pt x="226578" y="592449"/>
                  </a:lnTo>
                  <a:lnTo>
                    <a:pt x="198583" y="557721"/>
                  </a:lnTo>
                  <a:lnTo>
                    <a:pt x="172269" y="522151"/>
                  </a:lnTo>
                  <a:lnTo>
                    <a:pt x="147673" y="485774"/>
                  </a:lnTo>
                  <a:lnTo>
                    <a:pt x="124833" y="448630"/>
                  </a:lnTo>
                  <a:lnTo>
                    <a:pt x="103784" y="410754"/>
                  </a:lnTo>
                  <a:lnTo>
                    <a:pt x="84564" y="372184"/>
                  </a:lnTo>
                  <a:lnTo>
                    <a:pt x="67211" y="332958"/>
                  </a:lnTo>
                  <a:lnTo>
                    <a:pt x="51760" y="293113"/>
                  </a:lnTo>
                  <a:lnTo>
                    <a:pt x="38250" y="252686"/>
                  </a:lnTo>
                  <a:lnTo>
                    <a:pt x="26716" y="211715"/>
                  </a:lnTo>
                  <a:lnTo>
                    <a:pt x="17197" y="170236"/>
                  </a:lnTo>
                  <a:lnTo>
                    <a:pt x="9728" y="128288"/>
                  </a:lnTo>
                  <a:lnTo>
                    <a:pt x="4348" y="85908"/>
                  </a:lnTo>
                  <a:lnTo>
                    <a:pt x="1093" y="43133"/>
                  </a:lnTo>
                  <a:lnTo>
                    <a:pt x="0" y="0"/>
                  </a:lnTo>
                  <a:lnTo>
                    <a:pt x="0" y="342900"/>
                  </a:lnTo>
                  <a:lnTo>
                    <a:pt x="1093" y="386033"/>
                  </a:lnTo>
                  <a:lnTo>
                    <a:pt x="4348" y="428808"/>
                  </a:lnTo>
                  <a:lnTo>
                    <a:pt x="9728" y="471188"/>
                  </a:lnTo>
                  <a:lnTo>
                    <a:pt x="17197" y="513136"/>
                  </a:lnTo>
                  <a:lnTo>
                    <a:pt x="26716" y="554615"/>
                  </a:lnTo>
                  <a:lnTo>
                    <a:pt x="38250" y="595586"/>
                  </a:lnTo>
                  <a:lnTo>
                    <a:pt x="51760" y="636013"/>
                  </a:lnTo>
                  <a:lnTo>
                    <a:pt x="67211" y="675858"/>
                  </a:lnTo>
                  <a:lnTo>
                    <a:pt x="84564" y="715084"/>
                  </a:lnTo>
                  <a:lnTo>
                    <a:pt x="103784" y="753654"/>
                  </a:lnTo>
                  <a:lnTo>
                    <a:pt x="124833" y="791530"/>
                  </a:lnTo>
                  <a:lnTo>
                    <a:pt x="147673" y="828674"/>
                  </a:lnTo>
                  <a:lnTo>
                    <a:pt x="172269" y="865051"/>
                  </a:lnTo>
                  <a:lnTo>
                    <a:pt x="198583" y="900621"/>
                  </a:lnTo>
                  <a:lnTo>
                    <a:pt x="226578" y="935349"/>
                  </a:lnTo>
                  <a:lnTo>
                    <a:pt x="256218" y="969196"/>
                  </a:lnTo>
                  <a:lnTo>
                    <a:pt x="287464" y="1002125"/>
                  </a:lnTo>
                  <a:lnTo>
                    <a:pt x="320281" y="1034099"/>
                  </a:lnTo>
                  <a:lnTo>
                    <a:pt x="354630" y="1065080"/>
                  </a:lnTo>
                  <a:lnTo>
                    <a:pt x="390476" y="1095032"/>
                  </a:lnTo>
                  <a:lnTo>
                    <a:pt x="427781" y="1123917"/>
                  </a:lnTo>
                  <a:lnTo>
                    <a:pt x="466508" y="1151697"/>
                  </a:lnTo>
                  <a:lnTo>
                    <a:pt x="506621" y="1178335"/>
                  </a:lnTo>
                  <a:lnTo>
                    <a:pt x="548081" y="1203794"/>
                  </a:lnTo>
                  <a:lnTo>
                    <a:pt x="590853" y="1228037"/>
                  </a:lnTo>
                  <a:lnTo>
                    <a:pt x="634899" y="1251025"/>
                  </a:lnTo>
                  <a:lnTo>
                    <a:pt x="680182" y="1272723"/>
                  </a:lnTo>
                  <a:lnTo>
                    <a:pt x="726666" y="1293092"/>
                  </a:lnTo>
                  <a:lnTo>
                    <a:pt x="774312" y="1312095"/>
                  </a:lnTo>
                  <a:lnTo>
                    <a:pt x="823085" y="1329695"/>
                  </a:lnTo>
                  <a:lnTo>
                    <a:pt x="872947" y="1345854"/>
                  </a:lnTo>
                  <a:lnTo>
                    <a:pt x="923862" y="1360536"/>
                  </a:lnTo>
                  <a:lnTo>
                    <a:pt x="975791" y="1373702"/>
                  </a:lnTo>
                  <a:lnTo>
                    <a:pt x="1028700" y="1385316"/>
                  </a:lnTo>
                  <a:lnTo>
                    <a:pt x="1028700" y="1556766"/>
                  </a:lnTo>
                  <a:lnTo>
                    <a:pt x="1371600" y="1247394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42878" y="3657600"/>
              <a:ext cx="1372235" cy="1248410"/>
            </a:xfrm>
            <a:custGeom>
              <a:avLst/>
              <a:gdLst/>
              <a:ahLst/>
              <a:cxnLst/>
              <a:rect l="l" t="t" r="r" b="b"/>
              <a:pathLst>
                <a:path w="1372235" h="1248410">
                  <a:moveTo>
                    <a:pt x="1371721" y="342900"/>
                  </a:moveTo>
                  <a:lnTo>
                    <a:pt x="1371721" y="0"/>
                  </a:lnTo>
                  <a:lnTo>
                    <a:pt x="1316988" y="976"/>
                  </a:lnTo>
                  <a:lnTo>
                    <a:pt x="1262470" y="3810"/>
                  </a:lnTo>
                  <a:lnTo>
                    <a:pt x="1208094" y="8358"/>
                  </a:lnTo>
                  <a:lnTo>
                    <a:pt x="1153789" y="14478"/>
                  </a:lnTo>
                  <a:lnTo>
                    <a:pt x="1099471" y="22202"/>
                  </a:lnTo>
                  <a:lnTo>
                    <a:pt x="1046043" y="31525"/>
                  </a:lnTo>
                  <a:lnTo>
                    <a:pt x="993540" y="42409"/>
                  </a:lnTo>
                  <a:lnTo>
                    <a:pt x="941994" y="54816"/>
                  </a:lnTo>
                  <a:lnTo>
                    <a:pt x="891441" y="68710"/>
                  </a:lnTo>
                  <a:lnTo>
                    <a:pt x="841914" y="84055"/>
                  </a:lnTo>
                  <a:lnTo>
                    <a:pt x="793446" y="100813"/>
                  </a:lnTo>
                  <a:lnTo>
                    <a:pt x="746072" y="118948"/>
                  </a:lnTo>
                  <a:lnTo>
                    <a:pt x="699826" y="138422"/>
                  </a:lnTo>
                  <a:lnTo>
                    <a:pt x="654740" y="159198"/>
                  </a:lnTo>
                  <a:lnTo>
                    <a:pt x="610850" y="181241"/>
                  </a:lnTo>
                  <a:lnTo>
                    <a:pt x="568188" y="204512"/>
                  </a:lnTo>
                  <a:lnTo>
                    <a:pt x="526790" y="228975"/>
                  </a:lnTo>
                  <a:lnTo>
                    <a:pt x="486688" y="254593"/>
                  </a:lnTo>
                  <a:lnTo>
                    <a:pt x="447916" y="281330"/>
                  </a:lnTo>
                  <a:lnTo>
                    <a:pt x="410508" y="309148"/>
                  </a:lnTo>
                  <a:lnTo>
                    <a:pt x="374499" y="338011"/>
                  </a:lnTo>
                  <a:lnTo>
                    <a:pt x="339921" y="367881"/>
                  </a:lnTo>
                  <a:lnTo>
                    <a:pt x="306809" y="398721"/>
                  </a:lnTo>
                  <a:lnTo>
                    <a:pt x="275197" y="430496"/>
                  </a:lnTo>
                  <a:lnTo>
                    <a:pt x="245118" y="463168"/>
                  </a:lnTo>
                  <a:lnTo>
                    <a:pt x="216606" y="496699"/>
                  </a:lnTo>
                  <a:lnTo>
                    <a:pt x="189695" y="531054"/>
                  </a:lnTo>
                  <a:lnTo>
                    <a:pt x="164419" y="566195"/>
                  </a:lnTo>
                  <a:lnTo>
                    <a:pt x="140812" y="602085"/>
                  </a:lnTo>
                  <a:lnTo>
                    <a:pt x="118907" y="638688"/>
                  </a:lnTo>
                  <a:lnTo>
                    <a:pt x="98739" y="675967"/>
                  </a:lnTo>
                  <a:lnTo>
                    <a:pt x="80341" y="713884"/>
                  </a:lnTo>
                  <a:lnTo>
                    <a:pt x="63747" y="752404"/>
                  </a:lnTo>
                  <a:lnTo>
                    <a:pt x="48991" y="791488"/>
                  </a:lnTo>
                  <a:lnTo>
                    <a:pt x="36106" y="831100"/>
                  </a:lnTo>
                  <a:lnTo>
                    <a:pt x="25127" y="871204"/>
                  </a:lnTo>
                  <a:lnTo>
                    <a:pt x="16088" y="911762"/>
                  </a:lnTo>
                  <a:lnTo>
                    <a:pt x="9021" y="952737"/>
                  </a:lnTo>
                  <a:lnTo>
                    <a:pt x="3962" y="994093"/>
                  </a:lnTo>
                  <a:lnTo>
                    <a:pt x="943" y="1035793"/>
                  </a:lnTo>
                  <a:lnTo>
                    <a:pt x="0" y="1077799"/>
                  </a:lnTo>
                  <a:lnTo>
                    <a:pt x="1164" y="1120076"/>
                  </a:lnTo>
                  <a:lnTo>
                    <a:pt x="4471" y="1162585"/>
                  </a:lnTo>
                  <a:lnTo>
                    <a:pt x="9954" y="1205291"/>
                  </a:lnTo>
                  <a:lnTo>
                    <a:pt x="17647" y="1248156"/>
                  </a:lnTo>
                  <a:lnTo>
                    <a:pt x="27374" y="1206201"/>
                  </a:lnTo>
                  <a:lnTo>
                    <a:pt x="39100" y="1164877"/>
                  </a:lnTo>
                  <a:lnTo>
                    <a:pt x="52784" y="1124212"/>
                  </a:lnTo>
                  <a:lnTo>
                    <a:pt x="68380" y="1084236"/>
                  </a:lnTo>
                  <a:lnTo>
                    <a:pt x="85847" y="1044978"/>
                  </a:lnTo>
                  <a:lnTo>
                    <a:pt x="105140" y="1006468"/>
                  </a:lnTo>
                  <a:lnTo>
                    <a:pt x="126216" y="968734"/>
                  </a:lnTo>
                  <a:lnTo>
                    <a:pt x="149031" y="931807"/>
                  </a:lnTo>
                  <a:lnTo>
                    <a:pt x="173542" y="895714"/>
                  </a:lnTo>
                  <a:lnTo>
                    <a:pt x="199705" y="860485"/>
                  </a:lnTo>
                  <a:lnTo>
                    <a:pt x="227477" y="826151"/>
                  </a:lnTo>
                  <a:lnTo>
                    <a:pt x="256815" y="792739"/>
                  </a:lnTo>
                  <a:lnTo>
                    <a:pt x="287674" y="760279"/>
                  </a:lnTo>
                  <a:lnTo>
                    <a:pt x="320012" y="728800"/>
                  </a:lnTo>
                  <a:lnTo>
                    <a:pt x="353784" y="698332"/>
                  </a:lnTo>
                  <a:lnTo>
                    <a:pt x="388948" y="668904"/>
                  </a:lnTo>
                  <a:lnTo>
                    <a:pt x="425459" y="640545"/>
                  </a:lnTo>
                  <a:lnTo>
                    <a:pt x="463275" y="613284"/>
                  </a:lnTo>
                  <a:lnTo>
                    <a:pt x="502351" y="587151"/>
                  </a:lnTo>
                  <a:lnTo>
                    <a:pt x="542645" y="562174"/>
                  </a:lnTo>
                  <a:lnTo>
                    <a:pt x="584112" y="538384"/>
                  </a:lnTo>
                  <a:lnTo>
                    <a:pt x="626710" y="515808"/>
                  </a:lnTo>
                  <a:lnTo>
                    <a:pt x="670394" y="494478"/>
                  </a:lnTo>
                  <a:lnTo>
                    <a:pt x="715122" y="474421"/>
                  </a:lnTo>
                  <a:lnTo>
                    <a:pt x="760849" y="455667"/>
                  </a:lnTo>
                  <a:lnTo>
                    <a:pt x="807533" y="438245"/>
                  </a:lnTo>
                  <a:lnTo>
                    <a:pt x="855129" y="422185"/>
                  </a:lnTo>
                  <a:lnTo>
                    <a:pt x="903595" y="407515"/>
                  </a:lnTo>
                  <a:lnTo>
                    <a:pt x="952886" y="394266"/>
                  </a:lnTo>
                  <a:lnTo>
                    <a:pt x="1002960" y="382466"/>
                  </a:lnTo>
                  <a:lnTo>
                    <a:pt x="1053772" y="372144"/>
                  </a:lnTo>
                  <a:lnTo>
                    <a:pt x="1105279" y="363330"/>
                  </a:lnTo>
                  <a:lnTo>
                    <a:pt x="1157438" y="356053"/>
                  </a:lnTo>
                  <a:lnTo>
                    <a:pt x="1210206" y="350342"/>
                  </a:lnTo>
                  <a:lnTo>
                    <a:pt x="1263538" y="346227"/>
                  </a:lnTo>
                  <a:lnTo>
                    <a:pt x="1317391" y="343736"/>
                  </a:lnTo>
                  <a:lnTo>
                    <a:pt x="1371721" y="342900"/>
                  </a:lnTo>
                  <a:close/>
                </a:path>
              </a:pathLst>
            </a:custGeom>
            <a:solidFill>
              <a:srgbClr val="4068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130007" y="3645408"/>
              <a:ext cx="1397000" cy="2659380"/>
            </a:xfrm>
            <a:custGeom>
              <a:avLst/>
              <a:gdLst/>
              <a:ahLst/>
              <a:cxnLst/>
              <a:rect l="l" t="t" r="r" b="b"/>
              <a:pathLst>
                <a:path w="1397000" h="2659379">
                  <a:moveTo>
                    <a:pt x="1384300" y="25146"/>
                  </a:moveTo>
                  <a:lnTo>
                    <a:pt x="1384300" y="0"/>
                  </a:lnTo>
                  <a:lnTo>
                    <a:pt x="1308100" y="1524"/>
                  </a:lnTo>
                  <a:lnTo>
                    <a:pt x="1231900" y="5334"/>
                  </a:lnTo>
                  <a:lnTo>
                    <a:pt x="1193800" y="9276"/>
                  </a:lnTo>
                  <a:lnTo>
                    <a:pt x="1143000" y="14634"/>
                  </a:lnTo>
                  <a:lnTo>
                    <a:pt x="1104900" y="21400"/>
                  </a:lnTo>
                  <a:lnTo>
                    <a:pt x="1054100" y="29565"/>
                  </a:lnTo>
                  <a:lnTo>
                    <a:pt x="1003300" y="39120"/>
                  </a:lnTo>
                  <a:lnTo>
                    <a:pt x="965200" y="50057"/>
                  </a:lnTo>
                  <a:lnTo>
                    <a:pt x="914400" y="62367"/>
                  </a:lnTo>
                  <a:lnTo>
                    <a:pt x="863600" y="76041"/>
                  </a:lnTo>
                  <a:lnTo>
                    <a:pt x="825500" y="91070"/>
                  </a:lnTo>
                  <a:lnTo>
                    <a:pt x="774699" y="107447"/>
                  </a:lnTo>
                  <a:lnTo>
                    <a:pt x="736599" y="125162"/>
                  </a:lnTo>
                  <a:lnTo>
                    <a:pt x="685799" y="144207"/>
                  </a:lnTo>
                  <a:lnTo>
                    <a:pt x="647699" y="164572"/>
                  </a:lnTo>
                  <a:lnTo>
                    <a:pt x="609599" y="186250"/>
                  </a:lnTo>
                  <a:lnTo>
                    <a:pt x="558799" y="209232"/>
                  </a:lnTo>
                  <a:lnTo>
                    <a:pt x="520699" y="233508"/>
                  </a:lnTo>
                  <a:lnTo>
                    <a:pt x="482599" y="259071"/>
                  </a:lnTo>
                  <a:lnTo>
                    <a:pt x="444499" y="285911"/>
                  </a:lnTo>
                  <a:lnTo>
                    <a:pt x="406399" y="314021"/>
                  </a:lnTo>
                  <a:lnTo>
                    <a:pt x="368299" y="343391"/>
                  </a:lnTo>
                  <a:lnTo>
                    <a:pt x="330199" y="374012"/>
                  </a:lnTo>
                  <a:lnTo>
                    <a:pt x="304799" y="405877"/>
                  </a:lnTo>
                  <a:lnTo>
                    <a:pt x="266699" y="438976"/>
                  </a:lnTo>
                  <a:lnTo>
                    <a:pt x="241299" y="473300"/>
                  </a:lnTo>
                  <a:lnTo>
                    <a:pt x="203199" y="508842"/>
                  </a:lnTo>
                  <a:lnTo>
                    <a:pt x="177799" y="545592"/>
                  </a:lnTo>
                  <a:lnTo>
                    <a:pt x="152399" y="583541"/>
                  </a:lnTo>
                  <a:lnTo>
                    <a:pt x="126999" y="622682"/>
                  </a:lnTo>
                  <a:lnTo>
                    <a:pt x="101599" y="663005"/>
                  </a:lnTo>
                  <a:lnTo>
                    <a:pt x="88899" y="704502"/>
                  </a:lnTo>
                  <a:lnTo>
                    <a:pt x="63499" y="747164"/>
                  </a:lnTo>
                  <a:lnTo>
                    <a:pt x="38099" y="835948"/>
                  </a:lnTo>
                  <a:lnTo>
                    <a:pt x="0" y="977646"/>
                  </a:lnTo>
                  <a:lnTo>
                    <a:pt x="0" y="1088898"/>
                  </a:lnTo>
                  <a:lnTo>
                    <a:pt x="25399" y="1088898"/>
                  </a:lnTo>
                  <a:lnTo>
                    <a:pt x="25399" y="979932"/>
                  </a:lnTo>
                  <a:lnTo>
                    <a:pt x="50799" y="883865"/>
                  </a:lnTo>
                  <a:lnTo>
                    <a:pt x="76199" y="792481"/>
                  </a:lnTo>
                  <a:lnTo>
                    <a:pt x="88899" y="748569"/>
                  </a:lnTo>
                  <a:lnTo>
                    <a:pt x="114299" y="705855"/>
                  </a:lnTo>
                  <a:lnTo>
                    <a:pt x="126999" y="664349"/>
                  </a:lnTo>
                  <a:lnTo>
                    <a:pt x="152399" y="624060"/>
                  </a:lnTo>
                  <a:lnTo>
                    <a:pt x="177799" y="584998"/>
                  </a:lnTo>
                  <a:lnTo>
                    <a:pt x="203199" y="547172"/>
                  </a:lnTo>
                  <a:lnTo>
                    <a:pt x="241299" y="510591"/>
                  </a:lnTo>
                  <a:lnTo>
                    <a:pt x="266699" y="475265"/>
                  </a:lnTo>
                  <a:lnTo>
                    <a:pt x="304799" y="441203"/>
                  </a:lnTo>
                  <a:lnTo>
                    <a:pt x="330199" y="408414"/>
                  </a:lnTo>
                  <a:lnTo>
                    <a:pt x="368299" y="376907"/>
                  </a:lnTo>
                  <a:lnTo>
                    <a:pt x="406399" y="346693"/>
                  </a:lnTo>
                  <a:lnTo>
                    <a:pt x="444499" y="317779"/>
                  </a:lnTo>
                  <a:lnTo>
                    <a:pt x="482599" y="290177"/>
                  </a:lnTo>
                  <a:lnTo>
                    <a:pt x="520699" y="263894"/>
                  </a:lnTo>
                  <a:lnTo>
                    <a:pt x="558799" y="238940"/>
                  </a:lnTo>
                  <a:lnTo>
                    <a:pt x="609599" y="215325"/>
                  </a:lnTo>
                  <a:lnTo>
                    <a:pt x="647699" y="193058"/>
                  </a:lnTo>
                  <a:lnTo>
                    <a:pt x="685799" y="172147"/>
                  </a:lnTo>
                  <a:lnTo>
                    <a:pt x="736599" y="152604"/>
                  </a:lnTo>
                  <a:lnTo>
                    <a:pt x="774699" y="134436"/>
                  </a:lnTo>
                  <a:lnTo>
                    <a:pt x="825500" y="117653"/>
                  </a:lnTo>
                  <a:lnTo>
                    <a:pt x="863600" y="102265"/>
                  </a:lnTo>
                  <a:lnTo>
                    <a:pt x="914400" y="88281"/>
                  </a:lnTo>
                  <a:lnTo>
                    <a:pt x="965200" y="75709"/>
                  </a:lnTo>
                  <a:lnTo>
                    <a:pt x="1003300" y="64560"/>
                  </a:lnTo>
                  <a:lnTo>
                    <a:pt x="1054100" y="54843"/>
                  </a:lnTo>
                  <a:lnTo>
                    <a:pt x="1104900" y="46567"/>
                  </a:lnTo>
                  <a:lnTo>
                    <a:pt x="1143000" y="39742"/>
                  </a:lnTo>
                  <a:lnTo>
                    <a:pt x="1193800" y="34376"/>
                  </a:lnTo>
                  <a:lnTo>
                    <a:pt x="1244600" y="30480"/>
                  </a:lnTo>
                  <a:lnTo>
                    <a:pt x="1308100" y="26670"/>
                  </a:lnTo>
                  <a:lnTo>
                    <a:pt x="1371600" y="25400"/>
                  </a:lnTo>
                  <a:lnTo>
                    <a:pt x="1371600" y="12192"/>
                  </a:lnTo>
                  <a:lnTo>
                    <a:pt x="1384300" y="25146"/>
                  </a:lnTo>
                  <a:close/>
                </a:path>
                <a:path w="1397000" h="2659379">
                  <a:moveTo>
                    <a:pt x="28730" y="1196257"/>
                  </a:moveTo>
                  <a:lnTo>
                    <a:pt x="25400" y="1183661"/>
                  </a:lnTo>
                  <a:lnTo>
                    <a:pt x="25399" y="1088898"/>
                  </a:lnTo>
                  <a:lnTo>
                    <a:pt x="0" y="1088898"/>
                  </a:lnTo>
                  <a:lnTo>
                    <a:pt x="0" y="1184189"/>
                  </a:lnTo>
                  <a:lnTo>
                    <a:pt x="12700" y="1232000"/>
                  </a:lnTo>
                  <a:lnTo>
                    <a:pt x="12700" y="1257300"/>
                  </a:lnTo>
                  <a:lnTo>
                    <a:pt x="25400" y="1208532"/>
                  </a:lnTo>
                  <a:lnTo>
                    <a:pt x="28730" y="1196257"/>
                  </a:lnTo>
                  <a:close/>
                </a:path>
                <a:path w="1397000" h="2659379">
                  <a:moveTo>
                    <a:pt x="1054100" y="2612898"/>
                  </a:moveTo>
                  <a:lnTo>
                    <a:pt x="1054100" y="2468118"/>
                  </a:lnTo>
                  <a:lnTo>
                    <a:pt x="1041400" y="2462784"/>
                  </a:lnTo>
                  <a:lnTo>
                    <a:pt x="1041400" y="2461260"/>
                  </a:lnTo>
                  <a:lnTo>
                    <a:pt x="977900" y="2449068"/>
                  </a:lnTo>
                  <a:lnTo>
                    <a:pt x="927100" y="2435352"/>
                  </a:lnTo>
                  <a:lnTo>
                    <a:pt x="876300" y="2419350"/>
                  </a:lnTo>
                  <a:lnTo>
                    <a:pt x="825500" y="2403265"/>
                  </a:lnTo>
                  <a:lnTo>
                    <a:pt x="774700" y="2385620"/>
                  </a:lnTo>
                  <a:lnTo>
                    <a:pt x="736600" y="2366409"/>
                  </a:lnTo>
                  <a:lnTo>
                    <a:pt x="685800" y="2345627"/>
                  </a:lnTo>
                  <a:lnTo>
                    <a:pt x="635000" y="2323267"/>
                  </a:lnTo>
                  <a:lnTo>
                    <a:pt x="596900" y="2299324"/>
                  </a:lnTo>
                  <a:lnTo>
                    <a:pt x="546100" y="2273793"/>
                  </a:lnTo>
                  <a:lnTo>
                    <a:pt x="508000" y="2246667"/>
                  </a:lnTo>
                  <a:lnTo>
                    <a:pt x="469900" y="2217942"/>
                  </a:lnTo>
                  <a:lnTo>
                    <a:pt x="419100" y="2187611"/>
                  </a:lnTo>
                  <a:lnTo>
                    <a:pt x="381000" y="2155669"/>
                  </a:lnTo>
                  <a:lnTo>
                    <a:pt x="342900" y="2122111"/>
                  </a:lnTo>
                  <a:lnTo>
                    <a:pt x="304800" y="2086930"/>
                  </a:lnTo>
                  <a:lnTo>
                    <a:pt x="266700" y="2050122"/>
                  </a:lnTo>
                  <a:lnTo>
                    <a:pt x="241300" y="2011680"/>
                  </a:lnTo>
                  <a:lnTo>
                    <a:pt x="215900" y="1975104"/>
                  </a:lnTo>
                  <a:lnTo>
                    <a:pt x="177800" y="1937004"/>
                  </a:lnTo>
                  <a:lnTo>
                    <a:pt x="152400" y="1898904"/>
                  </a:lnTo>
                  <a:lnTo>
                    <a:pt x="127000" y="1850589"/>
                  </a:lnTo>
                  <a:lnTo>
                    <a:pt x="101600" y="1800020"/>
                  </a:lnTo>
                  <a:lnTo>
                    <a:pt x="76200" y="1748029"/>
                  </a:lnTo>
                  <a:lnTo>
                    <a:pt x="63500" y="1695450"/>
                  </a:lnTo>
                  <a:lnTo>
                    <a:pt x="25400" y="1565910"/>
                  </a:lnTo>
                  <a:lnTo>
                    <a:pt x="25400" y="1324572"/>
                  </a:lnTo>
                  <a:lnTo>
                    <a:pt x="12700" y="1278800"/>
                  </a:lnTo>
                  <a:lnTo>
                    <a:pt x="12700" y="1232000"/>
                  </a:lnTo>
                  <a:lnTo>
                    <a:pt x="0" y="1184189"/>
                  </a:lnTo>
                  <a:lnTo>
                    <a:pt x="0" y="1558174"/>
                  </a:lnTo>
                  <a:lnTo>
                    <a:pt x="25400" y="1660398"/>
                  </a:lnTo>
                  <a:lnTo>
                    <a:pt x="50800" y="1747266"/>
                  </a:lnTo>
                  <a:lnTo>
                    <a:pt x="76200" y="1791045"/>
                  </a:lnTo>
                  <a:lnTo>
                    <a:pt x="88900" y="1832806"/>
                  </a:lnTo>
                  <a:lnTo>
                    <a:pt x="114300" y="1873177"/>
                  </a:lnTo>
                  <a:lnTo>
                    <a:pt x="165100" y="1952244"/>
                  </a:lnTo>
                  <a:lnTo>
                    <a:pt x="190500" y="1991106"/>
                  </a:lnTo>
                  <a:lnTo>
                    <a:pt x="215900" y="2028444"/>
                  </a:lnTo>
                  <a:lnTo>
                    <a:pt x="254000" y="2064258"/>
                  </a:lnTo>
                  <a:lnTo>
                    <a:pt x="279400" y="2099393"/>
                  </a:lnTo>
                  <a:lnTo>
                    <a:pt x="317500" y="2133205"/>
                  </a:lnTo>
                  <a:lnTo>
                    <a:pt x="355600" y="2165674"/>
                  </a:lnTo>
                  <a:lnTo>
                    <a:pt x="393700" y="2196782"/>
                  </a:lnTo>
                  <a:lnTo>
                    <a:pt x="431800" y="2226510"/>
                  </a:lnTo>
                  <a:lnTo>
                    <a:pt x="469900" y="2254839"/>
                  </a:lnTo>
                  <a:lnTo>
                    <a:pt x="508000" y="2281749"/>
                  </a:lnTo>
                  <a:lnTo>
                    <a:pt x="558800" y="2307224"/>
                  </a:lnTo>
                  <a:lnTo>
                    <a:pt x="596900" y="2331242"/>
                  </a:lnTo>
                  <a:lnTo>
                    <a:pt x="647700" y="2353786"/>
                  </a:lnTo>
                  <a:lnTo>
                    <a:pt x="685800" y="2374838"/>
                  </a:lnTo>
                  <a:lnTo>
                    <a:pt x="736600" y="2394377"/>
                  </a:lnTo>
                  <a:lnTo>
                    <a:pt x="774700" y="2412385"/>
                  </a:lnTo>
                  <a:lnTo>
                    <a:pt x="825500" y="2428843"/>
                  </a:lnTo>
                  <a:lnTo>
                    <a:pt x="863600" y="2443734"/>
                  </a:lnTo>
                  <a:lnTo>
                    <a:pt x="927100" y="2459736"/>
                  </a:lnTo>
                  <a:lnTo>
                    <a:pt x="977900" y="2474214"/>
                  </a:lnTo>
                  <a:lnTo>
                    <a:pt x="1028700" y="2486406"/>
                  </a:lnTo>
                  <a:lnTo>
                    <a:pt x="1028700" y="2635758"/>
                  </a:lnTo>
                  <a:lnTo>
                    <a:pt x="1054100" y="2612898"/>
                  </a:lnTo>
                  <a:close/>
                </a:path>
                <a:path w="1397000" h="2659379">
                  <a:moveTo>
                    <a:pt x="38100" y="1263396"/>
                  </a:moveTo>
                  <a:lnTo>
                    <a:pt x="38100" y="1231694"/>
                  </a:lnTo>
                  <a:lnTo>
                    <a:pt x="28730" y="1196257"/>
                  </a:lnTo>
                  <a:lnTo>
                    <a:pt x="25400" y="1208532"/>
                  </a:lnTo>
                  <a:lnTo>
                    <a:pt x="12700" y="1257300"/>
                  </a:lnTo>
                  <a:lnTo>
                    <a:pt x="38100" y="1263396"/>
                  </a:lnTo>
                  <a:close/>
                </a:path>
                <a:path w="1397000" h="2659379">
                  <a:moveTo>
                    <a:pt x="1041400" y="2118360"/>
                  </a:moveTo>
                  <a:lnTo>
                    <a:pt x="977900" y="2106168"/>
                  </a:lnTo>
                  <a:lnTo>
                    <a:pt x="939800" y="2095064"/>
                  </a:lnTo>
                  <a:lnTo>
                    <a:pt x="889000" y="2082443"/>
                  </a:lnTo>
                  <a:lnTo>
                    <a:pt x="850900" y="2068321"/>
                  </a:lnTo>
                  <a:lnTo>
                    <a:pt x="800100" y="2052715"/>
                  </a:lnTo>
                  <a:lnTo>
                    <a:pt x="762000" y="2035645"/>
                  </a:lnTo>
                  <a:lnTo>
                    <a:pt x="711200" y="2017126"/>
                  </a:lnTo>
                  <a:lnTo>
                    <a:pt x="673100" y="1997176"/>
                  </a:lnTo>
                  <a:lnTo>
                    <a:pt x="622300" y="1975814"/>
                  </a:lnTo>
                  <a:lnTo>
                    <a:pt x="584200" y="1953055"/>
                  </a:lnTo>
                  <a:lnTo>
                    <a:pt x="546100" y="1928919"/>
                  </a:lnTo>
                  <a:lnTo>
                    <a:pt x="508000" y="1903421"/>
                  </a:lnTo>
                  <a:lnTo>
                    <a:pt x="469900" y="1876580"/>
                  </a:lnTo>
                  <a:lnTo>
                    <a:pt x="431800" y="1848414"/>
                  </a:lnTo>
                  <a:lnTo>
                    <a:pt x="393700" y="1818939"/>
                  </a:lnTo>
                  <a:lnTo>
                    <a:pt x="355600" y="1788173"/>
                  </a:lnTo>
                  <a:lnTo>
                    <a:pt x="317500" y="1756134"/>
                  </a:lnTo>
                  <a:lnTo>
                    <a:pt x="292100" y="1722839"/>
                  </a:lnTo>
                  <a:lnTo>
                    <a:pt x="254000" y="1688305"/>
                  </a:lnTo>
                  <a:lnTo>
                    <a:pt x="228600" y="1652550"/>
                  </a:lnTo>
                  <a:lnTo>
                    <a:pt x="203200" y="1615592"/>
                  </a:lnTo>
                  <a:lnTo>
                    <a:pt x="165100" y="1577448"/>
                  </a:lnTo>
                  <a:lnTo>
                    <a:pt x="152400" y="1538135"/>
                  </a:lnTo>
                  <a:lnTo>
                    <a:pt x="127000" y="1497671"/>
                  </a:lnTo>
                  <a:lnTo>
                    <a:pt x="101600" y="1456074"/>
                  </a:lnTo>
                  <a:lnTo>
                    <a:pt x="88900" y="1413360"/>
                  </a:lnTo>
                  <a:lnTo>
                    <a:pt x="63500" y="1369548"/>
                  </a:lnTo>
                  <a:lnTo>
                    <a:pt x="38100" y="1278697"/>
                  </a:lnTo>
                  <a:lnTo>
                    <a:pt x="38100" y="1263396"/>
                  </a:lnTo>
                  <a:lnTo>
                    <a:pt x="12700" y="1257300"/>
                  </a:lnTo>
                  <a:lnTo>
                    <a:pt x="12700" y="1278800"/>
                  </a:lnTo>
                  <a:lnTo>
                    <a:pt x="38100" y="1369304"/>
                  </a:lnTo>
                  <a:lnTo>
                    <a:pt x="50800" y="1412980"/>
                  </a:lnTo>
                  <a:lnTo>
                    <a:pt x="76200" y="1455586"/>
                  </a:lnTo>
                  <a:lnTo>
                    <a:pt x="88900" y="1497109"/>
                  </a:lnTo>
                  <a:lnTo>
                    <a:pt x="114300" y="1537534"/>
                  </a:lnTo>
                  <a:lnTo>
                    <a:pt x="139700" y="1576846"/>
                  </a:lnTo>
                  <a:lnTo>
                    <a:pt x="165100" y="1615031"/>
                  </a:lnTo>
                  <a:lnTo>
                    <a:pt x="190500" y="1652076"/>
                  </a:lnTo>
                  <a:lnTo>
                    <a:pt x="228600" y="1687965"/>
                  </a:lnTo>
                  <a:lnTo>
                    <a:pt x="254000" y="1722684"/>
                  </a:lnTo>
                  <a:lnTo>
                    <a:pt x="279400" y="1756219"/>
                  </a:lnTo>
                  <a:lnTo>
                    <a:pt x="317500" y="1788556"/>
                  </a:lnTo>
                  <a:lnTo>
                    <a:pt x="355600" y="1819681"/>
                  </a:lnTo>
                  <a:lnTo>
                    <a:pt x="393700" y="1849578"/>
                  </a:lnTo>
                  <a:lnTo>
                    <a:pt x="419100" y="1878235"/>
                  </a:lnTo>
                  <a:lnTo>
                    <a:pt x="457200" y="1905636"/>
                  </a:lnTo>
                  <a:lnTo>
                    <a:pt x="508000" y="1931767"/>
                  </a:lnTo>
                  <a:lnTo>
                    <a:pt x="546100" y="1956614"/>
                  </a:lnTo>
                  <a:lnTo>
                    <a:pt x="584200" y="1980163"/>
                  </a:lnTo>
                  <a:lnTo>
                    <a:pt x="622300" y="2002399"/>
                  </a:lnTo>
                  <a:lnTo>
                    <a:pt x="673100" y="2023308"/>
                  </a:lnTo>
                  <a:lnTo>
                    <a:pt x="711200" y="2042875"/>
                  </a:lnTo>
                  <a:lnTo>
                    <a:pt x="749300" y="2061087"/>
                  </a:lnTo>
                  <a:lnTo>
                    <a:pt x="800100" y="2077930"/>
                  </a:lnTo>
                  <a:lnTo>
                    <a:pt x="838200" y="2093388"/>
                  </a:lnTo>
                  <a:lnTo>
                    <a:pt x="889000" y="2107447"/>
                  </a:lnTo>
                  <a:lnTo>
                    <a:pt x="927100" y="2120094"/>
                  </a:lnTo>
                  <a:lnTo>
                    <a:pt x="977900" y="2131314"/>
                  </a:lnTo>
                  <a:lnTo>
                    <a:pt x="1028700" y="2143506"/>
                  </a:lnTo>
                  <a:lnTo>
                    <a:pt x="1028700" y="2131314"/>
                  </a:lnTo>
                  <a:lnTo>
                    <a:pt x="1041400" y="2118360"/>
                  </a:lnTo>
                  <a:close/>
                </a:path>
                <a:path w="1397000" h="2659379">
                  <a:moveTo>
                    <a:pt x="1397000" y="362712"/>
                  </a:moveTo>
                  <a:lnTo>
                    <a:pt x="1397000" y="9144"/>
                  </a:lnTo>
                  <a:lnTo>
                    <a:pt x="1384300" y="6096"/>
                  </a:lnTo>
                  <a:lnTo>
                    <a:pt x="1384300" y="342900"/>
                  </a:lnTo>
                  <a:lnTo>
                    <a:pt x="1371600" y="355092"/>
                  </a:lnTo>
                  <a:lnTo>
                    <a:pt x="1371600" y="343052"/>
                  </a:lnTo>
                  <a:lnTo>
                    <a:pt x="1320800" y="343662"/>
                  </a:lnTo>
                  <a:lnTo>
                    <a:pt x="1270000" y="345705"/>
                  </a:lnTo>
                  <a:lnTo>
                    <a:pt x="1219200" y="349115"/>
                  </a:lnTo>
                  <a:lnTo>
                    <a:pt x="1181100" y="353889"/>
                  </a:lnTo>
                  <a:lnTo>
                    <a:pt x="1130300" y="360024"/>
                  </a:lnTo>
                  <a:lnTo>
                    <a:pt x="1079500" y="367517"/>
                  </a:lnTo>
                  <a:lnTo>
                    <a:pt x="1041400" y="376364"/>
                  </a:lnTo>
                  <a:lnTo>
                    <a:pt x="990600" y="386564"/>
                  </a:lnTo>
                  <a:lnTo>
                    <a:pt x="939800" y="398112"/>
                  </a:lnTo>
                  <a:lnTo>
                    <a:pt x="901700" y="411006"/>
                  </a:lnTo>
                  <a:lnTo>
                    <a:pt x="850900" y="425242"/>
                  </a:lnTo>
                  <a:lnTo>
                    <a:pt x="800100" y="440818"/>
                  </a:lnTo>
                  <a:lnTo>
                    <a:pt x="762000" y="457730"/>
                  </a:lnTo>
                  <a:lnTo>
                    <a:pt x="711200" y="475976"/>
                  </a:lnTo>
                  <a:lnTo>
                    <a:pt x="673100" y="495552"/>
                  </a:lnTo>
                  <a:lnTo>
                    <a:pt x="635000" y="516455"/>
                  </a:lnTo>
                  <a:lnTo>
                    <a:pt x="584200" y="538683"/>
                  </a:lnTo>
                  <a:lnTo>
                    <a:pt x="546100" y="562231"/>
                  </a:lnTo>
                  <a:lnTo>
                    <a:pt x="508000" y="587098"/>
                  </a:lnTo>
                  <a:lnTo>
                    <a:pt x="469900" y="613279"/>
                  </a:lnTo>
                  <a:lnTo>
                    <a:pt x="431800" y="640773"/>
                  </a:lnTo>
                  <a:lnTo>
                    <a:pt x="393699" y="669576"/>
                  </a:lnTo>
                  <a:lnTo>
                    <a:pt x="355599" y="699684"/>
                  </a:lnTo>
                  <a:lnTo>
                    <a:pt x="317500" y="731095"/>
                  </a:lnTo>
                  <a:lnTo>
                    <a:pt x="279400" y="763806"/>
                  </a:lnTo>
                  <a:lnTo>
                    <a:pt x="254000" y="797814"/>
                  </a:lnTo>
                  <a:lnTo>
                    <a:pt x="215900" y="833115"/>
                  </a:lnTo>
                  <a:lnTo>
                    <a:pt x="190499" y="869706"/>
                  </a:lnTo>
                  <a:lnTo>
                    <a:pt x="165100" y="907585"/>
                  </a:lnTo>
                  <a:lnTo>
                    <a:pt x="139700" y="946749"/>
                  </a:lnTo>
                  <a:lnTo>
                    <a:pt x="114300" y="987194"/>
                  </a:lnTo>
                  <a:lnTo>
                    <a:pt x="88900" y="1028917"/>
                  </a:lnTo>
                  <a:lnTo>
                    <a:pt x="76200" y="1071915"/>
                  </a:lnTo>
                  <a:lnTo>
                    <a:pt x="50800" y="1116186"/>
                  </a:lnTo>
                  <a:lnTo>
                    <a:pt x="28730" y="1196257"/>
                  </a:lnTo>
                  <a:lnTo>
                    <a:pt x="38100" y="1231694"/>
                  </a:lnTo>
                  <a:lnTo>
                    <a:pt x="38100" y="1263396"/>
                  </a:lnTo>
                  <a:lnTo>
                    <a:pt x="63500" y="1168200"/>
                  </a:lnTo>
                  <a:lnTo>
                    <a:pt x="76200" y="1122330"/>
                  </a:lnTo>
                  <a:lnTo>
                    <a:pt x="101600" y="1077782"/>
                  </a:lnTo>
                  <a:lnTo>
                    <a:pt x="114300" y="1034560"/>
                  </a:lnTo>
                  <a:lnTo>
                    <a:pt x="139700" y="992667"/>
                  </a:lnTo>
                  <a:lnTo>
                    <a:pt x="165100" y="952105"/>
                  </a:lnTo>
                  <a:lnTo>
                    <a:pt x="190500" y="912878"/>
                  </a:lnTo>
                  <a:lnTo>
                    <a:pt x="215900" y="874988"/>
                  </a:lnTo>
                  <a:lnTo>
                    <a:pt x="254000" y="838440"/>
                  </a:lnTo>
                  <a:lnTo>
                    <a:pt x="279400" y="803236"/>
                  </a:lnTo>
                  <a:lnTo>
                    <a:pt x="317500" y="769379"/>
                  </a:lnTo>
                  <a:lnTo>
                    <a:pt x="355600" y="736872"/>
                  </a:lnTo>
                  <a:lnTo>
                    <a:pt x="380999" y="705718"/>
                  </a:lnTo>
                  <a:lnTo>
                    <a:pt x="419100" y="675920"/>
                  </a:lnTo>
                  <a:lnTo>
                    <a:pt x="457200" y="647483"/>
                  </a:lnTo>
                  <a:lnTo>
                    <a:pt x="495300" y="620407"/>
                  </a:lnTo>
                  <a:lnTo>
                    <a:pt x="546100" y="594698"/>
                  </a:lnTo>
                  <a:lnTo>
                    <a:pt x="584200" y="570357"/>
                  </a:lnTo>
                  <a:lnTo>
                    <a:pt x="622300" y="547388"/>
                  </a:lnTo>
                  <a:lnTo>
                    <a:pt x="673100" y="525793"/>
                  </a:lnTo>
                  <a:lnTo>
                    <a:pt x="711200" y="505577"/>
                  </a:lnTo>
                  <a:lnTo>
                    <a:pt x="762000" y="486742"/>
                  </a:lnTo>
                  <a:lnTo>
                    <a:pt x="800100" y="469291"/>
                  </a:lnTo>
                  <a:lnTo>
                    <a:pt x="850900" y="453227"/>
                  </a:lnTo>
                  <a:lnTo>
                    <a:pt x="889000" y="438554"/>
                  </a:lnTo>
                  <a:lnTo>
                    <a:pt x="939800" y="425274"/>
                  </a:lnTo>
                  <a:lnTo>
                    <a:pt x="990600" y="413391"/>
                  </a:lnTo>
                  <a:lnTo>
                    <a:pt x="1028700" y="402907"/>
                  </a:lnTo>
                  <a:lnTo>
                    <a:pt x="1079500" y="393826"/>
                  </a:lnTo>
                  <a:lnTo>
                    <a:pt x="1130300" y="386151"/>
                  </a:lnTo>
                  <a:lnTo>
                    <a:pt x="1181100" y="379884"/>
                  </a:lnTo>
                  <a:lnTo>
                    <a:pt x="1219200" y="375030"/>
                  </a:lnTo>
                  <a:lnTo>
                    <a:pt x="1270000" y="371591"/>
                  </a:lnTo>
                  <a:lnTo>
                    <a:pt x="1320800" y="369570"/>
                  </a:lnTo>
                  <a:lnTo>
                    <a:pt x="1371600" y="368350"/>
                  </a:lnTo>
                  <a:lnTo>
                    <a:pt x="1371600" y="355092"/>
                  </a:lnTo>
                  <a:lnTo>
                    <a:pt x="1384300" y="342900"/>
                  </a:lnTo>
                  <a:lnTo>
                    <a:pt x="1384300" y="368046"/>
                  </a:lnTo>
                  <a:lnTo>
                    <a:pt x="1397000" y="362712"/>
                  </a:lnTo>
                  <a:close/>
                </a:path>
                <a:path w="1397000" h="2659379">
                  <a:moveTo>
                    <a:pt x="1050725" y="1960977"/>
                  </a:moveTo>
                  <a:lnTo>
                    <a:pt x="1041400" y="1950720"/>
                  </a:lnTo>
                  <a:lnTo>
                    <a:pt x="1041400" y="1946148"/>
                  </a:lnTo>
                  <a:lnTo>
                    <a:pt x="1028700" y="1947672"/>
                  </a:lnTo>
                  <a:lnTo>
                    <a:pt x="1028700" y="1968246"/>
                  </a:lnTo>
                  <a:lnTo>
                    <a:pt x="1050725" y="1960977"/>
                  </a:lnTo>
                  <a:close/>
                </a:path>
                <a:path w="1397000" h="2659379">
                  <a:moveTo>
                    <a:pt x="1384300" y="2346198"/>
                  </a:moveTo>
                  <a:lnTo>
                    <a:pt x="1384300" y="2327910"/>
                  </a:lnTo>
                  <a:lnTo>
                    <a:pt x="1050725" y="1960977"/>
                  </a:lnTo>
                  <a:lnTo>
                    <a:pt x="1028700" y="1968246"/>
                  </a:lnTo>
                  <a:lnTo>
                    <a:pt x="1362456" y="2335377"/>
                  </a:lnTo>
                  <a:lnTo>
                    <a:pt x="1371600" y="2327148"/>
                  </a:lnTo>
                  <a:lnTo>
                    <a:pt x="1371600" y="2357628"/>
                  </a:lnTo>
                  <a:lnTo>
                    <a:pt x="1384300" y="2346198"/>
                  </a:lnTo>
                  <a:close/>
                </a:path>
                <a:path w="1397000" h="2659379">
                  <a:moveTo>
                    <a:pt x="1054100" y="2135124"/>
                  </a:moveTo>
                  <a:lnTo>
                    <a:pt x="1054100" y="1996186"/>
                  </a:lnTo>
                  <a:lnTo>
                    <a:pt x="1028700" y="1968246"/>
                  </a:lnTo>
                  <a:lnTo>
                    <a:pt x="1028700" y="2115921"/>
                  </a:lnTo>
                  <a:lnTo>
                    <a:pt x="1041400" y="2118360"/>
                  </a:lnTo>
                  <a:lnTo>
                    <a:pt x="1041400" y="2138172"/>
                  </a:lnTo>
                  <a:lnTo>
                    <a:pt x="1054100" y="2135124"/>
                  </a:lnTo>
                  <a:close/>
                </a:path>
                <a:path w="1397000" h="2659379">
                  <a:moveTo>
                    <a:pt x="1041400" y="2144268"/>
                  </a:moveTo>
                  <a:lnTo>
                    <a:pt x="1041400" y="2118360"/>
                  </a:lnTo>
                  <a:lnTo>
                    <a:pt x="1028700" y="2131314"/>
                  </a:lnTo>
                  <a:lnTo>
                    <a:pt x="1028700" y="2143506"/>
                  </a:lnTo>
                  <a:lnTo>
                    <a:pt x="1041400" y="2144268"/>
                  </a:lnTo>
                  <a:close/>
                </a:path>
                <a:path w="1397000" h="2659379">
                  <a:moveTo>
                    <a:pt x="1371600" y="2357628"/>
                  </a:moveTo>
                  <a:lnTo>
                    <a:pt x="1371600" y="2345436"/>
                  </a:lnTo>
                  <a:lnTo>
                    <a:pt x="1362456" y="2335377"/>
                  </a:lnTo>
                  <a:lnTo>
                    <a:pt x="1028700" y="2635758"/>
                  </a:lnTo>
                  <a:lnTo>
                    <a:pt x="1052327" y="2644972"/>
                  </a:lnTo>
                  <a:lnTo>
                    <a:pt x="1371600" y="2357628"/>
                  </a:lnTo>
                  <a:close/>
                </a:path>
                <a:path w="1397000" h="2659379">
                  <a:moveTo>
                    <a:pt x="1052327" y="2644972"/>
                  </a:moveTo>
                  <a:lnTo>
                    <a:pt x="1028700" y="2635758"/>
                  </a:lnTo>
                  <a:lnTo>
                    <a:pt x="1028700" y="2654808"/>
                  </a:lnTo>
                  <a:lnTo>
                    <a:pt x="1041400" y="2659380"/>
                  </a:lnTo>
                  <a:lnTo>
                    <a:pt x="1041400" y="2654808"/>
                  </a:lnTo>
                  <a:lnTo>
                    <a:pt x="1052327" y="2644972"/>
                  </a:lnTo>
                  <a:close/>
                </a:path>
                <a:path w="1397000" h="2659379">
                  <a:moveTo>
                    <a:pt x="1054100" y="1964689"/>
                  </a:moveTo>
                  <a:lnTo>
                    <a:pt x="1054100" y="1959864"/>
                  </a:lnTo>
                  <a:lnTo>
                    <a:pt x="1050725" y="1960977"/>
                  </a:lnTo>
                  <a:lnTo>
                    <a:pt x="1054100" y="1964689"/>
                  </a:lnTo>
                  <a:close/>
                </a:path>
                <a:path w="1397000" h="2659379">
                  <a:moveTo>
                    <a:pt x="1054100" y="2645664"/>
                  </a:moveTo>
                  <a:lnTo>
                    <a:pt x="1054100" y="2643378"/>
                  </a:lnTo>
                  <a:lnTo>
                    <a:pt x="1052327" y="2644972"/>
                  </a:lnTo>
                  <a:lnTo>
                    <a:pt x="1054100" y="2645664"/>
                  </a:lnTo>
                  <a:close/>
                </a:path>
                <a:path w="1397000" h="2659379">
                  <a:moveTo>
                    <a:pt x="1371600" y="2345436"/>
                  </a:moveTo>
                  <a:lnTo>
                    <a:pt x="1371600" y="2327148"/>
                  </a:lnTo>
                  <a:lnTo>
                    <a:pt x="1362456" y="2335377"/>
                  </a:lnTo>
                  <a:lnTo>
                    <a:pt x="1371600" y="2345436"/>
                  </a:lnTo>
                  <a:close/>
                </a:path>
                <a:path w="1397000" h="2659379">
                  <a:moveTo>
                    <a:pt x="1384300" y="25146"/>
                  </a:moveTo>
                  <a:lnTo>
                    <a:pt x="1371600" y="12192"/>
                  </a:lnTo>
                  <a:lnTo>
                    <a:pt x="1371600" y="25400"/>
                  </a:lnTo>
                  <a:lnTo>
                    <a:pt x="1384300" y="25146"/>
                  </a:lnTo>
                  <a:close/>
                </a:path>
                <a:path w="1397000" h="2659379">
                  <a:moveTo>
                    <a:pt x="1384300" y="342900"/>
                  </a:moveTo>
                  <a:lnTo>
                    <a:pt x="1384300" y="25146"/>
                  </a:lnTo>
                  <a:lnTo>
                    <a:pt x="1371600" y="25400"/>
                  </a:lnTo>
                  <a:lnTo>
                    <a:pt x="1371600" y="343052"/>
                  </a:lnTo>
                  <a:lnTo>
                    <a:pt x="1384300" y="342900"/>
                  </a:lnTo>
                  <a:close/>
                </a:path>
                <a:path w="1397000" h="2659379">
                  <a:moveTo>
                    <a:pt x="1397000" y="2340864"/>
                  </a:moveTo>
                  <a:lnTo>
                    <a:pt x="1397000" y="2334006"/>
                  </a:lnTo>
                  <a:lnTo>
                    <a:pt x="1384300" y="2330958"/>
                  </a:lnTo>
                  <a:lnTo>
                    <a:pt x="1384300" y="2343912"/>
                  </a:lnTo>
                  <a:lnTo>
                    <a:pt x="1397000" y="2340864"/>
                  </a:lnTo>
                  <a:close/>
                </a:path>
              </a:pathLst>
            </a:custGeom>
            <a:solidFill>
              <a:srgbClr val="385D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071114" y="6185406"/>
            <a:ext cx="20478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6500FF"/>
                </a:solidFill>
                <a:latin typeface="Calibri"/>
                <a:cs typeface="Calibri"/>
              </a:rPr>
              <a:t>Block</a:t>
            </a:r>
            <a:r>
              <a:rPr sz="2400" b="1" spc="-70" dirty="0">
                <a:solidFill>
                  <a:srgbClr val="6500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500FF"/>
                </a:solidFill>
                <a:latin typeface="Calibri"/>
                <a:cs typeface="Calibri"/>
              </a:rPr>
              <a:t>Diagram</a:t>
            </a:r>
            <a:r>
              <a:rPr sz="2400" b="1" spc="-55" dirty="0">
                <a:solidFill>
                  <a:srgbClr val="6500FF"/>
                </a:solidFill>
                <a:latin typeface="Calibri"/>
                <a:cs typeface="Calibri"/>
              </a:rPr>
              <a:t> </a:t>
            </a:r>
            <a:r>
              <a:rPr sz="2400" b="1" spc="-50" dirty="0">
                <a:solidFill>
                  <a:srgbClr val="6500FF"/>
                </a:solidFill>
                <a:latin typeface="Calibri"/>
                <a:cs typeface="Calibri"/>
              </a:rPr>
              <a:t>?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06855" y="1994408"/>
            <a:ext cx="32467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solidFill>
                  <a:srgbClr val="6500FF"/>
                </a:solidFill>
                <a:latin typeface="Calibri"/>
                <a:cs typeface="Calibri"/>
              </a:rPr>
              <a:t>Transposed</a:t>
            </a:r>
            <a:r>
              <a:rPr sz="2400" b="1" spc="-55" dirty="0">
                <a:solidFill>
                  <a:srgbClr val="6500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500FF"/>
                </a:solidFill>
                <a:latin typeface="Calibri"/>
                <a:cs typeface="Calibri"/>
              </a:rPr>
              <a:t>Direct</a:t>
            </a:r>
            <a:r>
              <a:rPr sz="2400" b="1" spc="-50" dirty="0">
                <a:solidFill>
                  <a:srgbClr val="6500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500FF"/>
                </a:solidFill>
                <a:latin typeface="Calibri"/>
                <a:cs typeface="Calibri"/>
              </a:rPr>
              <a:t>Form</a:t>
            </a:r>
            <a:r>
              <a:rPr sz="2400" b="1" spc="-70" dirty="0">
                <a:solidFill>
                  <a:srgbClr val="6500F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500FF"/>
                </a:solidFill>
                <a:latin typeface="Calibri"/>
                <a:cs typeface="Calibri"/>
              </a:rPr>
              <a:t>II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56920">
              <a:lnSpc>
                <a:spcPct val="100000"/>
              </a:lnSpc>
              <a:spcBef>
                <a:spcPts val="100"/>
              </a:spcBef>
            </a:pPr>
            <a:r>
              <a:rPr dirty="0"/>
              <a:t>Discrete</a:t>
            </a:r>
            <a:r>
              <a:rPr spc="-130" dirty="0"/>
              <a:t> </a:t>
            </a:r>
            <a:r>
              <a:rPr dirty="0"/>
              <a:t>Time</a:t>
            </a:r>
            <a:r>
              <a:rPr spc="-125" dirty="0"/>
              <a:t> </a:t>
            </a:r>
            <a:r>
              <a:rPr spc="-10" dirty="0"/>
              <a:t>System</a:t>
            </a:r>
            <a:r>
              <a:rPr spc="-130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3" name="object 3"/>
          <p:cNvSpPr/>
          <p:nvPr/>
        </p:nvSpPr>
        <p:spPr>
          <a:xfrm>
            <a:off x="914400" y="1876805"/>
            <a:ext cx="8229600" cy="57150"/>
          </a:xfrm>
          <a:custGeom>
            <a:avLst/>
            <a:gdLst/>
            <a:ahLst/>
            <a:cxnLst/>
            <a:rect l="l" t="t" r="r" b="b"/>
            <a:pathLst>
              <a:path w="8229600" h="57150">
                <a:moveTo>
                  <a:pt x="8229600" y="57149"/>
                </a:moveTo>
                <a:lnTo>
                  <a:pt x="8229600" y="0"/>
                </a:lnTo>
                <a:lnTo>
                  <a:pt x="0" y="0"/>
                </a:lnTo>
                <a:lnTo>
                  <a:pt x="0" y="57150"/>
                </a:lnTo>
                <a:lnTo>
                  <a:pt x="8229600" y="57149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81410" y="2524125"/>
            <a:ext cx="5886815" cy="463867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06855" y="1994408"/>
            <a:ext cx="32467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solidFill>
                  <a:srgbClr val="6500FF"/>
                </a:solidFill>
                <a:latin typeface="Calibri"/>
                <a:cs typeface="Calibri"/>
              </a:rPr>
              <a:t>Transposed</a:t>
            </a:r>
            <a:r>
              <a:rPr sz="2400" b="1" spc="-55" dirty="0">
                <a:solidFill>
                  <a:srgbClr val="6500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500FF"/>
                </a:solidFill>
                <a:latin typeface="Calibri"/>
                <a:cs typeface="Calibri"/>
              </a:rPr>
              <a:t>Direct</a:t>
            </a:r>
            <a:r>
              <a:rPr sz="2400" b="1" spc="-50" dirty="0">
                <a:solidFill>
                  <a:srgbClr val="6500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500FF"/>
                </a:solidFill>
                <a:latin typeface="Calibri"/>
                <a:cs typeface="Calibri"/>
              </a:rPr>
              <a:t>Form</a:t>
            </a:r>
            <a:r>
              <a:rPr sz="2400" b="1" spc="-70" dirty="0">
                <a:solidFill>
                  <a:srgbClr val="6500F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500FF"/>
                </a:solidFill>
                <a:latin typeface="Calibri"/>
                <a:cs typeface="Calibri"/>
              </a:rPr>
              <a:t>II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461</Words>
  <Application>Microsoft Office PowerPoint</Application>
  <PresentationFormat>Custom</PresentationFormat>
  <Paragraphs>58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 MT</vt:lpstr>
      <vt:lpstr>Calibri</vt:lpstr>
      <vt:lpstr>Symbol</vt:lpstr>
      <vt:lpstr>Times New Roman</vt:lpstr>
      <vt:lpstr>Office Theme</vt:lpstr>
      <vt:lpstr>CPE 324: Digital Signal Processing</vt:lpstr>
      <vt:lpstr>Discrete Time System Implementation</vt:lpstr>
      <vt:lpstr>Discrete Time System Implementation</vt:lpstr>
      <vt:lpstr>Discrete Time System Implementation</vt:lpstr>
      <vt:lpstr>Discrete Time System Implementation</vt:lpstr>
      <vt:lpstr>Discrete Time System Implementation</vt:lpstr>
      <vt:lpstr>Discrete Time System Implementation</vt:lpstr>
      <vt:lpstr>Discrete Time System Implementation</vt:lpstr>
      <vt:lpstr>Discrete Time System Implementation</vt:lpstr>
      <vt:lpstr>Discrete Time System Implementation</vt:lpstr>
      <vt:lpstr>Discrete Time System Implementation</vt:lpstr>
      <vt:lpstr>Discrete Time System Implementation</vt:lpstr>
      <vt:lpstr>Discrete Time System Implementation</vt:lpstr>
      <vt:lpstr>Discrete Time System Implementation</vt:lpstr>
      <vt:lpstr>Discrete Time System Implementation</vt:lpstr>
      <vt:lpstr>Discrete Time System Implementation</vt:lpstr>
      <vt:lpstr>Discrete Time System Implementation</vt:lpstr>
      <vt:lpstr>Discrete Time System Implementation</vt:lpstr>
      <vt:lpstr>Discrete Time System Implementation</vt:lpstr>
      <vt:lpstr>Discrete Time System Implementation</vt:lpstr>
      <vt:lpstr>Discrete Time System Implementation</vt:lpstr>
      <vt:lpstr>Discrete Time System Implementation</vt:lpstr>
      <vt:lpstr>Discrete Time System Implementation</vt:lpstr>
      <vt:lpstr>Discrete Time System Implementation</vt:lpstr>
      <vt:lpstr>Discrete Time System Implementation</vt:lpstr>
      <vt:lpstr>Discrete Time System Implementation</vt:lpstr>
      <vt:lpstr>Discrete Time System Implementation</vt:lpstr>
      <vt:lpstr>Discrete Time System Implementation</vt:lpstr>
      <vt:lpstr>Discrete Time System Implementation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Dr. Arsla Khan</cp:lastModifiedBy>
  <cp:revision>1</cp:revision>
  <dcterms:created xsi:type="dcterms:W3CDTF">2025-11-23T19:19:32Z</dcterms:created>
  <dcterms:modified xsi:type="dcterms:W3CDTF">2025-11-23T19:20:51Z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2018-10-01T00:00:00Z</vt:filetime>
  </property>
  <property fmtid="{D5CDD505-2E9C-101B-9397-08002B2CF9AE}" pid="3" name="Creator">
    <vt:lpwstr>PScript5.dll Version 5.2.2</vt:lpwstr>
  </property>
  <property fmtid="{D5CDD505-2E9C-101B-9397-08002B2CF9AE}" pid="4" name="LastSaved">
    <vt:filetime>2025-11-23T00:00:00Z</vt:filetime>
  </property>
  <property fmtid="{D5CDD505-2E9C-101B-9397-08002B2CF9AE}" pid="5" name="Producer">
    <vt:lpwstr>Acrobat Distiller 10.1.1 (Windows)</vt:lpwstr>
  </property>
</Properties>
</file>